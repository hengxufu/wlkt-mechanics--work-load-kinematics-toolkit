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75F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008D9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008D9C"/>
            </a:solidFill>
            <a:ln w="25400" cap="flat">
              <a:solidFill>
                <a:srgbClr val="008D9C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8D9C"/>
              </a:solidFill>
              <a:ln w="9525" cap="flat">
                <a:solidFill>
                  <a:srgbClr val="008D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36D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45秒：讲清从模型输入到CPU求解，再到结果观察及解析核验的流程。出现差异时返回检查输入。
来源：README.md；用户提供的技术架构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9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1" name="S01/object-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4" name="S01/object-7"/>
          <p:cNvSpPr/>
          <p:nvPr/>
        </p:nvSpPr>
        <p:spPr>
          <a:xfrm>
            <a:off x="548640" y="18288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4000" dirty="0"/>
          </a:p>
        </p:txBody>
      </p:sp>
      <p:sp>
        <p:nvSpPr>
          <p:cNvPr id="15" name="S01/object-8"/>
          <p:cNvSpPr/>
          <p:nvPr/>
        </p:nvSpPr>
        <p:spPr>
          <a:xfrm>
            <a:off x="54864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376732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一根梁，串起建模、求解、推导与独立校核</a:t>
            </a:r>
            <a:endParaRPr lang="en-US" sz="22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8" name="S01/object-11"/>
          <p:cNvSpPr/>
          <p:nvPr/>
        </p:nvSpPr>
        <p:spPr>
          <a:xfrm>
            <a:off x="70408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19" name="S01/object-12"/>
          <p:cNvSpPr/>
          <p:nvPr/>
        </p:nvSpPr>
        <p:spPr>
          <a:xfrm>
            <a:off x="251460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262432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 / 空间杆系</a:t>
            </a:r>
            <a:endParaRPr lang="en-US" sz="1200" dirty="0"/>
          </a:p>
        </p:txBody>
      </p:sp>
      <p:sp>
        <p:nvSpPr>
          <p:cNvPr id="21" name="S01/object-14"/>
          <p:cNvSpPr/>
          <p:nvPr/>
        </p:nvSpPr>
        <p:spPr>
          <a:xfrm>
            <a:off x="4434840" y="48006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4544568" y="48646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符号公式</a:t>
            </a:r>
            <a:endParaRPr lang="en-US" sz="1200" dirty="0"/>
          </a:p>
        </p:txBody>
      </p:sp>
      <p:sp>
        <p:nvSpPr>
          <p:cNvPr id="23" name="S01/object-16"/>
          <p:cNvSpPr/>
          <p:nvPr/>
        </p:nvSpPr>
        <p:spPr>
          <a:xfrm>
            <a:off x="594360" y="56144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材料力学同学分享  ·  v2.0.2</a:t>
            </a:r>
            <a:endParaRPr lang="en-US" sz="1700" dirty="0"/>
          </a:p>
        </p:txBody>
      </p:sp>
      <p:sp>
        <p:nvSpPr>
          <p:cNvPr id="24" name="S01/concept-stage"/>
          <p:cNvSpPr/>
          <p:nvPr/>
        </p:nvSpPr>
        <p:spPr>
          <a:xfrm>
            <a:off x="7498080" y="1719072"/>
            <a:ext cx="4114800" cy="4407408"/>
          </a:xfrm>
          <a:prstGeom prst="roundRect">
            <a:avLst>
              <a:gd name="adj" fmla="val 355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1/object-17"/>
          <p:cNvSpPr/>
          <p:nvPr/>
        </p:nvSpPr>
        <p:spPr>
          <a:xfrm>
            <a:off x="7772400" y="5760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概念插画 · 非实测结果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2/object-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2/object-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2/object-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2/object-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2/object-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9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1" name="S02/object-2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4" name="S02/object-24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2/object-25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2/object-26"/>
          <p:cNvSpPr/>
          <p:nvPr/>
        </p:nvSpPr>
        <p:spPr>
          <a:xfrm>
            <a:off x="1033272" y="1769364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会算题，还需要能解释结果</a:t>
            </a:r>
            <a:endParaRPr lang="en-US" sz="2100" dirty="0"/>
          </a:p>
        </p:txBody>
      </p:sp>
      <p:sp>
        <p:nvSpPr>
          <p:cNvPr id="17" name="S02/object-27"/>
          <p:cNvSpPr/>
          <p:nvPr/>
        </p:nvSpPr>
        <p:spPr>
          <a:xfrm>
            <a:off x="658368" y="2651760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18" name="S02/object-28"/>
          <p:cNvSpPr/>
          <p:nvPr/>
        </p:nvSpPr>
        <p:spPr>
          <a:xfrm>
            <a:off x="987552" y="253288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支座约束哪些自由度？</a:t>
            </a:r>
            <a:endParaRPr lang="en-US" sz="2200" dirty="0"/>
          </a:p>
        </p:txBody>
      </p:sp>
      <p:sp>
        <p:nvSpPr>
          <p:cNvPr id="19" name="S02/object-29"/>
          <p:cNvSpPr/>
          <p:nvPr/>
        </p:nvSpPr>
        <p:spPr>
          <a:xfrm>
            <a:off x="658368" y="3456432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0" name="S02/object-30"/>
          <p:cNvSpPr/>
          <p:nvPr/>
        </p:nvSpPr>
        <p:spPr>
          <a:xfrm>
            <a:off x="987552" y="3337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荷载改变后，内力图怎样变？</a:t>
            </a:r>
            <a:endParaRPr lang="en-US" sz="2200" dirty="0"/>
          </a:p>
        </p:txBody>
      </p:sp>
      <p:sp>
        <p:nvSpPr>
          <p:cNvPr id="21" name="S02/object-31"/>
          <p:cNvSpPr/>
          <p:nvPr/>
        </p:nvSpPr>
        <p:spPr>
          <a:xfrm>
            <a:off x="658368" y="4261104"/>
            <a:ext cx="155448" cy="155448"/>
          </a:xfrm>
          <a:prstGeom prst="ellipse">
            <a:avLst/>
          </a:prstGeom>
          <a:solidFill>
            <a:srgbClr val="D98236"/>
          </a:solidFill>
          <a:ln w="12700">
            <a:solidFill>
              <a:srgbClr val="D98236"/>
            </a:solidFill>
            <a:prstDash val="solid"/>
          </a:ln>
        </p:spPr>
      </p:sp>
      <p:sp>
        <p:nvSpPr>
          <p:cNvPr id="22" name="S02/object-32"/>
          <p:cNvSpPr/>
          <p:nvPr/>
        </p:nvSpPr>
        <p:spPr>
          <a:xfrm>
            <a:off x="987552" y="41422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数值结果为什么可信？</a:t>
            </a:r>
            <a:endParaRPr lang="en-US" sz="2200" dirty="0"/>
          </a:p>
        </p:txBody>
      </p:sp>
      <p:sp>
        <p:nvSpPr>
          <p:cNvPr id="23" name="S02/object-33"/>
          <p:cNvSpPr/>
          <p:nvPr/>
        </p:nvSpPr>
        <p:spPr>
          <a:xfrm>
            <a:off x="6565392" y="3154680"/>
            <a:ext cx="411480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24" name="S02/support-0-33"/>
          <p:cNvSpPr/>
          <p:nvPr/>
        </p:nvSpPr>
        <p:spPr>
          <a:xfrm>
            <a:off x="64190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5" name="S02/object-35"/>
          <p:cNvSpPr/>
          <p:nvPr/>
        </p:nvSpPr>
        <p:spPr>
          <a:xfrm>
            <a:off x="63367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6" name="S02/support-1-35"/>
          <p:cNvSpPr/>
          <p:nvPr/>
        </p:nvSpPr>
        <p:spPr>
          <a:xfrm>
            <a:off x="10533888" y="320040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27" name="S02/object-37"/>
          <p:cNvSpPr/>
          <p:nvPr/>
        </p:nvSpPr>
        <p:spPr>
          <a:xfrm>
            <a:off x="10451592" y="350215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8" name="S02/object-38"/>
          <p:cNvSpPr/>
          <p:nvPr/>
        </p:nvSpPr>
        <p:spPr>
          <a:xfrm>
            <a:off x="8622792" y="246888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9" name="S02/object-39"/>
          <p:cNvSpPr/>
          <p:nvPr/>
        </p:nvSpPr>
        <p:spPr>
          <a:xfrm>
            <a:off x="873252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0" name="S02/object-40"/>
          <p:cNvSpPr/>
          <p:nvPr/>
        </p:nvSpPr>
        <p:spPr>
          <a:xfrm>
            <a:off x="64282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S02/object-41"/>
          <p:cNvSpPr/>
          <p:nvPr/>
        </p:nvSpPr>
        <p:spPr>
          <a:xfrm>
            <a:off x="10543032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2" name="S02/object-42"/>
          <p:cNvSpPr/>
          <p:nvPr/>
        </p:nvSpPr>
        <p:spPr>
          <a:xfrm>
            <a:off x="635508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</a:t>
            </a:r>
            <a:endParaRPr lang="en-US" sz="2000" dirty="0"/>
          </a:p>
        </p:txBody>
      </p:sp>
      <p:sp>
        <p:nvSpPr>
          <p:cNvPr id="33" name="S02/object-43"/>
          <p:cNvSpPr/>
          <p:nvPr/>
        </p:nvSpPr>
        <p:spPr>
          <a:xfrm>
            <a:off x="9372600" y="1828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再看响应</a:t>
            </a:r>
            <a:endParaRPr lang="en-US" sz="2000" dirty="0"/>
          </a:p>
        </p:txBody>
      </p:sp>
      <p:sp>
        <p:nvSpPr>
          <p:cNvPr id="34" name="S02/object-44"/>
          <p:cNvSpPr/>
          <p:nvPr/>
        </p:nvSpPr>
        <p:spPr>
          <a:xfrm>
            <a:off x="594360" y="5349240"/>
            <a:ext cx="11009376" cy="713232"/>
          </a:xfrm>
          <a:prstGeom prst="roundRect">
            <a:avLst>
              <a:gd name="adj" fmla="val 205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2/object-45"/>
          <p:cNvSpPr/>
          <p:nvPr/>
        </p:nvSpPr>
        <p:spPr>
          <a:xfrm>
            <a:off x="804672" y="5522976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软件的学习价值：让“条件—模型—结果—解释”能相互对应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3/object-4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3/object-4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3/object-4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3/object-4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3/object-5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9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1" name="S03/object-5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4" name="S03/object-52"/>
          <p:cNvSpPr/>
          <p:nvPr/>
        </p:nvSpPr>
        <p:spPr>
          <a:xfrm>
            <a:off x="594360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3/object-53"/>
          <p:cNvSpPr/>
          <p:nvPr/>
        </p:nvSpPr>
        <p:spPr>
          <a:xfrm>
            <a:off x="777240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03/object-54"/>
          <p:cNvSpPr/>
          <p:nvPr/>
        </p:nvSpPr>
        <p:spPr>
          <a:xfrm>
            <a:off x="777240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03/object-55"/>
          <p:cNvSpPr/>
          <p:nvPr/>
        </p:nvSpPr>
        <p:spPr>
          <a:xfrm>
            <a:off x="1216152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2100" dirty="0"/>
          </a:p>
        </p:txBody>
      </p:sp>
      <p:sp>
        <p:nvSpPr>
          <p:cNvPr id="18" name="S03/object-56"/>
          <p:cNvSpPr/>
          <p:nvPr/>
        </p:nvSpPr>
        <p:spPr>
          <a:xfrm>
            <a:off x="822960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2000" dirty="0"/>
          </a:p>
        </p:txBody>
      </p:sp>
      <p:sp>
        <p:nvSpPr>
          <p:cNvPr id="19" name="S03/object-57"/>
          <p:cNvSpPr/>
          <p:nvPr/>
        </p:nvSpPr>
        <p:spPr>
          <a:xfrm>
            <a:off x="822960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200" dirty="0"/>
          </a:p>
        </p:txBody>
      </p:sp>
      <p:sp>
        <p:nvSpPr>
          <p:cNvPr id="20" name="S03/object-58"/>
          <p:cNvSpPr/>
          <p:nvPr/>
        </p:nvSpPr>
        <p:spPr>
          <a:xfrm>
            <a:off x="3520440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轴向力与长度变化</a:t>
            </a:r>
            <a:endParaRPr lang="en-US" sz="1400" dirty="0"/>
          </a:p>
        </p:txBody>
      </p:sp>
      <p:sp>
        <p:nvSpPr>
          <p:cNvPr id="21" name="S03/object-59"/>
          <p:cNvSpPr/>
          <p:nvPr/>
        </p:nvSpPr>
        <p:spPr>
          <a:xfrm>
            <a:off x="6245352" y="181051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03/object-60"/>
          <p:cNvSpPr/>
          <p:nvPr/>
        </p:nvSpPr>
        <p:spPr>
          <a:xfrm>
            <a:off x="6428232" y="198424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03/object-61"/>
          <p:cNvSpPr/>
          <p:nvPr/>
        </p:nvSpPr>
        <p:spPr>
          <a:xfrm>
            <a:off x="6428232" y="203454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03/object-62"/>
          <p:cNvSpPr/>
          <p:nvPr/>
        </p:nvSpPr>
        <p:spPr>
          <a:xfrm>
            <a:off x="6867144" y="197053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100" dirty="0"/>
          </a:p>
        </p:txBody>
      </p:sp>
      <p:sp>
        <p:nvSpPr>
          <p:cNvPr id="25" name="S03/object-63"/>
          <p:cNvSpPr/>
          <p:nvPr/>
        </p:nvSpPr>
        <p:spPr>
          <a:xfrm>
            <a:off x="6473952" y="256946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2000" dirty="0"/>
          </a:p>
        </p:txBody>
      </p:sp>
      <p:sp>
        <p:nvSpPr>
          <p:cNvPr id="26" name="S03/object-64"/>
          <p:cNvSpPr/>
          <p:nvPr/>
        </p:nvSpPr>
        <p:spPr>
          <a:xfrm>
            <a:off x="6473952" y="3017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200" dirty="0"/>
          </a:p>
        </p:txBody>
      </p:sp>
      <p:sp>
        <p:nvSpPr>
          <p:cNvPr id="27" name="S03/object-65"/>
          <p:cNvSpPr/>
          <p:nvPr/>
        </p:nvSpPr>
        <p:spPr>
          <a:xfrm>
            <a:off x="9171432" y="2999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内力分布与危险截面</a:t>
            </a:r>
            <a:endParaRPr lang="en-US" sz="1400" dirty="0"/>
          </a:p>
        </p:txBody>
      </p:sp>
      <p:sp>
        <p:nvSpPr>
          <p:cNvPr id="28" name="S03/object-66"/>
          <p:cNvSpPr/>
          <p:nvPr/>
        </p:nvSpPr>
        <p:spPr>
          <a:xfrm>
            <a:off x="594360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03/object-67"/>
          <p:cNvSpPr/>
          <p:nvPr/>
        </p:nvSpPr>
        <p:spPr>
          <a:xfrm>
            <a:off x="777240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3/object-68"/>
          <p:cNvSpPr/>
          <p:nvPr/>
        </p:nvSpPr>
        <p:spPr>
          <a:xfrm>
            <a:off x="777240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03/object-69"/>
          <p:cNvSpPr/>
          <p:nvPr/>
        </p:nvSpPr>
        <p:spPr>
          <a:xfrm>
            <a:off x="1216152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100" dirty="0"/>
          </a:p>
        </p:txBody>
      </p:sp>
      <p:sp>
        <p:nvSpPr>
          <p:cNvPr id="32" name="S03/object-70"/>
          <p:cNvSpPr/>
          <p:nvPr/>
        </p:nvSpPr>
        <p:spPr>
          <a:xfrm>
            <a:off x="2560320" y="467258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2000" dirty="0"/>
          </a:p>
        </p:txBody>
      </p:sp>
      <p:sp>
        <p:nvSpPr>
          <p:cNvPr id="33" name="S03/object-71"/>
          <p:cNvSpPr/>
          <p:nvPr/>
        </p:nvSpPr>
        <p:spPr>
          <a:xfrm>
            <a:off x="2560320" y="5120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200" dirty="0"/>
          </a:p>
        </p:txBody>
      </p:sp>
      <p:sp>
        <p:nvSpPr>
          <p:cNvPr id="34" name="S03/object-72"/>
          <p:cNvSpPr/>
          <p:nvPr/>
        </p:nvSpPr>
        <p:spPr>
          <a:xfrm>
            <a:off x="6245352" y="3913632"/>
            <a:ext cx="5349240" cy="1847088"/>
          </a:xfrm>
          <a:prstGeom prst="roundRect">
            <a:avLst>
              <a:gd name="adj" fmla="val 792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5" name="S03/object-73"/>
          <p:cNvSpPr/>
          <p:nvPr/>
        </p:nvSpPr>
        <p:spPr>
          <a:xfrm>
            <a:off x="6428232" y="408736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6" name="S03/object-74"/>
          <p:cNvSpPr/>
          <p:nvPr/>
        </p:nvSpPr>
        <p:spPr>
          <a:xfrm>
            <a:off x="6428232" y="413766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S03/object-75"/>
          <p:cNvSpPr/>
          <p:nvPr/>
        </p:nvSpPr>
        <p:spPr>
          <a:xfrm>
            <a:off x="6867144" y="4073652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2100" dirty="0"/>
          </a:p>
        </p:txBody>
      </p:sp>
      <p:sp>
        <p:nvSpPr>
          <p:cNvPr id="38" name="S03/object-76"/>
          <p:cNvSpPr/>
          <p:nvPr/>
        </p:nvSpPr>
        <p:spPr>
          <a:xfrm>
            <a:off x="6473952" y="46725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N、M、T → 强度</a:t>
            </a:r>
            <a:endParaRPr lang="en-US" sz="2000" dirty="0"/>
          </a:p>
        </p:txBody>
      </p:sp>
      <p:sp>
        <p:nvSpPr>
          <p:cNvPr id="39" name="S03/object-77"/>
          <p:cNvSpPr/>
          <p:nvPr/>
        </p:nvSpPr>
        <p:spPr>
          <a:xfrm>
            <a:off x="6473952" y="51206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σeq = √(σ² + 3τ²)</a:t>
            </a:r>
            <a:endParaRPr lang="en-US" sz="2200" dirty="0"/>
          </a:p>
        </p:txBody>
      </p:sp>
      <p:sp>
        <p:nvSpPr>
          <p:cNvPr id="40" name="S03/object-78"/>
          <p:cNvSpPr/>
          <p:nvPr/>
        </p:nvSpPr>
        <p:spPr>
          <a:xfrm>
            <a:off x="9171432" y="5102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先区分分量与适用条件</a:t>
            </a:r>
            <a:endParaRPr lang="en-US" sz="1400" dirty="0"/>
          </a:p>
        </p:txBody>
      </p:sp>
      <p:sp>
        <p:nvSpPr>
          <p:cNvPr id="41" name="S03/object-79"/>
          <p:cNvSpPr/>
          <p:nvPr/>
        </p:nvSpPr>
        <p:spPr>
          <a:xfrm>
            <a:off x="896112" y="5815584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概念示意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4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4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4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4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4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从建模到核验的完整流程</a:t>
            </a:r>
            <a:endParaRPr lang="en-US" sz="2800" dirty="0"/>
          </a:p>
        </p:txBody>
      </p:sp>
      <p:sp>
        <p:nvSpPr>
          <p:cNvPr id="9" name="S0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输入、求解、展示和解析核对形成学习闭环</a:t>
            </a:r>
            <a:endParaRPr lang="en-US" sz="1600" dirty="0"/>
          </a:p>
        </p:txBody>
      </p:sp>
      <p:sp>
        <p:nvSpPr>
          <p:cNvPr id="11" name="S04/object-8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S0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来源：README.md；用户提供的技术架构</a:t>
            </a:r>
            <a:endParaRPr lang="en-US" sz="800" dirty="0"/>
          </a:p>
        </p:txBody>
      </p:sp>
      <p:sp>
        <p:nvSpPr>
          <p:cNvPr id="14" name="S04/object-86"/>
          <p:cNvSpPr/>
          <p:nvPr/>
        </p:nvSpPr>
        <p:spPr>
          <a:xfrm>
            <a:off x="594360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4/object-87"/>
          <p:cNvSpPr/>
          <p:nvPr/>
        </p:nvSpPr>
        <p:spPr>
          <a:xfrm>
            <a:off x="740664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S04/object-88"/>
          <p:cNvSpPr/>
          <p:nvPr/>
        </p:nvSpPr>
        <p:spPr>
          <a:xfrm>
            <a:off x="740664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 / 物理条件</a:t>
            </a:r>
            <a:endParaRPr lang="en-US" sz="1800" dirty="0"/>
          </a:p>
        </p:txBody>
      </p:sp>
      <p:sp>
        <p:nvSpPr>
          <p:cNvPr id="17" name="S04/object-89"/>
          <p:cNvSpPr/>
          <p:nvPr/>
        </p:nvSpPr>
        <p:spPr>
          <a:xfrm>
            <a:off x="704088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单位、几何、受力</a:t>
            </a:r>
            <a:endParaRPr lang="en-US" sz="1200" dirty="0"/>
          </a:p>
        </p:txBody>
      </p:sp>
      <p:sp>
        <p:nvSpPr>
          <p:cNvPr id="18" name="S04/object-90"/>
          <p:cNvSpPr/>
          <p:nvPr/>
        </p:nvSpPr>
        <p:spPr>
          <a:xfrm>
            <a:off x="2587752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04/object-91"/>
          <p:cNvSpPr/>
          <p:nvPr/>
        </p:nvSpPr>
        <p:spPr>
          <a:xfrm>
            <a:off x="2843784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04/object-92"/>
          <p:cNvSpPr/>
          <p:nvPr/>
        </p:nvSpPr>
        <p:spPr>
          <a:xfrm>
            <a:off x="2990088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S04/object-93"/>
          <p:cNvSpPr/>
          <p:nvPr/>
        </p:nvSpPr>
        <p:spPr>
          <a:xfrm>
            <a:off x="2990088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离散结构模型</a:t>
            </a:r>
            <a:endParaRPr lang="en-US" sz="1800" dirty="0"/>
          </a:p>
        </p:txBody>
      </p:sp>
      <p:sp>
        <p:nvSpPr>
          <p:cNvPr id="22" name="S04/object-94"/>
          <p:cNvSpPr/>
          <p:nvPr/>
        </p:nvSpPr>
        <p:spPr>
          <a:xfrm>
            <a:off x="2953512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节点、构件、材料</a:t>
            </a:r>
            <a:endParaRPr lang="en-US" sz="1200" dirty="0"/>
          </a:p>
        </p:txBody>
      </p:sp>
      <p:sp>
        <p:nvSpPr>
          <p:cNvPr id="23" name="S04/object-95"/>
          <p:cNvSpPr/>
          <p:nvPr/>
        </p:nvSpPr>
        <p:spPr>
          <a:xfrm>
            <a:off x="4837176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04/object-96"/>
          <p:cNvSpPr/>
          <p:nvPr/>
        </p:nvSpPr>
        <p:spPr>
          <a:xfrm>
            <a:off x="5093208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4/object-97"/>
          <p:cNvSpPr/>
          <p:nvPr/>
        </p:nvSpPr>
        <p:spPr>
          <a:xfrm>
            <a:off x="5239512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04/object-98"/>
          <p:cNvSpPr/>
          <p:nvPr/>
        </p:nvSpPr>
        <p:spPr>
          <a:xfrm>
            <a:off x="5239512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800" dirty="0"/>
          </a:p>
        </p:txBody>
      </p:sp>
      <p:sp>
        <p:nvSpPr>
          <p:cNvPr id="27" name="S04/object-99"/>
          <p:cNvSpPr/>
          <p:nvPr/>
        </p:nvSpPr>
        <p:spPr>
          <a:xfrm>
            <a:off x="5202936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自由度、等效作用</a:t>
            </a:r>
            <a:endParaRPr lang="en-US" sz="1200" dirty="0"/>
          </a:p>
        </p:txBody>
      </p:sp>
      <p:sp>
        <p:nvSpPr>
          <p:cNvPr id="28" name="S04/object-100"/>
          <p:cNvSpPr/>
          <p:nvPr/>
        </p:nvSpPr>
        <p:spPr>
          <a:xfrm>
            <a:off x="7086600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9" name="S04/object-101"/>
          <p:cNvSpPr/>
          <p:nvPr/>
        </p:nvSpPr>
        <p:spPr>
          <a:xfrm>
            <a:off x="7342632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0" name="S04/object-102"/>
          <p:cNvSpPr/>
          <p:nvPr/>
        </p:nvSpPr>
        <p:spPr>
          <a:xfrm>
            <a:off x="7488936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S04/object-103"/>
          <p:cNvSpPr/>
          <p:nvPr/>
        </p:nvSpPr>
        <p:spPr>
          <a:xfrm>
            <a:off x="7488936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局部到整体</a:t>
            </a:r>
            <a:endParaRPr lang="en-US" sz="1800" dirty="0"/>
          </a:p>
        </p:txBody>
      </p:sp>
      <p:sp>
        <p:nvSpPr>
          <p:cNvPr id="32" name="S04/object-104"/>
          <p:cNvSpPr/>
          <p:nvPr/>
        </p:nvSpPr>
        <p:spPr>
          <a:xfrm>
            <a:off x="7452360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单元刚度、坐标变换</a:t>
            </a:r>
            <a:endParaRPr lang="en-US" sz="1200" dirty="0"/>
          </a:p>
        </p:txBody>
      </p:sp>
      <p:sp>
        <p:nvSpPr>
          <p:cNvPr id="33" name="S04/object-105"/>
          <p:cNvSpPr/>
          <p:nvPr/>
        </p:nvSpPr>
        <p:spPr>
          <a:xfrm>
            <a:off x="9336024" y="2578608"/>
            <a:ext cx="228600" cy="0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4" name="S04/object-106"/>
          <p:cNvSpPr/>
          <p:nvPr/>
        </p:nvSpPr>
        <p:spPr>
          <a:xfrm>
            <a:off x="9592056" y="1965960"/>
            <a:ext cx="1975104" cy="1234440"/>
          </a:xfrm>
          <a:prstGeom prst="roundRect">
            <a:avLst>
              <a:gd name="adj" fmla="val 11852"/>
            </a:avLst>
          </a:prstGeom>
          <a:solidFill>
            <a:srgbClr val="D9EFF1"/>
          </a:solidFill>
          <a:ln w="10160">
            <a:solidFill>
              <a:srgbClr val="D9EFF1"/>
            </a:solidFill>
            <a:prstDash val="solid"/>
          </a:ln>
        </p:spPr>
      </p:sp>
      <p:sp>
        <p:nvSpPr>
          <p:cNvPr id="35" name="S04/object-107"/>
          <p:cNvSpPr/>
          <p:nvPr/>
        </p:nvSpPr>
        <p:spPr>
          <a:xfrm>
            <a:off x="9738360" y="21031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04/object-108"/>
          <p:cNvSpPr/>
          <p:nvPr/>
        </p:nvSpPr>
        <p:spPr>
          <a:xfrm>
            <a:off x="9738360" y="251460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1800" dirty="0"/>
          </a:p>
        </p:txBody>
      </p:sp>
      <p:sp>
        <p:nvSpPr>
          <p:cNvPr id="37" name="S04/object-109"/>
          <p:cNvSpPr/>
          <p:nvPr/>
        </p:nvSpPr>
        <p:spPr>
          <a:xfrm>
            <a:off x="9701784" y="2916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位移、反力、端力</a:t>
            </a:r>
            <a:endParaRPr lang="en-US" sz="1200" dirty="0"/>
          </a:p>
        </p:txBody>
      </p:sp>
      <p:sp>
        <p:nvSpPr>
          <p:cNvPr id="38" name="S04/object-110"/>
          <p:cNvSpPr/>
          <p:nvPr/>
        </p:nvSpPr>
        <p:spPr>
          <a:xfrm>
            <a:off x="10561320" y="3218688"/>
            <a:ext cx="0" cy="530352"/>
          </a:xfrm>
          <a:prstGeom prst="line">
            <a:avLst/>
          </a:prstGeom>
          <a:noFill/>
          <a:ln w="2032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39" name="S04/object-111"/>
          <p:cNvSpPr/>
          <p:nvPr/>
        </p:nvSpPr>
        <p:spPr>
          <a:xfrm>
            <a:off x="6537960" y="3794760"/>
            <a:ext cx="5074920" cy="1051560"/>
          </a:xfrm>
          <a:prstGeom prst="roundRect">
            <a:avLst>
              <a:gd name="adj" fmla="val 13913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40" name="S04/object-112"/>
          <p:cNvSpPr/>
          <p:nvPr/>
        </p:nvSpPr>
        <p:spPr>
          <a:xfrm>
            <a:off x="6766560" y="3977640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结果解释与可视化</a:t>
            </a:r>
            <a:endParaRPr lang="en-US" sz="2200" dirty="0"/>
          </a:p>
        </p:txBody>
      </p:sp>
      <p:sp>
        <p:nvSpPr>
          <p:cNvPr id="41" name="S04/object-113"/>
          <p:cNvSpPr/>
          <p:nvPr/>
        </p:nvSpPr>
        <p:spPr>
          <a:xfrm>
            <a:off x="6766560" y="4471416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/ V / M、变形、结果表与教学推导</a:t>
            </a:r>
            <a:endParaRPr lang="en-US" sz="1500" dirty="0"/>
          </a:p>
        </p:txBody>
      </p:sp>
      <p:sp>
        <p:nvSpPr>
          <p:cNvPr id="42" name="S04/object-114"/>
          <p:cNvSpPr/>
          <p:nvPr/>
        </p:nvSpPr>
        <p:spPr>
          <a:xfrm>
            <a:off x="594360" y="3794760"/>
            <a:ext cx="5349240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43" name="S04/object-115"/>
          <p:cNvSpPr/>
          <p:nvPr/>
        </p:nvSpPr>
        <p:spPr>
          <a:xfrm>
            <a:off x="804672" y="4014216"/>
            <a:ext cx="4937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独立校核：平衡关系 + 解析解 + 参数实验</a:t>
            </a:r>
            <a:endParaRPr lang="en-US" sz="2000" dirty="0"/>
          </a:p>
        </p:txBody>
      </p:sp>
      <p:sp>
        <p:nvSpPr>
          <p:cNvPr id="44" name="S04/object-116"/>
          <p:cNvSpPr/>
          <p:nvPr/>
        </p:nvSpPr>
        <p:spPr>
          <a:xfrm flipH="1">
            <a:off x="5961888" y="4315968"/>
            <a:ext cx="548640" cy="0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5" name="S04/object-117"/>
          <p:cNvSpPr/>
          <p:nvPr/>
        </p:nvSpPr>
        <p:spPr>
          <a:xfrm flipV="1">
            <a:off x="3246120" y="3246120"/>
            <a:ext cx="0" cy="521208"/>
          </a:xfrm>
          <a:prstGeom prst="line">
            <a:avLst/>
          </a:prstGeom>
          <a:noFill/>
          <a:ln w="19050">
            <a:solidFill>
              <a:srgbClr val="008D9C"/>
            </a:solidFill>
            <a:prstDash val="solid"/>
            <a:tailEnd type="triangle"/>
          </a:ln>
        </p:spPr>
      </p:sp>
      <p:sp>
        <p:nvSpPr>
          <p:cNvPr id="46" name="S04/object-118"/>
          <p:cNvSpPr/>
          <p:nvPr/>
        </p:nvSpPr>
        <p:spPr>
          <a:xfrm>
            <a:off x="685800" y="5285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输入校核</a:t>
            </a:r>
            <a:endParaRPr lang="en-US" sz="1800" dirty="0"/>
          </a:p>
        </p:txBody>
      </p:sp>
      <p:sp>
        <p:nvSpPr>
          <p:cNvPr id="47" name="S04/object-119"/>
          <p:cNvSpPr/>
          <p:nvPr/>
        </p:nvSpPr>
        <p:spPr>
          <a:xfrm>
            <a:off x="2560320" y="5230368"/>
            <a:ext cx="8869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约束是否足够 / 单位是否一致 / 荷载方向是否正确</a:t>
            </a:r>
            <a:endParaRPr lang="en-US" sz="1900" dirty="0"/>
          </a:p>
        </p:txBody>
      </p:sp>
      <p:sp>
        <p:nvSpPr>
          <p:cNvPr id="48" name="S04/object-120"/>
          <p:cNvSpPr/>
          <p:nvPr/>
        </p:nvSpPr>
        <p:spPr>
          <a:xfrm>
            <a:off x="685800" y="5824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闭环原则</a:t>
            </a:r>
            <a:endParaRPr lang="en-US" sz="1800" dirty="0"/>
          </a:p>
        </p:txBody>
      </p:sp>
      <p:sp>
        <p:nvSpPr>
          <p:cNvPr id="49" name="S04/object-121"/>
          <p:cNvSpPr/>
          <p:nvPr/>
        </p:nvSpPr>
        <p:spPr>
          <a:xfrm>
            <a:off x="2560320" y="576072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不只确认“求解完成”，还要解释结果是否符合物理预期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5/object-12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5/object-12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5/object-12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5/object-12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5/object-12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9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1" name="S05/object-12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4" name="S05/object-128"/>
          <p:cNvSpPr/>
          <p:nvPr/>
        </p:nvSpPr>
        <p:spPr>
          <a:xfrm>
            <a:off x="571500" y="1760220"/>
            <a:ext cx="8458200" cy="4617720"/>
          </a:xfrm>
          <a:prstGeom prst="rect">
            <a:avLst>
              <a:gd name="adj" fmla="val 316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783080"/>
            <a:ext cx="8128000" cy="4572000"/>
          </a:xfrm>
          <a:prstGeom prst="rect">
            <a:avLst/>
          </a:prstGeom>
        </p:spPr>
      </p:pic>
      <p:sp>
        <p:nvSpPr>
          <p:cNvPr id="16" name="S05/object-129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05/object-130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05/object-131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19" name="S05/object-132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20" name="S05/object-133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05/object-134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05/object-135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23" name="S05/object-136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24" name="S05/object-137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05/object-138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05/object-139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27" name="S05/object-140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6/object-14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6/object-14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6/object-14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6/object-14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6/object-14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9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1" name="S06/object-14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4" name="S06/object-147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06/object-148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123E62"/>
            </a:solidFill>
            <a:prstDash val="solid"/>
          </a:ln>
        </p:spPr>
      </p:sp>
      <p:sp>
        <p:nvSpPr>
          <p:cNvPr id="16" name="S06/support-0-148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7" name="S06/object-150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18" name="S06/support-1-150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CF5FE"/>
          </a:solidFill>
          <a:ln w="19050">
            <a:solidFill>
              <a:srgbClr val="075FAF"/>
            </a:solidFill>
            <a:prstDash val="solid"/>
          </a:ln>
        </p:spPr>
      </p:sp>
      <p:sp>
        <p:nvSpPr>
          <p:cNvPr id="19" name="S06/object-152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0" name="S06/object-153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98236"/>
            </a:solidFill>
            <a:prstDash val="solid"/>
            <a:tailEnd type="triangle"/>
          </a:ln>
        </p:spPr>
      </p:sp>
      <p:sp>
        <p:nvSpPr>
          <p:cNvPr id="21" name="S06/object-154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22" name="S06/object-155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23" name="S06/object-156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S06/object-157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536D84"/>
            </a:solidFill>
            <a:prstDash val="solid"/>
          </a:ln>
        </p:spPr>
      </p:sp>
      <p:sp>
        <p:nvSpPr>
          <p:cNvPr id="25" name="S06/object-158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26" name="S06/object-159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27" name="S06/object-160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982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28" name="S06/object-161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29" name="S06/object-162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30" name="S06/object-163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06/object-164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7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06/object-165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34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35" name="S06/object-166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7/object-16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7/object-16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7/object-16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7/object-17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7/object-17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9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1" name="S07/object-17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4" name="S07/object-173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07/object-174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07/object-175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17" name="S07/object-176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8" name="S07/object-177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07/object-178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20" name="S07/object-179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1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22" name="S07/object-180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23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24" name="S07/object-181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07/object-182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26" name="S07/object-183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7" name="S07/object-184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28" name="S07/object-185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8/object-18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8/object-18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8/object-18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8/object-18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8/object-19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9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1" name="S08/object-19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4" name="S08/object-192"/>
          <p:cNvSpPr/>
          <p:nvPr/>
        </p:nvSpPr>
        <p:spPr>
          <a:xfrm>
            <a:off x="571500" y="1778508"/>
            <a:ext cx="6675120" cy="3776472"/>
          </a:xfrm>
          <a:prstGeom prst="rect">
            <a:avLst>
              <a:gd name="adj" fmla="val 3874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1934"/>
            <a:ext cx="6629400" cy="3729620"/>
          </a:xfrm>
          <a:prstGeom prst="rect">
            <a:avLst/>
          </a:prstGeom>
        </p:spPr>
      </p:pic>
      <p:sp>
        <p:nvSpPr>
          <p:cNvPr id="16" name="S08/object-193"/>
          <p:cNvSpPr/>
          <p:nvPr/>
        </p:nvSpPr>
        <p:spPr>
          <a:xfrm>
            <a:off x="7525512" y="181051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DDEFF8"/>
          </a:solidFill>
          <a:ln w="10160">
            <a:solidFill>
              <a:srgbClr val="DDEFF8"/>
            </a:solidFill>
            <a:prstDash val="solid"/>
          </a:ln>
        </p:spPr>
      </p:sp>
      <p:sp>
        <p:nvSpPr>
          <p:cNvPr id="17" name="S08/object-194"/>
          <p:cNvSpPr/>
          <p:nvPr/>
        </p:nvSpPr>
        <p:spPr>
          <a:xfrm>
            <a:off x="7754112" y="19476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 kN</a:t>
            </a:r>
            <a:endParaRPr lang="en-US" sz="3200" dirty="0"/>
          </a:p>
        </p:txBody>
      </p:sp>
      <p:sp>
        <p:nvSpPr>
          <p:cNvPr id="18" name="S08/object-195"/>
          <p:cNvSpPr/>
          <p:nvPr/>
        </p:nvSpPr>
        <p:spPr>
          <a:xfrm>
            <a:off x="7754112" y="25054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两端反力幅值：RA = RB = P/2</a:t>
            </a:r>
            <a:endParaRPr lang="en-US" sz="1500" dirty="0"/>
          </a:p>
        </p:txBody>
      </p:sp>
      <p:sp>
        <p:nvSpPr>
          <p:cNvPr id="19" name="S08/object-196"/>
          <p:cNvSpPr/>
          <p:nvPr/>
        </p:nvSpPr>
        <p:spPr>
          <a:xfrm>
            <a:off x="7525512" y="3090672"/>
            <a:ext cx="4087368" cy="1051560"/>
          </a:xfrm>
          <a:prstGeom prst="roundRect">
            <a:avLst>
              <a:gd name="adj" fmla="val 13913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0" name="S08/object-197"/>
          <p:cNvSpPr/>
          <p:nvPr/>
        </p:nvSpPr>
        <p:spPr>
          <a:xfrm>
            <a:off x="7754112" y="323697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 kN·m</a:t>
            </a:r>
            <a:endParaRPr lang="en-US" sz="3200" dirty="0"/>
          </a:p>
        </p:txBody>
      </p:sp>
      <p:sp>
        <p:nvSpPr>
          <p:cNvPr id="21" name="S08/object-198"/>
          <p:cNvSpPr/>
          <p:nvPr/>
        </p:nvSpPr>
        <p:spPr>
          <a:xfrm>
            <a:off x="7754112" y="37764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最大弯矩幅值：PL/4 = 18×6/4</a:t>
            </a:r>
            <a:endParaRPr lang="en-US" sz="1500" dirty="0"/>
          </a:p>
        </p:txBody>
      </p:sp>
      <p:sp>
        <p:nvSpPr>
          <p:cNvPr id="22" name="S08/object-199"/>
          <p:cNvSpPr/>
          <p:nvPr/>
        </p:nvSpPr>
        <p:spPr>
          <a:xfrm>
            <a:off x="7571232" y="44897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核对符号与位置</a:t>
            </a:r>
            <a:endParaRPr lang="en-US" sz="2100" dirty="0"/>
          </a:p>
        </p:txBody>
      </p:sp>
      <p:sp>
        <p:nvSpPr>
          <p:cNvPr id="23" name="S08/object-200"/>
          <p:cNvSpPr/>
          <p:nvPr/>
        </p:nvSpPr>
        <p:spPr>
          <a:xfrm>
            <a:off x="7571232" y="5020056"/>
            <a:ext cx="3840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 −27 遵循软件约定；端弯矩为 0，内部峰值仍为 27。</a:t>
            </a:r>
            <a:endParaRPr lang="en-US" sz="1800" dirty="0"/>
          </a:p>
        </p:txBody>
      </p:sp>
      <p:sp>
        <p:nvSpPr>
          <p:cNvPr id="24" name="S08/object-201"/>
          <p:cNvSpPr/>
          <p:nvPr/>
        </p:nvSpPr>
        <p:spPr>
          <a:xfrm>
            <a:off x="640080" y="5934456"/>
            <a:ext cx="10972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验证范围：默认梁案例的显示幅值对照；未构成全部工况的求解器精度认证。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09/object-20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09/object-20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09/object-20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09/object-20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09/object-20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9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1" name="S09/object-20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2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4" name="S09/object-208"/>
          <p:cNvSpPr/>
          <p:nvPr/>
        </p:nvSpPr>
        <p:spPr>
          <a:xfrm>
            <a:off x="685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15" name="S09/object-209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16" name="S09/reaction-chart" descr=""/>
          <p:cNvGraphicFramePr/>
          <p:nvPr/>
        </p:nvGraphicFramePr>
        <p:xfrm>
          <a:off x="640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S09/moment-chart" descr=""/>
          <p:cNvGraphicFramePr/>
          <p:nvPr/>
        </p:nvGraphicFramePr>
        <p:xfrm>
          <a:off x="6355080" y="2350008"/>
          <a:ext cx="51663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S09/object-210"/>
          <p:cNvSpPr/>
          <p:nvPr/>
        </p:nvSpPr>
        <p:spPr>
          <a:xfrm>
            <a:off x="685800" y="57241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条件固定：P = 18 kN，L = 6 m；a 为距左支座的距离，取 1 / 2 / 3 m。</a:t>
            </a:r>
            <a:endParaRPr lang="en-US" sz="1800" dirty="0"/>
          </a:p>
        </p:txBody>
      </p:sp>
      <p:sp>
        <p:nvSpPr>
          <p:cNvPr id="19" name="S09/object-211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0/object-21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0/object-21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0/object-21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0/object-21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0/object-21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9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1" name="S10/object-21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2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4" name="S10/object-218"/>
          <p:cNvSpPr/>
          <p:nvPr/>
        </p:nvSpPr>
        <p:spPr>
          <a:xfrm>
            <a:off x="571500" y="1851660"/>
            <a:ext cx="11064240" cy="1691640"/>
          </a:xfrm>
          <a:prstGeom prst="rect">
            <a:avLst>
              <a:gd name="adj" fmla="val 8649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49" y="1874520"/>
            <a:ext cx="11016343" cy="1645920"/>
          </a:xfrm>
          <a:prstGeom prst="rect">
            <a:avLst/>
          </a:prstGeom>
        </p:spPr>
      </p:pic>
      <p:sp>
        <p:nvSpPr>
          <p:cNvPr id="16" name="S10/object-219"/>
          <p:cNvSpPr/>
          <p:nvPr/>
        </p:nvSpPr>
        <p:spPr>
          <a:xfrm>
            <a:off x="59436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0/object-220"/>
          <p:cNvSpPr/>
          <p:nvPr/>
        </p:nvSpPr>
        <p:spPr>
          <a:xfrm>
            <a:off x="59436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0/object-221"/>
          <p:cNvSpPr/>
          <p:nvPr/>
        </p:nvSpPr>
        <p:spPr>
          <a:xfrm>
            <a:off x="103327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19" name="S10/object-222"/>
          <p:cNvSpPr/>
          <p:nvPr/>
        </p:nvSpPr>
        <p:spPr>
          <a:xfrm>
            <a:off x="64008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 = 0；ΣFz = 0；ΣMy = 0</a:t>
            </a:r>
            <a:endParaRPr lang="en-US" sz="2000" dirty="0"/>
          </a:p>
        </p:txBody>
      </p:sp>
      <p:sp>
        <p:nvSpPr>
          <p:cNvPr id="20" name="S10/object-223"/>
          <p:cNvSpPr/>
          <p:nvPr/>
        </p:nvSpPr>
        <p:spPr>
          <a:xfrm>
            <a:off x="438912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0/object-224"/>
          <p:cNvSpPr/>
          <p:nvPr/>
        </p:nvSpPr>
        <p:spPr>
          <a:xfrm>
            <a:off x="438912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0/object-225"/>
          <p:cNvSpPr/>
          <p:nvPr/>
        </p:nvSpPr>
        <p:spPr>
          <a:xfrm>
            <a:off x="482803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局部关系</a:t>
            </a:r>
            <a:endParaRPr lang="en-US" sz="2100" dirty="0"/>
          </a:p>
        </p:txBody>
      </p:sp>
      <p:sp>
        <p:nvSpPr>
          <p:cNvPr id="23" name="S10/object-226"/>
          <p:cNvSpPr/>
          <p:nvPr/>
        </p:nvSpPr>
        <p:spPr>
          <a:xfrm>
            <a:off x="443484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 + qz = 0；dM/dx − V = 0</a:t>
            </a:r>
            <a:endParaRPr lang="en-US" sz="2000" dirty="0"/>
          </a:p>
        </p:txBody>
      </p:sp>
      <p:sp>
        <p:nvSpPr>
          <p:cNvPr id="24" name="S10/object-227"/>
          <p:cNvSpPr/>
          <p:nvPr/>
        </p:nvSpPr>
        <p:spPr>
          <a:xfrm>
            <a:off x="8183880" y="392277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0/object-228"/>
          <p:cNvSpPr/>
          <p:nvPr/>
        </p:nvSpPr>
        <p:spPr>
          <a:xfrm>
            <a:off x="8183880" y="397306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0/object-229"/>
          <p:cNvSpPr/>
          <p:nvPr/>
        </p:nvSpPr>
        <p:spPr>
          <a:xfrm>
            <a:off x="8622792" y="390906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危险位置</a:t>
            </a:r>
            <a:endParaRPr lang="en-US" sz="2100" dirty="0"/>
          </a:p>
        </p:txBody>
      </p:sp>
      <p:sp>
        <p:nvSpPr>
          <p:cNvPr id="27" name="S10/object-230"/>
          <p:cNvSpPr/>
          <p:nvPr/>
        </p:nvSpPr>
        <p:spPr>
          <a:xfrm>
            <a:off x="8229600" y="4562856"/>
            <a:ext cx="345643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先由 M(x) 找峰值，再结合截面评价</a:t>
            </a:r>
            <a:endParaRPr lang="en-US" sz="2000" dirty="0"/>
          </a:p>
        </p:txBody>
      </p:sp>
      <p:sp>
        <p:nvSpPr>
          <p:cNvPr id="28" name="S10/object-231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9" name="S10/object-232"/>
          <p:cNvSpPr/>
          <p:nvPr/>
        </p:nvSpPr>
        <p:spPr>
          <a:xfrm>
            <a:off x="804672" y="5742432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助手用于核对推理：先说清受力与边界，再读取推导和结果摘要。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1/object-23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1/object-23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1/object-23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1/object-23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1/object-23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9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1" name="S11/object-2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2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4" name="S11/object-239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6" name="S11/object-240"/>
          <p:cNvSpPr/>
          <p:nvPr/>
        </p:nvSpPr>
        <p:spPr>
          <a:xfrm>
            <a:off x="559612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1/object-241"/>
          <p:cNvSpPr/>
          <p:nvPr/>
        </p:nvSpPr>
        <p:spPr>
          <a:xfrm>
            <a:off x="559612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1/object-242"/>
          <p:cNvSpPr/>
          <p:nvPr/>
        </p:nvSpPr>
        <p:spPr>
          <a:xfrm>
            <a:off x="6035040" y="1815084"/>
            <a:ext cx="5413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每节点：3 平移 + 3 转动</a:t>
            </a:r>
            <a:endParaRPr lang="en-US" sz="2100" dirty="0"/>
          </a:p>
        </p:txBody>
      </p:sp>
      <p:sp>
        <p:nvSpPr>
          <p:cNvPr id="19" name="S11/object-243"/>
          <p:cNvSpPr/>
          <p:nvPr/>
        </p:nvSpPr>
        <p:spPr>
          <a:xfrm>
            <a:off x="5687568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1/object-244"/>
          <p:cNvSpPr/>
          <p:nvPr/>
        </p:nvSpPr>
        <p:spPr>
          <a:xfrm>
            <a:off x="5797296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1" name="S11/object-245"/>
          <p:cNvSpPr/>
          <p:nvPr/>
        </p:nvSpPr>
        <p:spPr>
          <a:xfrm>
            <a:off x="7644384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2" name="S11/object-246"/>
          <p:cNvSpPr/>
          <p:nvPr/>
        </p:nvSpPr>
        <p:spPr>
          <a:xfrm>
            <a:off x="7754112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3" name="S11/object-247"/>
          <p:cNvSpPr/>
          <p:nvPr/>
        </p:nvSpPr>
        <p:spPr>
          <a:xfrm>
            <a:off x="9601200" y="265176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4" name="S11/object-248"/>
          <p:cNvSpPr/>
          <p:nvPr/>
        </p:nvSpPr>
        <p:spPr>
          <a:xfrm>
            <a:off x="9710928" y="27157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5" name="S11/object-249"/>
          <p:cNvSpPr/>
          <p:nvPr/>
        </p:nvSpPr>
        <p:spPr>
          <a:xfrm>
            <a:off x="5687568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6" name="S11/object-250"/>
          <p:cNvSpPr/>
          <p:nvPr/>
        </p:nvSpPr>
        <p:spPr>
          <a:xfrm>
            <a:off x="5797296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27" name="S11/object-251"/>
          <p:cNvSpPr/>
          <p:nvPr/>
        </p:nvSpPr>
        <p:spPr>
          <a:xfrm>
            <a:off x="7644384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8" name="S11/object-252"/>
          <p:cNvSpPr/>
          <p:nvPr/>
        </p:nvSpPr>
        <p:spPr>
          <a:xfrm>
            <a:off x="7754112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29" name="S11/object-253"/>
          <p:cNvSpPr/>
          <p:nvPr/>
        </p:nvSpPr>
        <p:spPr>
          <a:xfrm>
            <a:off x="9601200" y="347472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30" name="S11/object-254"/>
          <p:cNvSpPr/>
          <p:nvPr/>
        </p:nvSpPr>
        <p:spPr>
          <a:xfrm>
            <a:off x="9710928" y="35387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1" name="S11/object-255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2" name="S11/object-256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2/object-257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2/object-258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2/object-259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2/object-260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2/object-261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9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1" name="S12/object-26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2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4" name="S12/object-263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6" name="S12/object-264"/>
          <p:cNvSpPr/>
          <p:nvPr/>
        </p:nvSpPr>
        <p:spPr>
          <a:xfrm>
            <a:off x="3986784" y="1828800"/>
            <a:ext cx="7626096" cy="987552"/>
          </a:xfrm>
          <a:prstGeom prst="roundRect">
            <a:avLst>
              <a:gd name="adj" fmla="val 14815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7" name="S12/object-265"/>
          <p:cNvSpPr/>
          <p:nvPr/>
        </p:nvSpPr>
        <p:spPr>
          <a:xfrm>
            <a:off x="4224528" y="2075688"/>
            <a:ext cx="7178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7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节点  /  3 构件  /  24 总自由度</a:t>
            </a:r>
            <a:endParaRPr lang="en-US" sz="2700" dirty="0"/>
          </a:p>
        </p:txBody>
      </p:sp>
      <p:graphicFrame>
        <p:nvGraphicFramePr>
          <p:cNvPr id="13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12/object-266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20" name="S12/object-267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3/object-26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3/object-26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3/object-27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3/object-27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3/object-27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9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1" name="S13/object-2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2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4" name="S13/object-274"/>
          <p:cNvSpPr/>
          <p:nvPr/>
        </p:nvSpPr>
        <p:spPr>
          <a:xfrm>
            <a:off x="594360" y="187452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15" name="S13/object-275"/>
          <p:cNvSpPr/>
          <p:nvPr/>
        </p:nvSpPr>
        <p:spPr>
          <a:xfrm>
            <a:off x="822960" y="20391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交互与数据层</a:t>
            </a:r>
            <a:endParaRPr lang="en-US" sz="2200" dirty="0"/>
          </a:p>
        </p:txBody>
      </p:sp>
      <p:sp>
        <p:nvSpPr>
          <p:cNvPr id="16" name="S13/object-276"/>
          <p:cNvSpPr/>
          <p:nvPr/>
        </p:nvSpPr>
        <p:spPr>
          <a:xfrm>
            <a:off x="3200400" y="20391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2000" dirty="0"/>
          </a:p>
        </p:txBody>
      </p:sp>
      <p:sp>
        <p:nvSpPr>
          <p:cNvPr id="17" name="S13/object-277"/>
          <p:cNvSpPr/>
          <p:nvPr/>
        </p:nvSpPr>
        <p:spPr>
          <a:xfrm>
            <a:off x="3200400" y="25054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· 材料 · 截面 · 约束 · 荷载</a:t>
            </a:r>
            <a:endParaRPr lang="en-US" sz="1500" dirty="0"/>
          </a:p>
        </p:txBody>
      </p:sp>
      <p:sp>
        <p:nvSpPr>
          <p:cNvPr id="18" name="S13/object-278"/>
          <p:cNvSpPr/>
          <p:nvPr/>
        </p:nvSpPr>
        <p:spPr>
          <a:xfrm>
            <a:off x="4480560" y="290779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19" name="S13/object-279"/>
          <p:cNvSpPr/>
          <p:nvPr/>
        </p:nvSpPr>
        <p:spPr>
          <a:xfrm>
            <a:off x="594360" y="315468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0" name="S13/object-280"/>
          <p:cNvSpPr/>
          <p:nvPr/>
        </p:nvSpPr>
        <p:spPr>
          <a:xfrm>
            <a:off x="822960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数值计算层</a:t>
            </a:r>
            <a:endParaRPr lang="en-US" sz="2200" dirty="0"/>
          </a:p>
        </p:txBody>
      </p:sp>
      <p:sp>
        <p:nvSpPr>
          <p:cNvPr id="21" name="S13/object-281"/>
          <p:cNvSpPr/>
          <p:nvPr/>
        </p:nvSpPr>
        <p:spPr>
          <a:xfrm>
            <a:off x="3200400" y="3319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/ Worker / sparse LU</a:t>
            </a:r>
            <a:endParaRPr lang="en-US" sz="2000" dirty="0"/>
          </a:p>
        </p:txBody>
      </p:sp>
      <p:sp>
        <p:nvSpPr>
          <p:cNvPr id="22" name="S13/object-282"/>
          <p:cNvSpPr/>
          <p:nvPr/>
        </p:nvSpPr>
        <p:spPr>
          <a:xfrm>
            <a:off x="3200400" y="378561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→ 约束分块 → 位移求解 → 反力与端力</a:t>
            </a:r>
            <a:endParaRPr lang="en-US" sz="1500" dirty="0"/>
          </a:p>
        </p:txBody>
      </p:sp>
      <p:sp>
        <p:nvSpPr>
          <p:cNvPr id="23" name="S13/object-283"/>
          <p:cNvSpPr/>
          <p:nvPr/>
        </p:nvSpPr>
        <p:spPr>
          <a:xfrm>
            <a:off x="4480560" y="4187952"/>
            <a:ext cx="0" cy="219456"/>
          </a:xfrm>
          <a:prstGeom prst="line">
            <a:avLst/>
          </a:prstGeom>
          <a:noFill/>
          <a:ln w="19050">
            <a:solidFill>
              <a:srgbClr val="075FAF"/>
            </a:solidFill>
            <a:prstDash val="solid"/>
            <a:tailEnd type="triangle"/>
          </a:ln>
        </p:spPr>
      </p:sp>
      <p:sp>
        <p:nvSpPr>
          <p:cNvPr id="24" name="S13/object-284"/>
          <p:cNvSpPr/>
          <p:nvPr/>
        </p:nvSpPr>
        <p:spPr>
          <a:xfrm>
            <a:off x="594360" y="4434840"/>
            <a:ext cx="7863840" cy="1024128"/>
          </a:xfrm>
          <a:prstGeom prst="roundRect">
            <a:avLst>
              <a:gd name="adj" fmla="val 14286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25" name="S13/object-285"/>
          <p:cNvSpPr/>
          <p:nvPr/>
        </p:nvSpPr>
        <p:spPr>
          <a:xfrm>
            <a:off x="822960" y="45994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显示与解释层</a:t>
            </a:r>
            <a:endParaRPr lang="en-US" sz="2200" dirty="0"/>
          </a:p>
        </p:txBody>
      </p:sp>
      <p:sp>
        <p:nvSpPr>
          <p:cNvPr id="26" name="S13/object-286"/>
          <p:cNvSpPr/>
          <p:nvPr/>
        </p:nvSpPr>
        <p:spPr>
          <a:xfrm>
            <a:off x="3200400" y="45994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/ 原生结果表</a:t>
            </a:r>
            <a:endParaRPr lang="en-US" sz="2000" dirty="0"/>
          </a:p>
        </p:txBody>
      </p:sp>
      <p:sp>
        <p:nvSpPr>
          <p:cNvPr id="27" name="S13/object-287"/>
          <p:cNvSpPr/>
          <p:nvPr/>
        </p:nvSpPr>
        <p:spPr>
          <a:xfrm>
            <a:off x="3200400" y="506577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视图切换 · 内力 / 变形 · 教学助手</a:t>
            </a:r>
            <a:endParaRPr lang="en-US" sz="1500" dirty="0"/>
          </a:p>
        </p:txBody>
      </p:sp>
      <p:sp>
        <p:nvSpPr>
          <p:cNvPr id="28" name="S13/object-288"/>
          <p:cNvSpPr/>
          <p:nvPr/>
        </p:nvSpPr>
        <p:spPr>
          <a:xfrm>
            <a:off x="8778240" y="1874520"/>
            <a:ext cx="2834640" cy="3584448"/>
          </a:xfrm>
          <a:prstGeom prst="roundRect">
            <a:avLst>
              <a:gd name="adj" fmla="val 5161"/>
            </a:avLst>
          </a:prstGeom>
          <a:solidFill>
            <a:srgbClr val="E2F2EF"/>
          </a:solidFill>
          <a:ln w="10160">
            <a:solidFill>
              <a:srgbClr val="E2F2EF"/>
            </a:solidFill>
            <a:prstDash val="solid"/>
          </a:ln>
        </p:spPr>
      </p:sp>
      <p:sp>
        <p:nvSpPr>
          <p:cNvPr id="29" name="S13/object-289"/>
          <p:cNvSpPr/>
          <p:nvPr/>
        </p:nvSpPr>
        <p:spPr>
          <a:xfrm>
            <a:off x="9006840" y="217627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本地执行</a:t>
            </a:r>
            <a:endParaRPr lang="en-US" sz="2600" dirty="0"/>
          </a:p>
        </p:txBody>
      </p:sp>
      <p:sp>
        <p:nvSpPr>
          <p:cNvPr id="30" name="S13/object-290"/>
          <p:cNvSpPr/>
          <p:nvPr/>
        </p:nvSpPr>
        <p:spPr>
          <a:xfrm>
            <a:off x="9006840" y="2953512"/>
            <a:ext cx="2377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桌面版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/ 离线静态版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不可用时</a:t>
            </a:r>
            <a:endParaRPr lang="en-US" sz="19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回退主线程 CPU</a:t>
            </a:r>
            <a:endParaRPr lang="en-US" sz="1900" dirty="0"/>
          </a:p>
        </p:txBody>
      </p:sp>
      <p:sp>
        <p:nvSpPr>
          <p:cNvPr id="31" name="S13/object-291"/>
          <p:cNvSpPr/>
          <p:nvPr/>
        </p:nvSpPr>
        <p:spPr>
          <a:xfrm>
            <a:off x="9006840" y="56327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WebGPU：仅能力检测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未启用 GPU 数值内核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4/object-29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4/object-29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4/object-29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4/object-29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4/object-29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9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1" name="S14/object-29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2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graphicFrame>
        <p:nvGraphicFramePr>
          <p:cNvPr id="15" name="S14/cap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01952"/>
          <a:ext cx="11018520" cy="3465576"/>
        </p:xfrm>
        <a:graphic>
          <a:graphicData uri="http://schemas.openxmlformats.org/drawingml/2006/table">
            <a:tbl>
              <a:tblPr/>
              <a:tblGrid>
                <a:gridCol w="1920240"/>
                <a:gridCol w="4663440"/>
                <a:gridCol w="4434840"/>
              </a:tblGrid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可以讲清的能力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当前边界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二维梁 / 刚架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反力、N / V / M、变形与推导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先检查模型与符号约定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空间杆系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桁架闭环；刚架六自由度与端力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杆系响应，不是实体云图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公式与组合变形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 / 弯曲 / 扭转 / 强度计算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适用条件与单位需独立确认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1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/ 实体实验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WebGPU检测；Tet4实验内核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GPU内核与主编辑器实体链未完成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4/object-298"/>
          <p:cNvSpPr/>
          <p:nvPr/>
        </p:nvSpPr>
        <p:spPr>
          <a:xfrm>
            <a:off x="685800" y="56327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学习、教学与训练</a:t>
            </a:r>
            <a:endParaRPr lang="en-US" sz="2400" dirty="0"/>
          </a:p>
        </p:txBody>
      </p:sp>
      <p:sp>
        <p:nvSpPr>
          <p:cNvPr id="16" name="S14/object-299"/>
          <p:cNvSpPr/>
          <p:nvPr/>
        </p:nvSpPr>
        <p:spPr>
          <a:xfrm>
            <a:off x="4754880" y="5605272"/>
            <a:ext cx="67665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非北航官方；不用于实际工程设计、鉴定或商业用途。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5/object-30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5/object-30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5/object-30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5/object-30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5/object-30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9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1" name="S15/object-30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2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4" name="S15/object-306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C8DFF1"/>
          </a:solidFill>
          <a:ln w="10160">
            <a:solidFill>
              <a:srgbClr val="C8DFF1"/>
            </a:solidFill>
            <a:prstDash val="solid"/>
          </a:ln>
        </p:spPr>
      </p:sp>
      <p:pic>
        <p:nvPicPr>
          <p:cNvPr id="15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16" name="S15/object-307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7" name="S15/object-308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15/object-309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19" name="S15/object-310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0" name="S15/object-311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1" name="S15/object-312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15/object-313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3" name="S15/object-314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4" name="S15/object-315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5" name="S15/object-316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15/object-317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27" name="S15/object-318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28" name="S15/object-319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9" name="S15/object-320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15/object-321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1" name="S15/object-322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2" name="S15/object-323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6/object-32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6/object-32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6/object-32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6/object-32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6/object-32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9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1" name="S16/object-32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2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4" name="S16/object-330"/>
          <p:cNvSpPr/>
          <p:nvPr/>
        </p:nvSpPr>
        <p:spPr>
          <a:xfrm>
            <a:off x="594360" y="184708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8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先预测，再求解，最后解释。</a:t>
            </a:r>
            <a:endParaRPr lang="en-US" sz="3800" dirty="0"/>
          </a:p>
        </p:txBody>
      </p:sp>
      <p:sp>
        <p:nvSpPr>
          <p:cNvPr id="15" name="S16/object-331"/>
          <p:cNvSpPr/>
          <p:nvPr/>
        </p:nvSpPr>
        <p:spPr>
          <a:xfrm>
            <a:off x="59436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6" name="S16/object-332"/>
          <p:cNvSpPr/>
          <p:nvPr/>
        </p:nvSpPr>
        <p:spPr>
          <a:xfrm>
            <a:off x="59436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16/object-333"/>
          <p:cNvSpPr/>
          <p:nvPr/>
        </p:nvSpPr>
        <p:spPr>
          <a:xfrm>
            <a:off x="103327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已经看到</a:t>
            </a:r>
            <a:endParaRPr lang="en-US" sz="2100" dirty="0"/>
          </a:p>
        </p:txBody>
      </p:sp>
      <p:sp>
        <p:nvSpPr>
          <p:cNvPr id="18" name="S16/object-334"/>
          <p:cNvSpPr/>
          <p:nvPr/>
        </p:nvSpPr>
        <p:spPr>
          <a:xfrm>
            <a:off x="62179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默认梁幅值对照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空间刚架三向力平衡</a:t>
            </a:r>
            <a:endParaRPr lang="en-US" sz="2000" dirty="0"/>
          </a:p>
        </p:txBody>
      </p:sp>
      <p:sp>
        <p:nvSpPr>
          <p:cNvPr id="19" name="S16/object-335"/>
          <p:cNvSpPr/>
          <p:nvPr/>
        </p:nvSpPr>
        <p:spPr>
          <a:xfrm>
            <a:off x="438912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0" name="S16/object-336"/>
          <p:cNvSpPr/>
          <p:nvPr/>
        </p:nvSpPr>
        <p:spPr>
          <a:xfrm>
            <a:off x="438912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16/object-337"/>
          <p:cNvSpPr/>
          <p:nvPr/>
        </p:nvSpPr>
        <p:spPr>
          <a:xfrm>
            <a:off x="482803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接下来验证</a:t>
            </a:r>
            <a:endParaRPr lang="en-US" sz="2100" dirty="0"/>
          </a:p>
        </p:txBody>
      </p:sp>
      <p:sp>
        <p:nvSpPr>
          <p:cNvPr id="22" name="S16/object-338"/>
          <p:cNvSpPr/>
          <p:nvPr/>
        </p:nvSpPr>
        <p:spPr>
          <a:xfrm>
            <a:off x="441655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更多边界条件与荷载类型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建立可复现的回归案例</a:t>
            </a:r>
            <a:endParaRPr lang="en-US" sz="2000" dirty="0"/>
          </a:p>
        </p:txBody>
      </p:sp>
      <p:sp>
        <p:nvSpPr>
          <p:cNvPr id="23" name="S16/object-339"/>
          <p:cNvSpPr/>
          <p:nvPr/>
        </p:nvSpPr>
        <p:spPr>
          <a:xfrm>
            <a:off x="8183880" y="333756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4" name="S16/object-340"/>
          <p:cNvSpPr/>
          <p:nvPr/>
        </p:nvSpPr>
        <p:spPr>
          <a:xfrm>
            <a:off x="8183880" y="33878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16/object-341"/>
          <p:cNvSpPr/>
          <p:nvPr/>
        </p:nvSpPr>
        <p:spPr>
          <a:xfrm>
            <a:off x="8622792" y="332384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一起反馈</a:t>
            </a:r>
            <a:endParaRPr lang="en-US" sz="2100" dirty="0"/>
          </a:p>
        </p:txBody>
      </p:sp>
      <p:sp>
        <p:nvSpPr>
          <p:cNvPr id="26" name="S16/object-342"/>
          <p:cNvSpPr/>
          <p:nvPr/>
        </p:nvSpPr>
        <p:spPr>
          <a:xfrm>
            <a:off x="8211312" y="404164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提供模型、单位与截图</a:t>
            </a:r>
            <a:endParaRPr lang="en-US" sz="2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说清哪一步不直观或不一致</a:t>
            </a:r>
            <a:endParaRPr lang="en-US" sz="2000" dirty="0"/>
          </a:p>
        </p:txBody>
      </p:sp>
      <p:sp>
        <p:nvSpPr>
          <p:cNvPr id="27" name="S16/object-343"/>
          <p:cNvSpPr/>
          <p:nvPr/>
        </p:nvSpPr>
        <p:spPr>
          <a:xfrm>
            <a:off x="685800" y="5742432"/>
            <a:ext cx="9784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8D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让计算结果成为理解材料力学的起点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7/object-34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7/object-34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7/object-34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7/object-34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7/object-34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9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1" name="S17/object-34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2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graphicFrame>
        <p:nvGraphicFramePr>
          <p:cNvPr id="18" name="S17/formul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1018520" cy="3886200"/>
        </p:xfrm>
        <a:graphic>
          <a:graphicData uri="http://schemas.openxmlformats.org/drawingml/2006/table">
            <a:tbl>
              <a:tblPr/>
              <a:tblGrid>
                <a:gridCol w="1417320"/>
                <a:gridCol w="4754880"/>
                <a:gridCol w="484632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单位与适用条件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轴向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σ=N/A；ΔL=NL/(EA)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统一N、m、Pa；均匀等截面线弹性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弯曲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σmax=M/W；EI控制挠度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N·m、m³；线弹性小变形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圆轴扭转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τmax=T/Wt；φ=TL/(GJ)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N·m、m⁴；均匀圆轴与小变形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组合应力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σeq=√(σ²+3τ²)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正应力与剪应力采用同一单位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集中力简支梁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RA=P(L−a)/L；Mpeak=Pa(L−a)/L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23E6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本稿P=18kN、L=6m；0&lt;a&lt;L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17/object-350"/>
          <p:cNvSpPr/>
          <p:nvPr/>
        </p:nvSpPr>
        <p:spPr>
          <a:xfrm>
            <a:off x="685800" y="5971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公式是学习用的条件化关系；选公式之前先确认受力形式、截面与边界。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75FAF"/>
          </a:solidFill>
          <a:ln w="10160">
            <a:solidFill>
              <a:srgbClr val="075FAF"/>
            </a:solidFill>
            <a:prstDash val="solid"/>
          </a:ln>
        </p:spPr>
      </p:sp>
      <p:sp>
        <p:nvSpPr>
          <p:cNvPr id="3" name="S18/object-35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4" name="S18/object-35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5" name="S18/object-35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CD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6" name="S18/object-35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7" name="S18/object-35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8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123E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9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1B5283"/>
          </a:solidFill>
          <a:ln w="10160">
            <a:solidFill>
              <a:srgbClr val="1B5283"/>
            </a:solidFill>
            <a:prstDash val="solid"/>
          </a:ln>
        </p:spPr>
      </p:sp>
      <p:sp>
        <p:nvSpPr>
          <p:cNvPr id="10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1" name="S18/object-35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8E8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2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4" name="S18/object-357"/>
          <p:cNvSpPr/>
          <p:nvPr/>
        </p:nvSpPr>
        <p:spPr>
          <a:xfrm>
            <a:off x="594360" y="18288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5" name="S18/object-358"/>
          <p:cNvSpPr/>
          <p:nvPr/>
        </p:nvSpPr>
        <p:spPr>
          <a:xfrm>
            <a:off x="594360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18/object-359"/>
          <p:cNvSpPr/>
          <p:nvPr/>
        </p:nvSpPr>
        <p:spPr>
          <a:xfrm>
            <a:off x="1033272" y="18150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软件功能与实现</a:t>
            </a:r>
            <a:endParaRPr lang="en-US" sz="2100" dirty="0"/>
          </a:p>
        </p:txBody>
      </p:sp>
      <p:sp>
        <p:nvSpPr>
          <p:cNvPr id="17" name="S18/object-360"/>
          <p:cNvSpPr/>
          <p:nvPr/>
        </p:nvSpPr>
        <p:spPr>
          <a:xfrm>
            <a:off x="3794760" y="18379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README.md；docs/solver-capability-audit.md；docs/version-2.0-stage-1.md</a:t>
            </a:r>
            <a:endParaRPr lang="en-US" sz="1700" dirty="0"/>
          </a:p>
        </p:txBody>
      </p:sp>
      <p:sp>
        <p:nvSpPr>
          <p:cNvPr id="18" name="S18/object-361"/>
          <p:cNvSpPr/>
          <p:nvPr/>
        </p:nvSpPr>
        <p:spPr>
          <a:xfrm>
            <a:off x="594360" y="27432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19" name="S18/object-362"/>
          <p:cNvSpPr/>
          <p:nvPr/>
        </p:nvSpPr>
        <p:spPr>
          <a:xfrm>
            <a:off x="594360" y="27934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18/object-363"/>
          <p:cNvSpPr/>
          <p:nvPr/>
        </p:nvSpPr>
        <p:spPr>
          <a:xfrm>
            <a:off x="1033272" y="27294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实机证据</a:t>
            </a:r>
            <a:endParaRPr lang="en-US" sz="2100" dirty="0"/>
          </a:p>
        </p:txBody>
      </p:sp>
      <p:sp>
        <p:nvSpPr>
          <p:cNvPr id="21" name="S18/object-364"/>
          <p:cNvSpPr/>
          <p:nvPr/>
        </p:nvSpPr>
        <p:spPr>
          <a:xfrm>
            <a:off x="3794760" y="27523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outputs/classmate-sharing/assets/live；qa/live-run-evidence.json；本地已有dist构建</a:t>
            </a:r>
            <a:endParaRPr lang="en-US" sz="1700" dirty="0"/>
          </a:p>
        </p:txBody>
      </p:sp>
      <p:sp>
        <p:nvSpPr>
          <p:cNvPr id="22" name="S18/object-365"/>
          <p:cNvSpPr/>
          <p:nvPr/>
        </p:nvSpPr>
        <p:spPr>
          <a:xfrm>
            <a:off x="594360" y="36576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3" name="S18/object-366"/>
          <p:cNvSpPr/>
          <p:nvPr/>
        </p:nvSpPr>
        <p:spPr>
          <a:xfrm>
            <a:off x="594360" y="37078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18/object-367"/>
          <p:cNvSpPr/>
          <p:nvPr/>
        </p:nvSpPr>
        <p:spPr>
          <a:xfrm>
            <a:off x="1033272" y="36438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解析数据</a:t>
            </a:r>
            <a:endParaRPr lang="en-US" sz="2100" dirty="0"/>
          </a:p>
        </p:txBody>
      </p:sp>
      <p:sp>
        <p:nvSpPr>
          <p:cNvPr id="25" name="S18/object-368"/>
          <p:cNvSpPr/>
          <p:nvPr/>
        </p:nvSpPr>
        <p:spPr>
          <a:xfrm>
            <a:off x="3794760" y="36667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sources/native-data.json；P=18kN、L=6m，a=1/2/3m；并非新增测量</a:t>
            </a:r>
            <a:endParaRPr lang="en-US" sz="1700" dirty="0"/>
          </a:p>
        </p:txBody>
      </p:sp>
      <p:sp>
        <p:nvSpPr>
          <p:cNvPr id="26" name="S18/object-369"/>
          <p:cNvSpPr/>
          <p:nvPr/>
        </p:nvSpPr>
        <p:spPr>
          <a:xfrm>
            <a:off x="594360" y="4572000"/>
            <a:ext cx="310896" cy="310896"/>
          </a:xfrm>
          <a:prstGeom prst="ellipse">
            <a:avLst/>
          </a:prstGeom>
          <a:solidFill>
            <a:srgbClr val="075FAF"/>
          </a:solidFill>
          <a:ln w="12700">
            <a:solidFill>
              <a:srgbClr val="075FAF"/>
            </a:solidFill>
            <a:prstDash val="solid"/>
          </a:ln>
        </p:spPr>
      </p:sp>
      <p:sp>
        <p:nvSpPr>
          <p:cNvPr id="27" name="S18/object-370"/>
          <p:cNvSpPr/>
          <p:nvPr/>
        </p:nvSpPr>
        <p:spPr>
          <a:xfrm>
            <a:off x="594360" y="46222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18/object-371"/>
          <p:cNvSpPr/>
          <p:nvPr/>
        </p:nvSpPr>
        <p:spPr>
          <a:xfrm>
            <a:off x="1033272" y="455828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网页协作</a:t>
            </a:r>
            <a:endParaRPr lang="en-US" sz="2100" dirty="0"/>
          </a:p>
        </p:txBody>
      </p:sp>
      <p:sp>
        <p:nvSpPr>
          <p:cNvPr id="29" name="S18/object-372"/>
          <p:cNvSpPr/>
          <p:nvPr/>
        </p:nvSpPr>
        <p:spPr>
          <a:xfrm>
            <a:off x="3794760" y="4581144"/>
            <a:ext cx="7818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536D8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当前已登录ChatGPT完成规划与单元素生成；模型名未核验，用户允许继续</a:t>
            </a:r>
            <a:endParaRPr lang="en-US" sz="1700" dirty="0"/>
          </a:p>
        </p:txBody>
      </p:sp>
      <p:sp>
        <p:nvSpPr>
          <p:cNvPr id="30" name="S18/object-373"/>
          <p:cNvSpPr/>
          <p:nvPr/>
        </p:nvSpPr>
        <p:spPr>
          <a:xfrm>
            <a:off x="594360" y="5669280"/>
            <a:ext cx="11018520" cy="548640"/>
          </a:xfrm>
          <a:prstGeom prst="roundRect">
            <a:avLst>
              <a:gd name="adj" fmla="val 26667"/>
            </a:avLst>
          </a:prstGeom>
          <a:solidFill>
            <a:srgbClr val="ECF5FE"/>
          </a:solidFill>
          <a:ln w="10160">
            <a:solidFill>
              <a:srgbClr val="ECF5FE"/>
            </a:solidFill>
            <a:prstDash val="solid"/>
          </a:ln>
        </p:spPr>
      </p:sp>
      <p:sp>
        <p:nvSpPr>
          <p:cNvPr id="31" name="S18/object-374"/>
          <p:cNvSpPr/>
          <p:nvPr/>
        </p:nvSpPr>
        <p:spPr>
          <a:xfrm>
            <a:off x="777240" y="5824728"/>
            <a:ext cx="10652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5F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验证仍有边界：默认案例 ≠ 全工况验证；单次耗时 ≠ 性能基准；放大变形 ≠ 真实比例。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拉压弯扭大师｜中国科研分享重制版</dc:title>
  <dc:subject>PptxGenJS Presentation</dc:subject>
  <dc:creator>拉压弯扭大师</dc:creator>
  <cp:lastModifiedBy>拉压弯扭大师</cp:lastModifiedBy>
  <cp:revision>1</cp:revision>
  <dcterms:created xsi:type="dcterms:W3CDTF">2026-10-11T06:31:01Z</dcterms:created>
  <dcterms:modified xsi:type="dcterms:W3CDTF">2026-10-11T06:31:01Z</dcterms:modified>
</cp:coreProperties>
</file>
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A端反力</c:v>
                </c:pt>
              </c:strCache>
            </c:strRef>
          </c:tx>
          <c:spPr>
            <a:solidFill>
              <a:srgbClr val="075FA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12</c:v>
                </c:pt>
                <c:pt idx="2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B端反力</c:v>
                </c:pt>
              </c:strCache>
            </c:strRef>
          </c:tx>
          <c:spPr>
            <a:solidFill>
              <a:srgbClr val="008D9C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6</c:v>
                </c:pt>
                <c:pt idx="2">
                  <c:v>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36D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0"/>
        <c:axPos val="l"/>
        <c:majorGridlines>
          <c:spPr>
            <a:ln w="12700" cap="flat">
              <a:solidFill>
                <a:srgbClr val="DC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36D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峰值弯矩幅值</c:v>
                </c:pt>
              </c:strCache>
            </c:strRef>
          </c:tx>
          <c:spPr>
            <a:solidFill>
              <a:srgbClr val="008D9C"/>
            </a:solidFill>
            <a:ln w="25400" cap="flat">
              <a:solidFill>
                <a:srgbClr val="008D9C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8D9C"/>
              </a:solidFill>
              <a:ln w="9525" cap="flat">
                <a:solidFill>
                  <a:srgbClr val="008D9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24</c:v>
                </c:pt>
                <c:pt idx="2">
                  <c:v>27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36D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12700" cap="flat">
              <a:solidFill>
                <a:srgbClr val="DC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36D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30秒：介绍软件定位和版本，说明今天重点是用真实算例验证学习功能，而非宣传工程认证能力。
来源：README.md；用户提供的产品定位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40秒：围绕一道具体简支梁题，解释建模、结果和解析公式之间的理解障碍，不虚构教学改善数据。
来源：二维简支梁解析条件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40秒：介绍软件覆盖的基本变形与组合变形，强调力学量之间的联系，不把功能范围等同于全面测试。
来源：README.md公式库及功能说明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45秒：讲清从模型输入到CPU求解，再到结果观察及解析核验的流程。出现差异时返回检查输入。
来源：README.md；用户提供的技术架构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40秒：使用真实截图说明工作区布局，重点展示模型对象与属性面板如何对应；图标字体异常不修饰。
来源：live/01-workspace.jpg；qa/live-run-evidence.json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45秒：说明2节点1单元的梁模型如何设置支座与跨中集中荷载；重点检查位置和单位。
来源：live/07-load-properties.jpg；qa/live-run-evidence.json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55秒：解释剪力在集中载荷处跃变、弯矩在跨中达到最大幅值，并强调软件的负号约定。
来源：live/06-shear.jpg；live/03-beam-moment.jpg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65秒：逐项核验9、9、27三个幅值。解释截图的-27符号、端弯矩0与跨中极值不同。
来源：live/03-beam-moment.jpg；live/05-element-results.jpg；qa/live-run-evidence.json；RA=RB=P/2；Mmax=PL/4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45秒：演示理论上载荷从左侧1米移至跨中时，反力分配及弯矩峰值的变化。这不是新增实测。
来源：解析预测：P=18kN，L=6m，a=1/2/3m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50秒：从实机分步推导返回基本弯曲公式，说明危险截面判断依赖内力分布与截面条件。
来源：live/04-derivation.jpg；README.md公式库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50秒：解释空间刚架如何从平面建模扩展到每节点6自由度，区分单元12×12和整体24自由度。
来源：README.md；空间刚架运行条件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55秒：逐项展示三向受力与支座反力相消。残差和单次耗时只描述当前运行，缺少力矩及应力核验。
来源：live/11-space-results.jpg；qa/live-run-evidence.json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40秒：讲解前端、Worker求解器和Three.js之间的数据流，明确计算不依靠尚未实现的GPU数值内核。
来源：README.md；用户提供的技术栈和求解能力说明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45秒：把功能描述与真实运行证据分开。强调Tet4和WebGPU的现状，不利用单一算例推断整体可靠性。
来源：README.md；qa/live-run-evidence.json；技术边界说明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45秒：给同学一条最短复现路径，并用常见输入错误说明如何排查。明确尚未验证安装包部署。
来源：live/01-workspace.jpg；live/07-load-properties.jpg；二维解析核验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30秒：总结学习闭环，邀请同学通过简单算例复算结果。后续优先补齐参数扫描与空间完整平衡验证。
来源：二维解析与实机记录；三维实机记录；证据缺口清单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附录备查，不计入12分钟。答疑时解释公式、单位与符号定义，尤其注意反力方向和弯矩幅值口径。
来源：静力学公式；README.md公式符号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附录备查，不计入12分钟。供同学追溯实机截图、解析预测和技术说明，避免把一次运行扩大解释。
来源：README.md；outputs/classmate-sharing/assets/live/；qa/live-run-evidence.json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1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01/object-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01/object-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01/object-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01/object-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01/object-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01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2800" dirty="0"/>
          </a:p>
        </p:txBody>
      </p:sp>
      <p:sp>
        <p:nvSpPr>
          <p:cNvPr id="9" name="S01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01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本地离线的材料力学学习辅助软件</a:t>
            </a:r>
            <a:endParaRPr lang="en-US" sz="1600" dirty="0"/>
          </a:p>
        </p:txBody>
      </p:sp>
      <p:sp>
        <p:nvSpPr>
          <p:cNvPr id="11" name="S01/object-6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S01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来源：README.md；用户提供的产品定位</a:t>
            </a:r>
            <a:endParaRPr lang="en-US" sz="800" dirty="0"/>
          </a:p>
        </p:txBody>
      </p:sp>
      <p:sp>
        <p:nvSpPr>
          <p:cNvPr id="14" name="S01/object-7"/>
          <p:cNvSpPr/>
          <p:nvPr/>
        </p:nvSpPr>
        <p:spPr>
          <a:xfrm>
            <a:off x="548640" y="182880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40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从力学概念</a:t>
            </a:r>
            <a:endParaRPr lang="en-US" sz="4000" dirty="0"/>
          </a:p>
        </p:txBody>
      </p:sp>
      <p:sp>
        <p:nvSpPr>
          <p:cNvPr id="15" name="S01/object-8"/>
          <p:cNvSpPr/>
          <p:nvPr/>
        </p:nvSpPr>
        <p:spPr>
          <a:xfrm>
            <a:off x="548640" y="269748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40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到可验证计算</a:t>
            </a:r>
            <a:endParaRPr lang="en-US" sz="4000" dirty="0"/>
          </a:p>
        </p:txBody>
      </p:sp>
      <p:sp>
        <p:nvSpPr>
          <p:cNvPr id="16" name="S01/object-9"/>
          <p:cNvSpPr/>
          <p:nvPr/>
        </p:nvSpPr>
        <p:spPr>
          <a:xfrm>
            <a:off x="594360" y="376732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一根梁，串起建模、求解、推导与独立校核</a:t>
            </a:r>
            <a:endParaRPr lang="en-US" sz="2200" dirty="0"/>
          </a:p>
        </p:txBody>
      </p:sp>
      <p:sp>
        <p:nvSpPr>
          <p:cNvPr id="17" name="S01/object-10"/>
          <p:cNvSpPr/>
          <p:nvPr/>
        </p:nvSpPr>
        <p:spPr>
          <a:xfrm>
            <a:off x="594360" y="48006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8" name="S01/object-11"/>
          <p:cNvSpPr/>
          <p:nvPr/>
        </p:nvSpPr>
        <p:spPr>
          <a:xfrm>
            <a:off x="704088" y="48646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</a:t>
            </a:r>
            <a:endParaRPr lang="en-US" sz="1200" dirty="0"/>
          </a:p>
        </p:txBody>
      </p:sp>
      <p:sp>
        <p:nvSpPr>
          <p:cNvPr id="19" name="S01/object-12"/>
          <p:cNvSpPr/>
          <p:nvPr/>
        </p:nvSpPr>
        <p:spPr>
          <a:xfrm>
            <a:off x="2514600" y="48006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0" name="S01/object-13"/>
          <p:cNvSpPr/>
          <p:nvPr/>
        </p:nvSpPr>
        <p:spPr>
          <a:xfrm>
            <a:off x="2624328" y="48646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 / 空间杆系</a:t>
            </a:r>
            <a:endParaRPr lang="en-US" sz="1200" dirty="0"/>
          </a:p>
        </p:txBody>
      </p:sp>
      <p:sp>
        <p:nvSpPr>
          <p:cNvPr id="21" name="S01/object-14"/>
          <p:cNvSpPr/>
          <p:nvPr/>
        </p:nvSpPr>
        <p:spPr>
          <a:xfrm>
            <a:off x="4434840" y="48006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2" name="S01/object-15"/>
          <p:cNvSpPr/>
          <p:nvPr/>
        </p:nvSpPr>
        <p:spPr>
          <a:xfrm>
            <a:off x="4544568" y="48646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符号公式</a:t>
            </a:r>
            <a:endParaRPr lang="en-US" sz="1200" dirty="0"/>
          </a:p>
        </p:txBody>
      </p:sp>
      <p:sp>
        <p:nvSpPr>
          <p:cNvPr id="23" name="S01/object-16"/>
          <p:cNvSpPr/>
          <p:nvPr/>
        </p:nvSpPr>
        <p:spPr>
          <a:xfrm>
            <a:off x="594360" y="561441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材料力学同学分享  ·  v2.0.2</a:t>
            </a:r>
            <a:endParaRPr lang="en-US" sz="1700" dirty="0"/>
          </a:p>
        </p:txBody>
      </p:sp>
      <p:sp>
        <p:nvSpPr>
          <p:cNvPr id="24" name="S01/concept-stage"/>
          <p:cNvSpPr/>
          <p:nvPr/>
        </p:nvSpPr>
        <p:spPr>
          <a:xfrm>
            <a:off x="7498080" y="1719072"/>
            <a:ext cx="4114800" cy="4407408"/>
          </a:xfrm>
          <a:prstGeom prst="roundRect">
            <a:avLst>
              <a:gd name="adj" fmla="val 3556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5" name="S01/object-17"/>
          <p:cNvSpPr/>
          <p:nvPr/>
        </p:nvSpPr>
        <p:spPr>
          <a:xfrm>
            <a:off x="7772400" y="57607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概念插画 · 非实测结果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2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02/object-1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02/object-1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02/object-2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02/object-2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02/object-2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02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为什么需要这样的学习工具？</a:t>
            </a:r>
            <a:endParaRPr lang="en-US" sz="2800" dirty="0"/>
          </a:p>
        </p:txBody>
      </p:sp>
      <p:sp>
        <p:nvSpPr>
          <p:cNvPr id="9" name="S02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02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课堂难点是把模型、计算与内力图联系起来</a:t>
            </a:r>
            <a:endParaRPr lang="en-US" sz="1600" dirty="0"/>
          </a:p>
        </p:txBody>
      </p:sp>
      <p:sp>
        <p:nvSpPr>
          <p:cNvPr id="11" name="S02/object-23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S02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来源：二维简支梁解析条件</a:t>
            </a:r>
            <a:endParaRPr lang="en-US" sz="800" dirty="0"/>
          </a:p>
        </p:txBody>
      </p:sp>
      <p:sp>
        <p:nvSpPr>
          <p:cNvPr id="14" name="S02/object-24"/>
          <p:cNvSpPr/>
          <p:nvPr/>
        </p:nvSpPr>
        <p:spPr>
          <a:xfrm>
            <a:off x="594360" y="178308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5" name="S02/object-25"/>
          <p:cNvSpPr/>
          <p:nvPr/>
        </p:nvSpPr>
        <p:spPr>
          <a:xfrm>
            <a:off x="594360" y="183337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S02/object-26"/>
          <p:cNvSpPr/>
          <p:nvPr/>
        </p:nvSpPr>
        <p:spPr>
          <a:xfrm>
            <a:off x="1033272" y="1769364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会算题，还需要能解释结果</a:t>
            </a:r>
            <a:endParaRPr lang="en-US" sz="2100" dirty="0"/>
          </a:p>
        </p:txBody>
      </p:sp>
      <p:sp>
        <p:nvSpPr>
          <p:cNvPr id="17" name="S02/object-27"/>
          <p:cNvSpPr/>
          <p:nvPr/>
        </p:nvSpPr>
        <p:spPr>
          <a:xfrm>
            <a:off x="658368" y="2651760"/>
            <a:ext cx="155448" cy="155448"/>
          </a:xfrm>
          <a:prstGeom prst="ellipse">
            <a:avLst/>
          </a:prstGeom>
          <a:solidFill>
            <a:srgbClr val="D98236"/>
          </a:solidFill>
          <a:ln w="12700">
            <a:solidFill>
              <a:srgbClr val="D98236"/>
            </a:solidFill>
            <a:prstDash val="solid"/>
          </a:ln>
        </p:spPr>
      </p:sp>
      <p:sp>
        <p:nvSpPr>
          <p:cNvPr id="18" name="S02/object-28"/>
          <p:cNvSpPr/>
          <p:nvPr/>
        </p:nvSpPr>
        <p:spPr>
          <a:xfrm>
            <a:off x="987552" y="2532888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支座约束哪些自由度？</a:t>
            </a:r>
            <a:endParaRPr lang="en-US" sz="2200" dirty="0"/>
          </a:p>
        </p:txBody>
      </p:sp>
      <p:sp>
        <p:nvSpPr>
          <p:cNvPr id="19" name="S02/object-29"/>
          <p:cNvSpPr/>
          <p:nvPr/>
        </p:nvSpPr>
        <p:spPr>
          <a:xfrm>
            <a:off x="658368" y="3456432"/>
            <a:ext cx="155448" cy="155448"/>
          </a:xfrm>
          <a:prstGeom prst="ellipse">
            <a:avLst/>
          </a:prstGeom>
          <a:solidFill>
            <a:srgbClr val="D98236"/>
          </a:solidFill>
          <a:ln w="12700">
            <a:solidFill>
              <a:srgbClr val="D98236"/>
            </a:solidFill>
            <a:prstDash val="solid"/>
          </a:ln>
        </p:spPr>
      </p:sp>
      <p:sp>
        <p:nvSpPr>
          <p:cNvPr id="20" name="S02/object-30"/>
          <p:cNvSpPr/>
          <p:nvPr/>
        </p:nvSpPr>
        <p:spPr>
          <a:xfrm>
            <a:off x="987552" y="333756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荷载改变后，内力图怎样变？</a:t>
            </a:r>
            <a:endParaRPr lang="en-US" sz="2200" dirty="0"/>
          </a:p>
        </p:txBody>
      </p:sp>
      <p:sp>
        <p:nvSpPr>
          <p:cNvPr id="21" name="S02/object-31"/>
          <p:cNvSpPr/>
          <p:nvPr/>
        </p:nvSpPr>
        <p:spPr>
          <a:xfrm>
            <a:off x="658368" y="4261104"/>
            <a:ext cx="155448" cy="155448"/>
          </a:xfrm>
          <a:prstGeom prst="ellipse">
            <a:avLst/>
          </a:prstGeom>
          <a:solidFill>
            <a:srgbClr val="D98236"/>
          </a:solidFill>
          <a:ln w="12700">
            <a:solidFill>
              <a:srgbClr val="D98236"/>
            </a:solidFill>
            <a:prstDash val="solid"/>
          </a:ln>
        </p:spPr>
      </p:sp>
      <p:sp>
        <p:nvSpPr>
          <p:cNvPr id="22" name="S02/object-32"/>
          <p:cNvSpPr/>
          <p:nvPr/>
        </p:nvSpPr>
        <p:spPr>
          <a:xfrm>
            <a:off x="987552" y="4142232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数值结果为什么可信？</a:t>
            </a:r>
            <a:endParaRPr lang="en-US" sz="2200" dirty="0"/>
          </a:p>
        </p:txBody>
      </p:sp>
      <p:sp>
        <p:nvSpPr>
          <p:cNvPr id="23" name="S02/object-33"/>
          <p:cNvSpPr/>
          <p:nvPr/>
        </p:nvSpPr>
        <p:spPr>
          <a:xfrm>
            <a:off x="6565392" y="3154680"/>
            <a:ext cx="4114800" cy="0"/>
          </a:xfrm>
          <a:prstGeom prst="line">
            <a:avLst/>
          </a:prstGeom>
          <a:noFill/>
          <a:ln w="63500">
            <a:solidFill>
              <a:srgbClr val="123E62"/>
            </a:solidFill>
            <a:prstDash val="solid"/>
          </a:ln>
        </p:spPr>
      </p:sp>
      <p:sp>
        <p:nvSpPr>
          <p:cNvPr id="24" name="S02/support-0-33"/>
          <p:cNvSpPr/>
          <p:nvPr/>
        </p:nvSpPr>
        <p:spPr>
          <a:xfrm>
            <a:off x="6419088" y="3200400"/>
            <a:ext cx="292608" cy="246888"/>
          </a:xfrm>
          <a:prstGeom prst="triangle">
            <a:avLst/>
          </a:prstGeom>
          <a:solidFill>
            <a:srgbClr val="ECF5FE"/>
          </a:solidFill>
          <a:ln w="19050">
            <a:solidFill>
              <a:srgbClr val="075FAF"/>
            </a:solidFill>
            <a:prstDash val="solid"/>
          </a:ln>
        </p:spPr>
      </p:sp>
      <p:sp>
        <p:nvSpPr>
          <p:cNvPr id="25" name="S02/object-35"/>
          <p:cNvSpPr/>
          <p:nvPr/>
        </p:nvSpPr>
        <p:spPr>
          <a:xfrm>
            <a:off x="6336792" y="3502152"/>
            <a:ext cx="457200" cy="0"/>
          </a:xfrm>
          <a:prstGeom prst="line">
            <a:avLst/>
          </a:prstGeom>
          <a:noFill/>
          <a:ln w="10160">
            <a:solidFill>
              <a:srgbClr val="536D84"/>
            </a:solidFill>
            <a:prstDash val="solid"/>
          </a:ln>
        </p:spPr>
      </p:sp>
      <p:sp>
        <p:nvSpPr>
          <p:cNvPr id="26" name="S02/support-1-35"/>
          <p:cNvSpPr/>
          <p:nvPr/>
        </p:nvSpPr>
        <p:spPr>
          <a:xfrm>
            <a:off x="10533888" y="3200400"/>
            <a:ext cx="292608" cy="246888"/>
          </a:xfrm>
          <a:prstGeom prst="triangle">
            <a:avLst/>
          </a:prstGeom>
          <a:solidFill>
            <a:srgbClr val="ECF5FE"/>
          </a:solidFill>
          <a:ln w="19050">
            <a:solidFill>
              <a:srgbClr val="075FAF"/>
            </a:solidFill>
            <a:prstDash val="solid"/>
          </a:ln>
        </p:spPr>
      </p:sp>
      <p:sp>
        <p:nvSpPr>
          <p:cNvPr id="27" name="S02/object-37"/>
          <p:cNvSpPr/>
          <p:nvPr/>
        </p:nvSpPr>
        <p:spPr>
          <a:xfrm>
            <a:off x="10451592" y="3502152"/>
            <a:ext cx="457200" cy="0"/>
          </a:xfrm>
          <a:prstGeom prst="line">
            <a:avLst/>
          </a:prstGeom>
          <a:noFill/>
          <a:ln w="10160">
            <a:solidFill>
              <a:srgbClr val="536D84"/>
            </a:solidFill>
            <a:prstDash val="solid"/>
          </a:ln>
        </p:spPr>
      </p:sp>
      <p:sp>
        <p:nvSpPr>
          <p:cNvPr id="28" name="S02/object-38"/>
          <p:cNvSpPr/>
          <p:nvPr/>
        </p:nvSpPr>
        <p:spPr>
          <a:xfrm>
            <a:off x="8622792" y="2468880"/>
            <a:ext cx="0" cy="630936"/>
          </a:xfrm>
          <a:prstGeom prst="line">
            <a:avLst/>
          </a:prstGeom>
          <a:noFill/>
          <a:ln w="31750">
            <a:solidFill>
              <a:srgbClr val="D98236"/>
            </a:solidFill>
            <a:prstDash val="solid"/>
            <a:tailEnd type="triangle"/>
          </a:ln>
        </p:spPr>
      </p:sp>
      <p:sp>
        <p:nvSpPr>
          <p:cNvPr id="29" name="S02/object-39"/>
          <p:cNvSpPr/>
          <p:nvPr/>
        </p:nvSpPr>
        <p:spPr>
          <a:xfrm>
            <a:off x="8732520" y="2423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D982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= 18 kN</a:t>
            </a:r>
            <a:endParaRPr lang="en-US" sz="1600" dirty="0"/>
          </a:p>
        </p:txBody>
      </p:sp>
      <p:sp>
        <p:nvSpPr>
          <p:cNvPr id="30" name="S02/object-40"/>
          <p:cNvSpPr/>
          <p:nvPr/>
        </p:nvSpPr>
        <p:spPr>
          <a:xfrm>
            <a:off x="6428232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500" dirty="0"/>
          </a:p>
        </p:txBody>
      </p:sp>
      <p:sp>
        <p:nvSpPr>
          <p:cNvPr id="31" name="S02/object-41"/>
          <p:cNvSpPr/>
          <p:nvPr/>
        </p:nvSpPr>
        <p:spPr>
          <a:xfrm>
            <a:off x="10543032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500" dirty="0"/>
          </a:p>
        </p:txBody>
      </p:sp>
      <p:sp>
        <p:nvSpPr>
          <p:cNvPr id="32" name="S02/object-42"/>
          <p:cNvSpPr/>
          <p:nvPr/>
        </p:nvSpPr>
        <p:spPr>
          <a:xfrm>
            <a:off x="6355080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先作预测</a:t>
            </a:r>
            <a:endParaRPr lang="en-US" sz="2000" dirty="0"/>
          </a:p>
        </p:txBody>
      </p:sp>
      <p:sp>
        <p:nvSpPr>
          <p:cNvPr id="33" name="S02/object-43"/>
          <p:cNvSpPr/>
          <p:nvPr/>
        </p:nvSpPr>
        <p:spPr>
          <a:xfrm>
            <a:off x="9372600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再看响应</a:t>
            </a:r>
            <a:endParaRPr lang="en-US" sz="2000" dirty="0"/>
          </a:p>
        </p:txBody>
      </p:sp>
      <p:sp>
        <p:nvSpPr>
          <p:cNvPr id="34" name="S02/object-44"/>
          <p:cNvSpPr/>
          <p:nvPr/>
        </p:nvSpPr>
        <p:spPr>
          <a:xfrm>
            <a:off x="594360" y="5349240"/>
            <a:ext cx="11009376" cy="713232"/>
          </a:xfrm>
          <a:prstGeom prst="roundRect">
            <a:avLst>
              <a:gd name="adj" fmla="val 20513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5" name="S02/object-45"/>
          <p:cNvSpPr/>
          <p:nvPr/>
        </p:nvSpPr>
        <p:spPr>
          <a:xfrm>
            <a:off x="804672" y="5522976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软件的学习价值：让“条件—模型—结果—解释”能相互对应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3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03/object-46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03/object-47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03/object-48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03/object-49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03/object-50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03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四类基本变形与统一力学量</a:t>
            </a:r>
            <a:endParaRPr lang="en-US" sz="2800" dirty="0"/>
          </a:p>
        </p:txBody>
      </p:sp>
      <p:sp>
        <p:nvSpPr>
          <p:cNvPr id="9" name="S03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03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不同变形形式共享内力、材料与截面参数</a:t>
            </a:r>
            <a:endParaRPr lang="en-US" sz="1600" dirty="0"/>
          </a:p>
        </p:txBody>
      </p:sp>
      <p:sp>
        <p:nvSpPr>
          <p:cNvPr id="11" name="S03/object-51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S03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来源：README.md公式库及功能说明</a:t>
            </a:r>
            <a:endParaRPr lang="en-US" sz="800" dirty="0"/>
          </a:p>
        </p:txBody>
      </p:sp>
      <p:sp>
        <p:nvSpPr>
          <p:cNvPr id="14" name="S03/object-52"/>
          <p:cNvSpPr/>
          <p:nvPr/>
        </p:nvSpPr>
        <p:spPr>
          <a:xfrm>
            <a:off x="594360" y="1810512"/>
            <a:ext cx="5349240" cy="1847088"/>
          </a:xfrm>
          <a:prstGeom prst="roundRect">
            <a:avLst>
              <a:gd name="adj" fmla="val 7921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5" name="S03/object-53"/>
          <p:cNvSpPr/>
          <p:nvPr/>
        </p:nvSpPr>
        <p:spPr>
          <a:xfrm>
            <a:off x="777240" y="1984248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6" name="S03/object-54"/>
          <p:cNvSpPr/>
          <p:nvPr/>
        </p:nvSpPr>
        <p:spPr>
          <a:xfrm>
            <a:off x="777240" y="203454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S03/object-55"/>
          <p:cNvSpPr/>
          <p:nvPr/>
        </p:nvSpPr>
        <p:spPr>
          <a:xfrm>
            <a:off x="1216152" y="1970532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拉伸 / 压缩</a:t>
            </a:r>
            <a:endParaRPr lang="en-US" sz="2100" dirty="0"/>
          </a:p>
        </p:txBody>
      </p:sp>
      <p:sp>
        <p:nvSpPr>
          <p:cNvPr id="18" name="S03/object-56"/>
          <p:cNvSpPr/>
          <p:nvPr/>
        </p:nvSpPr>
        <p:spPr>
          <a:xfrm>
            <a:off x="822960" y="256946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→ σ → ΔL</a:t>
            </a:r>
            <a:endParaRPr lang="en-US" sz="2000" dirty="0"/>
          </a:p>
        </p:txBody>
      </p:sp>
      <p:sp>
        <p:nvSpPr>
          <p:cNvPr id="19" name="S03/object-57"/>
          <p:cNvSpPr/>
          <p:nvPr/>
        </p:nvSpPr>
        <p:spPr>
          <a:xfrm>
            <a:off x="822960" y="30175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 = N / A</a:t>
            </a:r>
            <a:endParaRPr lang="en-US" sz="2200" dirty="0"/>
          </a:p>
        </p:txBody>
      </p:sp>
      <p:sp>
        <p:nvSpPr>
          <p:cNvPr id="20" name="S03/object-58"/>
          <p:cNvSpPr/>
          <p:nvPr/>
        </p:nvSpPr>
        <p:spPr>
          <a:xfrm>
            <a:off x="3520440" y="29992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轴向力与长度变化</a:t>
            </a:r>
            <a:endParaRPr lang="en-US" sz="1400" dirty="0"/>
          </a:p>
        </p:txBody>
      </p:sp>
      <p:sp>
        <p:nvSpPr>
          <p:cNvPr id="21" name="S03/object-59"/>
          <p:cNvSpPr/>
          <p:nvPr/>
        </p:nvSpPr>
        <p:spPr>
          <a:xfrm>
            <a:off x="6245352" y="1810512"/>
            <a:ext cx="5349240" cy="1847088"/>
          </a:xfrm>
          <a:prstGeom prst="roundRect">
            <a:avLst>
              <a:gd name="adj" fmla="val 7921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2" name="S03/object-60"/>
          <p:cNvSpPr/>
          <p:nvPr/>
        </p:nvSpPr>
        <p:spPr>
          <a:xfrm>
            <a:off x="6428232" y="1984248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3" name="S03/object-61"/>
          <p:cNvSpPr/>
          <p:nvPr/>
        </p:nvSpPr>
        <p:spPr>
          <a:xfrm>
            <a:off x="6428232" y="203454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S03/object-62"/>
          <p:cNvSpPr/>
          <p:nvPr/>
        </p:nvSpPr>
        <p:spPr>
          <a:xfrm>
            <a:off x="6867144" y="1970532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弯曲</a:t>
            </a:r>
            <a:endParaRPr lang="en-US" sz="2100" dirty="0"/>
          </a:p>
        </p:txBody>
      </p:sp>
      <p:sp>
        <p:nvSpPr>
          <p:cNvPr id="25" name="S03/object-63"/>
          <p:cNvSpPr/>
          <p:nvPr/>
        </p:nvSpPr>
        <p:spPr>
          <a:xfrm>
            <a:off x="6473952" y="256946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 → M → σ、w</a:t>
            </a:r>
            <a:endParaRPr lang="en-US" sz="2000" dirty="0"/>
          </a:p>
        </p:txBody>
      </p:sp>
      <p:sp>
        <p:nvSpPr>
          <p:cNvPr id="26" name="S03/object-64"/>
          <p:cNvSpPr/>
          <p:nvPr/>
        </p:nvSpPr>
        <p:spPr>
          <a:xfrm>
            <a:off x="6473952" y="30175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σmax = M / W</a:t>
            </a:r>
            <a:endParaRPr lang="en-US" sz="2200" dirty="0"/>
          </a:p>
        </p:txBody>
      </p:sp>
      <p:sp>
        <p:nvSpPr>
          <p:cNvPr id="27" name="S03/object-65"/>
          <p:cNvSpPr/>
          <p:nvPr/>
        </p:nvSpPr>
        <p:spPr>
          <a:xfrm>
            <a:off x="9171432" y="29992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内力分布与危险截面</a:t>
            </a:r>
            <a:endParaRPr lang="en-US" sz="1400" dirty="0"/>
          </a:p>
        </p:txBody>
      </p:sp>
      <p:sp>
        <p:nvSpPr>
          <p:cNvPr id="28" name="S03/object-66"/>
          <p:cNvSpPr/>
          <p:nvPr/>
        </p:nvSpPr>
        <p:spPr>
          <a:xfrm>
            <a:off x="594360" y="3913632"/>
            <a:ext cx="5349240" cy="1847088"/>
          </a:xfrm>
          <a:prstGeom prst="roundRect">
            <a:avLst>
              <a:gd name="adj" fmla="val 7921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9" name="S03/object-67"/>
          <p:cNvSpPr/>
          <p:nvPr/>
        </p:nvSpPr>
        <p:spPr>
          <a:xfrm>
            <a:off x="777240" y="4087368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30" name="S03/object-68"/>
          <p:cNvSpPr/>
          <p:nvPr/>
        </p:nvSpPr>
        <p:spPr>
          <a:xfrm>
            <a:off x="777240" y="413766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S03/object-69"/>
          <p:cNvSpPr/>
          <p:nvPr/>
        </p:nvSpPr>
        <p:spPr>
          <a:xfrm>
            <a:off x="1216152" y="4073652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扭转</a:t>
            </a:r>
            <a:endParaRPr lang="en-US" sz="2100" dirty="0"/>
          </a:p>
        </p:txBody>
      </p:sp>
      <p:sp>
        <p:nvSpPr>
          <p:cNvPr id="32" name="S03/object-70"/>
          <p:cNvSpPr/>
          <p:nvPr/>
        </p:nvSpPr>
        <p:spPr>
          <a:xfrm>
            <a:off x="2560320" y="4672584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→ τ → φ</a:t>
            </a:r>
            <a:endParaRPr lang="en-US" sz="2000" dirty="0"/>
          </a:p>
        </p:txBody>
      </p:sp>
      <p:sp>
        <p:nvSpPr>
          <p:cNvPr id="33" name="S03/object-71"/>
          <p:cNvSpPr/>
          <p:nvPr/>
        </p:nvSpPr>
        <p:spPr>
          <a:xfrm>
            <a:off x="2560320" y="51206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τmax = T / Wt</a:t>
            </a:r>
            <a:endParaRPr lang="en-US" sz="2200" dirty="0"/>
          </a:p>
        </p:txBody>
      </p:sp>
      <p:sp>
        <p:nvSpPr>
          <p:cNvPr id="34" name="S03/object-72"/>
          <p:cNvSpPr/>
          <p:nvPr/>
        </p:nvSpPr>
        <p:spPr>
          <a:xfrm>
            <a:off x="6245352" y="3913632"/>
            <a:ext cx="5349240" cy="1847088"/>
          </a:xfrm>
          <a:prstGeom prst="roundRect">
            <a:avLst>
              <a:gd name="adj" fmla="val 7921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5" name="S03/object-73"/>
          <p:cNvSpPr/>
          <p:nvPr/>
        </p:nvSpPr>
        <p:spPr>
          <a:xfrm>
            <a:off x="6428232" y="4087368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36" name="S03/object-74"/>
          <p:cNvSpPr/>
          <p:nvPr/>
        </p:nvSpPr>
        <p:spPr>
          <a:xfrm>
            <a:off x="6428232" y="413766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37" name="S03/object-75"/>
          <p:cNvSpPr/>
          <p:nvPr/>
        </p:nvSpPr>
        <p:spPr>
          <a:xfrm>
            <a:off x="6867144" y="4073652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组合变形</a:t>
            </a:r>
            <a:endParaRPr lang="en-US" sz="2100" dirty="0"/>
          </a:p>
        </p:txBody>
      </p:sp>
      <p:sp>
        <p:nvSpPr>
          <p:cNvPr id="38" name="S03/object-76"/>
          <p:cNvSpPr/>
          <p:nvPr/>
        </p:nvSpPr>
        <p:spPr>
          <a:xfrm>
            <a:off x="6473952" y="46725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N、M、T → 强度</a:t>
            </a:r>
            <a:endParaRPr lang="en-US" sz="2000" dirty="0"/>
          </a:p>
        </p:txBody>
      </p:sp>
      <p:sp>
        <p:nvSpPr>
          <p:cNvPr id="39" name="S03/object-77"/>
          <p:cNvSpPr/>
          <p:nvPr/>
        </p:nvSpPr>
        <p:spPr>
          <a:xfrm>
            <a:off x="6473952" y="51206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σeq = √(σ² + 3τ²)</a:t>
            </a:r>
            <a:endParaRPr lang="en-US" sz="2200" dirty="0"/>
          </a:p>
        </p:txBody>
      </p:sp>
      <p:sp>
        <p:nvSpPr>
          <p:cNvPr id="40" name="S03/object-78"/>
          <p:cNvSpPr/>
          <p:nvPr/>
        </p:nvSpPr>
        <p:spPr>
          <a:xfrm>
            <a:off x="9171432" y="510235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先区分分量与适用条件</a:t>
            </a:r>
            <a:endParaRPr lang="en-US" sz="1400" dirty="0"/>
          </a:p>
        </p:txBody>
      </p:sp>
      <p:sp>
        <p:nvSpPr>
          <p:cNvPr id="41" name="S03/object-79"/>
          <p:cNvSpPr/>
          <p:nvPr/>
        </p:nvSpPr>
        <p:spPr>
          <a:xfrm>
            <a:off x="896112" y="5815584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概念示意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4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04/object-8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04/object-8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04/object-8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04/object-8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04/object-8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04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从建模到核验的完整流程</a:t>
            </a:r>
            <a:endParaRPr lang="en-US" sz="2800" dirty="0"/>
          </a:p>
        </p:txBody>
      </p:sp>
      <p:sp>
        <p:nvSpPr>
          <p:cNvPr id="9" name="S04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04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输入、求解、展示和解析核对形成学习闭环</a:t>
            </a:r>
            <a:endParaRPr lang="en-US" sz="1600" dirty="0"/>
          </a:p>
        </p:txBody>
      </p:sp>
      <p:sp>
        <p:nvSpPr>
          <p:cNvPr id="11" name="S04/object-8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100" dirty="0"/>
          </a:p>
        </p:txBody>
      </p:sp>
      <p:sp>
        <p:nvSpPr>
          <p:cNvPr id="12" name="S04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来源：README.md；用户提供的技术架构</a:t>
            </a:r>
            <a:endParaRPr lang="en-US" sz="800" dirty="0"/>
          </a:p>
        </p:txBody>
      </p:sp>
      <p:sp>
        <p:nvSpPr>
          <p:cNvPr id="14" name="S04/object-86"/>
          <p:cNvSpPr/>
          <p:nvPr/>
        </p:nvSpPr>
        <p:spPr>
          <a:xfrm>
            <a:off x="594360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5" name="S04/object-87"/>
          <p:cNvSpPr/>
          <p:nvPr/>
        </p:nvSpPr>
        <p:spPr>
          <a:xfrm>
            <a:off x="740664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16" name="S04/object-88"/>
          <p:cNvSpPr/>
          <p:nvPr/>
        </p:nvSpPr>
        <p:spPr>
          <a:xfrm>
            <a:off x="740664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 / 物理条件</a:t>
            </a:r>
            <a:endParaRPr lang="en-US" sz="1800" dirty="0"/>
          </a:p>
        </p:txBody>
      </p:sp>
      <p:sp>
        <p:nvSpPr>
          <p:cNvPr id="17" name="S04/object-89"/>
          <p:cNvSpPr/>
          <p:nvPr/>
        </p:nvSpPr>
        <p:spPr>
          <a:xfrm>
            <a:off x="704088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单位、几何、受力</a:t>
            </a:r>
            <a:endParaRPr lang="en-US" sz="1200" dirty="0"/>
          </a:p>
        </p:txBody>
      </p:sp>
      <p:sp>
        <p:nvSpPr>
          <p:cNvPr id="18" name="S04/object-90"/>
          <p:cNvSpPr/>
          <p:nvPr/>
        </p:nvSpPr>
        <p:spPr>
          <a:xfrm>
            <a:off x="2587752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19" name="S04/object-91"/>
          <p:cNvSpPr/>
          <p:nvPr/>
        </p:nvSpPr>
        <p:spPr>
          <a:xfrm>
            <a:off x="2843784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0" name="S04/object-92"/>
          <p:cNvSpPr/>
          <p:nvPr/>
        </p:nvSpPr>
        <p:spPr>
          <a:xfrm>
            <a:off x="2990088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21" name="S04/object-93"/>
          <p:cNvSpPr/>
          <p:nvPr/>
        </p:nvSpPr>
        <p:spPr>
          <a:xfrm>
            <a:off x="2990088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离散结构模型</a:t>
            </a:r>
            <a:endParaRPr lang="en-US" sz="1800" dirty="0"/>
          </a:p>
        </p:txBody>
      </p:sp>
      <p:sp>
        <p:nvSpPr>
          <p:cNvPr id="22" name="S04/object-94"/>
          <p:cNvSpPr/>
          <p:nvPr/>
        </p:nvSpPr>
        <p:spPr>
          <a:xfrm>
            <a:off x="2953512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节点、构件、材料</a:t>
            </a:r>
            <a:endParaRPr lang="en-US" sz="1200" dirty="0"/>
          </a:p>
        </p:txBody>
      </p:sp>
      <p:sp>
        <p:nvSpPr>
          <p:cNvPr id="23" name="S04/object-95"/>
          <p:cNvSpPr/>
          <p:nvPr/>
        </p:nvSpPr>
        <p:spPr>
          <a:xfrm>
            <a:off x="4837176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24" name="S04/object-96"/>
          <p:cNvSpPr/>
          <p:nvPr/>
        </p:nvSpPr>
        <p:spPr>
          <a:xfrm>
            <a:off x="5093208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5" name="S04/object-97"/>
          <p:cNvSpPr/>
          <p:nvPr/>
        </p:nvSpPr>
        <p:spPr>
          <a:xfrm>
            <a:off x="5239512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S04/object-98"/>
          <p:cNvSpPr/>
          <p:nvPr/>
        </p:nvSpPr>
        <p:spPr>
          <a:xfrm>
            <a:off x="5239512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约束与荷载</a:t>
            </a:r>
            <a:endParaRPr lang="en-US" sz="1800" dirty="0"/>
          </a:p>
        </p:txBody>
      </p:sp>
      <p:sp>
        <p:nvSpPr>
          <p:cNvPr id="27" name="S04/object-99"/>
          <p:cNvSpPr/>
          <p:nvPr/>
        </p:nvSpPr>
        <p:spPr>
          <a:xfrm>
            <a:off x="5202936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自由度、等效作用</a:t>
            </a:r>
            <a:endParaRPr lang="en-US" sz="1200" dirty="0"/>
          </a:p>
        </p:txBody>
      </p:sp>
      <p:sp>
        <p:nvSpPr>
          <p:cNvPr id="28" name="S04/object-100"/>
          <p:cNvSpPr/>
          <p:nvPr/>
        </p:nvSpPr>
        <p:spPr>
          <a:xfrm>
            <a:off x="7086600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29" name="S04/object-101"/>
          <p:cNvSpPr/>
          <p:nvPr/>
        </p:nvSpPr>
        <p:spPr>
          <a:xfrm>
            <a:off x="7342632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0" name="S04/object-102"/>
          <p:cNvSpPr/>
          <p:nvPr/>
        </p:nvSpPr>
        <p:spPr>
          <a:xfrm>
            <a:off x="7488936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600" dirty="0"/>
          </a:p>
        </p:txBody>
      </p:sp>
      <p:sp>
        <p:nvSpPr>
          <p:cNvPr id="31" name="S04/object-103"/>
          <p:cNvSpPr/>
          <p:nvPr/>
        </p:nvSpPr>
        <p:spPr>
          <a:xfrm>
            <a:off x="7488936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局部到整体</a:t>
            </a:r>
            <a:endParaRPr lang="en-US" sz="1800" dirty="0"/>
          </a:p>
        </p:txBody>
      </p:sp>
      <p:sp>
        <p:nvSpPr>
          <p:cNvPr id="32" name="S04/object-104"/>
          <p:cNvSpPr/>
          <p:nvPr/>
        </p:nvSpPr>
        <p:spPr>
          <a:xfrm>
            <a:off x="7452360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单元刚度、坐标变换</a:t>
            </a:r>
            <a:endParaRPr lang="en-US" sz="1200" dirty="0"/>
          </a:p>
        </p:txBody>
      </p:sp>
      <p:sp>
        <p:nvSpPr>
          <p:cNvPr id="33" name="S04/object-105"/>
          <p:cNvSpPr/>
          <p:nvPr/>
        </p:nvSpPr>
        <p:spPr>
          <a:xfrm>
            <a:off x="9336024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34" name="S04/object-106"/>
          <p:cNvSpPr/>
          <p:nvPr/>
        </p:nvSpPr>
        <p:spPr>
          <a:xfrm>
            <a:off x="9592056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D9EFF1"/>
          </a:solidFill>
          <a:ln w="10160">
            <a:solidFill>
              <a:srgbClr val="D9EFF1"/>
            </a:solidFill>
            <a:prstDash val="solid"/>
          </a:ln>
        </p:spPr>
      </p:sp>
      <p:sp>
        <p:nvSpPr>
          <p:cNvPr id="35" name="S04/object-107"/>
          <p:cNvSpPr/>
          <p:nvPr/>
        </p:nvSpPr>
        <p:spPr>
          <a:xfrm>
            <a:off x="9738360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600" dirty="0"/>
          </a:p>
        </p:txBody>
      </p:sp>
      <p:sp>
        <p:nvSpPr>
          <p:cNvPr id="36" name="S04/object-108"/>
          <p:cNvSpPr/>
          <p:nvPr/>
        </p:nvSpPr>
        <p:spPr>
          <a:xfrm>
            <a:off x="9738360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本地求解</a:t>
            </a:r>
            <a:endParaRPr lang="en-US" sz="1800" dirty="0"/>
          </a:p>
        </p:txBody>
      </p:sp>
      <p:sp>
        <p:nvSpPr>
          <p:cNvPr id="37" name="S04/object-109"/>
          <p:cNvSpPr/>
          <p:nvPr/>
        </p:nvSpPr>
        <p:spPr>
          <a:xfrm>
            <a:off x="9701784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位移、反力、端力</a:t>
            </a:r>
            <a:endParaRPr lang="en-US" sz="1200" dirty="0"/>
          </a:p>
        </p:txBody>
      </p:sp>
      <p:sp>
        <p:nvSpPr>
          <p:cNvPr id="38" name="S04/object-110"/>
          <p:cNvSpPr/>
          <p:nvPr/>
        </p:nvSpPr>
        <p:spPr>
          <a:xfrm>
            <a:off x="10561320" y="3218688"/>
            <a:ext cx="0" cy="530352"/>
          </a:xfrm>
          <a:prstGeom prst="line">
            <a:avLst/>
          </a:prstGeom>
          <a:noFill/>
          <a:ln w="2032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39" name="S04/object-111"/>
          <p:cNvSpPr/>
          <p:nvPr/>
        </p:nvSpPr>
        <p:spPr>
          <a:xfrm>
            <a:off x="6537960" y="3794760"/>
            <a:ext cx="5074920" cy="1051560"/>
          </a:xfrm>
          <a:prstGeom prst="roundRect">
            <a:avLst>
              <a:gd name="adj" fmla="val 13913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40" name="S04/object-112"/>
          <p:cNvSpPr/>
          <p:nvPr/>
        </p:nvSpPr>
        <p:spPr>
          <a:xfrm>
            <a:off x="6766560" y="3977640"/>
            <a:ext cx="4526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结果解释与可视化</a:t>
            </a:r>
            <a:endParaRPr lang="en-US" sz="2200" dirty="0"/>
          </a:p>
        </p:txBody>
      </p:sp>
      <p:sp>
        <p:nvSpPr>
          <p:cNvPr id="41" name="S04/object-113"/>
          <p:cNvSpPr/>
          <p:nvPr/>
        </p:nvSpPr>
        <p:spPr>
          <a:xfrm>
            <a:off x="6766560" y="4471416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/ V / M、变形、结果表与教学推导</a:t>
            </a:r>
            <a:endParaRPr lang="en-US" sz="1500" dirty="0"/>
          </a:p>
        </p:txBody>
      </p:sp>
      <p:sp>
        <p:nvSpPr>
          <p:cNvPr id="42" name="S04/object-114"/>
          <p:cNvSpPr/>
          <p:nvPr/>
        </p:nvSpPr>
        <p:spPr>
          <a:xfrm>
            <a:off x="594360" y="3794760"/>
            <a:ext cx="5349240" cy="1051560"/>
          </a:xfrm>
          <a:prstGeom prst="roundRect">
            <a:avLst>
              <a:gd name="adj" fmla="val 13913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43" name="S04/object-115"/>
          <p:cNvSpPr/>
          <p:nvPr/>
        </p:nvSpPr>
        <p:spPr>
          <a:xfrm>
            <a:off x="804672" y="4014216"/>
            <a:ext cx="4937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独立校核：平衡关系 + 解析解 + 参数实验</a:t>
            </a:r>
            <a:endParaRPr lang="en-US" sz="2000" dirty="0"/>
          </a:p>
        </p:txBody>
      </p:sp>
      <p:sp>
        <p:nvSpPr>
          <p:cNvPr id="44" name="S04/object-116"/>
          <p:cNvSpPr/>
          <p:nvPr/>
        </p:nvSpPr>
        <p:spPr>
          <a:xfrm flipH="1">
            <a:off x="5961888" y="4315968"/>
            <a:ext cx="548640" cy="0"/>
          </a:xfrm>
          <a:prstGeom prst="line">
            <a:avLst/>
          </a:prstGeom>
          <a:noFill/>
          <a:ln w="1905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45" name="S04/object-117"/>
          <p:cNvSpPr/>
          <p:nvPr/>
        </p:nvSpPr>
        <p:spPr>
          <a:xfrm flipV="1">
            <a:off x="3246120" y="3246120"/>
            <a:ext cx="0" cy="521208"/>
          </a:xfrm>
          <a:prstGeom prst="line">
            <a:avLst/>
          </a:prstGeom>
          <a:noFill/>
          <a:ln w="1905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46" name="S04/object-118"/>
          <p:cNvSpPr/>
          <p:nvPr/>
        </p:nvSpPr>
        <p:spPr>
          <a:xfrm>
            <a:off x="685800" y="5285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输入校核</a:t>
            </a:r>
            <a:endParaRPr lang="en-US" sz="1800" dirty="0"/>
          </a:p>
        </p:txBody>
      </p:sp>
      <p:sp>
        <p:nvSpPr>
          <p:cNvPr id="47" name="S04/object-119"/>
          <p:cNvSpPr/>
          <p:nvPr/>
        </p:nvSpPr>
        <p:spPr>
          <a:xfrm>
            <a:off x="2560320" y="5230368"/>
            <a:ext cx="8869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约束是否足够 / 单位是否一致 / 荷载方向是否正确</a:t>
            </a:r>
            <a:endParaRPr lang="en-US" sz="1900" dirty="0"/>
          </a:p>
        </p:txBody>
      </p:sp>
      <p:sp>
        <p:nvSpPr>
          <p:cNvPr id="48" name="S04/object-120"/>
          <p:cNvSpPr/>
          <p:nvPr/>
        </p:nvSpPr>
        <p:spPr>
          <a:xfrm>
            <a:off x="685800" y="5824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闭环原则</a:t>
            </a:r>
            <a:endParaRPr lang="en-US" sz="1800" dirty="0"/>
          </a:p>
        </p:txBody>
      </p:sp>
      <p:sp>
        <p:nvSpPr>
          <p:cNvPr id="49" name="S04/object-121"/>
          <p:cNvSpPr/>
          <p:nvPr/>
        </p:nvSpPr>
        <p:spPr>
          <a:xfrm>
            <a:off x="2560320" y="576072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不只确认“求解完成”，还要解释结果是否符合物理预期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5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05/object-122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05/object-123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05/object-124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05/object-125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05/object-126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05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真实工作区如何组织？</a:t>
            </a:r>
            <a:endParaRPr lang="en-US" sz="2800" dirty="0"/>
          </a:p>
        </p:txBody>
      </p:sp>
      <p:sp>
        <p:nvSpPr>
          <p:cNvPr id="9" name="S05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05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左模型树、中视图区、右属性面板协同操作</a:t>
            </a:r>
            <a:endParaRPr lang="en-US" sz="1600" dirty="0"/>
          </a:p>
        </p:txBody>
      </p:sp>
      <p:sp>
        <p:nvSpPr>
          <p:cNvPr id="11" name="S05/object-12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100" dirty="0"/>
          </a:p>
        </p:txBody>
      </p:sp>
      <p:sp>
        <p:nvSpPr>
          <p:cNvPr id="12" name="S05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来源：live/01-workspace.jpg；qa/live-run-evidence.json</a:t>
            </a:r>
            <a:endParaRPr lang="en-US" sz="800" dirty="0"/>
          </a:p>
        </p:txBody>
      </p:sp>
      <p:sp>
        <p:nvSpPr>
          <p:cNvPr id="14" name="S05/object-128"/>
          <p:cNvSpPr/>
          <p:nvPr/>
        </p:nvSpPr>
        <p:spPr>
          <a:xfrm>
            <a:off x="571500" y="1760220"/>
            <a:ext cx="8458200" cy="4617720"/>
          </a:xfrm>
          <a:prstGeom prst="rect">
            <a:avLst>
              <a:gd name="adj" fmla="val 3168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5" name="S05/workspace-evidence" descr="真实本地程序截图；来源 01-workspac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600" y="1783080"/>
            <a:ext cx="8128000" cy="4572000"/>
          </a:xfrm>
          <a:prstGeom prst="rect">
            <a:avLst/>
          </a:prstGeom>
        </p:spPr>
      </p:pic>
      <p:sp>
        <p:nvSpPr>
          <p:cNvPr id="16" name="S05/object-129"/>
          <p:cNvSpPr/>
          <p:nvPr/>
        </p:nvSpPr>
        <p:spPr>
          <a:xfrm>
            <a:off x="9217152" y="196596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7" name="S05/object-130"/>
          <p:cNvSpPr/>
          <p:nvPr/>
        </p:nvSpPr>
        <p:spPr>
          <a:xfrm>
            <a:off x="9217152" y="201625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S05/object-131"/>
          <p:cNvSpPr/>
          <p:nvPr/>
        </p:nvSpPr>
        <p:spPr>
          <a:xfrm>
            <a:off x="9656064" y="195224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模型树</a:t>
            </a:r>
            <a:endParaRPr lang="en-US" sz="2100" dirty="0"/>
          </a:p>
        </p:txBody>
      </p:sp>
      <p:sp>
        <p:nvSpPr>
          <p:cNvPr id="19" name="S05/object-132"/>
          <p:cNvSpPr/>
          <p:nvPr/>
        </p:nvSpPr>
        <p:spPr>
          <a:xfrm>
            <a:off x="9262872" y="249631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节点、构件与条件</a:t>
            </a:r>
            <a:endParaRPr lang="en-US" sz="1700" dirty="0"/>
          </a:p>
        </p:txBody>
      </p:sp>
      <p:sp>
        <p:nvSpPr>
          <p:cNvPr id="20" name="S05/object-133"/>
          <p:cNvSpPr/>
          <p:nvPr/>
        </p:nvSpPr>
        <p:spPr>
          <a:xfrm>
            <a:off x="9217152" y="320040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1" name="S05/object-134"/>
          <p:cNvSpPr/>
          <p:nvPr/>
        </p:nvSpPr>
        <p:spPr>
          <a:xfrm>
            <a:off x="9217152" y="32506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S05/object-135"/>
          <p:cNvSpPr/>
          <p:nvPr/>
        </p:nvSpPr>
        <p:spPr>
          <a:xfrm>
            <a:off x="9656064" y="318668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工作视图</a:t>
            </a:r>
            <a:endParaRPr lang="en-US" sz="2100" dirty="0"/>
          </a:p>
        </p:txBody>
      </p:sp>
      <p:sp>
        <p:nvSpPr>
          <p:cNvPr id="23" name="S05/object-136"/>
          <p:cNvSpPr/>
          <p:nvPr/>
        </p:nvSpPr>
        <p:spPr>
          <a:xfrm>
            <a:off x="9262872" y="373075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几何、荷载与结果</a:t>
            </a:r>
            <a:endParaRPr lang="en-US" sz="1700" dirty="0"/>
          </a:p>
        </p:txBody>
      </p:sp>
      <p:sp>
        <p:nvSpPr>
          <p:cNvPr id="24" name="S05/object-137"/>
          <p:cNvSpPr/>
          <p:nvPr/>
        </p:nvSpPr>
        <p:spPr>
          <a:xfrm>
            <a:off x="9217152" y="443484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5" name="S05/object-138"/>
          <p:cNvSpPr/>
          <p:nvPr/>
        </p:nvSpPr>
        <p:spPr>
          <a:xfrm>
            <a:off x="9217152" y="448513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S05/object-139"/>
          <p:cNvSpPr/>
          <p:nvPr/>
        </p:nvSpPr>
        <p:spPr>
          <a:xfrm>
            <a:off x="9656064" y="442112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属性栏</a:t>
            </a:r>
            <a:endParaRPr lang="en-US" sz="2100" dirty="0"/>
          </a:p>
        </p:txBody>
      </p:sp>
      <p:sp>
        <p:nvSpPr>
          <p:cNvPr id="27" name="S05/object-140"/>
          <p:cNvSpPr/>
          <p:nvPr/>
        </p:nvSpPr>
        <p:spPr>
          <a:xfrm>
            <a:off x="9262872" y="496519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选中对象后检查参数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6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06/object-14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06/object-14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06/object-14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06/object-14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06/object-14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06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6m简支梁的建模与荷载</a:t>
            </a:r>
            <a:endParaRPr lang="en-US" sz="2800" dirty="0"/>
          </a:p>
        </p:txBody>
      </p:sp>
      <p:sp>
        <p:nvSpPr>
          <p:cNvPr id="9" name="S06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06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两节点一单元也能描述跨中集中力</a:t>
            </a:r>
            <a:endParaRPr lang="en-US" sz="1600" dirty="0"/>
          </a:p>
        </p:txBody>
      </p:sp>
      <p:sp>
        <p:nvSpPr>
          <p:cNvPr id="11" name="S06/object-146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100" dirty="0"/>
          </a:p>
        </p:txBody>
      </p:sp>
      <p:sp>
        <p:nvSpPr>
          <p:cNvPr id="12" name="S06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来源：live/07-load-properties.jpg；qa/live-run-evidence.json</a:t>
            </a:r>
            <a:endParaRPr lang="en-US" sz="800" dirty="0"/>
          </a:p>
        </p:txBody>
      </p:sp>
      <p:sp>
        <p:nvSpPr>
          <p:cNvPr id="14" name="S06/object-147"/>
          <p:cNvSpPr/>
          <p:nvPr/>
        </p:nvSpPr>
        <p:spPr>
          <a:xfrm>
            <a:off x="594360" y="1828800"/>
            <a:ext cx="6492240" cy="4251960"/>
          </a:xfrm>
          <a:prstGeom prst="roundRect">
            <a:avLst>
              <a:gd name="adj" fmla="val 3441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5" name="S06/object-148"/>
          <p:cNvSpPr/>
          <p:nvPr/>
        </p:nvSpPr>
        <p:spPr>
          <a:xfrm>
            <a:off x="1097280" y="3246120"/>
            <a:ext cx="5440680" cy="0"/>
          </a:xfrm>
          <a:prstGeom prst="line">
            <a:avLst/>
          </a:prstGeom>
          <a:noFill/>
          <a:ln w="63500">
            <a:solidFill>
              <a:srgbClr val="123E62"/>
            </a:solidFill>
            <a:prstDash val="solid"/>
          </a:ln>
        </p:spPr>
      </p:sp>
      <p:sp>
        <p:nvSpPr>
          <p:cNvPr id="16" name="S06/support-0-148"/>
          <p:cNvSpPr/>
          <p:nvPr/>
        </p:nvSpPr>
        <p:spPr>
          <a:xfrm>
            <a:off x="950976" y="3291840"/>
            <a:ext cx="292608" cy="246888"/>
          </a:xfrm>
          <a:prstGeom prst="triangle">
            <a:avLst/>
          </a:prstGeom>
          <a:solidFill>
            <a:srgbClr val="ECF5FE"/>
          </a:solidFill>
          <a:ln w="19050">
            <a:solidFill>
              <a:srgbClr val="075FAF"/>
            </a:solidFill>
            <a:prstDash val="solid"/>
          </a:ln>
        </p:spPr>
      </p:sp>
      <p:sp>
        <p:nvSpPr>
          <p:cNvPr id="17" name="S06/object-150"/>
          <p:cNvSpPr/>
          <p:nvPr/>
        </p:nvSpPr>
        <p:spPr>
          <a:xfrm>
            <a:off x="868680" y="3593592"/>
            <a:ext cx="457200" cy="0"/>
          </a:xfrm>
          <a:prstGeom prst="line">
            <a:avLst/>
          </a:prstGeom>
          <a:noFill/>
          <a:ln w="10160">
            <a:solidFill>
              <a:srgbClr val="536D84"/>
            </a:solidFill>
            <a:prstDash val="solid"/>
          </a:ln>
        </p:spPr>
      </p:sp>
      <p:sp>
        <p:nvSpPr>
          <p:cNvPr id="18" name="S06/support-1-150"/>
          <p:cNvSpPr/>
          <p:nvPr/>
        </p:nvSpPr>
        <p:spPr>
          <a:xfrm>
            <a:off x="6391656" y="3291840"/>
            <a:ext cx="292608" cy="246888"/>
          </a:xfrm>
          <a:prstGeom prst="triangle">
            <a:avLst/>
          </a:prstGeom>
          <a:solidFill>
            <a:srgbClr val="ECF5FE"/>
          </a:solidFill>
          <a:ln w="19050">
            <a:solidFill>
              <a:srgbClr val="075FAF"/>
            </a:solidFill>
            <a:prstDash val="solid"/>
          </a:ln>
        </p:spPr>
      </p:sp>
      <p:sp>
        <p:nvSpPr>
          <p:cNvPr id="19" name="S06/object-152"/>
          <p:cNvSpPr/>
          <p:nvPr/>
        </p:nvSpPr>
        <p:spPr>
          <a:xfrm>
            <a:off x="6309360" y="3593592"/>
            <a:ext cx="457200" cy="0"/>
          </a:xfrm>
          <a:prstGeom prst="line">
            <a:avLst/>
          </a:prstGeom>
          <a:noFill/>
          <a:ln w="10160">
            <a:solidFill>
              <a:srgbClr val="536D84"/>
            </a:solidFill>
            <a:prstDash val="solid"/>
          </a:ln>
        </p:spPr>
      </p:sp>
      <p:sp>
        <p:nvSpPr>
          <p:cNvPr id="20" name="S06/object-153"/>
          <p:cNvSpPr/>
          <p:nvPr/>
        </p:nvSpPr>
        <p:spPr>
          <a:xfrm>
            <a:off x="3817620" y="2560320"/>
            <a:ext cx="0" cy="630936"/>
          </a:xfrm>
          <a:prstGeom prst="line">
            <a:avLst/>
          </a:prstGeom>
          <a:noFill/>
          <a:ln w="31750">
            <a:solidFill>
              <a:srgbClr val="D98236"/>
            </a:solidFill>
            <a:prstDash val="solid"/>
            <a:tailEnd type="triangle"/>
          </a:ln>
        </p:spPr>
      </p:sp>
      <p:sp>
        <p:nvSpPr>
          <p:cNvPr id="21" name="S06/object-154"/>
          <p:cNvSpPr/>
          <p:nvPr/>
        </p:nvSpPr>
        <p:spPr>
          <a:xfrm>
            <a:off x="3927348" y="2514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D982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= 18 kN</a:t>
            </a:r>
            <a:endParaRPr lang="en-US" sz="1600" dirty="0"/>
          </a:p>
        </p:txBody>
      </p:sp>
      <p:sp>
        <p:nvSpPr>
          <p:cNvPr id="22" name="S06/object-155"/>
          <p:cNvSpPr/>
          <p:nvPr/>
        </p:nvSpPr>
        <p:spPr>
          <a:xfrm>
            <a:off x="96012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500" dirty="0"/>
          </a:p>
        </p:txBody>
      </p:sp>
      <p:sp>
        <p:nvSpPr>
          <p:cNvPr id="23" name="S06/object-156"/>
          <p:cNvSpPr/>
          <p:nvPr/>
        </p:nvSpPr>
        <p:spPr>
          <a:xfrm>
            <a:off x="640080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500" dirty="0"/>
          </a:p>
        </p:txBody>
      </p:sp>
      <p:sp>
        <p:nvSpPr>
          <p:cNvPr id="24" name="S06/object-157"/>
          <p:cNvSpPr/>
          <p:nvPr/>
        </p:nvSpPr>
        <p:spPr>
          <a:xfrm>
            <a:off x="1097280" y="4105656"/>
            <a:ext cx="5440680" cy="0"/>
          </a:xfrm>
          <a:prstGeom prst="line">
            <a:avLst/>
          </a:prstGeom>
          <a:noFill/>
          <a:ln w="10160">
            <a:solidFill>
              <a:srgbClr val="536D84"/>
            </a:solidFill>
            <a:prstDash val="solid"/>
          </a:ln>
        </p:spPr>
      </p:sp>
      <p:sp>
        <p:nvSpPr>
          <p:cNvPr id="25" name="S06/object-158"/>
          <p:cNvSpPr/>
          <p:nvPr/>
        </p:nvSpPr>
        <p:spPr>
          <a:xfrm>
            <a:off x="3268980" y="4178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= 6 m</a:t>
            </a:r>
            <a:endParaRPr lang="en-US" sz="1600" dirty="0"/>
          </a:p>
        </p:txBody>
      </p:sp>
      <p:sp>
        <p:nvSpPr>
          <p:cNvPr id="26" name="S06/object-159"/>
          <p:cNvSpPr/>
          <p:nvPr/>
        </p:nvSpPr>
        <p:spPr>
          <a:xfrm>
            <a:off x="2267712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 E1：A—B</a:t>
            </a:r>
            <a:endParaRPr lang="en-US" sz="2200" dirty="0"/>
          </a:p>
        </p:txBody>
      </p:sp>
      <p:sp>
        <p:nvSpPr>
          <p:cNvPr id="27" name="S06/object-160"/>
          <p:cNvSpPr/>
          <p:nvPr/>
        </p:nvSpPr>
        <p:spPr>
          <a:xfrm>
            <a:off x="2286000" y="47365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D982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单元内集中力：a = 3 m</a:t>
            </a:r>
            <a:endParaRPr lang="en-US" sz="2000" dirty="0"/>
          </a:p>
        </p:txBody>
      </p:sp>
      <p:sp>
        <p:nvSpPr>
          <p:cNvPr id="28" name="S06/object-161"/>
          <p:cNvSpPr/>
          <p:nvPr/>
        </p:nvSpPr>
        <p:spPr>
          <a:xfrm>
            <a:off x="868680" y="5513832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个节点 · 1 个梁单元 · 无需新增跨中节点</a:t>
            </a:r>
            <a:endParaRPr lang="en-US" sz="1700" dirty="0"/>
          </a:p>
        </p:txBody>
      </p:sp>
      <p:sp>
        <p:nvSpPr>
          <p:cNvPr id="29" name="S06/object-162"/>
          <p:cNvSpPr/>
          <p:nvPr/>
        </p:nvSpPr>
        <p:spPr>
          <a:xfrm>
            <a:off x="7452360" y="187452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30" name="S06/object-163"/>
          <p:cNvSpPr/>
          <p:nvPr/>
        </p:nvSpPr>
        <p:spPr>
          <a:xfrm>
            <a:off x="7452360" y="192481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S06/object-164"/>
          <p:cNvSpPr/>
          <p:nvPr/>
        </p:nvSpPr>
        <p:spPr>
          <a:xfrm>
            <a:off x="7891272" y="1860804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边界条件与自由度</a:t>
            </a:r>
            <a:endParaRPr lang="en-US" sz="2100" dirty="0"/>
          </a:p>
        </p:txBody>
      </p:sp>
      <p:graphicFrame>
        <p:nvGraphicFramePr>
          <p:cNvPr id="36" name="S06/suppor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2542032"/>
          <a:ext cx="4187952" cy="1719072"/>
        </p:xfrm>
        <a:graphic>
          <a:graphicData uri="http://schemas.openxmlformats.org/drawingml/2006/table">
            <a:tbl>
              <a:tblPr/>
              <a:tblGrid>
                <a:gridCol w="640080"/>
                <a:gridCol w="1691640"/>
                <a:gridCol w="1856232"/>
              </a:tblGrid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受约束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自由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Dx、Dz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Ry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Dz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Dx、Ry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S06/object-165"/>
          <p:cNvSpPr/>
          <p:nvPr/>
        </p:nvSpPr>
        <p:spPr>
          <a:xfrm>
            <a:off x="7383780" y="4466844"/>
            <a:ext cx="2377440" cy="1664208"/>
          </a:xfrm>
          <a:prstGeom prst="rect">
            <a:avLst>
              <a:gd name="adj" fmla="val 8791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34" name="S06/load-properties" descr="真实本地程序截图；来源 load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4022" y="4489704"/>
            <a:ext cx="1956955" cy="1618488"/>
          </a:xfrm>
          <a:prstGeom prst="rect">
            <a:avLst/>
          </a:prstGeom>
        </p:spPr>
      </p:pic>
      <p:sp>
        <p:nvSpPr>
          <p:cNvPr id="35" name="S06/object-166"/>
          <p:cNvSpPr/>
          <p:nvPr/>
        </p:nvSpPr>
        <p:spPr>
          <a:xfrm>
            <a:off x="9976104" y="4645152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荷载属性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−1.800×10⁴ N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 3.000 m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7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07/object-167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07/object-168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07/object-169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07/object-170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07/object-171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07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剪力与弯矩为什么这样变化？</a:t>
            </a:r>
            <a:endParaRPr lang="en-US" sz="2800" dirty="0"/>
          </a:p>
        </p:txBody>
      </p:sp>
      <p:sp>
        <p:nvSpPr>
          <p:cNvPr id="9" name="S07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07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集中力引起剪力跃变和跨中弯矩极值</a:t>
            </a:r>
            <a:endParaRPr lang="en-US" sz="1600" dirty="0"/>
          </a:p>
        </p:txBody>
      </p:sp>
      <p:sp>
        <p:nvSpPr>
          <p:cNvPr id="11" name="S07/object-172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100" dirty="0"/>
          </a:p>
        </p:txBody>
      </p:sp>
      <p:sp>
        <p:nvSpPr>
          <p:cNvPr id="12" name="S07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来源：live/06-shear.jpg；live/03-beam-moment.jpg</a:t>
            </a:r>
            <a:endParaRPr lang="en-US" sz="800" dirty="0"/>
          </a:p>
        </p:txBody>
      </p:sp>
      <p:sp>
        <p:nvSpPr>
          <p:cNvPr id="14" name="S07/object-173"/>
          <p:cNvSpPr/>
          <p:nvPr/>
        </p:nvSpPr>
        <p:spPr>
          <a:xfrm>
            <a:off x="594360" y="178308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5" name="S07/object-174"/>
          <p:cNvSpPr/>
          <p:nvPr/>
        </p:nvSpPr>
        <p:spPr>
          <a:xfrm>
            <a:off x="594360" y="183337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S07/object-175"/>
          <p:cNvSpPr/>
          <p:nvPr/>
        </p:nvSpPr>
        <p:spPr>
          <a:xfrm>
            <a:off x="1033272" y="17693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剪力：集中力处发生跳变</a:t>
            </a:r>
            <a:endParaRPr lang="en-US" sz="2100" dirty="0"/>
          </a:p>
        </p:txBody>
      </p:sp>
      <p:sp>
        <p:nvSpPr>
          <p:cNvPr id="17" name="S07/object-176"/>
          <p:cNvSpPr/>
          <p:nvPr/>
        </p:nvSpPr>
        <p:spPr>
          <a:xfrm>
            <a:off x="6355080" y="178308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8" name="S07/object-177"/>
          <p:cNvSpPr/>
          <p:nvPr/>
        </p:nvSpPr>
        <p:spPr>
          <a:xfrm>
            <a:off x="6355080" y="183337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S07/object-178"/>
          <p:cNvSpPr/>
          <p:nvPr/>
        </p:nvSpPr>
        <p:spPr>
          <a:xfrm>
            <a:off x="6793992" y="1769364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弯矩：跨中达到幅值峰值</a:t>
            </a:r>
            <a:endParaRPr lang="en-US" sz="2100" dirty="0"/>
          </a:p>
        </p:txBody>
      </p:sp>
      <p:sp>
        <p:nvSpPr>
          <p:cNvPr id="20" name="S07/object-179"/>
          <p:cNvSpPr/>
          <p:nvPr/>
        </p:nvSpPr>
        <p:spPr>
          <a:xfrm>
            <a:off x="571500" y="2400300"/>
            <a:ext cx="5303520" cy="2999232"/>
          </a:xfrm>
          <a:prstGeom prst="rect">
            <a:avLst>
              <a:gd name="adj" fmla="val 4878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21" name="S07/shear-evidence" descr="真实本地程序截图；来源 shear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326" y="2423160"/>
            <a:ext cx="5249868" cy="2953512"/>
          </a:xfrm>
          <a:prstGeom prst="rect">
            <a:avLst/>
          </a:prstGeom>
        </p:spPr>
      </p:pic>
      <p:sp>
        <p:nvSpPr>
          <p:cNvPr id="22" name="S07/object-180"/>
          <p:cNvSpPr/>
          <p:nvPr/>
        </p:nvSpPr>
        <p:spPr>
          <a:xfrm>
            <a:off x="6332220" y="2400300"/>
            <a:ext cx="5303520" cy="2999232"/>
          </a:xfrm>
          <a:prstGeom prst="rect">
            <a:avLst>
              <a:gd name="adj" fmla="val 4878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23" name="S07/moment-evidence" descr="真实本地程序截图；来源 moment-detail.png；部分工具栏字体在捕获环境显示方框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9046" y="2423160"/>
            <a:ext cx="5249868" cy="2953512"/>
          </a:xfrm>
          <a:prstGeom prst="rect">
            <a:avLst/>
          </a:prstGeom>
        </p:spPr>
      </p:pic>
      <p:sp>
        <p:nvSpPr>
          <p:cNvPr id="24" name="S07/object-181"/>
          <p:cNvSpPr/>
          <p:nvPr/>
        </p:nvSpPr>
        <p:spPr>
          <a:xfrm>
            <a:off x="758952" y="5605272"/>
            <a:ext cx="283464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5" name="S07/object-182"/>
          <p:cNvSpPr/>
          <p:nvPr/>
        </p:nvSpPr>
        <p:spPr>
          <a:xfrm>
            <a:off x="868680" y="5669280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左右段幅值 9 kN</a:t>
            </a:r>
            <a:endParaRPr lang="en-US" sz="1200" dirty="0"/>
          </a:p>
        </p:txBody>
      </p:sp>
      <p:sp>
        <p:nvSpPr>
          <p:cNvPr id="26" name="S07/object-183"/>
          <p:cNvSpPr/>
          <p:nvPr/>
        </p:nvSpPr>
        <p:spPr>
          <a:xfrm>
            <a:off x="6519672" y="5605272"/>
            <a:ext cx="329184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7" name="S07/object-184"/>
          <p:cNvSpPr/>
          <p:nvPr/>
        </p:nvSpPr>
        <p:spPr>
          <a:xfrm>
            <a:off x="6629400" y="5669280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跨中标注 −27 kN·m</a:t>
            </a:r>
            <a:endParaRPr lang="en-US" sz="1200" dirty="0"/>
          </a:p>
        </p:txBody>
      </p:sp>
      <p:sp>
        <p:nvSpPr>
          <p:cNvPr id="28" name="S07/object-185"/>
          <p:cNvSpPr/>
          <p:nvPr/>
        </p:nvSpPr>
        <p:spPr>
          <a:xfrm>
            <a:off x="4160520" y="5669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同一模型 / 同一荷载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8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08/object-186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08/object-187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08/object-188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08/object-189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08/object-190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08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反力与最大弯矩的数值核验</a:t>
            </a:r>
            <a:endParaRPr lang="en-US" sz="2800" dirty="0"/>
          </a:p>
        </p:txBody>
      </p:sp>
      <p:sp>
        <p:nvSpPr>
          <p:cNvPr id="9" name="S08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08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给定工况下反力与弯矩幅值符合解析结果</a:t>
            </a:r>
            <a:endParaRPr lang="en-US" sz="1600" dirty="0"/>
          </a:p>
        </p:txBody>
      </p:sp>
      <p:sp>
        <p:nvSpPr>
          <p:cNvPr id="11" name="S08/object-191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100" dirty="0"/>
          </a:p>
        </p:txBody>
      </p:sp>
      <p:sp>
        <p:nvSpPr>
          <p:cNvPr id="12" name="S08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来源：live/03-beam-moment.jpg；live/05-element-results.jpg；qa/live-run-evidence.json；RA=RB=P/2；Mmax=PL/4</a:t>
            </a:r>
            <a:endParaRPr lang="en-US" sz="800" dirty="0"/>
          </a:p>
        </p:txBody>
      </p:sp>
      <p:sp>
        <p:nvSpPr>
          <p:cNvPr id="14" name="S08/object-192"/>
          <p:cNvSpPr/>
          <p:nvPr/>
        </p:nvSpPr>
        <p:spPr>
          <a:xfrm>
            <a:off x="571500" y="1778508"/>
            <a:ext cx="6675120" cy="3776472"/>
          </a:xfrm>
          <a:prstGeom prst="rect">
            <a:avLst>
              <a:gd name="adj" fmla="val 3874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5" name="S08/validation-evidence" descr="真实本地程序截图；来源 moment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01934"/>
            <a:ext cx="6629400" cy="3729620"/>
          </a:xfrm>
          <a:prstGeom prst="rect">
            <a:avLst/>
          </a:prstGeom>
        </p:spPr>
      </p:pic>
      <p:sp>
        <p:nvSpPr>
          <p:cNvPr id="16" name="S08/object-193"/>
          <p:cNvSpPr/>
          <p:nvPr/>
        </p:nvSpPr>
        <p:spPr>
          <a:xfrm>
            <a:off x="7525512" y="1810512"/>
            <a:ext cx="4087368" cy="1051560"/>
          </a:xfrm>
          <a:prstGeom prst="roundRect">
            <a:avLst>
              <a:gd name="adj" fmla="val 13913"/>
            </a:avLst>
          </a:prstGeom>
          <a:solidFill>
            <a:srgbClr val="DDEFF8"/>
          </a:solidFill>
          <a:ln w="10160">
            <a:solidFill>
              <a:srgbClr val="DDEFF8"/>
            </a:solidFill>
            <a:prstDash val="solid"/>
          </a:ln>
        </p:spPr>
      </p:sp>
      <p:sp>
        <p:nvSpPr>
          <p:cNvPr id="17" name="S08/object-194"/>
          <p:cNvSpPr/>
          <p:nvPr/>
        </p:nvSpPr>
        <p:spPr>
          <a:xfrm>
            <a:off x="7754112" y="1947672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9 kN</a:t>
            </a:r>
            <a:endParaRPr lang="en-US" sz="3200" dirty="0"/>
          </a:p>
        </p:txBody>
      </p:sp>
      <p:sp>
        <p:nvSpPr>
          <p:cNvPr id="18" name="S08/object-195"/>
          <p:cNvSpPr/>
          <p:nvPr/>
        </p:nvSpPr>
        <p:spPr>
          <a:xfrm>
            <a:off x="7754112" y="2505456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两端反力幅值：RA = RB = P/2</a:t>
            </a:r>
            <a:endParaRPr lang="en-US" sz="1500" dirty="0"/>
          </a:p>
        </p:txBody>
      </p:sp>
      <p:sp>
        <p:nvSpPr>
          <p:cNvPr id="19" name="S08/object-196"/>
          <p:cNvSpPr/>
          <p:nvPr/>
        </p:nvSpPr>
        <p:spPr>
          <a:xfrm>
            <a:off x="7525512" y="3090672"/>
            <a:ext cx="4087368" cy="1051560"/>
          </a:xfrm>
          <a:prstGeom prst="roundRect">
            <a:avLst>
              <a:gd name="adj" fmla="val 13913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20" name="S08/object-197"/>
          <p:cNvSpPr/>
          <p:nvPr/>
        </p:nvSpPr>
        <p:spPr>
          <a:xfrm>
            <a:off x="7754112" y="3236976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2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 kN·m</a:t>
            </a:r>
            <a:endParaRPr lang="en-US" sz="3200" dirty="0"/>
          </a:p>
        </p:txBody>
      </p:sp>
      <p:sp>
        <p:nvSpPr>
          <p:cNvPr id="21" name="S08/object-198"/>
          <p:cNvSpPr/>
          <p:nvPr/>
        </p:nvSpPr>
        <p:spPr>
          <a:xfrm>
            <a:off x="7754112" y="377647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最大弯矩幅值：PL/4 = 18×6/4</a:t>
            </a:r>
            <a:endParaRPr lang="en-US" sz="1500" dirty="0"/>
          </a:p>
        </p:txBody>
      </p:sp>
      <p:sp>
        <p:nvSpPr>
          <p:cNvPr id="22" name="S08/object-199"/>
          <p:cNvSpPr/>
          <p:nvPr/>
        </p:nvSpPr>
        <p:spPr>
          <a:xfrm>
            <a:off x="7571232" y="448970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核对符号与位置</a:t>
            </a:r>
            <a:endParaRPr lang="en-US" sz="2100" dirty="0"/>
          </a:p>
        </p:txBody>
      </p:sp>
      <p:sp>
        <p:nvSpPr>
          <p:cNvPr id="23" name="S08/object-200"/>
          <p:cNvSpPr/>
          <p:nvPr/>
        </p:nvSpPr>
        <p:spPr>
          <a:xfrm>
            <a:off x="7571232" y="5020056"/>
            <a:ext cx="3840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图中 −27 遵循软件约定；端弯矩为 0，内部峰值仍为 27。</a:t>
            </a:r>
            <a:endParaRPr lang="en-US" sz="1800" dirty="0"/>
          </a:p>
        </p:txBody>
      </p:sp>
      <p:sp>
        <p:nvSpPr>
          <p:cNvPr id="24" name="S08/object-201"/>
          <p:cNvSpPr/>
          <p:nvPr/>
        </p:nvSpPr>
        <p:spPr>
          <a:xfrm>
            <a:off x="640080" y="5934456"/>
            <a:ext cx="10972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验证范围：默认梁案例的显示幅值对照；未构成全部工况的求解器精度认证。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9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09/object-202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09/object-203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09/object-204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09/object-205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09/object-206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09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荷载位置如何影响计算结果？</a:t>
            </a:r>
            <a:endParaRPr lang="en-US" sz="2800" dirty="0"/>
          </a:p>
        </p:txBody>
      </p:sp>
      <p:sp>
        <p:nvSpPr>
          <p:cNvPr id="9" name="S09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09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反力分配与弯矩峰值随荷载位置改变</a:t>
            </a:r>
            <a:endParaRPr lang="en-US" sz="1600" dirty="0"/>
          </a:p>
        </p:txBody>
      </p:sp>
      <p:sp>
        <p:nvSpPr>
          <p:cNvPr id="11" name="S09/object-20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100" dirty="0"/>
          </a:p>
        </p:txBody>
      </p:sp>
      <p:sp>
        <p:nvSpPr>
          <p:cNvPr id="12" name="S09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来源：解析预测：P=18kN，L=6m，a=1/2/3m</a:t>
            </a:r>
            <a:endParaRPr lang="en-US" sz="800" dirty="0"/>
          </a:p>
        </p:txBody>
      </p:sp>
      <p:sp>
        <p:nvSpPr>
          <p:cNvPr id="14" name="S09/object-208"/>
          <p:cNvSpPr/>
          <p:nvPr/>
        </p:nvSpPr>
        <p:spPr>
          <a:xfrm>
            <a:off x="68580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反力幅值 / kN</a:t>
            </a:r>
            <a:endParaRPr lang="en-US" sz="2200" dirty="0"/>
          </a:p>
        </p:txBody>
      </p:sp>
      <p:sp>
        <p:nvSpPr>
          <p:cNvPr id="15" name="S09/object-209"/>
          <p:cNvSpPr/>
          <p:nvPr/>
        </p:nvSpPr>
        <p:spPr>
          <a:xfrm>
            <a:off x="635508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弯矩峰值幅值 / kN·m</a:t>
            </a:r>
            <a:endParaRPr lang="en-US" sz="2200" dirty="0"/>
          </a:p>
        </p:txBody>
      </p:sp>
      <p:graphicFrame>
        <p:nvGraphicFramePr>
          <p:cNvPr id="16" name="S09/reaction-chart" descr=""/>
          <p:cNvGraphicFramePr/>
          <p:nvPr/>
        </p:nvGraphicFramePr>
        <p:xfrm>
          <a:off x="640080" y="2350008"/>
          <a:ext cx="51663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7" name="S09/moment-chart" descr=""/>
          <p:cNvGraphicFramePr/>
          <p:nvPr/>
        </p:nvGraphicFramePr>
        <p:xfrm>
          <a:off x="6355080" y="2350008"/>
          <a:ext cx="51663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S09/object-210"/>
          <p:cNvSpPr/>
          <p:nvPr/>
        </p:nvSpPr>
        <p:spPr>
          <a:xfrm>
            <a:off x="685800" y="572414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条件固定：P = 18 kN，L = 6 m；a 为距左支座的距离，取 1 / 2 / 3 m。</a:t>
            </a:r>
            <a:endParaRPr lang="en-US" sz="1800" dirty="0"/>
          </a:p>
        </p:txBody>
      </p:sp>
      <p:sp>
        <p:nvSpPr>
          <p:cNvPr id="19" name="S09/object-211"/>
          <p:cNvSpPr/>
          <p:nvPr/>
        </p:nvSpPr>
        <p:spPr>
          <a:xfrm>
            <a:off x="685800" y="6089904"/>
            <a:ext cx="10972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解析预测，非新增实机测量。先预测，再在软件中改变位置并核对。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0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10/object-212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10/object-213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10/object-214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10/object-215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10/object-216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10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教学推导与危险截面分析</a:t>
            </a:r>
            <a:endParaRPr lang="en-US" sz="2800" dirty="0"/>
          </a:p>
        </p:txBody>
      </p:sp>
      <p:sp>
        <p:nvSpPr>
          <p:cNvPr id="9" name="S10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10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计算结果需要返回公式和截面条件解释</a:t>
            </a:r>
            <a:endParaRPr lang="en-US" sz="1600" dirty="0"/>
          </a:p>
        </p:txBody>
      </p:sp>
      <p:sp>
        <p:nvSpPr>
          <p:cNvPr id="11" name="S10/object-21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12" name="S10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来源：live/04-derivation.jpg；README.md公式库</a:t>
            </a:r>
            <a:endParaRPr lang="en-US" sz="800" dirty="0"/>
          </a:p>
        </p:txBody>
      </p:sp>
      <p:sp>
        <p:nvSpPr>
          <p:cNvPr id="14" name="S10/object-218"/>
          <p:cNvSpPr/>
          <p:nvPr/>
        </p:nvSpPr>
        <p:spPr>
          <a:xfrm>
            <a:off x="571500" y="1851660"/>
            <a:ext cx="11064240" cy="1691640"/>
          </a:xfrm>
          <a:prstGeom prst="rect">
            <a:avLst>
              <a:gd name="adj" fmla="val 8649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5" name="S10/derivation-evidence" descr="真实本地程序截图；来源 derivation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449" y="1874520"/>
            <a:ext cx="11016343" cy="1645920"/>
          </a:xfrm>
          <a:prstGeom prst="rect">
            <a:avLst/>
          </a:prstGeom>
        </p:spPr>
      </p:pic>
      <p:sp>
        <p:nvSpPr>
          <p:cNvPr id="16" name="S10/object-219"/>
          <p:cNvSpPr/>
          <p:nvPr/>
        </p:nvSpPr>
        <p:spPr>
          <a:xfrm>
            <a:off x="594360" y="3922776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7" name="S10/object-220"/>
          <p:cNvSpPr/>
          <p:nvPr/>
        </p:nvSpPr>
        <p:spPr>
          <a:xfrm>
            <a:off x="594360" y="397306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S10/object-221"/>
          <p:cNvSpPr/>
          <p:nvPr/>
        </p:nvSpPr>
        <p:spPr>
          <a:xfrm>
            <a:off x="1033272" y="390906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整体平衡</a:t>
            </a:r>
            <a:endParaRPr lang="en-US" sz="2100" dirty="0"/>
          </a:p>
        </p:txBody>
      </p:sp>
      <p:sp>
        <p:nvSpPr>
          <p:cNvPr id="19" name="S10/object-222"/>
          <p:cNvSpPr/>
          <p:nvPr/>
        </p:nvSpPr>
        <p:spPr>
          <a:xfrm>
            <a:off x="640080" y="4562856"/>
            <a:ext cx="34564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ΣFx = 0；ΣFz = 0；ΣMy = 0</a:t>
            </a:r>
            <a:endParaRPr lang="en-US" sz="2000" dirty="0"/>
          </a:p>
        </p:txBody>
      </p:sp>
      <p:sp>
        <p:nvSpPr>
          <p:cNvPr id="20" name="S10/object-223"/>
          <p:cNvSpPr/>
          <p:nvPr/>
        </p:nvSpPr>
        <p:spPr>
          <a:xfrm>
            <a:off x="4389120" y="3922776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1" name="S10/object-224"/>
          <p:cNvSpPr/>
          <p:nvPr/>
        </p:nvSpPr>
        <p:spPr>
          <a:xfrm>
            <a:off x="4389120" y="397306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S10/object-225"/>
          <p:cNvSpPr/>
          <p:nvPr/>
        </p:nvSpPr>
        <p:spPr>
          <a:xfrm>
            <a:off x="4828032" y="390906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局部关系</a:t>
            </a:r>
            <a:endParaRPr lang="en-US" sz="2100" dirty="0"/>
          </a:p>
        </p:txBody>
      </p:sp>
      <p:sp>
        <p:nvSpPr>
          <p:cNvPr id="23" name="S10/object-226"/>
          <p:cNvSpPr/>
          <p:nvPr/>
        </p:nvSpPr>
        <p:spPr>
          <a:xfrm>
            <a:off x="4434840" y="4562856"/>
            <a:ext cx="34564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dV/dx + qz = 0；dM/dx − V = 0</a:t>
            </a:r>
            <a:endParaRPr lang="en-US" sz="2000" dirty="0"/>
          </a:p>
        </p:txBody>
      </p:sp>
      <p:sp>
        <p:nvSpPr>
          <p:cNvPr id="24" name="S10/object-227"/>
          <p:cNvSpPr/>
          <p:nvPr/>
        </p:nvSpPr>
        <p:spPr>
          <a:xfrm>
            <a:off x="8183880" y="3922776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5" name="S10/object-228"/>
          <p:cNvSpPr/>
          <p:nvPr/>
        </p:nvSpPr>
        <p:spPr>
          <a:xfrm>
            <a:off x="8183880" y="397306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S10/object-229"/>
          <p:cNvSpPr/>
          <p:nvPr/>
        </p:nvSpPr>
        <p:spPr>
          <a:xfrm>
            <a:off x="8622792" y="390906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危险位置</a:t>
            </a:r>
            <a:endParaRPr lang="en-US" sz="2100" dirty="0"/>
          </a:p>
        </p:txBody>
      </p:sp>
      <p:sp>
        <p:nvSpPr>
          <p:cNvPr id="27" name="S10/object-230"/>
          <p:cNvSpPr/>
          <p:nvPr/>
        </p:nvSpPr>
        <p:spPr>
          <a:xfrm>
            <a:off x="8229600" y="4562856"/>
            <a:ext cx="34564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先由 M(x) 找峰值，再结合截面评价</a:t>
            </a:r>
            <a:endParaRPr lang="en-US" sz="2000" dirty="0"/>
          </a:p>
        </p:txBody>
      </p:sp>
      <p:sp>
        <p:nvSpPr>
          <p:cNvPr id="28" name="S10/object-231"/>
          <p:cNvSpPr/>
          <p:nvPr/>
        </p:nvSpPr>
        <p:spPr>
          <a:xfrm>
            <a:off x="594360" y="5596128"/>
            <a:ext cx="11018520" cy="548640"/>
          </a:xfrm>
          <a:prstGeom prst="roundRect">
            <a:avLst>
              <a:gd name="adj" fmla="val 26667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9" name="S10/object-232"/>
          <p:cNvSpPr/>
          <p:nvPr/>
        </p:nvSpPr>
        <p:spPr>
          <a:xfrm>
            <a:off x="804672" y="5742432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助手用于核对推理：先说清受力与边界，再读取推导和结果摘要。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1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11/object-233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11/object-234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11/object-235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11/object-236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11/object-237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11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空间刚架的六自由度建模</a:t>
            </a:r>
            <a:endParaRPr lang="en-US" sz="2800" dirty="0"/>
          </a:p>
        </p:txBody>
      </p:sp>
      <p:sp>
        <p:nvSpPr>
          <p:cNvPr id="9" name="S11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11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空间梁节点同时包含三平移与三转动</a:t>
            </a:r>
            <a:endParaRPr lang="en-US" sz="1600" dirty="0"/>
          </a:p>
        </p:txBody>
      </p:sp>
      <p:sp>
        <p:nvSpPr>
          <p:cNvPr id="11" name="S11/object-23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  <p:sp>
        <p:nvSpPr>
          <p:cNvPr id="12" name="S11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来源：README.md；空间刚架运行条件</a:t>
            </a:r>
            <a:endParaRPr lang="en-US" sz="800" dirty="0"/>
          </a:p>
        </p:txBody>
      </p:sp>
      <p:sp>
        <p:nvSpPr>
          <p:cNvPr id="14" name="S11/object-239"/>
          <p:cNvSpPr/>
          <p:nvPr/>
        </p:nvSpPr>
        <p:spPr>
          <a:xfrm>
            <a:off x="571500" y="1787652"/>
            <a:ext cx="4709160" cy="4142232"/>
          </a:xfrm>
          <a:prstGeom prst="rect">
            <a:avLst>
              <a:gd name="adj" fmla="val 3532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5" name="S11/space-model" descr="真实本地程序截图；来源 space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12364"/>
            <a:ext cx="4663440" cy="4092808"/>
          </a:xfrm>
          <a:prstGeom prst="rect">
            <a:avLst/>
          </a:prstGeom>
        </p:spPr>
      </p:pic>
      <p:sp>
        <p:nvSpPr>
          <p:cNvPr id="16" name="S11/object-240"/>
          <p:cNvSpPr/>
          <p:nvPr/>
        </p:nvSpPr>
        <p:spPr>
          <a:xfrm>
            <a:off x="5596128" y="182880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7" name="S11/object-241"/>
          <p:cNvSpPr/>
          <p:nvPr/>
        </p:nvSpPr>
        <p:spPr>
          <a:xfrm>
            <a:off x="5596128" y="18790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S11/object-242"/>
          <p:cNvSpPr/>
          <p:nvPr/>
        </p:nvSpPr>
        <p:spPr>
          <a:xfrm>
            <a:off x="6035040" y="1815084"/>
            <a:ext cx="5413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每节点：3 平移 + 3 转动</a:t>
            </a:r>
            <a:endParaRPr lang="en-US" sz="2100" dirty="0"/>
          </a:p>
        </p:txBody>
      </p:sp>
      <p:sp>
        <p:nvSpPr>
          <p:cNvPr id="19" name="S11/object-243"/>
          <p:cNvSpPr/>
          <p:nvPr/>
        </p:nvSpPr>
        <p:spPr>
          <a:xfrm>
            <a:off x="5687568" y="265176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0" name="S11/object-244"/>
          <p:cNvSpPr/>
          <p:nvPr/>
        </p:nvSpPr>
        <p:spPr>
          <a:xfrm>
            <a:off x="5797296" y="271576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Ux</a:t>
            </a:r>
            <a:endParaRPr lang="en-US" sz="1200" dirty="0"/>
          </a:p>
        </p:txBody>
      </p:sp>
      <p:sp>
        <p:nvSpPr>
          <p:cNvPr id="21" name="S11/object-245"/>
          <p:cNvSpPr/>
          <p:nvPr/>
        </p:nvSpPr>
        <p:spPr>
          <a:xfrm>
            <a:off x="7644384" y="265176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2" name="S11/object-246"/>
          <p:cNvSpPr/>
          <p:nvPr/>
        </p:nvSpPr>
        <p:spPr>
          <a:xfrm>
            <a:off x="7754112" y="271576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Uy</a:t>
            </a:r>
            <a:endParaRPr lang="en-US" sz="1200" dirty="0"/>
          </a:p>
        </p:txBody>
      </p:sp>
      <p:sp>
        <p:nvSpPr>
          <p:cNvPr id="23" name="S11/object-247"/>
          <p:cNvSpPr/>
          <p:nvPr/>
        </p:nvSpPr>
        <p:spPr>
          <a:xfrm>
            <a:off x="9601200" y="265176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4" name="S11/object-248"/>
          <p:cNvSpPr/>
          <p:nvPr/>
        </p:nvSpPr>
        <p:spPr>
          <a:xfrm>
            <a:off x="9710928" y="271576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Uz</a:t>
            </a:r>
            <a:endParaRPr lang="en-US" sz="1200" dirty="0"/>
          </a:p>
        </p:txBody>
      </p:sp>
      <p:sp>
        <p:nvSpPr>
          <p:cNvPr id="25" name="S11/object-249"/>
          <p:cNvSpPr/>
          <p:nvPr/>
        </p:nvSpPr>
        <p:spPr>
          <a:xfrm>
            <a:off x="5687568" y="347472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26" name="S11/object-250"/>
          <p:cNvSpPr/>
          <p:nvPr/>
        </p:nvSpPr>
        <p:spPr>
          <a:xfrm>
            <a:off x="5797296" y="353872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Rx</a:t>
            </a:r>
            <a:endParaRPr lang="en-US" sz="1200" dirty="0"/>
          </a:p>
        </p:txBody>
      </p:sp>
      <p:sp>
        <p:nvSpPr>
          <p:cNvPr id="27" name="S11/object-251"/>
          <p:cNvSpPr/>
          <p:nvPr/>
        </p:nvSpPr>
        <p:spPr>
          <a:xfrm>
            <a:off x="7644384" y="347472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28" name="S11/object-252"/>
          <p:cNvSpPr/>
          <p:nvPr/>
        </p:nvSpPr>
        <p:spPr>
          <a:xfrm>
            <a:off x="7754112" y="353872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Ry</a:t>
            </a:r>
            <a:endParaRPr lang="en-US" sz="1200" dirty="0"/>
          </a:p>
        </p:txBody>
      </p:sp>
      <p:sp>
        <p:nvSpPr>
          <p:cNvPr id="29" name="S11/object-253"/>
          <p:cNvSpPr/>
          <p:nvPr/>
        </p:nvSpPr>
        <p:spPr>
          <a:xfrm>
            <a:off x="9601200" y="347472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30" name="S11/object-254"/>
          <p:cNvSpPr/>
          <p:nvPr/>
        </p:nvSpPr>
        <p:spPr>
          <a:xfrm>
            <a:off x="9710928" y="353872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Rz</a:t>
            </a:r>
            <a:endParaRPr lang="en-US" sz="1200" dirty="0"/>
          </a:p>
        </p:txBody>
      </p:sp>
      <p:sp>
        <p:nvSpPr>
          <p:cNvPr id="31" name="S11/object-255"/>
          <p:cNvSpPr/>
          <p:nvPr/>
        </p:nvSpPr>
        <p:spPr>
          <a:xfrm>
            <a:off x="5687568" y="455371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两端共 12 自由度 → 12×12 单元刚度</a:t>
            </a:r>
            <a:endParaRPr lang="en-US" sz="2400" dirty="0"/>
          </a:p>
        </p:txBody>
      </p:sp>
      <p:sp>
        <p:nvSpPr>
          <p:cNvPr id="32" name="S11/object-256"/>
          <p:cNvSpPr/>
          <p:nvPr/>
        </p:nvSpPr>
        <p:spPr>
          <a:xfrm>
            <a:off x="5687568" y="5202936"/>
            <a:ext cx="56692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EA/L：轴向  ·  GJ/L：扭转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 y / z：双向弯曲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Euler–Bernoulli 梁，不含剪切变形修正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2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12/object-257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12/object-258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12/object-259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12/object-260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12/object-261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12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空间刚架的实机结果核验</a:t>
            </a:r>
            <a:endParaRPr lang="en-US" sz="2800" dirty="0"/>
          </a:p>
        </p:txBody>
      </p:sp>
      <p:sp>
        <p:nvSpPr>
          <p:cNvPr id="9" name="S12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12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三向合力平衡成立，完整力矩核验仍缺失</a:t>
            </a:r>
            <a:endParaRPr lang="en-US" sz="1600" dirty="0"/>
          </a:p>
        </p:txBody>
      </p:sp>
      <p:sp>
        <p:nvSpPr>
          <p:cNvPr id="11" name="S12/object-262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00" dirty="0"/>
          </a:p>
        </p:txBody>
      </p:sp>
      <p:sp>
        <p:nvSpPr>
          <p:cNvPr id="12" name="S12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来源：live/11-space-results.jpg；qa/live-run-evidence.json</a:t>
            </a:r>
            <a:endParaRPr lang="en-US" sz="800" dirty="0"/>
          </a:p>
        </p:txBody>
      </p:sp>
      <p:sp>
        <p:nvSpPr>
          <p:cNvPr id="14" name="S12/object-263"/>
          <p:cNvSpPr/>
          <p:nvPr/>
        </p:nvSpPr>
        <p:spPr>
          <a:xfrm>
            <a:off x="571500" y="1805940"/>
            <a:ext cx="3108960" cy="4114800"/>
          </a:xfrm>
          <a:prstGeom prst="rect">
            <a:avLst>
              <a:gd name="adj" fmla="val 4706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5" name="S12/space-results" descr="真实本地程序截图；来源 space-table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93378"/>
            <a:ext cx="3063240" cy="3939925"/>
          </a:xfrm>
          <a:prstGeom prst="rect">
            <a:avLst/>
          </a:prstGeom>
        </p:spPr>
      </p:pic>
      <p:sp>
        <p:nvSpPr>
          <p:cNvPr id="16" name="S12/object-264"/>
          <p:cNvSpPr/>
          <p:nvPr/>
        </p:nvSpPr>
        <p:spPr>
          <a:xfrm>
            <a:off x="3986784" y="1828800"/>
            <a:ext cx="7626096" cy="987552"/>
          </a:xfrm>
          <a:prstGeom prst="roundRect">
            <a:avLst>
              <a:gd name="adj" fmla="val 14815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7" name="S12/object-265"/>
          <p:cNvSpPr/>
          <p:nvPr/>
        </p:nvSpPr>
        <p:spPr>
          <a:xfrm>
            <a:off x="4224528" y="2075688"/>
            <a:ext cx="7178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7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节点  /  3 构件  /  24 总自由度</a:t>
            </a:r>
            <a:endParaRPr lang="en-US" sz="2700" dirty="0"/>
          </a:p>
        </p:txBody>
      </p:sp>
      <p:graphicFrame>
        <p:nvGraphicFramePr>
          <p:cNvPr id="13" name="S12/space-balanc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86784" y="3172968"/>
          <a:ext cx="7626096" cy="2057400"/>
        </p:xfrm>
        <a:graphic>
          <a:graphicData uri="http://schemas.openxmlformats.org/drawingml/2006/table">
            <a:tbl>
              <a:tblPr/>
              <a:tblGrid>
                <a:gridCol w="1143000"/>
                <a:gridCol w="2194560"/>
                <a:gridCol w="2194560"/>
                <a:gridCol w="2093976"/>
              </a:tblGrid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D点外力 / N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A点反力 / N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平衡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−8000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y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−5000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−12000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12/object-266"/>
          <p:cNvSpPr/>
          <p:nvPr/>
        </p:nvSpPr>
        <p:spPr>
          <a:xfrm>
            <a:off x="4023360" y="5559552"/>
            <a:ext cx="7498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本次界面报告：Worker CPU；残差约 6×10⁻¹⁴；变形显示放大 2.4 倍。</a:t>
            </a:r>
            <a:endParaRPr lang="en-US" sz="1600" dirty="0"/>
          </a:p>
        </p:txBody>
      </p:sp>
      <p:sp>
        <p:nvSpPr>
          <p:cNvPr id="20" name="S12/object-267"/>
          <p:cNvSpPr/>
          <p:nvPr/>
        </p:nvSpPr>
        <p:spPr>
          <a:xfrm>
            <a:off x="4023360" y="6025896"/>
            <a:ext cx="7498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仅核对三向力平衡；扭矩数值未捕获，应力 / 安全系数未补填。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3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13/object-26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13/object-26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13/object-27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13/object-27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13/object-27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13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本地求解软件的技术架构</a:t>
            </a:r>
            <a:endParaRPr lang="en-US" sz="2800" dirty="0"/>
          </a:p>
        </p:txBody>
      </p:sp>
      <p:sp>
        <p:nvSpPr>
          <p:cNvPr id="9" name="S13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13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当前数值求解主要运行于Worker CPU</a:t>
            </a:r>
            <a:endParaRPr lang="en-US" sz="1600" dirty="0"/>
          </a:p>
        </p:txBody>
      </p:sp>
      <p:sp>
        <p:nvSpPr>
          <p:cNvPr id="11" name="S13/object-273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100" dirty="0"/>
          </a:p>
        </p:txBody>
      </p:sp>
      <p:sp>
        <p:nvSpPr>
          <p:cNvPr id="12" name="S13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来源：README.md；用户提供的技术栈和求解能力说明</a:t>
            </a:r>
            <a:endParaRPr lang="en-US" sz="800" dirty="0"/>
          </a:p>
        </p:txBody>
      </p:sp>
      <p:sp>
        <p:nvSpPr>
          <p:cNvPr id="14" name="S13/object-274"/>
          <p:cNvSpPr/>
          <p:nvPr/>
        </p:nvSpPr>
        <p:spPr>
          <a:xfrm>
            <a:off x="594360" y="1874520"/>
            <a:ext cx="7863840" cy="1024128"/>
          </a:xfrm>
          <a:prstGeom prst="roundRect">
            <a:avLst>
              <a:gd name="adj" fmla="val 14286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5" name="S13/object-275"/>
          <p:cNvSpPr/>
          <p:nvPr/>
        </p:nvSpPr>
        <p:spPr>
          <a:xfrm>
            <a:off x="822960" y="20391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交互与数据层</a:t>
            </a:r>
            <a:endParaRPr lang="en-US" sz="2200" dirty="0"/>
          </a:p>
        </p:txBody>
      </p:sp>
      <p:sp>
        <p:nvSpPr>
          <p:cNvPr id="16" name="S13/object-276"/>
          <p:cNvSpPr/>
          <p:nvPr/>
        </p:nvSpPr>
        <p:spPr>
          <a:xfrm>
            <a:off x="3200400" y="20391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/ TypeScript</a:t>
            </a:r>
            <a:endParaRPr lang="en-US" sz="2000" dirty="0"/>
          </a:p>
        </p:txBody>
      </p:sp>
      <p:sp>
        <p:nvSpPr>
          <p:cNvPr id="17" name="S13/object-277"/>
          <p:cNvSpPr/>
          <p:nvPr/>
        </p:nvSpPr>
        <p:spPr>
          <a:xfrm>
            <a:off x="3200400" y="250545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 · 材料 · 截面 · 约束 · 荷载</a:t>
            </a:r>
            <a:endParaRPr lang="en-US" sz="1500" dirty="0"/>
          </a:p>
        </p:txBody>
      </p:sp>
      <p:sp>
        <p:nvSpPr>
          <p:cNvPr id="18" name="S13/object-278"/>
          <p:cNvSpPr/>
          <p:nvPr/>
        </p:nvSpPr>
        <p:spPr>
          <a:xfrm>
            <a:off x="4480560" y="2907792"/>
            <a:ext cx="0" cy="219456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19" name="S13/object-279"/>
          <p:cNvSpPr/>
          <p:nvPr/>
        </p:nvSpPr>
        <p:spPr>
          <a:xfrm>
            <a:off x="594360" y="3154680"/>
            <a:ext cx="7863840" cy="1024128"/>
          </a:xfrm>
          <a:prstGeom prst="roundRect">
            <a:avLst>
              <a:gd name="adj" fmla="val 14286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0" name="S13/object-280"/>
          <p:cNvSpPr/>
          <p:nvPr/>
        </p:nvSpPr>
        <p:spPr>
          <a:xfrm>
            <a:off x="822960" y="33192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数值计算层</a:t>
            </a:r>
            <a:endParaRPr lang="en-US" sz="2200" dirty="0"/>
          </a:p>
        </p:txBody>
      </p:sp>
      <p:sp>
        <p:nvSpPr>
          <p:cNvPr id="21" name="S13/object-281"/>
          <p:cNvSpPr/>
          <p:nvPr/>
        </p:nvSpPr>
        <p:spPr>
          <a:xfrm>
            <a:off x="3200400" y="33192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/ Worker / sparse LU</a:t>
            </a:r>
            <a:endParaRPr lang="en-US" sz="2000" dirty="0"/>
          </a:p>
        </p:txBody>
      </p:sp>
      <p:sp>
        <p:nvSpPr>
          <p:cNvPr id="22" name="S13/object-282"/>
          <p:cNvSpPr/>
          <p:nvPr/>
        </p:nvSpPr>
        <p:spPr>
          <a:xfrm>
            <a:off x="3200400" y="378561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单元组装 → 约束分块 → 位移求解 → 反力与端力</a:t>
            </a:r>
            <a:endParaRPr lang="en-US" sz="1500" dirty="0"/>
          </a:p>
        </p:txBody>
      </p:sp>
      <p:sp>
        <p:nvSpPr>
          <p:cNvPr id="23" name="S13/object-283"/>
          <p:cNvSpPr/>
          <p:nvPr/>
        </p:nvSpPr>
        <p:spPr>
          <a:xfrm>
            <a:off x="4480560" y="4187952"/>
            <a:ext cx="0" cy="219456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24" name="S13/object-284"/>
          <p:cNvSpPr/>
          <p:nvPr/>
        </p:nvSpPr>
        <p:spPr>
          <a:xfrm>
            <a:off x="594360" y="4434840"/>
            <a:ext cx="7863840" cy="1024128"/>
          </a:xfrm>
          <a:prstGeom prst="roundRect">
            <a:avLst>
              <a:gd name="adj" fmla="val 14286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5" name="S13/object-285"/>
          <p:cNvSpPr/>
          <p:nvPr/>
        </p:nvSpPr>
        <p:spPr>
          <a:xfrm>
            <a:off x="822960" y="45994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显示与解释层</a:t>
            </a:r>
            <a:endParaRPr lang="en-US" sz="2200" dirty="0"/>
          </a:p>
        </p:txBody>
      </p:sp>
      <p:sp>
        <p:nvSpPr>
          <p:cNvPr id="26" name="S13/object-286"/>
          <p:cNvSpPr/>
          <p:nvPr/>
        </p:nvSpPr>
        <p:spPr>
          <a:xfrm>
            <a:off x="3200400" y="45994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Three.js / 原生结果表</a:t>
            </a:r>
            <a:endParaRPr lang="en-US" sz="2000" dirty="0"/>
          </a:p>
        </p:txBody>
      </p:sp>
      <p:sp>
        <p:nvSpPr>
          <p:cNvPr id="27" name="S13/object-287"/>
          <p:cNvSpPr/>
          <p:nvPr/>
        </p:nvSpPr>
        <p:spPr>
          <a:xfrm>
            <a:off x="3200400" y="506577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视图切换 · 内力 / 变形 · 教学助手</a:t>
            </a:r>
            <a:endParaRPr lang="en-US" sz="1500" dirty="0"/>
          </a:p>
        </p:txBody>
      </p:sp>
      <p:sp>
        <p:nvSpPr>
          <p:cNvPr id="28" name="S13/object-288"/>
          <p:cNvSpPr/>
          <p:nvPr/>
        </p:nvSpPr>
        <p:spPr>
          <a:xfrm>
            <a:off x="8778240" y="1874520"/>
            <a:ext cx="2834640" cy="3584448"/>
          </a:xfrm>
          <a:prstGeom prst="roundRect">
            <a:avLst>
              <a:gd name="adj" fmla="val 5161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29" name="S13/object-289"/>
          <p:cNvSpPr/>
          <p:nvPr/>
        </p:nvSpPr>
        <p:spPr>
          <a:xfrm>
            <a:off x="9006840" y="217627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本地执行</a:t>
            </a:r>
            <a:endParaRPr lang="en-US" sz="2600" dirty="0"/>
          </a:p>
        </p:txBody>
      </p:sp>
      <p:sp>
        <p:nvSpPr>
          <p:cNvPr id="30" name="S13/object-290"/>
          <p:cNvSpPr/>
          <p:nvPr/>
        </p:nvSpPr>
        <p:spPr>
          <a:xfrm>
            <a:off x="9006840" y="2953512"/>
            <a:ext cx="2377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Electron 桌面版</a:t>
            </a:r>
            <a:endParaRPr lang="en-US" sz="1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PWA / 离线静态版</a:t>
            </a:r>
            <a:endParaRPr lang="en-US" sz="1900" dirty="0"/>
          </a:p>
          <a:p>
            <a:pPr indent="0" marL="0">
              <a:spcAft>
                <a:spcPts val="500"/>
              </a:spcAft>
              <a:buNone/>
            </a:pPr>
            <a:endParaRPr lang="en-US" sz="1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不可用时</a:t>
            </a:r>
            <a:endParaRPr lang="en-US" sz="1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回退主线程 CPU</a:t>
            </a:r>
            <a:endParaRPr lang="en-US" sz="1900" dirty="0"/>
          </a:p>
        </p:txBody>
      </p:sp>
      <p:sp>
        <p:nvSpPr>
          <p:cNvPr id="31" name="S13/object-291"/>
          <p:cNvSpPr/>
          <p:nvPr/>
        </p:nvSpPr>
        <p:spPr>
          <a:xfrm>
            <a:off x="9006840" y="563270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WebGPU：仅能力检测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未启用 GPU 数值内核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4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14/object-292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14/object-293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14/object-294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14/object-295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14/object-296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14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哪些能力已具备，哪些仍受限？</a:t>
            </a:r>
            <a:endParaRPr lang="en-US" sz="2800" dirty="0"/>
          </a:p>
        </p:txBody>
      </p:sp>
      <p:sp>
        <p:nvSpPr>
          <p:cNvPr id="9" name="S14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14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功能存在、实机观察与充分验证不是一回事</a:t>
            </a:r>
            <a:endParaRPr lang="en-US" sz="1600" dirty="0"/>
          </a:p>
        </p:txBody>
      </p:sp>
      <p:sp>
        <p:nvSpPr>
          <p:cNvPr id="11" name="S14/object-29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100" dirty="0"/>
          </a:p>
        </p:txBody>
      </p:sp>
      <p:sp>
        <p:nvSpPr>
          <p:cNvPr id="12" name="S14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来源：README.md；qa/live-run-evidence.json；技术边界说明</a:t>
            </a:r>
            <a:endParaRPr lang="en-US" sz="800" dirty="0"/>
          </a:p>
        </p:txBody>
      </p:sp>
      <p:graphicFrame>
        <p:nvGraphicFramePr>
          <p:cNvPr id="15" name="S14/capability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01952"/>
          <a:ext cx="11018520" cy="3465576"/>
        </p:xfrm>
        <a:graphic>
          <a:graphicData uri="http://schemas.openxmlformats.org/drawingml/2006/table">
            <a:tbl>
              <a:tblPr/>
              <a:tblGrid>
                <a:gridCol w="1920240"/>
                <a:gridCol w="4663440"/>
                <a:gridCol w="4434840"/>
              </a:tblGrid>
              <a:tr h="6931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可以讲清的能力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当前边界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31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二维梁 / 刚架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反力、N / V / M、变形与推导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先检查模型与符号约定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31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空间杆系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桁架闭环；刚架六自由度与端力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杆系响应，不是实体云图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31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公式与组合变形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轴向 / 弯曲 / 扭转 / 强度计算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适用条件与单位需独立确认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31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 / 实体实验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WebGPU检测；Tet4实验内核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GPU内核与主编辑器实体链未完成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14/object-298"/>
          <p:cNvSpPr/>
          <p:nvPr/>
        </p:nvSpPr>
        <p:spPr>
          <a:xfrm>
            <a:off x="685800" y="563270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学习、教学与训练</a:t>
            </a:r>
            <a:endParaRPr lang="en-US" sz="2400" dirty="0"/>
          </a:p>
        </p:txBody>
      </p:sp>
      <p:sp>
        <p:nvSpPr>
          <p:cNvPr id="16" name="S14/object-299"/>
          <p:cNvSpPr/>
          <p:nvPr/>
        </p:nvSpPr>
        <p:spPr>
          <a:xfrm>
            <a:off x="4754880" y="5605272"/>
            <a:ext cx="6766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非北航官方；不用于实际工程设计、鉴定或商业用途。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5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15/object-30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15/object-30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15/object-30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15/object-30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15/object-30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15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如何复现一个简单学习算例？</a:t>
            </a:r>
            <a:endParaRPr lang="en-US" sz="2800" dirty="0"/>
          </a:p>
        </p:txBody>
      </p:sp>
      <p:sp>
        <p:nvSpPr>
          <p:cNvPr id="9" name="S15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15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从建模、结果查看到解析核对按顺序操作</a:t>
            </a:r>
            <a:endParaRPr lang="en-US" sz="1600" dirty="0"/>
          </a:p>
        </p:txBody>
      </p:sp>
      <p:sp>
        <p:nvSpPr>
          <p:cNvPr id="11" name="S15/object-30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100" dirty="0"/>
          </a:p>
        </p:txBody>
      </p:sp>
      <p:sp>
        <p:nvSpPr>
          <p:cNvPr id="12" name="S15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来源：live/01-workspace.jpg；live/07-load-properties.jpg；二维解析核验</a:t>
            </a:r>
            <a:endParaRPr lang="en-US" sz="800" dirty="0"/>
          </a:p>
        </p:txBody>
      </p:sp>
      <p:sp>
        <p:nvSpPr>
          <p:cNvPr id="14" name="S15/object-306"/>
          <p:cNvSpPr/>
          <p:nvPr/>
        </p:nvSpPr>
        <p:spPr>
          <a:xfrm>
            <a:off x="571500" y="1805940"/>
            <a:ext cx="6172200" cy="3493008"/>
          </a:xfrm>
          <a:prstGeom prst="rect">
            <a:avLst>
              <a:gd name="adj" fmla="val 4188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5" name="S15/guide-evidence" descr="真实本地程序截图；来源 02-guid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29372"/>
            <a:ext cx="6126480" cy="3446145"/>
          </a:xfrm>
          <a:prstGeom prst="rect">
            <a:avLst/>
          </a:prstGeom>
        </p:spPr>
      </p:pic>
      <p:sp>
        <p:nvSpPr>
          <p:cNvPr id="16" name="S15/object-307"/>
          <p:cNvSpPr/>
          <p:nvPr/>
        </p:nvSpPr>
        <p:spPr>
          <a:xfrm>
            <a:off x="7059168" y="182880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7" name="S15/object-308"/>
          <p:cNvSpPr/>
          <p:nvPr/>
        </p:nvSpPr>
        <p:spPr>
          <a:xfrm>
            <a:off x="7059168" y="18790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S15/object-309"/>
          <p:cNvSpPr/>
          <p:nvPr/>
        </p:nvSpPr>
        <p:spPr>
          <a:xfrm>
            <a:off x="7498080" y="1815084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载入案例</a:t>
            </a:r>
            <a:endParaRPr lang="en-US" sz="2100" dirty="0"/>
          </a:p>
        </p:txBody>
      </p:sp>
      <p:sp>
        <p:nvSpPr>
          <p:cNvPr id="19" name="S15/object-310"/>
          <p:cNvSpPr/>
          <p:nvPr/>
        </p:nvSpPr>
        <p:spPr>
          <a:xfrm>
            <a:off x="7498080" y="2286000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 → 使用指导与默认案例</a:t>
            </a:r>
            <a:endParaRPr lang="en-US" sz="1700" dirty="0"/>
          </a:p>
        </p:txBody>
      </p:sp>
      <p:sp>
        <p:nvSpPr>
          <p:cNvPr id="20" name="S15/object-311"/>
          <p:cNvSpPr/>
          <p:nvPr/>
        </p:nvSpPr>
        <p:spPr>
          <a:xfrm>
            <a:off x="7059168" y="2807208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1" name="S15/object-312"/>
          <p:cNvSpPr/>
          <p:nvPr/>
        </p:nvSpPr>
        <p:spPr>
          <a:xfrm>
            <a:off x="7059168" y="285750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S15/object-313"/>
          <p:cNvSpPr/>
          <p:nvPr/>
        </p:nvSpPr>
        <p:spPr>
          <a:xfrm>
            <a:off x="7498080" y="2793492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检查条件</a:t>
            </a:r>
            <a:endParaRPr lang="en-US" sz="2100" dirty="0"/>
          </a:p>
        </p:txBody>
      </p:sp>
      <p:sp>
        <p:nvSpPr>
          <p:cNvPr id="23" name="S15/object-314"/>
          <p:cNvSpPr/>
          <p:nvPr/>
        </p:nvSpPr>
        <p:spPr>
          <a:xfrm>
            <a:off x="7498080" y="3264408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单位、截面、约束、荷载方向</a:t>
            </a:r>
            <a:endParaRPr lang="en-US" sz="1700" dirty="0"/>
          </a:p>
        </p:txBody>
      </p:sp>
      <p:sp>
        <p:nvSpPr>
          <p:cNvPr id="24" name="S15/object-315"/>
          <p:cNvSpPr/>
          <p:nvPr/>
        </p:nvSpPr>
        <p:spPr>
          <a:xfrm>
            <a:off x="7059168" y="3785616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5" name="S15/object-316"/>
          <p:cNvSpPr/>
          <p:nvPr/>
        </p:nvSpPr>
        <p:spPr>
          <a:xfrm>
            <a:off x="7059168" y="383590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S15/object-317"/>
          <p:cNvSpPr/>
          <p:nvPr/>
        </p:nvSpPr>
        <p:spPr>
          <a:xfrm>
            <a:off x="7498080" y="3771900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求解与核对</a:t>
            </a:r>
            <a:endParaRPr lang="en-US" sz="2100" dirty="0"/>
          </a:p>
        </p:txBody>
      </p:sp>
      <p:sp>
        <p:nvSpPr>
          <p:cNvPr id="27" name="S15/object-318"/>
          <p:cNvSpPr/>
          <p:nvPr/>
        </p:nvSpPr>
        <p:spPr>
          <a:xfrm>
            <a:off x="7498080" y="4242816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二维自动求解；三维点本地求解</a:t>
            </a:r>
            <a:endParaRPr lang="en-US" sz="1700" dirty="0"/>
          </a:p>
        </p:txBody>
      </p:sp>
      <p:sp>
        <p:nvSpPr>
          <p:cNvPr id="28" name="S15/object-319"/>
          <p:cNvSpPr/>
          <p:nvPr/>
        </p:nvSpPr>
        <p:spPr>
          <a:xfrm>
            <a:off x="7059168" y="4764024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9" name="S15/object-320"/>
          <p:cNvSpPr/>
          <p:nvPr/>
        </p:nvSpPr>
        <p:spPr>
          <a:xfrm>
            <a:off x="7059168" y="4814316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S15/object-321"/>
          <p:cNvSpPr/>
          <p:nvPr/>
        </p:nvSpPr>
        <p:spPr>
          <a:xfrm>
            <a:off x="7498080" y="4750308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改变单参数</a:t>
            </a:r>
            <a:endParaRPr lang="en-US" sz="2100" dirty="0"/>
          </a:p>
        </p:txBody>
      </p:sp>
      <p:sp>
        <p:nvSpPr>
          <p:cNvPr id="31" name="S15/object-322"/>
          <p:cNvSpPr/>
          <p:nvPr/>
        </p:nvSpPr>
        <p:spPr>
          <a:xfrm>
            <a:off x="7498080" y="5221224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先预测，改位置，再比较结果</a:t>
            </a:r>
            <a:endParaRPr lang="en-US" sz="1700" dirty="0"/>
          </a:p>
        </p:txBody>
      </p:sp>
      <p:sp>
        <p:nvSpPr>
          <p:cNvPr id="32" name="S15/object-323"/>
          <p:cNvSpPr/>
          <p:nvPr/>
        </p:nvSpPr>
        <p:spPr>
          <a:xfrm>
            <a:off x="685800" y="5742432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排错线索：不稳定→约束；量级异常→单位；图形异常→方向与局部坐标。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6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16/object-324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16/object-325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16/object-326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16/object-327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16/object-328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16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让力学结果真正可理解</a:t>
            </a:r>
            <a:endParaRPr lang="en-US" sz="2800" dirty="0"/>
          </a:p>
        </p:txBody>
      </p:sp>
      <p:sp>
        <p:nvSpPr>
          <p:cNvPr id="9" name="S16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16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以可复算案例验证功能，再逐步扩展边界</a:t>
            </a:r>
            <a:endParaRPr lang="en-US" sz="1600" dirty="0"/>
          </a:p>
        </p:txBody>
      </p:sp>
      <p:sp>
        <p:nvSpPr>
          <p:cNvPr id="11" name="S16/object-329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100" dirty="0"/>
          </a:p>
        </p:txBody>
      </p:sp>
      <p:sp>
        <p:nvSpPr>
          <p:cNvPr id="12" name="S16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来源：二维解析与实机记录；三维实机记录；证据缺口清单</a:t>
            </a:r>
            <a:endParaRPr lang="en-US" sz="800" dirty="0"/>
          </a:p>
        </p:txBody>
      </p:sp>
      <p:sp>
        <p:nvSpPr>
          <p:cNvPr id="14" name="S16/object-330"/>
          <p:cNvSpPr/>
          <p:nvPr/>
        </p:nvSpPr>
        <p:spPr>
          <a:xfrm>
            <a:off x="594360" y="1847088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先预测，再求解，最后解释。</a:t>
            </a:r>
            <a:endParaRPr lang="en-US" sz="3800" dirty="0"/>
          </a:p>
        </p:txBody>
      </p:sp>
      <p:sp>
        <p:nvSpPr>
          <p:cNvPr id="15" name="S16/object-331"/>
          <p:cNvSpPr/>
          <p:nvPr/>
        </p:nvSpPr>
        <p:spPr>
          <a:xfrm>
            <a:off x="594360" y="333756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6" name="S16/object-332"/>
          <p:cNvSpPr/>
          <p:nvPr/>
        </p:nvSpPr>
        <p:spPr>
          <a:xfrm>
            <a:off x="594360" y="338785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S16/object-333"/>
          <p:cNvSpPr/>
          <p:nvPr/>
        </p:nvSpPr>
        <p:spPr>
          <a:xfrm>
            <a:off x="1033272" y="3323844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已经看到</a:t>
            </a:r>
            <a:endParaRPr lang="en-US" sz="2100" dirty="0"/>
          </a:p>
        </p:txBody>
      </p:sp>
      <p:sp>
        <p:nvSpPr>
          <p:cNvPr id="18" name="S16/object-334"/>
          <p:cNvSpPr/>
          <p:nvPr/>
        </p:nvSpPr>
        <p:spPr>
          <a:xfrm>
            <a:off x="621792" y="4041648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默认梁幅值对照</a:t>
            </a:r>
            <a:endParaRPr lang="en-US" sz="2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空间刚架三向力平衡</a:t>
            </a:r>
            <a:endParaRPr lang="en-US" sz="2000" dirty="0"/>
          </a:p>
        </p:txBody>
      </p:sp>
      <p:sp>
        <p:nvSpPr>
          <p:cNvPr id="19" name="S16/object-335"/>
          <p:cNvSpPr/>
          <p:nvPr/>
        </p:nvSpPr>
        <p:spPr>
          <a:xfrm>
            <a:off x="4389120" y="333756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0" name="S16/object-336"/>
          <p:cNvSpPr/>
          <p:nvPr/>
        </p:nvSpPr>
        <p:spPr>
          <a:xfrm>
            <a:off x="4389120" y="338785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S16/object-337"/>
          <p:cNvSpPr/>
          <p:nvPr/>
        </p:nvSpPr>
        <p:spPr>
          <a:xfrm>
            <a:off x="4828032" y="3323844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接下来验证</a:t>
            </a:r>
            <a:endParaRPr lang="en-US" sz="2100" dirty="0"/>
          </a:p>
        </p:txBody>
      </p:sp>
      <p:sp>
        <p:nvSpPr>
          <p:cNvPr id="22" name="S16/object-338"/>
          <p:cNvSpPr/>
          <p:nvPr/>
        </p:nvSpPr>
        <p:spPr>
          <a:xfrm>
            <a:off x="4416552" y="4041648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更多边界条件与荷载类型</a:t>
            </a:r>
            <a:endParaRPr lang="en-US" sz="2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建立可复现的回归案例</a:t>
            </a:r>
            <a:endParaRPr lang="en-US" sz="2000" dirty="0"/>
          </a:p>
        </p:txBody>
      </p:sp>
      <p:sp>
        <p:nvSpPr>
          <p:cNvPr id="23" name="S16/object-339"/>
          <p:cNvSpPr/>
          <p:nvPr/>
        </p:nvSpPr>
        <p:spPr>
          <a:xfrm>
            <a:off x="8183880" y="333756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4" name="S16/object-340"/>
          <p:cNvSpPr/>
          <p:nvPr/>
        </p:nvSpPr>
        <p:spPr>
          <a:xfrm>
            <a:off x="8183880" y="338785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S16/object-341"/>
          <p:cNvSpPr/>
          <p:nvPr/>
        </p:nvSpPr>
        <p:spPr>
          <a:xfrm>
            <a:off x="8622792" y="3323844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一起反馈</a:t>
            </a:r>
            <a:endParaRPr lang="en-US" sz="2100" dirty="0"/>
          </a:p>
        </p:txBody>
      </p:sp>
      <p:sp>
        <p:nvSpPr>
          <p:cNvPr id="26" name="S16/object-342"/>
          <p:cNvSpPr/>
          <p:nvPr/>
        </p:nvSpPr>
        <p:spPr>
          <a:xfrm>
            <a:off x="8211312" y="4041648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提供模型、单位与截图</a:t>
            </a:r>
            <a:endParaRPr lang="en-US" sz="2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说清哪一步不直观或不一致</a:t>
            </a:r>
            <a:endParaRPr lang="en-US" sz="2000" dirty="0"/>
          </a:p>
        </p:txBody>
      </p:sp>
      <p:sp>
        <p:nvSpPr>
          <p:cNvPr id="27" name="S16/object-343"/>
          <p:cNvSpPr/>
          <p:nvPr/>
        </p:nvSpPr>
        <p:spPr>
          <a:xfrm>
            <a:off x="685800" y="5742432"/>
            <a:ext cx="9784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让计算结果成为理解材料力学的起点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7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17/object-344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17/object-345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17/object-346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17/object-347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17/object-348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17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附录：公式与单位速查</a:t>
            </a:r>
            <a:endParaRPr lang="en-US" sz="2800" dirty="0"/>
          </a:p>
        </p:txBody>
      </p:sp>
      <p:sp>
        <p:nvSpPr>
          <p:cNvPr id="9" name="S17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17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统一参数定义、单位和符号口径</a:t>
            </a:r>
            <a:endParaRPr lang="en-US" sz="1600" dirty="0"/>
          </a:p>
        </p:txBody>
      </p:sp>
      <p:sp>
        <p:nvSpPr>
          <p:cNvPr id="11" name="S17/object-349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100" dirty="0"/>
          </a:p>
        </p:txBody>
      </p:sp>
      <p:sp>
        <p:nvSpPr>
          <p:cNvPr id="12" name="S17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来源：静力学公式；README.md公式符号</a:t>
            </a:r>
            <a:endParaRPr lang="en-US" sz="800" dirty="0"/>
          </a:p>
        </p:txBody>
      </p:sp>
      <p:graphicFrame>
        <p:nvGraphicFramePr>
          <p:cNvPr id="18" name="S17/formul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28800"/>
          <a:ext cx="11018520" cy="3886200"/>
        </p:xfrm>
        <a:graphic>
          <a:graphicData uri="http://schemas.openxmlformats.org/drawingml/2006/table">
            <a:tbl>
              <a:tblPr/>
              <a:tblGrid>
                <a:gridCol w="1417320"/>
                <a:gridCol w="4754880"/>
                <a:gridCol w="4846320"/>
              </a:tblGrid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对象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关系式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单位与适用条件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轴向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σ=N/A；ΔL=NL/(EA)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统一N、m、Pa；均匀等截面线弹性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弯曲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σmax=M/W；EI控制挠度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N·m、m³；线弹性小变形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圆轴扭转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τmax=T/Wt；φ=TL/(GJ)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N·m、m⁴；均匀圆轴与小变形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组合应力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σeq=√(σ²+3τ²)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正应力与剪应力采用同一单位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集中力简支梁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RA=P(L−a)/L；Mpeak=Pa(L−a)/L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本稿P=18kN、L=6m；0&lt;a&lt;L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17/object-350"/>
          <p:cNvSpPr/>
          <p:nvPr/>
        </p:nvSpPr>
        <p:spPr>
          <a:xfrm>
            <a:off x="685800" y="597103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公式是学习用的条件化关系；选公式之前先确认受力形式、截面与边界。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8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18/object-35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18/object-35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18/object-35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18/object-35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18/object-35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18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附录：证据索引与验证范围</a:t>
            </a:r>
            <a:endParaRPr lang="en-US" sz="2800" dirty="0"/>
          </a:p>
        </p:txBody>
      </p:sp>
      <p:sp>
        <p:nvSpPr>
          <p:cNvPr id="9" name="S18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18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每一项结论必须能够追溯到具体来源</a:t>
            </a:r>
            <a:endParaRPr lang="en-US" sz="1600" dirty="0"/>
          </a:p>
        </p:txBody>
      </p:sp>
      <p:sp>
        <p:nvSpPr>
          <p:cNvPr id="11" name="S18/object-356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100" dirty="0"/>
          </a:p>
        </p:txBody>
      </p:sp>
      <p:sp>
        <p:nvSpPr>
          <p:cNvPr id="12" name="S18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来源：README.md；outputs/classmate-sharing/assets/live/；qa/live-run-evidence.json</a:t>
            </a:r>
            <a:endParaRPr lang="en-US" sz="800" dirty="0"/>
          </a:p>
        </p:txBody>
      </p:sp>
      <p:sp>
        <p:nvSpPr>
          <p:cNvPr id="14" name="S18/object-357"/>
          <p:cNvSpPr/>
          <p:nvPr/>
        </p:nvSpPr>
        <p:spPr>
          <a:xfrm>
            <a:off x="594360" y="182880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5" name="S18/object-358"/>
          <p:cNvSpPr/>
          <p:nvPr/>
        </p:nvSpPr>
        <p:spPr>
          <a:xfrm>
            <a:off x="594360" y="18790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S18/object-359"/>
          <p:cNvSpPr/>
          <p:nvPr/>
        </p:nvSpPr>
        <p:spPr>
          <a:xfrm>
            <a:off x="1033272" y="1815084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软件功能与实现</a:t>
            </a:r>
            <a:endParaRPr lang="en-US" sz="2100" dirty="0"/>
          </a:p>
        </p:txBody>
      </p:sp>
      <p:sp>
        <p:nvSpPr>
          <p:cNvPr id="17" name="S18/object-360"/>
          <p:cNvSpPr/>
          <p:nvPr/>
        </p:nvSpPr>
        <p:spPr>
          <a:xfrm>
            <a:off x="3794760" y="1837944"/>
            <a:ext cx="7818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README.md；docs/solver-capability-audit.md；docs/version-2.0-stage-1.md</a:t>
            </a:r>
            <a:endParaRPr lang="en-US" sz="1700" dirty="0"/>
          </a:p>
        </p:txBody>
      </p:sp>
      <p:sp>
        <p:nvSpPr>
          <p:cNvPr id="18" name="S18/object-361"/>
          <p:cNvSpPr/>
          <p:nvPr/>
        </p:nvSpPr>
        <p:spPr>
          <a:xfrm>
            <a:off x="594360" y="274320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9" name="S18/object-362"/>
          <p:cNvSpPr/>
          <p:nvPr/>
        </p:nvSpPr>
        <p:spPr>
          <a:xfrm>
            <a:off x="594360" y="27934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S18/object-363"/>
          <p:cNvSpPr/>
          <p:nvPr/>
        </p:nvSpPr>
        <p:spPr>
          <a:xfrm>
            <a:off x="1033272" y="2729484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实机证据</a:t>
            </a:r>
            <a:endParaRPr lang="en-US" sz="2100" dirty="0"/>
          </a:p>
        </p:txBody>
      </p:sp>
      <p:sp>
        <p:nvSpPr>
          <p:cNvPr id="21" name="S18/object-364"/>
          <p:cNvSpPr/>
          <p:nvPr/>
        </p:nvSpPr>
        <p:spPr>
          <a:xfrm>
            <a:off x="3794760" y="2752344"/>
            <a:ext cx="7818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outputs/classmate-sharing/assets/live；qa/live-run-evidence.json；本地已有dist构建</a:t>
            </a:r>
            <a:endParaRPr lang="en-US" sz="1700" dirty="0"/>
          </a:p>
        </p:txBody>
      </p:sp>
      <p:sp>
        <p:nvSpPr>
          <p:cNvPr id="22" name="S18/object-365"/>
          <p:cNvSpPr/>
          <p:nvPr/>
        </p:nvSpPr>
        <p:spPr>
          <a:xfrm>
            <a:off x="594360" y="365760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3" name="S18/object-366"/>
          <p:cNvSpPr/>
          <p:nvPr/>
        </p:nvSpPr>
        <p:spPr>
          <a:xfrm>
            <a:off x="594360" y="37078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S18/object-367"/>
          <p:cNvSpPr/>
          <p:nvPr/>
        </p:nvSpPr>
        <p:spPr>
          <a:xfrm>
            <a:off x="1033272" y="3643884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解析数据</a:t>
            </a:r>
            <a:endParaRPr lang="en-US" sz="2100" dirty="0"/>
          </a:p>
        </p:txBody>
      </p:sp>
      <p:sp>
        <p:nvSpPr>
          <p:cNvPr id="25" name="S18/object-368"/>
          <p:cNvSpPr/>
          <p:nvPr/>
        </p:nvSpPr>
        <p:spPr>
          <a:xfrm>
            <a:off x="3794760" y="3666744"/>
            <a:ext cx="7818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sources/native-data.json；P=18kN、L=6m，a=1/2/3m；并非新增测量</a:t>
            </a:r>
            <a:endParaRPr lang="en-US" sz="1700" dirty="0"/>
          </a:p>
        </p:txBody>
      </p:sp>
      <p:sp>
        <p:nvSpPr>
          <p:cNvPr id="26" name="S18/object-369"/>
          <p:cNvSpPr/>
          <p:nvPr/>
        </p:nvSpPr>
        <p:spPr>
          <a:xfrm>
            <a:off x="594360" y="457200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7" name="S18/object-370"/>
          <p:cNvSpPr/>
          <p:nvPr/>
        </p:nvSpPr>
        <p:spPr>
          <a:xfrm>
            <a:off x="594360" y="46222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S18/object-371"/>
          <p:cNvSpPr/>
          <p:nvPr/>
        </p:nvSpPr>
        <p:spPr>
          <a:xfrm>
            <a:off x="1033272" y="4558284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网页协作</a:t>
            </a:r>
            <a:endParaRPr lang="en-US" sz="2100" dirty="0"/>
          </a:p>
        </p:txBody>
      </p:sp>
      <p:sp>
        <p:nvSpPr>
          <p:cNvPr id="29" name="S18/object-372"/>
          <p:cNvSpPr/>
          <p:nvPr/>
        </p:nvSpPr>
        <p:spPr>
          <a:xfrm>
            <a:off x="3794760" y="4581144"/>
            <a:ext cx="7818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当前已登录ChatGPT完成规划与单元素生成；模型名未核验，用户允许继续</a:t>
            </a:r>
            <a:endParaRPr lang="en-US" sz="1700" dirty="0"/>
          </a:p>
        </p:txBody>
      </p:sp>
      <p:sp>
        <p:nvSpPr>
          <p:cNvPr id="30" name="S18/object-373"/>
          <p:cNvSpPr/>
          <p:nvPr/>
        </p:nvSpPr>
        <p:spPr>
          <a:xfrm>
            <a:off x="594360" y="5669280"/>
            <a:ext cx="11018520" cy="548640"/>
          </a:xfrm>
          <a:prstGeom prst="roundRect">
            <a:avLst>
              <a:gd name="adj" fmla="val 26667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1" name="S18/object-374"/>
          <p:cNvSpPr/>
          <p:nvPr/>
        </p:nvSpPr>
        <p:spPr>
          <a:xfrm>
            <a:off x="777240" y="5824728"/>
            <a:ext cx="10652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验证仍有边界：默认案例 ≠ 全工况验证；单次耗时 ≠ 性能基准；放大变形 ≠ 真实比例。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拉压弯扭大师｜中国科研分享重制版</dc:title>
  <dc:subject>PptxGenJS Presentation</dc:subject>
  <dc:creator>拉压弯扭大师</dc:creator>
  <cp:lastModifiedBy>拉压弯扭大师</cp:lastModifiedBy>
  <cp:revision>1</cp:revision>
  <dcterms:created xsi:type="dcterms:W3CDTF">2026-10-11T06:31:01Z</dcterms:created>
  <dcterms:modified xsi:type="dcterms:W3CDTF">2026-10-11T06:31:01Z</dcterms:modified>
</cp:coreProperties>
</file>
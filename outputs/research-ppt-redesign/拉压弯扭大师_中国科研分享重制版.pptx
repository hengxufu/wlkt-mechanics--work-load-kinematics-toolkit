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Times New Roman"/>
              <a:ea typeface="Microsoft YaHei"/>
              <a:cs typeface="Times New Roman"/>
            </a:defRPr>
          </a:pPr>
          <a:endParaRPr lang="en-US">
            <a:latin typeface="Times New Roman"/>
            <a:ea typeface="Microsoft YaHei"/>
            <a:cs typeface="Times New Roman"/>
          </a:endParaRPr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5282F153-3F37-0F45-9E97-73ACFA13230C}" type="datetimeFigureOut">
              <a:rPr lang="en-US">
                <a:latin typeface="Times New Roman"/>
                <a:ea typeface="Microsoft YaHei"/>
                <a:cs typeface="Times New Roman"/>
              </a:rPr>
              <a:t>7/23/19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Microsoft YaHei"/>
                <a:cs typeface="Times New Roman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CE5E9CC1-C706-0F49-92D6-E571CC5EEA8F}" type="slidenum">
              <a:rPr lang="en-US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30秒：介绍软件定位和版本，说明今天重点是用真实算例验证学习功能，而非宣传工程认证能力。
来源：README.md；用户提供的产品定位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40秒：围绕一道具体简支梁题，解释建模、结果和解析公式之间的理解障碍，不虚构教学改善数据。
来源：二维简支梁解析条件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40秒：介绍软件覆盖的基本变形与组合变形，强调力学量之间的联系，不把功能范围等同于全面测试。
来源：README.md公式库及功能说明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45秒：讲清从模型输入到CPU求解，再到结果观察及解析核验的流程。出现差异时返回检查输入。
来源：README.md；用户提供的技术架构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40秒：使用真实截图说明工作区布局，重点展示模型对象与属性面板如何对应；图标字体异常不修饰。
来源：live/01-workspace.jpg；qa/live-run-evidence.json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45秒：说明2节点1单元的梁模型如何设置支座与跨中集中荷载；重点检查位置和单位。
来源：live/07-load-properties.jpg；qa/live-run-evidence.json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55秒：解释剪力在集中载荷处跃变、弯矩在跨中达到最大幅值，并强调软件的负号约定。
来源：live/06-shear.jpg；live/03-beam-moment.jpg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65秒：逐项核验9、9、27三个幅值。解释截图的-27符号、端弯矩0与跨中极值不同。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45秒：演示理论上载荷从左侧1米移至跨中时，反力分配及弯矩峰值的变化。这不是新增实测。
来源：解析预测：P=18kN，L=6m，a=1/2/3m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50秒：从实机分步推导返回基本弯曲公式，说明危险截面判断依赖内力分布与截面条件。
来源：live/04-derivation.jpg；README.md公式库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10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50秒：解释空间刚架如何从平面建模扩展到每节点6自由度，区分单元12×12和整体24自由度。
来源：README.md；空间刚架运行条件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55秒：逐项展示三向受力与支座反力相消。残差和单次耗时只描述当前运行，缺少力矩及应力核验。
来源：live/11-space-results.jpg；qa/live-run-evidence.json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40秒：讲解前端、Worker求解器和Three.js之间的数据流，明确计算不依靠尚未实现的GPU数值内核。
来源：README.md；用户提供的技术栈和求解能力说明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45秒：把功能描述与真实运行证据分开。强调Tet4和WebGPU的现状，不利用单一算例推断整体可靠性。
来源：README.md；qa/live-run-evidence.json；技术边界说明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45秒：给同学一条最短复现路径，并用常见输入错误说明如何排查。明确尚未验证安装包部署。
来源：live/01-workspace.jpg；live/07-load-properties.jpg；二维解析核验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30秒：总结学习闭环，邀请同学通过简单算例复算结果。后续优先补齐参数扫描与空间完整平衡验证。
来源：二维解析与实机记录；三维实机记录；证据缺口清单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附录备查，不计入12分钟。答疑时解释公式、单位与符号定义，尤其注意反力方向和弯矩幅值口径。
来源：静力学公式；README.md公式符号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附录备查，不计入12分钟。供同学追溯实机截图、解析预测和技术说明，避免把一次运行扩大解释。
来源：README.md；outputs/classmate-sharing/assets/live/；qa/live-run-evidence.json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>
          <a:latin typeface="Times New Roman"/>
          <a:ea typeface="Microsoft YaHei"/>
          <a:cs typeface="Times New Roman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本地离线的材料力学学习辅助软件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01/object-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来源：README.md；用户提供的产品定位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1/object-7"/>
          <p:cNvSpPr/>
          <p:nvPr/>
        </p:nvSpPr>
        <p:spPr>
          <a:xfrm>
            <a:off x="548640" y="18288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从力学概念</a:t>
            </a:r>
            <a:endParaRPr lang="en-US" sz="4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1/object-8"/>
          <p:cNvSpPr/>
          <p:nvPr/>
        </p:nvSpPr>
        <p:spPr>
          <a:xfrm>
            <a:off x="548640" y="2697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到可验证计算</a:t>
            </a:r>
            <a:endParaRPr lang="en-US" sz="4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1/object-9"/>
          <p:cNvSpPr/>
          <p:nvPr/>
        </p:nvSpPr>
        <p:spPr>
          <a:xfrm>
            <a:off x="594360" y="37673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一根梁，串起建模、求解、推导与独立校核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1/object-10"/>
          <p:cNvSpPr/>
          <p:nvPr/>
        </p:nvSpPr>
        <p:spPr>
          <a:xfrm>
            <a:off x="59436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1/object-11"/>
          <p:cNvSpPr/>
          <p:nvPr/>
        </p:nvSpPr>
        <p:spPr>
          <a:xfrm>
            <a:off x="70408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本地离线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1/object-12"/>
          <p:cNvSpPr/>
          <p:nvPr/>
        </p:nvSpPr>
        <p:spPr>
          <a:xfrm>
            <a:off x="251460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262432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二维 / 空间杆系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1/object-14"/>
          <p:cNvSpPr/>
          <p:nvPr/>
        </p:nvSpPr>
        <p:spPr>
          <a:xfrm>
            <a:off x="443484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454456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符号公式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1/object-16"/>
          <p:cNvSpPr/>
          <p:nvPr/>
        </p:nvSpPr>
        <p:spPr>
          <a:xfrm>
            <a:off x="59436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材料力学同学分享  ·  v2.0.2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1/concept-stage"/>
          <p:cNvSpPr/>
          <p:nvPr/>
        </p:nvSpPr>
        <p:spPr>
          <a:xfrm>
            <a:off x="7498080" y="1719072"/>
            <a:ext cx="4114800" cy="4407408"/>
          </a:xfrm>
          <a:prstGeom prst="roundRect">
            <a:avLst>
              <a:gd name="adj" fmla="val 355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7772400" y="5760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概念插画 · 非实测结果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26" name="S01/cover_bar" descr="single-element asset; sha256=65181474072c499183df48f623c267aaa55fca15882e9dcc34a2660336836e5a; source=D:\MACHANICS-OF-MATERIALS-main\outputs\research-ppt-redesign\asset-jobs\queue-v1\REQ01\METAL_BAR-original.png" title="concept: cover_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1" y="1874519"/>
            <a:ext cx="370332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2/object-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02/object-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2/object-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2/object-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2/object-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为什么需要这样的学习工具？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课堂难点是把模型、计算与内力图联系起来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02/object-2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来源：二维简支梁解析条件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2/object-24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02/object-25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2/object-26"/>
          <p:cNvSpPr/>
          <p:nvPr/>
        </p:nvSpPr>
        <p:spPr>
          <a:xfrm>
            <a:off x="1033272" y="1769364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会算题，还需要能解释结果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2/object-27"/>
          <p:cNvSpPr/>
          <p:nvPr/>
        </p:nvSpPr>
        <p:spPr>
          <a:xfrm>
            <a:off x="658368" y="2651760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18" name="S02/object-28"/>
          <p:cNvSpPr/>
          <p:nvPr/>
        </p:nvSpPr>
        <p:spPr>
          <a:xfrm>
            <a:off x="987552" y="253288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支座约束哪些自由度？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2/object-29"/>
          <p:cNvSpPr/>
          <p:nvPr/>
        </p:nvSpPr>
        <p:spPr>
          <a:xfrm>
            <a:off x="658368" y="3456432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20" name="S02/object-30"/>
          <p:cNvSpPr/>
          <p:nvPr/>
        </p:nvSpPr>
        <p:spPr>
          <a:xfrm>
            <a:off x="987552" y="33375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荷载改变后，内力图怎样变？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2/object-31"/>
          <p:cNvSpPr/>
          <p:nvPr/>
        </p:nvSpPr>
        <p:spPr>
          <a:xfrm>
            <a:off x="658368" y="4261104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22" name="S02/object-32"/>
          <p:cNvSpPr/>
          <p:nvPr/>
        </p:nvSpPr>
        <p:spPr>
          <a:xfrm>
            <a:off x="987552" y="414223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数值结果为什么可信？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2/object-33"/>
          <p:cNvSpPr/>
          <p:nvPr/>
        </p:nvSpPr>
        <p:spPr>
          <a:xfrm>
            <a:off x="6565392" y="3154680"/>
            <a:ext cx="411480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24" name="S02/support-0-33"/>
          <p:cNvSpPr/>
          <p:nvPr/>
        </p:nvSpPr>
        <p:spPr>
          <a:xfrm>
            <a:off x="6419088" y="320040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5" name="S02/object-35"/>
          <p:cNvSpPr/>
          <p:nvPr/>
        </p:nvSpPr>
        <p:spPr>
          <a:xfrm>
            <a:off x="6336792" y="350215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6" name="S02/support-1-35"/>
          <p:cNvSpPr/>
          <p:nvPr/>
        </p:nvSpPr>
        <p:spPr>
          <a:xfrm>
            <a:off x="10533888" y="320040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7" name="S02/object-37"/>
          <p:cNvSpPr/>
          <p:nvPr/>
        </p:nvSpPr>
        <p:spPr>
          <a:xfrm>
            <a:off x="10451592" y="350215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8" name="S02/object-38"/>
          <p:cNvSpPr/>
          <p:nvPr/>
        </p:nvSpPr>
        <p:spPr>
          <a:xfrm>
            <a:off x="8622792" y="246888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9" name="S02/object-39"/>
          <p:cNvSpPr/>
          <p:nvPr/>
        </p:nvSpPr>
        <p:spPr>
          <a:xfrm>
            <a:off x="87325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2/object-40"/>
          <p:cNvSpPr/>
          <p:nvPr/>
        </p:nvSpPr>
        <p:spPr>
          <a:xfrm>
            <a:off x="64282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A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2/object-41"/>
          <p:cNvSpPr/>
          <p:nvPr/>
        </p:nvSpPr>
        <p:spPr>
          <a:xfrm>
            <a:off x="105430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B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2/object-42"/>
          <p:cNvSpPr/>
          <p:nvPr/>
        </p:nvSpPr>
        <p:spPr>
          <a:xfrm>
            <a:off x="63550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先作预测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2/object-43"/>
          <p:cNvSpPr/>
          <p:nvPr/>
        </p:nvSpPr>
        <p:spPr>
          <a:xfrm>
            <a:off x="93726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再看响应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2/object-44"/>
          <p:cNvSpPr/>
          <p:nvPr/>
        </p:nvSpPr>
        <p:spPr>
          <a:xfrm>
            <a:off x="594360" y="5349240"/>
            <a:ext cx="11009376" cy="713232"/>
          </a:xfrm>
          <a:prstGeom prst="roundRect">
            <a:avLst>
              <a:gd name="adj" fmla="val 205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2/object-45"/>
          <p:cNvSpPr/>
          <p:nvPr/>
        </p:nvSpPr>
        <p:spPr>
          <a:xfrm>
            <a:off x="804672" y="5522976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软件的学习价值：让“条件—模型—结果—解释”能相互对应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3/object-4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03/object-4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3/object-4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3/object-4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3/object-5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四类基本变形与统一力学量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不同变形形式共享内力、材料与截面参数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03/object-5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来源：README.md公式库及功能说明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3/object-52"/>
          <p:cNvSpPr/>
          <p:nvPr/>
        </p:nvSpPr>
        <p:spPr>
          <a:xfrm>
            <a:off x="594360" y="181051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3/object-53"/>
          <p:cNvSpPr/>
          <p:nvPr/>
        </p:nvSpPr>
        <p:spPr>
          <a:xfrm>
            <a:off x="777240" y="198424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6" name="S03/object-54"/>
          <p:cNvSpPr/>
          <p:nvPr/>
        </p:nvSpPr>
        <p:spPr>
          <a:xfrm>
            <a:off x="777240" y="203454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3/object-55"/>
          <p:cNvSpPr/>
          <p:nvPr/>
        </p:nvSpPr>
        <p:spPr>
          <a:xfrm>
            <a:off x="1216152" y="19705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拉伸 / 压缩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3/object-56"/>
          <p:cNvSpPr/>
          <p:nvPr/>
        </p:nvSpPr>
        <p:spPr>
          <a:xfrm>
            <a:off x="822960" y="2569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3/object-57"/>
          <p:cNvSpPr/>
          <p:nvPr/>
        </p:nvSpPr>
        <p:spPr>
          <a:xfrm>
            <a:off x="822960" y="3017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3/object-58"/>
          <p:cNvSpPr/>
          <p:nvPr/>
        </p:nvSpPr>
        <p:spPr>
          <a:xfrm>
            <a:off x="3520440" y="2999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轴向力与长度变化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3/object-59"/>
          <p:cNvSpPr/>
          <p:nvPr/>
        </p:nvSpPr>
        <p:spPr>
          <a:xfrm>
            <a:off x="6245352" y="181051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3/object-60"/>
          <p:cNvSpPr/>
          <p:nvPr/>
        </p:nvSpPr>
        <p:spPr>
          <a:xfrm>
            <a:off x="6428232" y="198424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03/object-61"/>
          <p:cNvSpPr/>
          <p:nvPr/>
        </p:nvSpPr>
        <p:spPr>
          <a:xfrm>
            <a:off x="6428232" y="203454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3/object-62"/>
          <p:cNvSpPr/>
          <p:nvPr/>
        </p:nvSpPr>
        <p:spPr>
          <a:xfrm>
            <a:off x="6867144" y="19705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3/object-63"/>
          <p:cNvSpPr/>
          <p:nvPr/>
        </p:nvSpPr>
        <p:spPr>
          <a:xfrm>
            <a:off x="6473952" y="2569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V → M → σ、w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3/object-64"/>
          <p:cNvSpPr/>
          <p:nvPr/>
        </p:nvSpPr>
        <p:spPr>
          <a:xfrm>
            <a:off x="6473952" y="3017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σmax = M / W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03/object-65"/>
          <p:cNvSpPr/>
          <p:nvPr/>
        </p:nvSpPr>
        <p:spPr>
          <a:xfrm>
            <a:off x="9171432" y="2999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内力分布与危险截面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3/object-66"/>
          <p:cNvSpPr/>
          <p:nvPr/>
        </p:nvSpPr>
        <p:spPr>
          <a:xfrm>
            <a:off x="594360" y="391363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03/object-67"/>
          <p:cNvSpPr/>
          <p:nvPr/>
        </p:nvSpPr>
        <p:spPr>
          <a:xfrm>
            <a:off x="777240" y="408736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0" name="S03/object-68"/>
          <p:cNvSpPr/>
          <p:nvPr/>
        </p:nvSpPr>
        <p:spPr>
          <a:xfrm>
            <a:off x="777240" y="413766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3/object-69"/>
          <p:cNvSpPr/>
          <p:nvPr/>
        </p:nvSpPr>
        <p:spPr>
          <a:xfrm>
            <a:off x="1216152" y="40736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3/object-70"/>
          <p:cNvSpPr/>
          <p:nvPr/>
        </p:nvSpPr>
        <p:spPr>
          <a:xfrm>
            <a:off x="2560320" y="46725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T → τ → φ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3/object-71"/>
          <p:cNvSpPr/>
          <p:nvPr/>
        </p:nvSpPr>
        <p:spPr>
          <a:xfrm>
            <a:off x="2560320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τmax = T / Wt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3/object-72"/>
          <p:cNvSpPr/>
          <p:nvPr/>
        </p:nvSpPr>
        <p:spPr>
          <a:xfrm>
            <a:off x="6245352" y="391363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3/object-73"/>
          <p:cNvSpPr/>
          <p:nvPr/>
        </p:nvSpPr>
        <p:spPr>
          <a:xfrm>
            <a:off x="6428232" y="408736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6" name="S03/object-74"/>
          <p:cNvSpPr/>
          <p:nvPr/>
        </p:nvSpPr>
        <p:spPr>
          <a:xfrm>
            <a:off x="6428232" y="413766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3/object-75"/>
          <p:cNvSpPr/>
          <p:nvPr/>
        </p:nvSpPr>
        <p:spPr>
          <a:xfrm>
            <a:off x="6867144" y="40736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组合变形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3/object-76"/>
          <p:cNvSpPr/>
          <p:nvPr/>
        </p:nvSpPr>
        <p:spPr>
          <a:xfrm>
            <a:off x="6473952" y="46725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N、M、T → 强度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3/object-77"/>
          <p:cNvSpPr/>
          <p:nvPr/>
        </p:nvSpPr>
        <p:spPr>
          <a:xfrm>
            <a:off x="6473952" y="5120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σeq = √(σ² + 3τ²)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3/object-78"/>
          <p:cNvSpPr/>
          <p:nvPr/>
        </p:nvSpPr>
        <p:spPr>
          <a:xfrm>
            <a:off x="9171432" y="5102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先区分分量与适用条件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03/object-79"/>
          <p:cNvSpPr/>
          <p:nvPr/>
        </p:nvSpPr>
        <p:spPr>
          <a:xfrm>
            <a:off x="896112" y="58155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概念示意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42" name="S03/torsion_small" descr="single-element asset; sha256=862e6263f46585e5601653d853b55de08917688a291fc5720453afb4754734bb; source=D:\MACHANICS-OF-MATERIALS-main\outputs\research-ppt-redesign\asset-jobs\queue-v1\REQ03\TORSION_SHAFT-original.png" title="concept: torsion_sm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262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4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04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4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4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4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从建模到核验的完整流程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输入、求解、展示和解析核对形成学习闭环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04/object-8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来源：README.md；用户提供的技术架构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4/object-8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4/object-8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4/object-8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题目 / 物理条件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4/object-8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单位、几何、受力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4/object-9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9" name="S04/object-9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4/object-9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4/object-9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离散结构模型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4/object-9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节点、构件、材料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4/object-9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4" name="S04/object-9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4/object-9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4/object-9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约束与荷载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04/object-9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自由度、等效作用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4/object-10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9" name="S04/object-10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4/object-10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4/object-10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局部到整体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4/object-10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单元刚度、坐标变换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4/object-10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4" name="S04/object-10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5" name="S04/object-10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05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04/object-10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本地求解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4/object-10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位移、反力、端力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4/object-11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9" name="S04/object-11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0" name="S04/object-11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结果解释与可视化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04/object-11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N / V / M、变形、结果表与教学推导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04/object-11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3" name="S04/object-11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独立校核：平衡关系 + 解析解 + 参数实验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04/object-11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5" name="S04/object-11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6" name="S04/object-11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输入校核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7" name="S04/object-11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约束是否足够 / 单位是否一致 / 荷载方向是否正确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8" name="S04/object-12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闭环原则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04/object-12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不只确认“求解完成”，还要解释结果是否符合物理预期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5/object-12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05/object-12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5/object-12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5/object-12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5/object-12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真实工作区如何组织？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左模型树、中视图区、右属性面板协同操作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05/object-1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来源：live/01-workspace.jpg；qa/live-run-evidence.json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5/object-128"/>
          <p:cNvSpPr/>
          <p:nvPr/>
        </p:nvSpPr>
        <p:spPr>
          <a:xfrm>
            <a:off x="571500" y="1760220"/>
            <a:ext cx="8458200" cy="4617720"/>
          </a:xfrm>
          <a:prstGeom prst="rect">
            <a:avLst>
              <a:gd name="adj" fmla="val 316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783080"/>
            <a:ext cx="8128000" cy="4572000"/>
          </a:xfrm>
          <a:prstGeom prst="rect">
            <a:avLst/>
          </a:prstGeom>
        </p:spPr>
      </p:pic>
      <p:sp>
        <p:nvSpPr>
          <p:cNvPr id="16" name="S05/object-129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05/object-130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5/object-131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模型树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5/object-132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节点、构件与条件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5/object-133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5/object-134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5/object-135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工作视图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5/object-136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几何、荷载与结果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5/object-137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05/object-138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5/object-139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属性栏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05/object-140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选中对象后检查参数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6/object-1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06/object-1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6/object-1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6/object-1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6/object-1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6m简支梁的建模与荷载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两节点一单元也能描述跨中集中力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06/object-14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来源：live/07-load-properties.jpg；qa/live-run-evidence.json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6/object-147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6/object-148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6" name="S06/support-0-148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7" name="S06/object-150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18" name="S06/support-1-150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9" name="S06/object-152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0" name="S06/object-153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1" name="S06/object-154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6/object-155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A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6/object-156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B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6/object-157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5" name="S06/object-158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6/object-159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单元 E1：A—B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06/object-160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Times New Roman"/>
                <a:ea typeface="Microsoft YaHei"/>
                <a:cs typeface="Times New Roman"/>
              </a:rPr>
              <a:t>单元内集中力：a = 3 m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6/object-161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2 个节点 · 1 个梁单元 · 无需新增跨中节点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6/object-162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0" name="S06/object-163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6/object-164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边界条件与自由度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36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节点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受约束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自由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S06/object-165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4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5" name="S06/object-166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荷载属性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−1.800×10⁴ 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位置 3.000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7/object-167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07/object-168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7/object-169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7/object-170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7/object-171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剪力与弯矩为什么这样变化？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集中力引起剪力跃变和跨中弯矩极值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07/object-17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来源：live/06-shear.jpg；live/03-beam-moment.jpg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7/object-173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07/object-174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7/object-175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剪力：集中力处发生跳变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7/object-176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8" name="S07/object-177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7/object-178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弯矩：跨中达到幅值峰值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7/object-179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1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2" name="S07/object-180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3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4" name="S07/object-181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7/object-182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左右段幅值 9 kN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7/object-183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7/object-184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跨中标注 −27 kN·m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7/object-185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同一模型 / 同一荷载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8/object-1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08/object-1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8/object-1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8/object-1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8/object-1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反力与最大弯矩的数值核验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给定工况下反力与弯矩幅值符合解析结果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08/object-19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来源：live/03-beam-moment.jpg；live/05-element-results.jpg；qa/live-run-evidence.json；RA=RB=P/2；Mmax=PL/4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8/object-192"/>
          <p:cNvSpPr/>
          <p:nvPr/>
        </p:nvSpPr>
        <p:spPr>
          <a:xfrm>
            <a:off x="571500" y="1778508"/>
            <a:ext cx="6675120" cy="3776472"/>
          </a:xfrm>
          <a:prstGeom prst="rect">
            <a:avLst>
              <a:gd name="adj" fmla="val 3874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1934"/>
            <a:ext cx="6629400" cy="3729620"/>
          </a:xfrm>
          <a:prstGeom prst="rect">
            <a:avLst/>
          </a:prstGeom>
        </p:spPr>
      </p:pic>
      <p:sp>
        <p:nvSpPr>
          <p:cNvPr id="16" name="S08/object-193"/>
          <p:cNvSpPr/>
          <p:nvPr/>
        </p:nvSpPr>
        <p:spPr>
          <a:xfrm>
            <a:off x="7525512" y="181051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DDEFF8"/>
          </a:solidFill>
          <a:ln w="10160">
            <a:solidFill>
              <a:srgbClr val="DDEFF8"/>
            </a:solidFill>
            <a:prstDash val="solid"/>
          </a:ln>
        </p:spPr>
      </p:sp>
      <p:sp>
        <p:nvSpPr>
          <p:cNvPr id="17" name="S08/object-194"/>
          <p:cNvSpPr/>
          <p:nvPr/>
        </p:nvSpPr>
        <p:spPr>
          <a:xfrm>
            <a:off x="7754112" y="19476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9 / 9 kN</a:t>
            </a:r>
            <a:endParaRPr lang="en-US" sz="3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8/object-195"/>
          <p:cNvSpPr/>
          <p:nvPr/>
        </p:nvSpPr>
        <p:spPr>
          <a:xfrm>
            <a:off x="7754112" y="25054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两端反力幅值：RA = RB = P/2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8/object-196"/>
          <p:cNvSpPr/>
          <p:nvPr/>
        </p:nvSpPr>
        <p:spPr>
          <a:xfrm>
            <a:off x="7525512" y="309067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0" name="S08/object-197"/>
          <p:cNvSpPr/>
          <p:nvPr/>
        </p:nvSpPr>
        <p:spPr>
          <a:xfrm>
            <a:off x="7754112" y="32369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27 kN·m</a:t>
            </a:r>
            <a:endParaRPr lang="en-US" sz="3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8/object-198"/>
          <p:cNvSpPr/>
          <p:nvPr/>
        </p:nvSpPr>
        <p:spPr>
          <a:xfrm>
            <a:off x="7754112" y="3776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最大弯矩幅值：PL/4 = 18×6/4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8/object-199"/>
          <p:cNvSpPr/>
          <p:nvPr/>
        </p:nvSpPr>
        <p:spPr>
          <a:xfrm>
            <a:off x="7571232" y="4489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核对符号与位置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8/object-200"/>
          <p:cNvSpPr/>
          <p:nvPr/>
        </p:nvSpPr>
        <p:spPr>
          <a:xfrm>
            <a:off x="7571232" y="5020056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图中 −27 遵循软件约定；端弯矩为 0，内部峰值仍为 27。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8/object-201"/>
          <p:cNvSpPr/>
          <p:nvPr/>
        </p:nvSpPr>
        <p:spPr>
          <a:xfrm>
            <a:off x="640080" y="5934456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验证范围：默认梁案例的显示幅值对照；未构成全部工况的求解器精度认证。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9/object-20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09/object-20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9/object-20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9/object-20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9/object-20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荷载位置如何影响计算结果？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反力分配与弯矩峰值随荷载位置改变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09/object-20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09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来源：解析预测：P=18kN，L=6m，a=1/2/3m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9/object-208"/>
          <p:cNvSpPr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反力幅值 / kN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9/object-209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弯矩峰值幅值 / kN·m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16" name="S09/reaction-chart" descr=""/>
          <p:cNvGraphicFramePr/>
          <p:nvPr/>
        </p:nvGraphicFramePr>
        <p:xfrm>
          <a:off x="640080" y="2350008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S09/moment-chart" descr=""/>
          <p:cNvGraphicFramePr/>
          <p:nvPr/>
        </p:nvGraphicFramePr>
        <p:xfrm>
          <a:off x="6355080" y="2350008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09/object-210"/>
          <p:cNvSpPr/>
          <p:nvPr/>
        </p:nvSpPr>
        <p:spPr>
          <a:xfrm>
            <a:off x="685800" y="57241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条件固定：P = 18 kN，L = 6 m；a 为距左支座的距离，取 1 / 2 / 3 m。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9/object-211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解析预测，非新增实机测量。先预测，再在软件中改变位置并核对。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0/object-21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10/object-21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0/object-21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0/object-21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0/object-21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教学推导与危险截面分析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计算结果需要返回公式和截面条件解释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10/object-21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10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来源：live/04-derivation.jpg；README.md公式库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0/object-218"/>
          <p:cNvSpPr/>
          <p:nvPr/>
        </p:nvSpPr>
        <p:spPr>
          <a:xfrm>
            <a:off x="571500" y="1851660"/>
            <a:ext cx="11064240" cy="1691640"/>
          </a:xfrm>
          <a:prstGeom prst="rect">
            <a:avLst>
              <a:gd name="adj" fmla="val 8649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49" y="1874520"/>
            <a:ext cx="11016343" cy="1645920"/>
          </a:xfrm>
          <a:prstGeom prst="rect">
            <a:avLst/>
          </a:prstGeom>
        </p:spPr>
      </p:pic>
      <p:sp>
        <p:nvSpPr>
          <p:cNvPr id="16" name="S10/object-219"/>
          <p:cNvSpPr/>
          <p:nvPr/>
        </p:nvSpPr>
        <p:spPr>
          <a:xfrm>
            <a:off x="59436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0/object-220"/>
          <p:cNvSpPr/>
          <p:nvPr/>
        </p:nvSpPr>
        <p:spPr>
          <a:xfrm>
            <a:off x="59436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0/object-221"/>
          <p:cNvSpPr/>
          <p:nvPr/>
        </p:nvSpPr>
        <p:spPr>
          <a:xfrm>
            <a:off x="103327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整体平衡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0/object-222"/>
          <p:cNvSpPr/>
          <p:nvPr/>
        </p:nvSpPr>
        <p:spPr>
          <a:xfrm>
            <a:off x="64008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ΣFx = 0；ΣFz = 0；ΣMy = 0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0/object-223"/>
          <p:cNvSpPr/>
          <p:nvPr/>
        </p:nvSpPr>
        <p:spPr>
          <a:xfrm>
            <a:off x="438912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0/object-224"/>
          <p:cNvSpPr/>
          <p:nvPr/>
        </p:nvSpPr>
        <p:spPr>
          <a:xfrm>
            <a:off x="438912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0/object-225"/>
          <p:cNvSpPr/>
          <p:nvPr/>
        </p:nvSpPr>
        <p:spPr>
          <a:xfrm>
            <a:off x="482803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局部关系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0/object-226"/>
          <p:cNvSpPr/>
          <p:nvPr/>
        </p:nvSpPr>
        <p:spPr>
          <a:xfrm>
            <a:off x="443484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dV/dx + qz = 0；dM/dx − V = 0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0/object-227"/>
          <p:cNvSpPr/>
          <p:nvPr/>
        </p:nvSpPr>
        <p:spPr>
          <a:xfrm>
            <a:off x="818388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10/object-228"/>
          <p:cNvSpPr/>
          <p:nvPr/>
        </p:nvSpPr>
        <p:spPr>
          <a:xfrm>
            <a:off x="818388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0/object-229"/>
          <p:cNvSpPr/>
          <p:nvPr/>
        </p:nvSpPr>
        <p:spPr>
          <a:xfrm>
            <a:off x="862279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危险位置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0/object-230"/>
          <p:cNvSpPr/>
          <p:nvPr/>
        </p:nvSpPr>
        <p:spPr>
          <a:xfrm>
            <a:off x="822960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先由 M(x) 找峰值，再结合截面评价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0/object-231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266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0/object-232"/>
          <p:cNvSpPr/>
          <p:nvPr/>
        </p:nvSpPr>
        <p:spPr>
          <a:xfrm>
            <a:off x="804672" y="574243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助手用于核对推理：先说清受力与边界，再读取推导和结果摘要。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1/object-23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11/object-23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1/object-23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1/object-23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1/object-23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空间刚架的六自由度建模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空间梁节点同时包含三平移与三转动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11/object-2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来源：README.md；空间刚架运行条件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1/object-239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6" name="S11/object-240"/>
          <p:cNvSpPr/>
          <p:nvPr/>
        </p:nvSpPr>
        <p:spPr>
          <a:xfrm>
            <a:off x="559612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1/object-241"/>
          <p:cNvSpPr/>
          <p:nvPr/>
        </p:nvSpPr>
        <p:spPr>
          <a:xfrm>
            <a:off x="559612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1/object-242"/>
          <p:cNvSpPr/>
          <p:nvPr/>
        </p:nvSpPr>
        <p:spPr>
          <a:xfrm>
            <a:off x="6035040" y="1815084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每节点：3 平移 + 3 转动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1/object-243"/>
          <p:cNvSpPr/>
          <p:nvPr/>
        </p:nvSpPr>
        <p:spPr>
          <a:xfrm>
            <a:off x="5687568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1/object-244"/>
          <p:cNvSpPr/>
          <p:nvPr/>
        </p:nvSpPr>
        <p:spPr>
          <a:xfrm>
            <a:off x="5797296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Ux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1/object-245"/>
          <p:cNvSpPr/>
          <p:nvPr/>
        </p:nvSpPr>
        <p:spPr>
          <a:xfrm>
            <a:off x="7644384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11/object-246"/>
          <p:cNvSpPr/>
          <p:nvPr/>
        </p:nvSpPr>
        <p:spPr>
          <a:xfrm>
            <a:off x="7754112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Uy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1/object-247"/>
          <p:cNvSpPr/>
          <p:nvPr/>
        </p:nvSpPr>
        <p:spPr>
          <a:xfrm>
            <a:off x="9601200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1/object-248"/>
          <p:cNvSpPr/>
          <p:nvPr/>
        </p:nvSpPr>
        <p:spPr>
          <a:xfrm>
            <a:off x="9710928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Uz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1/object-249"/>
          <p:cNvSpPr/>
          <p:nvPr/>
        </p:nvSpPr>
        <p:spPr>
          <a:xfrm>
            <a:off x="5687568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6" name="S11/object-250"/>
          <p:cNvSpPr/>
          <p:nvPr/>
        </p:nvSpPr>
        <p:spPr>
          <a:xfrm>
            <a:off x="5797296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Rx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1/object-251"/>
          <p:cNvSpPr/>
          <p:nvPr/>
        </p:nvSpPr>
        <p:spPr>
          <a:xfrm>
            <a:off x="7644384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8" name="S11/object-252"/>
          <p:cNvSpPr/>
          <p:nvPr/>
        </p:nvSpPr>
        <p:spPr>
          <a:xfrm>
            <a:off x="7754112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Ry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1/object-253"/>
          <p:cNvSpPr/>
          <p:nvPr/>
        </p:nvSpPr>
        <p:spPr>
          <a:xfrm>
            <a:off x="9601200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0" name="S11/object-254"/>
          <p:cNvSpPr/>
          <p:nvPr/>
        </p:nvSpPr>
        <p:spPr>
          <a:xfrm>
            <a:off x="9710928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Rz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1/object-255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两端共 12 自由度 → 12×12 单元刚度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1/object-256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EA/L：轴向  ·  GJ/L：扭转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局部 y / z：双向弯曲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Euler–Bernoulli 梁，不含剪切变形修正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2/object-257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12/object-258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2/object-259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2/object-260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2/object-261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空间刚架的实机结果核验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三向合力平衡成立，完整力矩核验仍缺失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12/object-26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来源：live/11-space-results.jpg；qa/live-run-evidence.json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2/object-263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6" name="S12/object-264"/>
          <p:cNvSpPr/>
          <p:nvPr/>
        </p:nvSpPr>
        <p:spPr>
          <a:xfrm>
            <a:off x="3986784" y="1828800"/>
            <a:ext cx="762609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2/object-265"/>
          <p:cNvSpPr/>
          <p:nvPr/>
        </p:nvSpPr>
        <p:spPr>
          <a:xfrm>
            <a:off x="4224528" y="2075688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4 节点  /  3 构件  /  24 总自由度</a:t>
            </a:r>
            <a:endParaRPr lang="en-US" sz="27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13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方向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D点外力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A点反力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平衡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x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y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z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12/object-266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本次界面报告：Worker CPU；残差约 6×10⁻¹⁴；变形显示放大 2.4 倍。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2/object-267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仅核对三向力平衡；扭矩数值未捕获，应力 / 安全系数未补填。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3/object-26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13/object-26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3/object-27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3/object-27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3/object-27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本地求解软件的技术架构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当前数值求解主要运行于Worker CPU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13/object-2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来源：README.md；用户提供的技术栈和求解能力说明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3/object-274"/>
          <p:cNvSpPr/>
          <p:nvPr/>
        </p:nvSpPr>
        <p:spPr>
          <a:xfrm>
            <a:off x="594360" y="187452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13/object-275"/>
          <p:cNvSpPr/>
          <p:nvPr/>
        </p:nvSpPr>
        <p:spPr>
          <a:xfrm>
            <a:off x="822960" y="2039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交互与数据层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3/object-276"/>
          <p:cNvSpPr/>
          <p:nvPr/>
        </p:nvSpPr>
        <p:spPr>
          <a:xfrm>
            <a:off x="3200400" y="2039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Vue 3 / TypeScript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3/object-277"/>
          <p:cNvSpPr/>
          <p:nvPr/>
        </p:nvSpPr>
        <p:spPr>
          <a:xfrm>
            <a:off x="3200400" y="25054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节点 · 材料 · 截面 · 约束 · 荷载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3/object-278"/>
          <p:cNvSpPr/>
          <p:nvPr/>
        </p:nvSpPr>
        <p:spPr>
          <a:xfrm>
            <a:off x="4480560" y="2907792"/>
            <a:ext cx="0" cy="219456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9" name="S13/object-279"/>
          <p:cNvSpPr/>
          <p:nvPr/>
        </p:nvSpPr>
        <p:spPr>
          <a:xfrm>
            <a:off x="594360" y="315468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3/object-280"/>
          <p:cNvSpPr/>
          <p:nvPr/>
        </p:nvSpPr>
        <p:spPr>
          <a:xfrm>
            <a:off x="822960" y="3319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数值计算层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3/object-281"/>
          <p:cNvSpPr/>
          <p:nvPr/>
        </p:nvSpPr>
        <p:spPr>
          <a:xfrm>
            <a:off x="3200400" y="3319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CPU / Worker / sparse LU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3/object-282"/>
          <p:cNvSpPr/>
          <p:nvPr/>
        </p:nvSpPr>
        <p:spPr>
          <a:xfrm>
            <a:off x="3200400" y="37856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单元组装 → 约束分块 → 位移求解 → 反力与端力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3/object-283"/>
          <p:cNvSpPr/>
          <p:nvPr/>
        </p:nvSpPr>
        <p:spPr>
          <a:xfrm>
            <a:off x="4480560" y="4187952"/>
            <a:ext cx="0" cy="219456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4" name="S13/object-284"/>
          <p:cNvSpPr/>
          <p:nvPr/>
        </p:nvSpPr>
        <p:spPr>
          <a:xfrm>
            <a:off x="594360" y="443484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3/object-285"/>
          <p:cNvSpPr/>
          <p:nvPr/>
        </p:nvSpPr>
        <p:spPr>
          <a:xfrm>
            <a:off x="822960" y="4599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显示与解释层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3/object-286"/>
          <p:cNvSpPr/>
          <p:nvPr/>
        </p:nvSpPr>
        <p:spPr>
          <a:xfrm>
            <a:off x="3200400" y="45994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Three.js / 原生结果表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3/object-287"/>
          <p:cNvSpPr/>
          <p:nvPr/>
        </p:nvSpPr>
        <p:spPr>
          <a:xfrm>
            <a:off x="3200400" y="50657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视图切换 · 内力 / 变形 · 教学助手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3/object-288"/>
          <p:cNvSpPr/>
          <p:nvPr/>
        </p:nvSpPr>
        <p:spPr>
          <a:xfrm>
            <a:off x="8778240" y="1874520"/>
            <a:ext cx="2834640" cy="3584448"/>
          </a:xfrm>
          <a:prstGeom prst="roundRect">
            <a:avLst>
              <a:gd name="adj" fmla="val 5161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9" name="S13/object-289"/>
          <p:cNvSpPr/>
          <p:nvPr/>
        </p:nvSpPr>
        <p:spPr>
          <a:xfrm>
            <a:off x="9006840" y="21762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本地执行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3/object-290"/>
          <p:cNvSpPr/>
          <p:nvPr/>
        </p:nvSpPr>
        <p:spPr>
          <a:xfrm>
            <a:off x="9006840" y="2953512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Electron 桌面版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PWA / 离线静态版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endParaRPr lang="en-US" sz="19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Worker 不可用时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回退主线程 CPU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3/object-291"/>
          <p:cNvSpPr/>
          <p:nvPr/>
        </p:nvSpPr>
        <p:spPr>
          <a:xfrm>
            <a:off x="9006840" y="56327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WebGPU：仅能力检测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未启用 GPU 数值内核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4/object-2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14/object-2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4/object-2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4/object-2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4/object-2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哪些能力已具备，哪些仍受限？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功能存在、实机观察与充分验证不是一回事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14/object-29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14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来源：README.md；qa/live-run-evidence.json；技术边界说明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15" name="S14/capabil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01952"/>
          <a:ext cx="11018520" cy="3465576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434840"/>
              </a:tblGrid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模块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可以讲清的能力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当前边界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二维梁 / 刚架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反力、N / V / M、变形与推导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先检查模型与符号约定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空间杆系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桁架闭环；刚架六自由度与端力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杆系响应，不是实体云图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公式与组合变形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轴向 / 弯曲 / 扭转 / 强度计算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适用条件与单位需独立确认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GPU / 实体实验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WebGPU检测；Tet4实验内核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GPU内核与主编辑器实体链未完成</a:t>
                      </a:r>
                      <a:endParaRPr lang="en-US" sz="18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14/object-298"/>
          <p:cNvSpPr/>
          <p:nvPr/>
        </p:nvSpPr>
        <p:spPr>
          <a:xfrm>
            <a:off x="685800" y="5632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学习、教学与训练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4/object-299"/>
          <p:cNvSpPr/>
          <p:nvPr/>
        </p:nvSpPr>
        <p:spPr>
          <a:xfrm>
            <a:off x="4754880" y="5605272"/>
            <a:ext cx="6766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非北航官方；不用于实际工程设计、鉴定或商业用途。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5/object-30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15/object-30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5/object-30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5/object-30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5/object-30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如何复现一个简单学习算例？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从建模、结果查看到解析核对按顺序操作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15/object-3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来源：live/01-workspace.jpg；live/07-load-properties.jpg；二维解析核验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5/object-3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6" name="S15/object-3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5/object-3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5/object-3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载入案例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5/object-3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帮助 → 使用指导与默认案例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5/object-3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5/object-3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5/object-3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检查条件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5/object-3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单位、截面、约束、荷载方向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5/object-3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15/object-3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5/object-3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求解与核对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5/object-3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二维自动求解；三维点本地求解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5/object-3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9" name="S15/object-3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5/object-3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改变单参数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5/object-3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先预测，改位置，再比较结果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5/object-3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排错线索：不稳定→约束；量级异常→单位；图形异常→方向与局部坐标。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6/object-3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16/object-3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6/object-3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6/object-3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6/object-3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让力学结果真正可理解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以可复算案例验证功能，再逐步扩展边界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16/object-32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来源：二维解析与实机记录；三维实机记录；证据缺口清单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6/object-330"/>
          <p:cNvSpPr/>
          <p:nvPr/>
        </p:nvSpPr>
        <p:spPr>
          <a:xfrm>
            <a:off x="594360" y="184708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先预测，再求解，最后解释。</a:t>
            </a:r>
            <a:endParaRPr lang="en-US" sz="3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6/object-331"/>
          <p:cNvSpPr/>
          <p:nvPr/>
        </p:nvSpPr>
        <p:spPr>
          <a:xfrm>
            <a:off x="59436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6" name="S16/object-332"/>
          <p:cNvSpPr/>
          <p:nvPr/>
        </p:nvSpPr>
        <p:spPr>
          <a:xfrm>
            <a:off x="59436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6/object-333"/>
          <p:cNvSpPr/>
          <p:nvPr/>
        </p:nvSpPr>
        <p:spPr>
          <a:xfrm>
            <a:off x="103327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已经看到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6/object-334"/>
          <p:cNvSpPr/>
          <p:nvPr/>
        </p:nvSpPr>
        <p:spPr>
          <a:xfrm>
            <a:off x="62179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默认梁幅值对照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空间刚架三向力平衡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6/object-335"/>
          <p:cNvSpPr/>
          <p:nvPr/>
        </p:nvSpPr>
        <p:spPr>
          <a:xfrm>
            <a:off x="438912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6/object-336"/>
          <p:cNvSpPr/>
          <p:nvPr/>
        </p:nvSpPr>
        <p:spPr>
          <a:xfrm>
            <a:off x="438912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6/object-337"/>
          <p:cNvSpPr/>
          <p:nvPr/>
        </p:nvSpPr>
        <p:spPr>
          <a:xfrm>
            <a:off x="482803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接下来验证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6/object-338"/>
          <p:cNvSpPr/>
          <p:nvPr/>
        </p:nvSpPr>
        <p:spPr>
          <a:xfrm>
            <a:off x="441655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更多边界条件与荷载类型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建立可复现的回归案例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6/object-339"/>
          <p:cNvSpPr/>
          <p:nvPr/>
        </p:nvSpPr>
        <p:spPr>
          <a:xfrm>
            <a:off x="818388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16/object-340"/>
          <p:cNvSpPr/>
          <p:nvPr/>
        </p:nvSpPr>
        <p:spPr>
          <a:xfrm>
            <a:off x="818388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6/object-341"/>
          <p:cNvSpPr/>
          <p:nvPr/>
        </p:nvSpPr>
        <p:spPr>
          <a:xfrm>
            <a:off x="862279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一起反馈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6/object-342"/>
          <p:cNvSpPr/>
          <p:nvPr/>
        </p:nvSpPr>
        <p:spPr>
          <a:xfrm>
            <a:off x="821131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提供模型、单位与截图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说清哪一步不直观或不一致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6/object-343"/>
          <p:cNvSpPr/>
          <p:nvPr/>
        </p:nvSpPr>
        <p:spPr>
          <a:xfrm>
            <a:off x="685800" y="5742432"/>
            <a:ext cx="9784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让计算结果成为理解材料力学的起点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28" name="S16/closing_trajectory" descr="single-element asset; sha256=de25be020edaaa6c98452fa540d675e9607c484979a4e46b7688fff62161d48d; source=D:\MACHANICS-OF-MATERIALS-main\outputs\research-ppt-redesign\asset-jobs\queue-v1\REQ16\BLUE_TRAJECTORY-original.png" title="ornament: closing_trajec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6916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7/object-34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17/object-34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7/object-34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7/object-34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7/object-34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附录：公式与单位速查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统一参数定义、单位和符号口径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17/object-3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来源：静力学公式；README.md公式符号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18" name="S17/formul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1018520" cy="3886200"/>
        </p:xfrm>
        <a:graphic>
          <a:graphicData uri="http://schemas.openxmlformats.org/drawingml/2006/table">
            <a:tbl>
              <a:tblPr/>
              <a:tblGrid>
                <a:gridCol w="1417320"/>
                <a:gridCol w="4754880"/>
                <a:gridCol w="484632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对象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关系式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单位与适用条件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轴向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σ=N/A；ΔL=NL/(EA)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统一N、m、Pa；均匀等截面线弹性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弯曲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σmax=M/W；EI控制挠度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N·m、m³；线弹性小变形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圆轴扭转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τmax=T/Wt；φ=TL/(GJ)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N·m、m⁴；均匀圆轴与小变形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组合应力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σeq=√(σ²+3τ²)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正应力与剪应力采用同一单位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集中力简支梁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RA=P(L−a)/L；Mpeak=Pa(L−a)/L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本稿P=18kN、L=6m；0&lt;a&lt;L</a:t>
                      </a:r>
                      <a:endParaRPr lang="en-US" sz="17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17/object-350"/>
          <p:cNvSpPr/>
          <p:nvPr/>
        </p:nvSpPr>
        <p:spPr>
          <a:xfrm>
            <a:off x="685800" y="5971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公式是学习用的条件化关系；选公式之前先确认受力形式、截面与边界。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8/object-35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18/object-35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8/object-35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8/object-35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8/object-35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附录：证据索引与验证范围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每一项结论必须能够追溯到具体来源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1" name="S18/object-35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来源：README.md；outputs/classmate-sharing/assets/live/；qa/live-run-evidence.json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8/object-357"/>
          <p:cNvSpPr/>
          <p:nvPr/>
        </p:nvSpPr>
        <p:spPr>
          <a:xfrm>
            <a:off x="594360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18/object-358"/>
          <p:cNvSpPr/>
          <p:nvPr/>
        </p:nvSpPr>
        <p:spPr>
          <a:xfrm>
            <a:off x="594360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8/object-359"/>
          <p:cNvSpPr/>
          <p:nvPr/>
        </p:nvSpPr>
        <p:spPr>
          <a:xfrm>
            <a:off x="1033272" y="18150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软件功能与实现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8/object-360"/>
          <p:cNvSpPr/>
          <p:nvPr/>
        </p:nvSpPr>
        <p:spPr>
          <a:xfrm>
            <a:off x="3794760" y="18379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README.md；docs/solver-capability-audit.md；docs/version-2.0-stage-1.md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8/object-361"/>
          <p:cNvSpPr/>
          <p:nvPr/>
        </p:nvSpPr>
        <p:spPr>
          <a:xfrm>
            <a:off x="594360" y="27432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18/object-362"/>
          <p:cNvSpPr/>
          <p:nvPr/>
        </p:nvSpPr>
        <p:spPr>
          <a:xfrm>
            <a:off x="594360" y="27934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8/object-363"/>
          <p:cNvSpPr/>
          <p:nvPr/>
        </p:nvSpPr>
        <p:spPr>
          <a:xfrm>
            <a:off x="1033272" y="27294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实机证据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8/object-364"/>
          <p:cNvSpPr/>
          <p:nvPr/>
        </p:nvSpPr>
        <p:spPr>
          <a:xfrm>
            <a:off x="3794760" y="27523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outputs/classmate-sharing/assets/live；qa/live-run-evidence.json；本地已有dist构建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8/object-365"/>
          <p:cNvSpPr/>
          <p:nvPr/>
        </p:nvSpPr>
        <p:spPr>
          <a:xfrm>
            <a:off x="594360" y="36576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18/object-366"/>
          <p:cNvSpPr/>
          <p:nvPr/>
        </p:nvSpPr>
        <p:spPr>
          <a:xfrm>
            <a:off x="594360" y="37078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8/object-367"/>
          <p:cNvSpPr/>
          <p:nvPr/>
        </p:nvSpPr>
        <p:spPr>
          <a:xfrm>
            <a:off x="1033272" y="36438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解析数据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8/object-368"/>
          <p:cNvSpPr/>
          <p:nvPr/>
        </p:nvSpPr>
        <p:spPr>
          <a:xfrm>
            <a:off x="3794760" y="36667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sources/native-data.json；P=18kN、L=6m，a=1/2/3m；并非新增测量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8/object-369"/>
          <p:cNvSpPr/>
          <p:nvPr/>
        </p:nvSpPr>
        <p:spPr>
          <a:xfrm>
            <a:off x="594360" y="45720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8/object-370"/>
          <p:cNvSpPr/>
          <p:nvPr/>
        </p:nvSpPr>
        <p:spPr>
          <a:xfrm>
            <a:off x="594360" y="46222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8/object-371"/>
          <p:cNvSpPr/>
          <p:nvPr/>
        </p:nvSpPr>
        <p:spPr>
          <a:xfrm>
            <a:off x="1033272" y="45582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网页协作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8/object-372"/>
          <p:cNvSpPr/>
          <p:nvPr/>
        </p:nvSpPr>
        <p:spPr>
          <a:xfrm>
            <a:off x="3794760" y="45811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当前已登录ChatGPT完成规划与单元素生成；模型名未核验，用户允许继续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8/object-373"/>
          <p:cNvSpPr/>
          <p:nvPr/>
        </p:nvSpPr>
        <p:spPr>
          <a:xfrm>
            <a:off x="594360" y="5669280"/>
            <a:ext cx="11018520" cy="548640"/>
          </a:xfrm>
          <a:prstGeom prst="roundRect">
            <a:avLst>
              <a:gd name="adj" fmla="val 266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8/object-374"/>
          <p:cNvSpPr/>
          <p:nvPr/>
        </p:nvSpPr>
        <p:spPr>
          <a:xfrm>
            <a:off x="777240" y="5824728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验证仍有边界：默认案例 ≠ 全工况验证；单次耗时 ≠ 性能基准；放大变形 ≠ 真实比例。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Times New Roman"/>
        <a:font script="Jpan" typeface="游ゴシック Light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Times New Roman"/>
        <a:font script="Jpan" typeface="游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拉压弯扭大师｜中国科研分享重制版</dc:title>
  <dc:subject>PptxGenJS Presentation</dc:subject>
  <dc:creator>拉压弯扭大师</dc:creator>
  <cp:lastModifiedBy>拉压弯扭大师</cp:lastModifiedBy>
  <cp:revision>1</cp:revision>
  <dcterms:created xsi:type="dcterms:W3CDTF">2026-10-11T06:31:01Z</dcterms:created>
  <dcterms:modified xsi:type="dcterms:W3CDTF">2026-10-11T06:31:01Z</dcterms:modified>
</cp:coreProperties>
</file>
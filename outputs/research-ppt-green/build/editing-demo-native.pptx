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0654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198E7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198E74"/>
            </a:solidFill>
            <a:ln w="25400" cap="flat">
              <a:solidFill>
                <a:srgbClr val="198E7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8E74"/>
              </a:solidFill>
              <a:ln w="9525" cap="flat">
                <a:solidFill>
                  <a:srgbClr val="198E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拉压弯扭大师（编辑演示）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7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8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9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20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1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2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3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4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6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0F0E8"/>
          </a:solidFill>
          <a:ln w="10160">
            <a:solidFill>
              <a:srgbClr val="E0F0E8"/>
            </a:solidFill>
            <a:prstDash val="solid"/>
          </a:ln>
        </p:spPr>
      </p:sp>
      <p:sp>
        <p:nvSpPr>
          <p:cNvPr id="27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8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9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30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2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4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5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6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7" name="S02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02/object-36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2/object-37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2/object-38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2/object-39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2/object-40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02/object-41"/>
          <p:cNvSpPr/>
          <p:nvPr/>
        </p:nvSpPr>
        <p:spPr>
          <a:xfrm>
            <a:off x="59436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4" name="S02/route-1"/>
          <p:cNvSpPr/>
          <p:nvPr/>
        </p:nvSpPr>
        <p:spPr>
          <a:xfrm>
            <a:off x="3319272" y="2103120"/>
            <a:ext cx="276515" cy="384048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02/object-42"/>
          <p:cNvSpPr/>
          <p:nvPr/>
        </p:nvSpPr>
        <p:spPr>
          <a:xfrm>
            <a:off x="3365358" y="219913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6" name="S02/object-43"/>
          <p:cNvSpPr/>
          <p:nvPr/>
        </p:nvSpPr>
        <p:spPr>
          <a:xfrm>
            <a:off x="3365358" y="227594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7" name="S02/object-44"/>
          <p:cNvSpPr/>
          <p:nvPr/>
        </p:nvSpPr>
        <p:spPr>
          <a:xfrm>
            <a:off x="3365358" y="2352751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8" name="S02/object-45"/>
          <p:cNvSpPr/>
          <p:nvPr/>
        </p:nvSpPr>
        <p:spPr>
          <a:xfrm flipV="1">
            <a:off x="3503615" y="2295144"/>
            <a:ext cx="180503" cy="1766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9" name="S02/object-46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30" name="S02/object-47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31" name="S02/object-48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32" name="S02/object-49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33" name="S02/object-50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34" name="S02/object-51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先画条件，再建立模型</a:t>
            </a:r>
            <a:endParaRPr lang="en-US" sz="1800" dirty="0"/>
          </a:p>
        </p:txBody>
      </p:sp>
      <p:sp>
        <p:nvSpPr>
          <p:cNvPr id="35" name="S02/object-52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1F2EA"/>
          </a:solidFill>
          <a:ln w="10160">
            <a:solidFill>
              <a:srgbClr val="E1F2EA"/>
            </a:solidFill>
            <a:prstDash val="solid"/>
          </a:ln>
        </p:spPr>
      </p:sp>
      <p:sp>
        <p:nvSpPr>
          <p:cNvPr id="36" name="S02/object-53"/>
          <p:cNvSpPr/>
          <p:nvPr/>
        </p:nvSpPr>
        <p:spPr>
          <a:xfrm>
            <a:off x="438912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7" name="S02/object-54"/>
          <p:cNvSpPr/>
          <p:nvPr/>
        </p:nvSpPr>
        <p:spPr>
          <a:xfrm flipV="1">
            <a:off x="7152437" y="2110801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8" name="S02/object-55"/>
          <p:cNvSpPr/>
          <p:nvPr/>
        </p:nvSpPr>
        <p:spPr>
          <a:xfrm>
            <a:off x="7325258" y="2110801"/>
            <a:ext cx="153619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9" name="S02/object-56"/>
          <p:cNvSpPr/>
          <p:nvPr/>
        </p:nvSpPr>
        <p:spPr>
          <a:xfrm flipH="1">
            <a:off x="7306056" y="2199132"/>
            <a:ext cx="172822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0" name="S02/object-57"/>
          <p:cNvSpPr/>
          <p:nvPr/>
        </p:nvSpPr>
        <p:spPr>
          <a:xfrm flipH="1" flipV="1">
            <a:off x="7152437" y="2199132"/>
            <a:ext cx="153619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1" name="S02/object-58"/>
          <p:cNvSpPr/>
          <p:nvPr/>
        </p:nvSpPr>
        <p:spPr>
          <a:xfrm>
            <a:off x="7152437" y="2199132"/>
            <a:ext cx="0" cy="20354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2" name="S02/object-59"/>
          <p:cNvSpPr/>
          <p:nvPr/>
        </p:nvSpPr>
        <p:spPr>
          <a:xfrm>
            <a:off x="7152437" y="2402677"/>
            <a:ext cx="153619" cy="8449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3" name="S02/object-60"/>
          <p:cNvSpPr/>
          <p:nvPr/>
        </p:nvSpPr>
        <p:spPr>
          <a:xfrm flipV="1">
            <a:off x="7306056" y="2398837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4" name="S02/object-61"/>
          <p:cNvSpPr/>
          <p:nvPr/>
        </p:nvSpPr>
        <p:spPr>
          <a:xfrm flipV="1">
            <a:off x="7478878" y="2199132"/>
            <a:ext cx="0" cy="19970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5" name="S02/object-62"/>
          <p:cNvSpPr/>
          <p:nvPr/>
        </p:nvSpPr>
        <p:spPr>
          <a:xfrm>
            <a:off x="7306056" y="2295144"/>
            <a:ext cx="0" cy="192024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6" name="S02/object-63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47" name="S02/object-64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48" name="S02/object-65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49" name="S02/object-66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50" name="S02/object-67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51" name="S02/object-68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先辨符号，再比较幅值</a:t>
            </a:r>
            <a:endParaRPr lang="en-US" sz="1800" dirty="0"/>
          </a:p>
        </p:txBody>
      </p:sp>
      <p:sp>
        <p:nvSpPr>
          <p:cNvPr id="52" name="S02/object-69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53" name="S02/object-70"/>
          <p:cNvSpPr/>
          <p:nvPr/>
        </p:nvSpPr>
        <p:spPr>
          <a:xfrm>
            <a:off x="818388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54" name="S02/object-71"/>
          <p:cNvSpPr/>
          <p:nvPr/>
        </p:nvSpPr>
        <p:spPr>
          <a:xfrm>
            <a:off x="10927994" y="2122322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02/object-72"/>
          <p:cNvSpPr/>
          <p:nvPr/>
        </p:nvSpPr>
        <p:spPr>
          <a:xfrm>
            <a:off x="11112337" y="2318187"/>
            <a:ext cx="168981" cy="16130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56" name="S02/object-73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57" name="S02/object-74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58" name="S02/object-75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59" name="S02/object-76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60" name="S02/object-77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61" name="S02/object-78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先作预测，再核对结果</a:t>
            </a:r>
            <a:endParaRPr lang="en-US" sz="1800" dirty="0"/>
          </a:p>
        </p:txBody>
      </p:sp>
      <p:sp>
        <p:nvSpPr>
          <p:cNvPr id="62" name="S02/object-79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学习闭环：条件 → 模型 → 响应 → 解释 → 回到条件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3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8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3/object-8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8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7" name="S03/object-88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8" name="S03/object-89"/>
          <p:cNvSpPr/>
          <p:nvPr/>
        </p:nvSpPr>
        <p:spPr>
          <a:xfrm>
            <a:off x="594360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9" name="S03/object-90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S03/object-91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21" name="S03/object-92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2" name="S03/object-93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3" name="S03/object-94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4" name="S03/object-95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5" name="S03/object-96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6" name="S03/object-97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27" name="S03/object-98"/>
          <p:cNvSpPr/>
          <p:nvPr/>
        </p:nvSpPr>
        <p:spPr>
          <a:xfrm>
            <a:off x="3447288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8" name="S03/object-99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9" name="S03/object-100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30" name="S03/object-101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31" name="S03/object-102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32" name="S03/object-103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3" name="S03/object-104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4" name="S03/object-105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5" name="S03/object-106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6" name="S03/object-107"/>
          <p:cNvSpPr/>
          <p:nvPr/>
        </p:nvSpPr>
        <p:spPr>
          <a:xfrm>
            <a:off x="6300216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7" name="S03/object-108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8" name="S03/object-109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9" name="S03/object-110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40" name="S03/object-111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41" name="S03/object-112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42" name="S03/object-113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3" name="S03/object-114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4" name="S03/object-115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45" name="S03/object-116"/>
          <p:cNvSpPr/>
          <p:nvPr/>
        </p:nvSpPr>
        <p:spPr>
          <a:xfrm>
            <a:off x="9153144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6" name="S03/object-117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7" name="S03/object-118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8" name="S03/object-119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9" name="S03/object-120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50" name="S03/object-121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51" name="S03/object-122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52" name="S03/object-123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“拉压弯扭大师” 材料力学教学软件技术路线</a:t>
            </a:r>
            <a:endParaRPr lang="en-US" sz="2800" dirty="0"/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24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5" name="S04/object-125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800" dirty="0"/>
          </a:p>
        </p:txBody>
      </p:sp>
      <p:sp>
        <p:nvSpPr>
          <p:cNvPr id="6" name="S04/object-126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9" name="S04/object-127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0" name="S04/object-128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1" name="S04/object-129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04/object-130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04/object-131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14" name="S04/object-132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800" dirty="0"/>
          </a:p>
        </p:txBody>
      </p:sp>
      <p:sp>
        <p:nvSpPr>
          <p:cNvPr id="15" name="S04/object-133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4/object-134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4/object-135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20" name="S04/object-136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1" name="S04/object-137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S04/object-138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3" name="S04/object-139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4" name="S04/object-140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5" name="S04/object-141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6" name="S04/object-142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27" name="S04/object-143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800" dirty="0"/>
          </a:p>
        </p:txBody>
      </p:sp>
      <p:sp>
        <p:nvSpPr>
          <p:cNvPr id="28" name="S04/object-144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1" name="S04/object-145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2" name="S04/object-146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3" name="S04/object-147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4" name="S04/object-148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5" name="S04/object-149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6" name="S04/object-150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7" name="S04/object-151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04/object-152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04/object-153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40" name="S04/object-154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800" dirty="0"/>
          </a:p>
        </p:txBody>
      </p:sp>
      <p:sp>
        <p:nvSpPr>
          <p:cNvPr id="41" name="S04/object-155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2" name="S04/object-156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3" name="S04/object-157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4" name="S04/object-158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5" name="S04/object-159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6" name="S04/object-160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7" name="S04/object-161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8" name="S04/object-162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9" name="S04/object-163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0" name="S04/object-164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1" name="S04/object-165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2" name="S04/object-166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3" name="S04/object-167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4" name="S04/object-168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5" name="S04/object-169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6" name="S04/object-170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7" name="S04/object-171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8" name="S04/object-172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9" name="S04/object-173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0" name="S04/object-174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1" name="S04/object-175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2" name="S04/object-176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3" name="S04/object-177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64" name="S04/object-178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04/object-179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180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181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182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183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184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建模输入</a:t>
            </a:r>
            <a:endParaRPr lang="en-US" sz="2100" dirty="0"/>
          </a:p>
        </p:txBody>
      </p:sp>
      <p:sp>
        <p:nvSpPr>
          <p:cNvPr id="73" name="S04/object-185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二维梁 / 刚架</a:t>
            </a:r>
            <a:endParaRPr lang="en-US" sz="1450" dirty="0"/>
          </a:p>
        </p:txBody>
      </p:sp>
      <p:sp>
        <p:nvSpPr>
          <p:cNvPr id="74" name="S04/object-186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空间桁架 / 刚架</a:t>
            </a:r>
            <a:endParaRPr lang="en-US" sz="1450" dirty="0"/>
          </a:p>
        </p:txBody>
      </p:sp>
      <p:sp>
        <p:nvSpPr>
          <p:cNvPr id="75" name="S04/object-187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/ 材料 / 截面</a:t>
            </a:r>
            <a:endParaRPr lang="en-US" sz="1450" dirty="0"/>
          </a:p>
        </p:txBody>
      </p:sp>
      <p:sp>
        <p:nvSpPr>
          <p:cNvPr id="76" name="S04/object-188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约束与荷载输入</a:t>
            </a:r>
            <a:endParaRPr lang="en-US" sz="1450" dirty="0"/>
          </a:p>
        </p:txBody>
      </p:sp>
      <p:sp>
        <p:nvSpPr>
          <p:cNvPr id="77" name="S04/object-189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8" name="S04/object-190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9" name="S04/object-191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1" name="S04/object-192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3" name="S04/object-193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4" name="S04/object-194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5" name="S04/object-195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6" name="S04/object-196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7" name="S04/object-197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8" name="S04/object-198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90" name="S04/object-199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200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201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202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203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204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205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206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207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208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100" dirty="0"/>
          </a:p>
        </p:txBody>
      </p:sp>
      <p:sp>
        <p:nvSpPr>
          <p:cNvPr id="100" name="S04/object-209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杆系单元统一表达</a:t>
            </a:r>
            <a:endParaRPr lang="en-US" sz="1450" dirty="0"/>
          </a:p>
        </p:txBody>
      </p:sp>
      <p:sp>
        <p:nvSpPr>
          <p:cNvPr id="101" name="S04/object-210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坐标变换 / 自由度</a:t>
            </a:r>
            <a:endParaRPr lang="en-US" sz="1450" dirty="0"/>
          </a:p>
        </p:txBody>
      </p:sp>
      <p:sp>
        <p:nvSpPr>
          <p:cNvPr id="102" name="S04/object-211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二维与空间模型组织</a:t>
            </a:r>
            <a:endParaRPr lang="en-US" sz="1450" dirty="0"/>
          </a:p>
        </p:txBody>
      </p:sp>
      <p:sp>
        <p:nvSpPr>
          <p:cNvPr id="103" name="S04/object-212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数据关联公式与显示</a:t>
            </a:r>
            <a:endParaRPr lang="en-US" sz="1450" dirty="0"/>
          </a:p>
        </p:txBody>
      </p:sp>
      <p:sp>
        <p:nvSpPr>
          <p:cNvPr id="104" name="S04/object-213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5" name="S04/object-214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6" name="S04/object-215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7" name="S04/object-216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8" name="S04/object-217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9" name="S04/object-218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0" name="S04/object-219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1" name="S04/object-220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2" name="S04/object-221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3" name="S04/object-222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4" name="S04/object-223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5" name="S04/object-224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6" name="S04/object-225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7" name="S04/object-226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8" name="S04/object-227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9" name="S04/object-228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0" name="S04/object-229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1" name="S04/object-230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2" name="S04/object-231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3" name="S04/object-232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4" name="S04/object-233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5" name="S04/object-234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6" name="S04/object-235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S04/object-236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28" name="S04/object-237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9" name="S04/object-238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239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3" name="S04/object-240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100" dirty="0"/>
          </a:p>
        </p:txBody>
      </p:sp>
      <p:sp>
        <p:nvSpPr>
          <p:cNvPr id="134" name="S04/object-241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+ mathjs</a:t>
            </a:r>
            <a:endParaRPr lang="en-US" sz="1450" dirty="0"/>
          </a:p>
        </p:txBody>
      </p:sp>
      <p:sp>
        <p:nvSpPr>
          <p:cNvPr id="135" name="S04/object-242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sparse LU求解</a:t>
            </a:r>
            <a:endParaRPr lang="en-US" sz="1450" dirty="0"/>
          </a:p>
        </p:txBody>
      </p:sp>
      <p:sp>
        <p:nvSpPr>
          <p:cNvPr id="136" name="S04/object-243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Worker CPU异步计算</a:t>
            </a:r>
            <a:endParaRPr lang="en-US" sz="1450" dirty="0"/>
          </a:p>
        </p:txBody>
      </p:sp>
      <p:sp>
        <p:nvSpPr>
          <p:cNvPr id="137" name="S04/object-244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本地离线运行</a:t>
            </a:r>
            <a:endParaRPr lang="en-US" sz="1450" dirty="0"/>
          </a:p>
        </p:txBody>
      </p:sp>
      <p:sp>
        <p:nvSpPr>
          <p:cNvPr id="138" name="S04/object-245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Euler–Bernoulli梁</a:t>
            </a:r>
            <a:endParaRPr lang="en-US" sz="1200" dirty="0"/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0" name="S04/object-246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1" name="S04/object-247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3" name="S04/object-248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249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45" name="S04/object-250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251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结果与推导</a:t>
            </a:r>
            <a:endParaRPr lang="en-US" sz="2100" dirty="0"/>
          </a:p>
        </p:txBody>
      </p:sp>
      <p:sp>
        <p:nvSpPr>
          <p:cNvPr id="151" name="S04/object-252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位移、变形与内力</a:t>
            </a:r>
            <a:endParaRPr lang="en-US" sz="1450" dirty="0"/>
          </a:p>
        </p:txBody>
      </p:sp>
      <p:sp>
        <p:nvSpPr>
          <p:cNvPr id="152" name="S04/object-253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空间刚架：构件端力</a:t>
            </a:r>
            <a:endParaRPr lang="en-US" sz="1450" dirty="0"/>
          </a:p>
        </p:txBody>
      </p:sp>
      <p:sp>
        <p:nvSpPr>
          <p:cNvPr id="153" name="S04/object-254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公式库与分步推导</a:t>
            </a:r>
            <a:endParaRPr lang="en-US" sz="1450" dirty="0"/>
          </a:p>
        </p:txBody>
      </p:sp>
      <p:sp>
        <p:nvSpPr>
          <p:cNvPr id="154" name="S04/object-255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危险位置核查</a:t>
            </a:r>
            <a:endParaRPr lang="en-US" sz="1450" dirty="0"/>
          </a:p>
        </p:txBody>
      </p:sp>
      <p:sp>
        <p:nvSpPr>
          <p:cNvPr id="155" name="S04/object-256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 / Three.js显示</a:t>
            </a:r>
            <a:endParaRPr lang="en-US" sz="1450" dirty="0"/>
          </a:p>
        </p:txBody>
      </p:sp>
      <p:sp>
        <p:nvSpPr>
          <p:cNvPr id="156" name="S04/object-257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58" name="S04/object-258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60" name="S04/object-259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61" name="S04/object-260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62" name="S04/object-261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163" name="S04/object-262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4" name="S04/object-263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5" name="S04/object-264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6" name="S04/object-265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7" name="S04/object-266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8" name="S04/object-267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9" name="S04/object-268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0" name="S04/object-269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1" name="S04/object-270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2" name="S04/object-271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3" name="S04/object-272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4" name="S04/object-273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5" name="S04/object-274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6" name="S04/object-275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7" name="S04/object-276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8" name="S04/object-277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9" name="S04/object-278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0" name="S04/object-279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1" name="S04/object-280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2" name="S04/object-281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3" name="S04/object-282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4" name="S04/object-283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5" name="S04/object-284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6" name="S04/object-285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7" name="S04/object-286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88" name="S04/object-287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288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289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教学应用</a:t>
            </a:r>
            <a:endParaRPr lang="en-US" sz="2100" dirty="0"/>
          </a:p>
        </p:txBody>
      </p:sp>
      <p:sp>
        <p:nvSpPr>
          <p:cNvPr id="194" name="S04/object-290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课堂演示与例题</a:t>
            </a:r>
            <a:endParaRPr lang="en-US" sz="1450" dirty="0"/>
          </a:p>
        </p:txBody>
      </p:sp>
      <p:sp>
        <p:nvSpPr>
          <p:cNvPr id="195" name="S04/object-291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自主练习与校核</a:t>
            </a:r>
            <a:endParaRPr lang="en-US" sz="1450" dirty="0"/>
          </a:p>
        </p:txBody>
      </p:sp>
      <p:sp>
        <p:nvSpPr>
          <p:cNvPr id="196" name="S04/object-292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开卷辅助与概念</a:t>
            </a:r>
            <a:endParaRPr lang="en-US" sz="1450" dirty="0"/>
          </a:p>
        </p:txBody>
      </p:sp>
      <p:sp>
        <p:nvSpPr>
          <p:cNvPr id="197" name="S04/object-293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先预测，再改参数</a:t>
            </a:r>
            <a:endParaRPr lang="en-US" sz="1450" dirty="0"/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9" name="S04/object-294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0" name="S04/object-295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2" name="S04/object-296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97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4" name="S04/object-298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5" name="S04/object-299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6" name="S04/object-300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7" name="S04/object-301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8" name="S04/object-302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1" name="S04/object-303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2" name="S04/object-304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3" name="S04/object-305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4" name="S04/object-306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5" name="S04/object-307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 / 案例验证</a:t>
            </a:r>
            <a:endParaRPr lang="en-US" sz="1700" dirty="0"/>
          </a:p>
        </p:txBody>
      </p:sp>
      <p:sp>
        <p:nvSpPr>
          <p:cNvPr id="216" name="S04/object-308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理论解析解对比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典型案例对照与误差检查</a:t>
            </a:r>
            <a:endParaRPr lang="en-US" sz="1300" dirty="0"/>
          </a:p>
        </p:txBody>
      </p:sp>
      <p:sp>
        <p:nvSpPr>
          <p:cNvPr id="217" name="S04/object-309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8" name="S04/object-310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9" name="S04/object-311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0" name="S04/object-312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313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3" name="S04/object-314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Tet4实验；暂无成熟实体云图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WASM未接入；WebGPU仅检测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空间当前仅节点荷载、端内力</a:t>
            </a:r>
            <a:endParaRPr lang="en-US" sz="1200" dirty="0"/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315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800" dirty="0"/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316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317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318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319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320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321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322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323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324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325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空间荷载补齐</a:t>
            </a:r>
            <a:endParaRPr lang="en-US" sz="1700" dirty="0"/>
          </a:p>
        </p:txBody>
      </p:sp>
      <p:sp>
        <p:nvSpPr>
          <p:cNvPr id="237" name="S04/object-326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327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实体分析完善</a:t>
            </a:r>
            <a:endParaRPr lang="en-US" sz="1700" dirty="0"/>
          </a:p>
        </p:txBody>
      </p:sp>
      <p:sp>
        <p:nvSpPr>
          <p:cNvPr id="243" name="S04/object-328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329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330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/ WebGPU验证</a:t>
            </a:r>
            <a:endParaRPr lang="en-US" sz="1700" dirty="0"/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依据：软件README、求解器能力审计及实机记录；工程图形为概念示意，非应力云图或新增试验；规划项尚未完成。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5/object-33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33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33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33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33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33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5/object-33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3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7" name="S05/object-339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5/object-340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5/object-341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5/object-342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5/object-343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5/object-344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5/object-345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5/object-346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5/object-347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6" name="S05/object-348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27" name="S05/object-349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8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9" name="S05/object-350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05/object-351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05/object-352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32" name="S05/object-353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33" name="S05/object-354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4" name="S05/object-355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S05/object-356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36" name="S05/object-357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37" name="S05/object-358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8" name="S05/object-359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S05/object-360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40" name="S05/object-361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6/object-36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36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36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36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36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36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6/object-36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36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7" name="S06/object-370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6/object-371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6/object-372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6/object-373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6/object-374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6/object-375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6/object-376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6/object-377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6/object-378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6" name="S06/object-379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06/object-380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073E32"/>
            </a:solidFill>
            <a:prstDash val="solid"/>
          </a:ln>
        </p:spPr>
      </p:sp>
      <p:sp>
        <p:nvSpPr>
          <p:cNvPr id="28" name="S06/support-0-380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29" name="S06/object-382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0" name="S06/support-1-382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31" name="S06/object-384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2" name="S06/object-385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88118"/>
            </a:solidFill>
            <a:prstDash val="solid"/>
            <a:tailEnd type="triangle"/>
          </a:ln>
        </p:spPr>
      </p:sp>
      <p:sp>
        <p:nvSpPr>
          <p:cNvPr id="33" name="S06/object-386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4" name="S06/object-387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5" name="S06/object-388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6" name="S06/object-389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7" name="S06/object-390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38" name="S06/object-391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39" name="S06/object-392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40" name="S06/object-393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41" name="S06/object-394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2" name="S06/object-395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S06/object-396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7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A*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06/object-397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46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47" name="S06/object-398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7/object-39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40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40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40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40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40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7/object-40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40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7" name="S07/object-407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7/object-408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7/object-409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7/object-410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7/object-411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7/object-412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7/object-413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7/object-414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7/object-415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6" name="S07/object-416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B端；先辨符号，再比较幅值。</a:t>
            </a:r>
            <a:endParaRPr lang="en-US" sz="1200" dirty="0"/>
          </a:p>
        </p:txBody>
      </p:sp>
      <p:sp>
        <p:nvSpPr>
          <p:cNvPr id="27" name="S07/object-417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8" name="S07/object-418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07/object-419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30" name="S07/object-420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1" name="S07/object-421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07/object-422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33" name="S07/object-423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4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35" name="S07/object-424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6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37" name="S07/object-425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8" name="S07/object-426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39" name="S07/object-427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07/object-428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41" name="S07/object-429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8/object-43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43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43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43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43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43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43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43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7" name="S08/object-438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9" name="S08/object-439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1" name="S08/object-440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8/object-441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3" name="S08/object-442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4" name="S08/object-443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08/object-444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6" name="S08/object-445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7" name="S08/object-446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08/object-447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9" name="S08/object-448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30" name="S08/object-449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9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9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7" name="S09/route-0"/>
          <p:cNvSpPr/>
          <p:nvPr/>
        </p:nvSpPr>
        <p:spPr>
          <a:xfrm>
            <a:off x="11082528" y="1191463"/>
            <a:ext cx="69129" cy="134417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09/route-1"/>
          <p:cNvSpPr/>
          <p:nvPr/>
        </p:nvSpPr>
        <p:spPr>
          <a:xfrm>
            <a:off x="11205423" y="1095451"/>
            <a:ext cx="69129" cy="230429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9/route-2"/>
          <p:cNvSpPr/>
          <p:nvPr/>
        </p:nvSpPr>
        <p:spPr>
          <a:xfrm>
            <a:off x="11328319" y="980237"/>
            <a:ext cx="69129" cy="34564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" name="S09/object-458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1" name="S09/object-459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22" name="S09/object-460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09/object-461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4" name="S09/object-462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09/object-463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6" name="S09/object-464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7" name="S09/object-465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8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9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09/object-466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09/object-467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32" name="S09/object-468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33" name="S09/object-469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4" name="S09/object-470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5" name="S09/object-471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6" name="S09/object-472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09/object-473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8" name="S09/object-474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9" name="S09/object-475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0/object-47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47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47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47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48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48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0/object-48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48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7" name="S10/object-484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0/object-485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0/object-486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0/object-487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0/object-488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0/object-489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0/object-490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0/object-491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0/object-492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6" name="S10/object-493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28" name="S10/object-494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9" name="S10/object-495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10/object-496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10/object-497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32" name="S10/object-498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3" name="S10/object-499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34" name="S10/object-500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5" name="S10/object-501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6" name="S10/object-502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S10/object-503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38" name="S10/object-504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9" name="S10/object-505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40" name="S10/object-506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1" name="S10/object-507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2" name="S10/object-508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S10/object-509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44" name="S10/object-510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45" name="S10/object-511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46" name="S10/object-512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47" name="S10/object-513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8" name="S10/object-514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S10/object-515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50" name="S10/object-516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51" name="S10/object-517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1/object-5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5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5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5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5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52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1/object-52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52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7" name="S11/object-526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8" name="S11/object-527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9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20" name="S11/object-528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" name="S11/object-529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11/object-530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3" name="S11/object-531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11/object-532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5" name="S11/object-533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11/object-534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7" name="S11/object-535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1/object-536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9" name="S11/object-537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0" name="S11/object-538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1" name="S11/object-539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2" name="S11/object-540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3" name="S11/object-541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4" name="S11/object-542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5" name="S11/object-543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6" name="S11/object-544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2/object-54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54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54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54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54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55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2/object-55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55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7" name="S12/object-553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8" name="S12/object-554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9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20" name="S12/object-555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1" name="S12/object-556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S12/object-557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3" name="S12/object-558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12/object-559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S12/object-560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6" name="S12/object-561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2/object-562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8" name="S12/object-563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13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30" name="S12/object-564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1" name="S12/object-565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3/object-56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56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56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56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57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57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3/object-57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5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7" name="S13/object-574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DDEEE5"/>
          </a:solidFill>
          <a:ln w="10160">
            <a:solidFill>
              <a:srgbClr val="DDEEE5"/>
            </a:solidFill>
            <a:prstDash val="solid"/>
          </a:ln>
        </p:spPr>
      </p:sp>
      <p:sp>
        <p:nvSpPr>
          <p:cNvPr id="18" name="S13/object-575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9" name="S13/object-576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20" name="S13/object-577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1" name="S13/object-578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2" name="S13/object-579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3" name="S13/object-580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4" name="S13/object-581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25" name="S13/object-582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6" name="S13/object-583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7" name="S13/object-584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8" name="S13/object-585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9" name="S13/object-586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30" name="S13/object-587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1" name="S13/object-588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2" name="S13/object-589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3" name="S13/object-590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4" name="S13/object-591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5" name="S13/object-592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6" name="S13/object-593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仅设备检测；未启用 GPU 数值内核。Worker不可用时回退主线程CPU。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4/object-59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59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59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59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59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59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4/object-60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60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7" name="S14/object-602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8" name="S14/object-603"/>
          <p:cNvSpPr/>
          <p:nvPr/>
        </p:nvSpPr>
        <p:spPr>
          <a:xfrm>
            <a:off x="594360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9" name="S14/object-604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20" name="S14/object-605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21" name="S14/object-606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2" name="S14/object-607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3" name="S14/object-608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4" name="S14/object-609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5" name="S14/object-610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4F1E9"/>
          </a:solidFill>
          <a:ln w="10160">
            <a:solidFill>
              <a:srgbClr val="E4F1E9"/>
            </a:solidFill>
            <a:prstDash val="solid"/>
          </a:ln>
        </p:spPr>
      </p:sp>
      <p:sp>
        <p:nvSpPr>
          <p:cNvPr id="26" name="S14/object-611"/>
          <p:cNvSpPr/>
          <p:nvPr/>
        </p:nvSpPr>
        <p:spPr>
          <a:xfrm>
            <a:off x="4398264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7" name="S14/object-612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8" name="S14/object-613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9" name="S14/object-614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30" name="S14/object-615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31" name="S14/object-616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32" name="S14/object-617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3" name="S14/object-618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4" name="S14/object-619"/>
          <p:cNvSpPr/>
          <p:nvPr/>
        </p:nvSpPr>
        <p:spPr>
          <a:xfrm>
            <a:off x="8202168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5" name="S14/object-620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6" name="S14/object-621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7" name="S14/object-622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8" name="S14/object-623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9" name="S14/object-624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40" name="S14/object-625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5/object-62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62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62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62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63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63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5/object-63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63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7" name="S15/route-0"/>
          <p:cNvSpPr/>
          <p:nvPr/>
        </p:nvSpPr>
        <p:spPr>
          <a:xfrm>
            <a:off x="11082528" y="941832"/>
            <a:ext cx="384048" cy="161300"/>
          </a:xfrm>
          <a:prstGeom prst="diamond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15/route-1"/>
          <p:cNvSpPr/>
          <p:nvPr/>
        </p:nvSpPr>
        <p:spPr>
          <a:xfrm>
            <a:off x="11178540" y="1083930"/>
            <a:ext cx="192024" cy="10753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15/object-634"/>
          <p:cNvSpPr/>
          <p:nvPr/>
        </p:nvSpPr>
        <p:spPr>
          <a:xfrm>
            <a:off x="11447374" y="1026323"/>
            <a:ext cx="0" cy="184343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5/object-635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1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22" name="S15/object-636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3" name="S15/object-637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15/object-638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5" name="S15/object-639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6" name="S15/object-640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7" name="S15/object-641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15/object-642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9" name="S15/object-643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30" name="S15/object-644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1" name="S15/object-645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15/object-646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33" name="S15/object-647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4" name="S15/object-648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5" name="S15/object-649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15/object-650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7" name="S15/object-651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8" name="S15/object-652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6/object-65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65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65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65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65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65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6/object-65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66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7" name="S16/object-661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6/object-662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6/object-663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6/object-664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6/object-665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6/object-666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6/object-667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6/object-668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6/object-669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6" name="S16/object-670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27" name="S16/object-671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6/object-672"/>
          <p:cNvSpPr/>
          <p:nvPr/>
        </p:nvSpPr>
        <p:spPr>
          <a:xfrm>
            <a:off x="64008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9" name="S16/object-673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30" name="S16/object-674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31" name="S16/object-675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32" name="S16/object-676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33" name="S16/object-677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1F2E8"/>
          </a:solidFill>
          <a:ln w="10160">
            <a:solidFill>
              <a:srgbClr val="E1F2E8"/>
            </a:solidFill>
            <a:prstDash val="solid"/>
          </a:ln>
        </p:spPr>
      </p:sp>
      <p:sp>
        <p:nvSpPr>
          <p:cNvPr id="34" name="S16/object-678"/>
          <p:cNvSpPr/>
          <p:nvPr/>
        </p:nvSpPr>
        <p:spPr>
          <a:xfrm>
            <a:off x="443484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5" name="S16/object-67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36" name="S16/object-68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37" name="S16/object-68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38" name="S16/object-68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39" name="S16/object-68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6/object-684"/>
          <p:cNvSpPr/>
          <p:nvPr/>
        </p:nvSpPr>
        <p:spPr>
          <a:xfrm>
            <a:off x="822960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1" name="S16/object-685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42" name="S16/object-686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43" name="S16/object-687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44" name="S16/object-688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45" name="S16/object-689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46" name="S16/object-690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补充边界与荷载组合 → 建立回归算例 → 完善空间分析与完整力矩核验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7/object-69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69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69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69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69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69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7/object-69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69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7" name="S17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17/object-699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7/object-700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7/object-701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7/object-702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7/object-703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7/object-704"/>
          <p:cNvSpPr/>
          <p:nvPr/>
        </p:nvSpPr>
        <p:spPr>
          <a:xfrm>
            <a:off x="59436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4" name="S17/object-705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7/object-706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17/object-707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7" name="S17/object-708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8" name="S17/object-709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9" name="S17/object-710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30" name="S17/object-711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17/object-712"/>
          <p:cNvSpPr/>
          <p:nvPr/>
        </p:nvSpPr>
        <p:spPr>
          <a:xfrm>
            <a:off x="626364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2" name="S17/object-713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17/object-714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17/object-715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35" name="S17/object-716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36" name="S17/object-717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37" name="S17/object-718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8" name="S17/object-719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9" name="S17/object-720"/>
          <p:cNvSpPr/>
          <p:nvPr/>
        </p:nvSpPr>
        <p:spPr>
          <a:xfrm>
            <a:off x="59436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0" name="S17/object-721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1" name="S17/object-722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17/object-723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43" name="S17/object-724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44" name="S17/object-725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45" name="S17/object-726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46" name="S17/object-727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47" name="S17/object-728"/>
          <p:cNvSpPr/>
          <p:nvPr/>
        </p:nvSpPr>
        <p:spPr>
          <a:xfrm>
            <a:off x="626364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8" name="S17/object-729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9" name="S17/object-730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S17/object-731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51" name="S17/object-732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52" name="S17/object-733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53" name="S17/object-734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8/object-7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7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7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7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7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7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8/object-7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7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7" name="S18/object-743"/>
          <p:cNvSpPr/>
          <p:nvPr/>
        </p:nvSpPr>
        <p:spPr>
          <a:xfrm>
            <a:off x="11101730" y="961034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18/object-744"/>
          <p:cNvSpPr/>
          <p:nvPr/>
        </p:nvSpPr>
        <p:spPr>
          <a:xfrm>
            <a:off x="11286073" y="1156899"/>
            <a:ext cx="168981" cy="16130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8/object-745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8/object-746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S18/object-747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22" name="S18/object-748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3" name="S18/object-749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4" name="S18/object-750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5" name="S18/object-751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18/object-752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S18/object-753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8" name="S18/object-754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9" name="S18/object-755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30" name="S18/object-756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1" name="S18/object-757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18/object-758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S18/object-759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4" name="S18/object-760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5" name="S18/object-761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6" name="S18/object-762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7" name="S18/object-763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8" name="S18/object-764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S18/object-765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40" name="S18/object-766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41" name="S18/object-767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42" name="S18/object-768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3" name="S18/object-769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拉压弯扭大师｜绿色技术路线增强版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2026-10-11T10:26:25Z</dcterms:created>
  <dcterms:modified xsi:type="dcterms:W3CDTF">2026-10-11T10:26:25Z</dcterms:modified>
</cp:coreProperties>
</file>
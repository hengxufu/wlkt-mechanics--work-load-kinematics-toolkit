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顶部四类变形交代软件对象，再按建模输入、统一模型、本地求解、结果与推导、教学应用五阶段讲解。验证路径回到输入和模型。明确空间梁Euler-Bernoulli、当前节点荷载与端内力；Tet4实验、WASM未接入、WebGPU仅检测。橙色虚线是未来计划。
原生技术路线依照用户绿色参考重新构建。箭头表示学习与数据流程；橙色虚线仅未来规划。三维端内力不冒充实体云图。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4/title"/>
          <p:cNvSpPr/>
          <p:nvPr/>
        </p:nvSpPr>
        <p:spPr>
          <a:xfrm>
            <a:off x="320040" y="137160"/>
            <a:ext cx="1152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“拉压弯扭大师” 材料力学教学软件技术路线</a:t>
            </a:r>
            <a:endParaRPr lang="en-US" sz="2800" dirty="0"/>
          </a:p>
        </p:txBody>
      </p:sp>
      <p:sp>
        <p:nvSpPr>
          <p:cNvPr id="3" name="S04/scenario-band"/>
          <p:cNvSpPr/>
          <p:nvPr/>
        </p:nvSpPr>
        <p:spPr>
          <a:xfrm>
            <a:off x="822960" y="768096"/>
            <a:ext cx="10561320" cy="1207008"/>
          </a:xfrm>
          <a:prstGeom prst="roundRect">
            <a:avLst>
              <a:gd name="adj" fmla="val 12121"/>
            </a:avLst>
          </a:prstGeom>
          <a:solidFill>
            <a:srgbClr val="DDEFE8"/>
          </a:solidFill>
          <a:ln w="10160">
            <a:solidFill>
              <a:srgbClr val="DDEFE8"/>
            </a:solidFill>
            <a:prstDash val="solid"/>
          </a:ln>
        </p:spPr>
      </p:sp>
      <p:sp>
        <p:nvSpPr>
          <p:cNvPr id="4" name="S04/object-1"/>
          <p:cNvSpPr/>
          <p:nvPr/>
        </p:nvSpPr>
        <p:spPr>
          <a:xfrm>
            <a:off x="950976" y="859536"/>
            <a:ext cx="2423160" cy="1024128"/>
          </a:xfrm>
          <a:prstGeom prst="roundRect">
            <a:avLst>
              <a:gd name="adj" fmla="val 14286"/>
            </a:avLst>
          </a:prstGeom>
          <a:solidFill>
            <a:srgbClr val="F4FAF7"/>
          </a:solidFill>
          <a:ln w="10160">
            <a:solidFill>
              <a:srgbClr val="F4FAF7"/>
            </a:solidFill>
            <a:prstDash val="solid"/>
          </a:ln>
        </p:spPr>
      </p:sp>
      <p:sp>
        <p:nvSpPr>
          <p:cNvPr id="5" name="S04/object-2"/>
          <p:cNvSpPr/>
          <p:nvPr/>
        </p:nvSpPr>
        <p:spPr>
          <a:xfrm>
            <a:off x="1060704" y="923544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拉伸 / 压缩</a:t>
            </a:r>
            <a:endParaRPr lang="en-US" sz="1800" dirty="0"/>
          </a:p>
        </p:txBody>
      </p:sp>
      <p:sp>
        <p:nvSpPr>
          <p:cNvPr id="6" name="S04/object-3"/>
          <p:cNvSpPr/>
          <p:nvPr/>
        </p:nvSpPr>
        <p:spPr>
          <a:xfrm>
            <a:off x="1408176" y="1463040"/>
            <a:ext cx="1508760" cy="219456"/>
          </a:xfrm>
          <a:prstGeom prst="rect">
            <a:avLst>
              <a:gd name="adj" fmla="val 66667"/>
            </a:avLst>
          </a:prstGeom>
          <a:solidFill>
            <a:srgbClr val="BDC9C8"/>
          </a:solidFill>
          <a:ln w="10160">
            <a:solidFill>
              <a:srgbClr val="BDC9C8"/>
            </a:solidFill>
            <a:prstDash val="solid"/>
          </a:ln>
        </p:spPr>
      </p:sp>
      <p:sp>
        <p:nvSpPr>
          <p:cNvPr id="7" name="S04/route-0"/>
          <p:cNvSpPr/>
          <p:nvPr/>
        </p:nvSpPr>
        <p:spPr>
          <a:xfrm>
            <a:off x="2788920" y="1463040"/>
            <a:ext cx="128016" cy="219456"/>
          </a:xfrm>
          <a:prstGeom prst="ellipse">
            <a:avLst/>
          </a:prstGeom>
          <a:solidFill>
            <a:srgbClr val="CCD7D5"/>
          </a:solidFill>
          <a:ln w="12700">
            <a:solidFill>
              <a:srgbClr val="073E32"/>
            </a:solidFill>
            <a:prstDash val="solid"/>
          </a:ln>
        </p:spPr>
      </p:sp>
      <p:sp>
        <p:nvSpPr>
          <p:cNvPr id="8" name="S04/route-1"/>
          <p:cNvSpPr/>
          <p:nvPr/>
        </p:nvSpPr>
        <p:spPr>
          <a:xfrm>
            <a:off x="1344168" y="1463040"/>
            <a:ext cx="128016" cy="219456"/>
          </a:xfrm>
          <a:prstGeom prst="ellipse">
            <a:avLst/>
          </a:prstGeom>
          <a:solidFill>
            <a:srgbClr val="E2E9E7"/>
          </a:solidFill>
          <a:ln w="12700">
            <a:solidFill>
              <a:srgbClr val="073E32"/>
            </a:solidFill>
            <a:prstDash val="solid"/>
          </a:ln>
        </p:spPr>
      </p:sp>
      <p:sp>
        <p:nvSpPr>
          <p:cNvPr id="9" name="S04/object-4"/>
          <p:cNvSpPr/>
          <p:nvPr/>
        </p:nvSpPr>
        <p:spPr>
          <a:xfrm flipH="1">
            <a:off x="1133856" y="1572768"/>
            <a:ext cx="192024" cy="0"/>
          </a:xfrm>
          <a:prstGeom prst="line">
            <a:avLst/>
          </a:prstGeom>
          <a:noFill/>
          <a:ln w="2032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10" name="S04/object-5"/>
          <p:cNvSpPr/>
          <p:nvPr/>
        </p:nvSpPr>
        <p:spPr>
          <a:xfrm>
            <a:off x="2953512" y="1572768"/>
            <a:ext cx="237744" cy="0"/>
          </a:xfrm>
          <a:prstGeom prst="line">
            <a:avLst/>
          </a:prstGeom>
          <a:noFill/>
          <a:ln w="2032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11" name="S04/object-6"/>
          <p:cNvSpPr/>
          <p:nvPr/>
        </p:nvSpPr>
        <p:spPr>
          <a:xfrm>
            <a:off x="1097280" y="12801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</a:t>
            </a:r>
            <a:endParaRPr lang="en-US" sz="1200" dirty="0"/>
          </a:p>
        </p:txBody>
      </p:sp>
      <p:sp>
        <p:nvSpPr>
          <p:cNvPr id="12" name="S04/object-7"/>
          <p:cNvSpPr/>
          <p:nvPr/>
        </p:nvSpPr>
        <p:spPr>
          <a:xfrm>
            <a:off x="3090672" y="12801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</a:t>
            </a:r>
            <a:endParaRPr lang="en-US" sz="1200" dirty="0"/>
          </a:p>
        </p:txBody>
      </p:sp>
      <p:sp>
        <p:nvSpPr>
          <p:cNvPr id="13" name="S04/object-8"/>
          <p:cNvSpPr/>
          <p:nvPr/>
        </p:nvSpPr>
        <p:spPr>
          <a:xfrm>
            <a:off x="3547872" y="859536"/>
            <a:ext cx="2423160" cy="1024128"/>
          </a:xfrm>
          <a:prstGeom prst="roundRect">
            <a:avLst>
              <a:gd name="adj" fmla="val 14286"/>
            </a:avLst>
          </a:prstGeom>
          <a:solidFill>
            <a:srgbClr val="F4FAF7"/>
          </a:solidFill>
          <a:ln w="10160">
            <a:solidFill>
              <a:srgbClr val="F4FAF7"/>
            </a:solidFill>
            <a:prstDash val="solid"/>
          </a:ln>
        </p:spPr>
      </p:sp>
      <p:sp>
        <p:nvSpPr>
          <p:cNvPr id="14" name="S04/object-9"/>
          <p:cNvSpPr/>
          <p:nvPr/>
        </p:nvSpPr>
        <p:spPr>
          <a:xfrm>
            <a:off x="3657600" y="923544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弯曲</a:t>
            </a:r>
            <a:endParaRPr lang="en-US" sz="1800" dirty="0"/>
          </a:p>
        </p:txBody>
      </p:sp>
      <p:sp>
        <p:nvSpPr>
          <p:cNvPr id="15" name="S04/object-10"/>
          <p:cNvSpPr/>
          <p:nvPr/>
        </p:nvSpPr>
        <p:spPr>
          <a:xfrm>
            <a:off x="3822192" y="1554480"/>
            <a:ext cx="1874520" cy="0"/>
          </a:xfrm>
          <a:prstGeom prst="line">
            <a:avLst/>
          </a:prstGeom>
          <a:noFill/>
          <a:ln w="50800">
            <a:solidFill>
              <a:srgbClr val="9BAEAA"/>
            </a:solidFill>
            <a:prstDash val="solid"/>
          </a:ln>
        </p:spPr>
      </p:sp>
      <p:sp>
        <p:nvSpPr>
          <p:cNvPr id="16" name="S04/route-2"/>
          <p:cNvSpPr/>
          <p:nvPr/>
        </p:nvSpPr>
        <p:spPr>
          <a:xfrm>
            <a:off x="3749040" y="1572768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7" name="S04/object-11"/>
          <p:cNvSpPr/>
          <p:nvPr/>
        </p:nvSpPr>
        <p:spPr>
          <a:xfrm>
            <a:off x="3712464" y="1728216"/>
            <a:ext cx="219456" cy="0"/>
          </a:xfrm>
          <a:prstGeom prst="line">
            <a:avLst/>
          </a:prstGeom>
          <a:noFill/>
          <a:ln w="12700">
            <a:solidFill>
              <a:srgbClr val="00654E"/>
            </a:solidFill>
            <a:prstDash val="solid"/>
          </a:ln>
        </p:spPr>
      </p:sp>
      <p:sp>
        <p:nvSpPr>
          <p:cNvPr id="18" name="S04/route-3"/>
          <p:cNvSpPr/>
          <p:nvPr/>
        </p:nvSpPr>
        <p:spPr>
          <a:xfrm>
            <a:off x="5623560" y="1572768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9" name="S04/object-12"/>
          <p:cNvSpPr/>
          <p:nvPr/>
        </p:nvSpPr>
        <p:spPr>
          <a:xfrm>
            <a:off x="5586984" y="1728216"/>
            <a:ext cx="219456" cy="0"/>
          </a:xfrm>
          <a:prstGeom prst="line">
            <a:avLst/>
          </a:prstGeom>
          <a:noFill/>
          <a:ln w="12700">
            <a:solidFill>
              <a:srgbClr val="00654E"/>
            </a:solidFill>
            <a:prstDash val="solid"/>
          </a:ln>
        </p:spPr>
      </p:sp>
      <p:sp>
        <p:nvSpPr>
          <p:cNvPr id="20" name="S04/object-13"/>
          <p:cNvSpPr/>
          <p:nvPr/>
        </p:nvSpPr>
        <p:spPr>
          <a:xfrm>
            <a:off x="4759452" y="1261872"/>
            <a:ext cx="0" cy="237744"/>
          </a:xfrm>
          <a:prstGeom prst="line">
            <a:avLst/>
          </a:prstGeom>
          <a:noFill/>
          <a:ln w="2032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21" name="S04/object-14"/>
          <p:cNvSpPr/>
          <p:nvPr/>
        </p:nvSpPr>
        <p:spPr>
          <a:xfrm>
            <a:off x="4814316" y="11612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</a:t>
            </a:r>
            <a:endParaRPr lang="en-US" sz="1200" dirty="0"/>
          </a:p>
        </p:txBody>
      </p:sp>
      <p:sp>
        <p:nvSpPr>
          <p:cNvPr id="22" name="S04/object-15"/>
          <p:cNvSpPr/>
          <p:nvPr/>
        </p:nvSpPr>
        <p:spPr>
          <a:xfrm>
            <a:off x="3921862" y="1618488"/>
            <a:ext cx="418795" cy="109728"/>
          </a:xfrm>
          <a:prstGeom prst="line">
            <a:avLst/>
          </a:prstGeom>
          <a:noFill/>
          <a:ln w="13970">
            <a:solidFill>
              <a:srgbClr val="00654E"/>
            </a:solidFill>
            <a:prstDash val="dash"/>
          </a:ln>
        </p:spPr>
      </p:sp>
      <p:sp>
        <p:nvSpPr>
          <p:cNvPr id="23" name="S04/object-16"/>
          <p:cNvSpPr/>
          <p:nvPr/>
        </p:nvSpPr>
        <p:spPr>
          <a:xfrm>
            <a:off x="4340657" y="1728216"/>
            <a:ext cx="418795" cy="45720"/>
          </a:xfrm>
          <a:prstGeom prst="line">
            <a:avLst/>
          </a:prstGeom>
          <a:noFill/>
          <a:ln w="13970">
            <a:solidFill>
              <a:srgbClr val="00654E"/>
            </a:solidFill>
            <a:prstDash val="dash"/>
          </a:ln>
        </p:spPr>
      </p:sp>
      <p:sp>
        <p:nvSpPr>
          <p:cNvPr id="24" name="S04/object-17"/>
          <p:cNvSpPr/>
          <p:nvPr/>
        </p:nvSpPr>
        <p:spPr>
          <a:xfrm flipV="1">
            <a:off x="4759452" y="1728216"/>
            <a:ext cx="418795" cy="45720"/>
          </a:xfrm>
          <a:prstGeom prst="line">
            <a:avLst/>
          </a:prstGeom>
          <a:noFill/>
          <a:ln w="13970">
            <a:solidFill>
              <a:srgbClr val="00654E"/>
            </a:solidFill>
            <a:prstDash val="dash"/>
          </a:ln>
        </p:spPr>
      </p:sp>
      <p:sp>
        <p:nvSpPr>
          <p:cNvPr id="25" name="S04/object-18"/>
          <p:cNvSpPr/>
          <p:nvPr/>
        </p:nvSpPr>
        <p:spPr>
          <a:xfrm flipV="1">
            <a:off x="5178247" y="1618488"/>
            <a:ext cx="418795" cy="109728"/>
          </a:xfrm>
          <a:prstGeom prst="line">
            <a:avLst/>
          </a:prstGeom>
          <a:noFill/>
          <a:ln w="13970">
            <a:solidFill>
              <a:srgbClr val="00654E"/>
            </a:solidFill>
            <a:prstDash val="dash"/>
          </a:ln>
        </p:spPr>
      </p:sp>
      <p:sp>
        <p:nvSpPr>
          <p:cNvPr id="26" name="S04/object-19"/>
          <p:cNvSpPr/>
          <p:nvPr/>
        </p:nvSpPr>
        <p:spPr>
          <a:xfrm>
            <a:off x="6144768" y="859536"/>
            <a:ext cx="2423160" cy="1024128"/>
          </a:xfrm>
          <a:prstGeom prst="roundRect">
            <a:avLst>
              <a:gd name="adj" fmla="val 14286"/>
            </a:avLst>
          </a:prstGeom>
          <a:solidFill>
            <a:srgbClr val="F4FAF7"/>
          </a:solidFill>
          <a:ln w="10160">
            <a:solidFill>
              <a:srgbClr val="F4FAF7"/>
            </a:solidFill>
            <a:prstDash val="solid"/>
          </a:ln>
        </p:spPr>
      </p:sp>
      <p:sp>
        <p:nvSpPr>
          <p:cNvPr id="27" name="S04/object-20"/>
          <p:cNvSpPr/>
          <p:nvPr/>
        </p:nvSpPr>
        <p:spPr>
          <a:xfrm>
            <a:off x="6254496" y="923544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扭转</a:t>
            </a:r>
            <a:endParaRPr lang="en-US" sz="1800" dirty="0"/>
          </a:p>
        </p:txBody>
      </p:sp>
      <p:sp>
        <p:nvSpPr>
          <p:cNvPr id="28" name="S04/object-21"/>
          <p:cNvSpPr/>
          <p:nvPr/>
        </p:nvSpPr>
        <p:spPr>
          <a:xfrm>
            <a:off x="6601968" y="1463040"/>
            <a:ext cx="1508760" cy="219456"/>
          </a:xfrm>
          <a:prstGeom prst="rect">
            <a:avLst>
              <a:gd name="adj" fmla="val 66667"/>
            </a:avLst>
          </a:prstGeom>
          <a:solidFill>
            <a:srgbClr val="BDC9C8"/>
          </a:solidFill>
          <a:ln w="10160">
            <a:solidFill>
              <a:srgbClr val="BDC9C8"/>
            </a:solidFill>
            <a:prstDash val="solid"/>
          </a:ln>
        </p:spPr>
      </p:sp>
      <p:sp>
        <p:nvSpPr>
          <p:cNvPr id="29" name="S04/route-4"/>
          <p:cNvSpPr/>
          <p:nvPr/>
        </p:nvSpPr>
        <p:spPr>
          <a:xfrm>
            <a:off x="7982712" y="1463040"/>
            <a:ext cx="128016" cy="219456"/>
          </a:xfrm>
          <a:prstGeom prst="ellipse">
            <a:avLst/>
          </a:prstGeom>
          <a:solidFill>
            <a:srgbClr val="CCD7D5"/>
          </a:solidFill>
          <a:ln w="12700">
            <a:solidFill>
              <a:srgbClr val="073E32"/>
            </a:solidFill>
            <a:prstDash val="solid"/>
          </a:ln>
        </p:spPr>
      </p:sp>
      <p:sp>
        <p:nvSpPr>
          <p:cNvPr id="30" name="S04/route-5"/>
          <p:cNvSpPr/>
          <p:nvPr/>
        </p:nvSpPr>
        <p:spPr>
          <a:xfrm>
            <a:off x="6537960" y="1463040"/>
            <a:ext cx="128016" cy="219456"/>
          </a:xfrm>
          <a:prstGeom prst="ellipse">
            <a:avLst/>
          </a:prstGeom>
          <a:solidFill>
            <a:srgbClr val="E2E9E7"/>
          </a:solidFill>
          <a:ln w="12700">
            <a:solidFill>
              <a:srgbClr val="073E32"/>
            </a:solidFill>
            <a:prstDash val="solid"/>
          </a:ln>
        </p:spPr>
      </p:sp>
      <p:sp>
        <p:nvSpPr>
          <p:cNvPr id="31" name="S04/object-22"/>
          <p:cNvSpPr/>
          <p:nvPr/>
        </p:nvSpPr>
        <p:spPr>
          <a:xfrm>
            <a:off x="6455664" y="1344168"/>
            <a:ext cx="118872" cy="45720"/>
          </a:xfrm>
          <a:prstGeom prst="line">
            <a:avLst/>
          </a:prstGeom>
          <a:noFill/>
          <a:ln w="1905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32" name="S04/object-23"/>
          <p:cNvSpPr/>
          <p:nvPr/>
        </p:nvSpPr>
        <p:spPr>
          <a:xfrm flipH="1">
            <a:off x="6391656" y="1344168"/>
            <a:ext cx="64008" cy="155448"/>
          </a:xfrm>
          <a:prstGeom prst="line">
            <a:avLst/>
          </a:prstGeom>
          <a:noFill/>
          <a:ln w="19050">
            <a:solidFill>
              <a:srgbClr val="00654E"/>
            </a:solidFill>
            <a:prstDash val="solid"/>
          </a:ln>
        </p:spPr>
      </p:sp>
      <p:sp>
        <p:nvSpPr>
          <p:cNvPr id="33" name="S04/object-24"/>
          <p:cNvSpPr/>
          <p:nvPr/>
        </p:nvSpPr>
        <p:spPr>
          <a:xfrm>
            <a:off x="6391656" y="1499616"/>
            <a:ext cx="64008" cy="301752"/>
          </a:xfrm>
          <a:prstGeom prst="line">
            <a:avLst/>
          </a:prstGeom>
          <a:noFill/>
          <a:ln w="19050">
            <a:solidFill>
              <a:srgbClr val="00654E"/>
            </a:solidFill>
            <a:prstDash val="solid"/>
          </a:ln>
        </p:spPr>
      </p:sp>
      <p:sp>
        <p:nvSpPr>
          <p:cNvPr id="34" name="S04/object-25"/>
          <p:cNvSpPr/>
          <p:nvPr/>
        </p:nvSpPr>
        <p:spPr>
          <a:xfrm flipH="1">
            <a:off x="8110728" y="1344168"/>
            <a:ext cx="118872" cy="45720"/>
          </a:xfrm>
          <a:prstGeom prst="line">
            <a:avLst/>
          </a:prstGeom>
          <a:noFill/>
          <a:ln w="1905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35" name="S04/object-26"/>
          <p:cNvSpPr/>
          <p:nvPr/>
        </p:nvSpPr>
        <p:spPr>
          <a:xfrm>
            <a:off x="8229600" y="1344168"/>
            <a:ext cx="64008" cy="155448"/>
          </a:xfrm>
          <a:prstGeom prst="line">
            <a:avLst/>
          </a:prstGeom>
          <a:noFill/>
          <a:ln w="19050">
            <a:solidFill>
              <a:srgbClr val="00654E"/>
            </a:solidFill>
            <a:prstDash val="solid"/>
          </a:ln>
        </p:spPr>
      </p:sp>
      <p:sp>
        <p:nvSpPr>
          <p:cNvPr id="36" name="S04/object-27"/>
          <p:cNvSpPr/>
          <p:nvPr/>
        </p:nvSpPr>
        <p:spPr>
          <a:xfrm flipH="1">
            <a:off x="8229600" y="1499616"/>
            <a:ext cx="64008" cy="301752"/>
          </a:xfrm>
          <a:prstGeom prst="line">
            <a:avLst/>
          </a:prstGeom>
          <a:noFill/>
          <a:ln w="19050">
            <a:solidFill>
              <a:srgbClr val="00654E"/>
            </a:solidFill>
            <a:prstDash val="solid"/>
          </a:ln>
        </p:spPr>
      </p:sp>
      <p:sp>
        <p:nvSpPr>
          <p:cNvPr id="37" name="S04/object-28"/>
          <p:cNvSpPr/>
          <p:nvPr/>
        </p:nvSpPr>
        <p:spPr>
          <a:xfrm>
            <a:off x="6291072" y="14996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</a:t>
            </a:r>
            <a:endParaRPr lang="en-US" sz="1200" dirty="0"/>
          </a:p>
        </p:txBody>
      </p:sp>
      <p:sp>
        <p:nvSpPr>
          <p:cNvPr id="38" name="S04/object-29"/>
          <p:cNvSpPr/>
          <p:nvPr/>
        </p:nvSpPr>
        <p:spPr>
          <a:xfrm>
            <a:off x="8311896" y="14996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</a:t>
            </a:r>
            <a:endParaRPr lang="en-US" sz="1200" dirty="0"/>
          </a:p>
        </p:txBody>
      </p:sp>
      <p:sp>
        <p:nvSpPr>
          <p:cNvPr id="39" name="S04/object-30"/>
          <p:cNvSpPr/>
          <p:nvPr/>
        </p:nvSpPr>
        <p:spPr>
          <a:xfrm>
            <a:off x="8741664" y="859536"/>
            <a:ext cx="2423160" cy="1024128"/>
          </a:xfrm>
          <a:prstGeom prst="roundRect">
            <a:avLst>
              <a:gd name="adj" fmla="val 14286"/>
            </a:avLst>
          </a:prstGeom>
          <a:solidFill>
            <a:srgbClr val="F4FAF7"/>
          </a:solidFill>
          <a:ln w="10160">
            <a:solidFill>
              <a:srgbClr val="F4FAF7"/>
            </a:solidFill>
            <a:prstDash val="solid"/>
          </a:ln>
        </p:spPr>
      </p:sp>
      <p:sp>
        <p:nvSpPr>
          <p:cNvPr id="40" name="S04/object-31"/>
          <p:cNvSpPr/>
          <p:nvPr/>
        </p:nvSpPr>
        <p:spPr>
          <a:xfrm>
            <a:off x="8851392" y="923544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组合变形</a:t>
            </a:r>
            <a:endParaRPr lang="en-US" sz="1800" dirty="0"/>
          </a:p>
        </p:txBody>
      </p:sp>
      <p:sp>
        <p:nvSpPr>
          <p:cNvPr id="41" name="S04/object-32"/>
          <p:cNvSpPr/>
          <p:nvPr/>
        </p:nvSpPr>
        <p:spPr>
          <a:xfrm flipV="1">
            <a:off x="9253728" y="1280160"/>
            <a:ext cx="629868" cy="167335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42" name="S04/object-33"/>
          <p:cNvSpPr/>
          <p:nvPr/>
        </p:nvSpPr>
        <p:spPr>
          <a:xfrm>
            <a:off x="9883596" y="1280160"/>
            <a:ext cx="354301" cy="100401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43" name="S04/object-34"/>
          <p:cNvSpPr/>
          <p:nvPr/>
        </p:nvSpPr>
        <p:spPr>
          <a:xfrm flipH="1">
            <a:off x="9608029" y="1380561"/>
            <a:ext cx="629868" cy="167335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44" name="S04/object-35"/>
          <p:cNvSpPr/>
          <p:nvPr/>
        </p:nvSpPr>
        <p:spPr>
          <a:xfrm flipH="1" flipV="1">
            <a:off x="9253728" y="1447495"/>
            <a:ext cx="354301" cy="100401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45" name="S04/object-36"/>
          <p:cNvSpPr/>
          <p:nvPr/>
        </p:nvSpPr>
        <p:spPr>
          <a:xfrm flipV="1">
            <a:off x="9253728" y="1575786"/>
            <a:ext cx="629868" cy="161757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46" name="S04/object-37"/>
          <p:cNvSpPr/>
          <p:nvPr/>
        </p:nvSpPr>
        <p:spPr>
          <a:xfrm>
            <a:off x="9883596" y="1575786"/>
            <a:ext cx="354301" cy="100401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47" name="S04/object-38"/>
          <p:cNvSpPr/>
          <p:nvPr/>
        </p:nvSpPr>
        <p:spPr>
          <a:xfrm flipH="1">
            <a:off x="9608029" y="1676187"/>
            <a:ext cx="629868" cy="161757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48" name="S04/object-39"/>
          <p:cNvSpPr/>
          <p:nvPr/>
        </p:nvSpPr>
        <p:spPr>
          <a:xfrm flipH="1" flipV="1">
            <a:off x="9253728" y="1737543"/>
            <a:ext cx="354301" cy="100401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49" name="S04/object-40"/>
          <p:cNvSpPr/>
          <p:nvPr/>
        </p:nvSpPr>
        <p:spPr>
          <a:xfrm>
            <a:off x="9253728" y="1447495"/>
            <a:ext cx="0" cy="290048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50" name="S04/object-41"/>
          <p:cNvSpPr/>
          <p:nvPr/>
        </p:nvSpPr>
        <p:spPr>
          <a:xfrm>
            <a:off x="9883596" y="1280160"/>
            <a:ext cx="0" cy="295626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51" name="S04/object-42"/>
          <p:cNvSpPr/>
          <p:nvPr/>
        </p:nvSpPr>
        <p:spPr>
          <a:xfrm>
            <a:off x="10237897" y="1380561"/>
            <a:ext cx="0" cy="295626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52" name="S04/object-43"/>
          <p:cNvSpPr/>
          <p:nvPr/>
        </p:nvSpPr>
        <p:spPr>
          <a:xfrm>
            <a:off x="9608029" y="1547896"/>
            <a:ext cx="0" cy="290048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53" name="S04/object-44"/>
          <p:cNvSpPr/>
          <p:nvPr/>
        </p:nvSpPr>
        <p:spPr>
          <a:xfrm>
            <a:off x="9221724" y="1415491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54" name="S04/object-45"/>
          <p:cNvSpPr/>
          <p:nvPr/>
        </p:nvSpPr>
        <p:spPr>
          <a:xfrm>
            <a:off x="9851592" y="1248156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55" name="S04/object-46"/>
          <p:cNvSpPr/>
          <p:nvPr/>
        </p:nvSpPr>
        <p:spPr>
          <a:xfrm>
            <a:off x="10205893" y="1348557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56" name="S04/object-47"/>
          <p:cNvSpPr/>
          <p:nvPr/>
        </p:nvSpPr>
        <p:spPr>
          <a:xfrm>
            <a:off x="9576025" y="1515892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57" name="S04/object-48"/>
          <p:cNvSpPr/>
          <p:nvPr/>
        </p:nvSpPr>
        <p:spPr>
          <a:xfrm>
            <a:off x="9221724" y="1705539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58" name="S04/object-49"/>
          <p:cNvSpPr/>
          <p:nvPr/>
        </p:nvSpPr>
        <p:spPr>
          <a:xfrm>
            <a:off x="9851592" y="1543782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59" name="S04/object-50"/>
          <p:cNvSpPr/>
          <p:nvPr/>
        </p:nvSpPr>
        <p:spPr>
          <a:xfrm>
            <a:off x="10205893" y="1644183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60" name="S04/object-51"/>
          <p:cNvSpPr/>
          <p:nvPr/>
        </p:nvSpPr>
        <p:spPr>
          <a:xfrm>
            <a:off x="9576025" y="1805940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61" name="S04/object-52"/>
          <p:cNvSpPr/>
          <p:nvPr/>
        </p:nvSpPr>
        <p:spPr>
          <a:xfrm flipV="1">
            <a:off x="10402489" y="1353312"/>
            <a:ext cx="0" cy="373075"/>
          </a:xfrm>
          <a:prstGeom prst="line">
            <a:avLst/>
          </a:prstGeom>
          <a:noFill/>
          <a:ln w="1651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62" name="S04/object-53"/>
          <p:cNvSpPr/>
          <p:nvPr/>
        </p:nvSpPr>
        <p:spPr>
          <a:xfrm>
            <a:off x="10402489" y="1726387"/>
            <a:ext cx="402336" cy="66934"/>
          </a:xfrm>
          <a:prstGeom prst="line">
            <a:avLst/>
          </a:prstGeom>
          <a:noFill/>
          <a:ln w="1651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63" name="S04/object-54"/>
          <p:cNvSpPr/>
          <p:nvPr/>
        </p:nvSpPr>
        <p:spPr>
          <a:xfrm>
            <a:off x="10347625" y="11612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</a:t>
            </a:r>
            <a:endParaRPr lang="en-US" sz="1100" dirty="0"/>
          </a:p>
        </p:txBody>
      </p:sp>
      <p:sp>
        <p:nvSpPr>
          <p:cNvPr id="64" name="S04/object-55"/>
          <p:cNvSpPr/>
          <p:nvPr/>
        </p:nvSpPr>
        <p:spPr>
          <a:xfrm>
            <a:off x="10823113" y="1726387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</a:t>
            </a:r>
            <a:endParaRPr lang="en-US" sz="1100" dirty="0"/>
          </a:p>
        </p:txBody>
      </p:sp>
      <p:sp>
        <p:nvSpPr>
          <p:cNvPr id="65" name="S04/object-56"/>
          <p:cNvSpPr/>
          <p:nvPr/>
        </p:nvSpPr>
        <p:spPr>
          <a:xfrm>
            <a:off x="228600" y="2157984"/>
            <a:ext cx="2185416" cy="2734056"/>
          </a:xfrm>
          <a:prstGeom prst="rect">
            <a:avLst>
              <a:gd name="adj" fmla="val 6695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66" name="S04/route-6"/>
          <p:cNvSpPr/>
          <p:nvPr/>
        </p:nvSpPr>
        <p:spPr>
          <a:xfrm>
            <a:off x="228600" y="2157984"/>
            <a:ext cx="2185416" cy="521208"/>
          </a:xfrm>
          <a:prstGeom prst="rect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67" name="S04/route-7"/>
          <p:cNvSpPr/>
          <p:nvPr/>
        </p:nvSpPr>
        <p:spPr>
          <a:xfrm>
            <a:off x="374904" y="2276856"/>
            <a:ext cx="204094" cy="283464"/>
          </a:xfrm>
          <a:prstGeom prst="rect">
            <a:avLst/>
          </a:prstGeom>
          <a:solidFill>
            <a:srgbClr val="00654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8" name="S04/object-57"/>
          <p:cNvSpPr/>
          <p:nvPr/>
        </p:nvSpPr>
        <p:spPr>
          <a:xfrm>
            <a:off x="408920" y="2347722"/>
            <a:ext cx="130393" cy="0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69" name="S04/object-58"/>
          <p:cNvSpPr/>
          <p:nvPr/>
        </p:nvSpPr>
        <p:spPr>
          <a:xfrm>
            <a:off x="408920" y="2404415"/>
            <a:ext cx="130393" cy="0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70" name="S04/object-59"/>
          <p:cNvSpPr/>
          <p:nvPr/>
        </p:nvSpPr>
        <p:spPr>
          <a:xfrm>
            <a:off x="408920" y="2461108"/>
            <a:ext cx="130393" cy="0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71" name="S04/object-60"/>
          <p:cNvSpPr/>
          <p:nvPr/>
        </p:nvSpPr>
        <p:spPr>
          <a:xfrm flipV="1">
            <a:off x="510967" y="2418588"/>
            <a:ext cx="133228" cy="130393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72" name="S04/object-61"/>
          <p:cNvSpPr/>
          <p:nvPr/>
        </p:nvSpPr>
        <p:spPr>
          <a:xfrm>
            <a:off x="768096" y="227685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建模输入</a:t>
            </a:r>
            <a:endParaRPr lang="en-US" sz="2100" dirty="0"/>
          </a:p>
        </p:txBody>
      </p:sp>
      <p:sp>
        <p:nvSpPr>
          <p:cNvPr id="73" name="S04/object-62"/>
          <p:cNvSpPr/>
          <p:nvPr/>
        </p:nvSpPr>
        <p:spPr>
          <a:xfrm>
            <a:off x="347472" y="27797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二维梁 / 刚架</a:t>
            </a:r>
            <a:endParaRPr lang="en-US" sz="1450" dirty="0"/>
          </a:p>
        </p:txBody>
      </p:sp>
      <p:sp>
        <p:nvSpPr>
          <p:cNvPr id="74" name="S04/object-63"/>
          <p:cNvSpPr/>
          <p:nvPr/>
        </p:nvSpPr>
        <p:spPr>
          <a:xfrm>
            <a:off x="347472" y="30723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空间桁架 / 刚架</a:t>
            </a:r>
            <a:endParaRPr lang="en-US" sz="1450" dirty="0"/>
          </a:p>
        </p:txBody>
      </p:sp>
      <p:sp>
        <p:nvSpPr>
          <p:cNvPr id="75" name="S04/object-64"/>
          <p:cNvSpPr/>
          <p:nvPr/>
        </p:nvSpPr>
        <p:spPr>
          <a:xfrm>
            <a:off x="347472" y="33649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节点 / 材料 / 截面</a:t>
            </a:r>
            <a:endParaRPr lang="en-US" sz="1450" dirty="0"/>
          </a:p>
        </p:txBody>
      </p:sp>
      <p:sp>
        <p:nvSpPr>
          <p:cNvPr id="76" name="S04/object-65"/>
          <p:cNvSpPr/>
          <p:nvPr/>
        </p:nvSpPr>
        <p:spPr>
          <a:xfrm>
            <a:off x="347472" y="3657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约束与荷载输入</a:t>
            </a:r>
            <a:endParaRPr lang="en-US" sz="1450" dirty="0"/>
          </a:p>
        </p:txBody>
      </p:sp>
      <p:sp>
        <p:nvSpPr>
          <p:cNvPr id="77" name="S04/object-66"/>
          <p:cNvSpPr/>
          <p:nvPr/>
        </p:nvSpPr>
        <p:spPr>
          <a:xfrm flipV="1">
            <a:off x="640080" y="4334256"/>
            <a:ext cx="0" cy="338328"/>
          </a:xfrm>
          <a:prstGeom prst="line">
            <a:avLst/>
          </a:prstGeom>
          <a:noFill/>
          <a:ln w="25400">
            <a:solidFill>
              <a:srgbClr val="073E32"/>
            </a:solidFill>
            <a:prstDash val="solid"/>
          </a:ln>
        </p:spPr>
      </p:sp>
      <p:sp>
        <p:nvSpPr>
          <p:cNvPr id="78" name="S04/object-67"/>
          <p:cNvSpPr/>
          <p:nvPr/>
        </p:nvSpPr>
        <p:spPr>
          <a:xfrm>
            <a:off x="640080" y="4334256"/>
            <a:ext cx="1234440" cy="0"/>
          </a:xfrm>
          <a:prstGeom prst="line">
            <a:avLst/>
          </a:prstGeom>
          <a:noFill/>
          <a:ln w="25400">
            <a:solidFill>
              <a:srgbClr val="073E32"/>
            </a:solidFill>
            <a:prstDash val="solid"/>
          </a:ln>
        </p:spPr>
      </p:sp>
      <p:sp>
        <p:nvSpPr>
          <p:cNvPr id="79" name="S04/object-68"/>
          <p:cNvSpPr/>
          <p:nvPr/>
        </p:nvSpPr>
        <p:spPr>
          <a:xfrm>
            <a:off x="1874520" y="4334256"/>
            <a:ext cx="0" cy="338328"/>
          </a:xfrm>
          <a:prstGeom prst="line">
            <a:avLst/>
          </a:prstGeom>
          <a:noFill/>
          <a:ln w="25400">
            <a:solidFill>
              <a:srgbClr val="073E32"/>
            </a:solidFill>
            <a:prstDash val="solid"/>
          </a:ln>
        </p:spPr>
      </p:sp>
      <p:sp>
        <p:nvSpPr>
          <p:cNvPr id="80" name="S04/route-8"/>
          <p:cNvSpPr/>
          <p:nvPr/>
        </p:nvSpPr>
        <p:spPr>
          <a:xfrm>
            <a:off x="566928" y="4672584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81" name="S04/object-69"/>
          <p:cNvSpPr/>
          <p:nvPr/>
        </p:nvSpPr>
        <p:spPr>
          <a:xfrm>
            <a:off x="530352" y="4828032"/>
            <a:ext cx="219456" cy="0"/>
          </a:xfrm>
          <a:prstGeom prst="line">
            <a:avLst/>
          </a:prstGeom>
          <a:noFill/>
          <a:ln w="12700">
            <a:solidFill>
              <a:srgbClr val="00654E"/>
            </a:solidFill>
            <a:prstDash val="solid"/>
          </a:ln>
        </p:spPr>
      </p:sp>
      <p:sp>
        <p:nvSpPr>
          <p:cNvPr id="82" name="S04/route-9"/>
          <p:cNvSpPr/>
          <p:nvPr/>
        </p:nvSpPr>
        <p:spPr>
          <a:xfrm>
            <a:off x="1801368" y="4672584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83" name="S04/object-70"/>
          <p:cNvSpPr/>
          <p:nvPr/>
        </p:nvSpPr>
        <p:spPr>
          <a:xfrm>
            <a:off x="1764792" y="4828032"/>
            <a:ext cx="219456" cy="0"/>
          </a:xfrm>
          <a:prstGeom prst="line">
            <a:avLst/>
          </a:prstGeom>
          <a:noFill/>
          <a:ln w="12700">
            <a:solidFill>
              <a:srgbClr val="00654E"/>
            </a:solidFill>
            <a:prstDash val="solid"/>
          </a:ln>
        </p:spPr>
      </p:sp>
      <p:sp>
        <p:nvSpPr>
          <p:cNvPr id="84" name="S04/object-71"/>
          <p:cNvSpPr/>
          <p:nvPr/>
        </p:nvSpPr>
        <p:spPr>
          <a:xfrm>
            <a:off x="948690" y="4059936"/>
            <a:ext cx="0" cy="219456"/>
          </a:xfrm>
          <a:prstGeom prst="line">
            <a:avLst/>
          </a:prstGeom>
          <a:noFill/>
          <a:ln w="1651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85" name="S04/object-72"/>
          <p:cNvSpPr/>
          <p:nvPr/>
        </p:nvSpPr>
        <p:spPr>
          <a:xfrm>
            <a:off x="1257300" y="4059936"/>
            <a:ext cx="0" cy="219456"/>
          </a:xfrm>
          <a:prstGeom prst="line">
            <a:avLst/>
          </a:prstGeom>
          <a:noFill/>
          <a:ln w="1651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86" name="S04/object-73"/>
          <p:cNvSpPr/>
          <p:nvPr/>
        </p:nvSpPr>
        <p:spPr>
          <a:xfrm>
            <a:off x="1565910" y="4059936"/>
            <a:ext cx="0" cy="219456"/>
          </a:xfrm>
          <a:prstGeom prst="line">
            <a:avLst/>
          </a:prstGeom>
          <a:noFill/>
          <a:ln w="1651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87" name="S04/object-74"/>
          <p:cNvSpPr/>
          <p:nvPr/>
        </p:nvSpPr>
        <p:spPr>
          <a:xfrm>
            <a:off x="2423160" y="2487168"/>
            <a:ext cx="182880" cy="0"/>
          </a:xfrm>
          <a:prstGeom prst="line">
            <a:avLst/>
          </a:prstGeom>
          <a:noFill/>
          <a:ln w="3556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88" name="S04/object-75"/>
          <p:cNvSpPr/>
          <p:nvPr/>
        </p:nvSpPr>
        <p:spPr>
          <a:xfrm>
            <a:off x="2615184" y="2157984"/>
            <a:ext cx="2185416" cy="2734056"/>
          </a:xfrm>
          <a:prstGeom prst="rect">
            <a:avLst>
              <a:gd name="adj" fmla="val 6695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89" name="S04/route-10"/>
          <p:cNvSpPr/>
          <p:nvPr/>
        </p:nvSpPr>
        <p:spPr>
          <a:xfrm>
            <a:off x="2615184" y="2157984"/>
            <a:ext cx="2185416" cy="521208"/>
          </a:xfrm>
          <a:prstGeom prst="rect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90" name="S04/object-76"/>
          <p:cNvSpPr/>
          <p:nvPr/>
        </p:nvSpPr>
        <p:spPr>
          <a:xfrm flipV="1">
            <a:off x="2789834" y="2282525"/>
            <a:ext cx="127559" cy="65197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1" name="S04/object-77"/>
          <p:cNvSpPr/>
          <p:nvPr/>
        </p:nvSpPr>
        <p:spPr>
          <a:xfrm>
            <a:off x="2917393" y="2282525"/>
            <a:ext cx="113386" cy="65197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2" name="S04/object-78"/>
          <p:cNvSpPr/>
          <p:nvPr/>
        </p:nvSpPr>
        <p:spPr>
          <a:xfrm flipH="1">
            <a:off x="2903220" y="2347722"/>
            <a:ext cx="127559" cy="70866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3" name="S04/object-79"/>
          <p:cNvSpPr/>
          <p:nvPr/>
        </p:nvSpPr>
        <p:spPr>
          <a:xfrm flipH="1" flipV="1">
            <a:off x="2789834" y="2347722"/>
            <a:ext cx="113386" cy="70866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4" name="S04/object-80"/>
          <p:cNvSpPr/>
          <p:nvPr/>
        </p:nvSpPr>
        <p:spPr>
          <a:xfrm>
            <a:off x="2789834" y="2347722"/>
            <a:ext cx="0" cy="150236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5" name="S04/object-81"/>
          <p:cNvSpPr/>
          <p:nvPr/>
        </p:nvSpPr>
        <p:spPr>
          <a:xfrm>
            <a:off x="2789834" y="2497958"/>
            <a:ext cx="113386" cy="62362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6" name="S04/object-82"/>
          <p:cNvSpPr/>
          <p:nvPr/>
        </p:nvSpPr>
        <p:spPr>
          <a:xfrm flipV="1">
            <a:off x="2903220" y="2495123"/>
            <a:ext cx="127559" cy="65197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7" name="S04/object-83"/>
          <p:cNvSpPr/>
          <p:nvPr/>
        </p:nvSpPr>
        <p:spPr>
          <a:xfrm flipV="1">
            <a:off x="3030779" y="2347722"/>
            <a:ext cx="0" cy="147401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8" name="S04/object-84"/>
          <p:cNvSpPr/>
          <p:nvPr/>
        </p:nvSpPr>
        <p:spPr>
          <a:xfrm>
            <a:off x="2903220" y="2418588"/>
            <a:ext cx="0" cy="141732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9" name="S04/object-85"/>
          <p:cNvSpPr/>
          <p:nvPr/>
        </p:nvSpPr>
        <p:spPr>
          <a:xfrm>
            <a:off x="3154680" y="227685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统一模型</a:t>
            </a:r>
            <a:endParaRPr lang="en-US" sz="2100" dirty="0"/>
          </a:p>
        </p:txBody>
      </p:sp>
      <p:sp>
        <p:nvSpPr>
          <p:cNvPr id="100" name="S04/object-86"/>
          <p:cNvSpPr/>
          <p:nvPr/>
        </p:nvSpPr>
        <p:spPr>
          <a:xfrm>
            <a:off x="2734056" y="27797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杆系单元统一表达</a:t>
            </a:r>
            <a:endParaRPr lang="en-US" sz="1450" dirty="0"/>
          </a:p>
        </p:txBody>
      </p:sp>
      <p:sp>
        <p:nvSpPr>
          <p:cNvPr id="101" name="S04/object-87"/>
          <p:cNvSpPr/>
          <p:nvPr/>
        </p:nvSpPr>
        <p:spPr>
          <a:xfrm>
            <a:off x="2734056" y="30723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坐标变换 / 自由度</a:t>
            </a:r>
            <a:endParaRPr lang="en-US" sz="1450" dirty="0"/>
          </a:p>
        </p:txBody>
      </p:sp>
      <p:sp>
        <p:nvSpPr>
          <p:cNvPr id="102" name="S04/object-88"/>
          <p:cNvSpPr/>
          <p:nvPr/>
        </p:nvSpPr>
        <p:spPr>
          <a:xfrm>
            <a:off x="2734056" y="33649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二维与空间模型组织</a:t>
            </a:r>
            <a:endParaRPr lang="en-US" sz="1450" dirty="0"/>
          </a:p>
        </p:txBody>
      </p:sp>
      <p:sp>
        <p:nvSpPr>
          <p:cNvPr id="103" name="S04/object-89"/>
          <p:cNvSpPr/>
          <p:nvPr/>
        </p:nvSpPr>
        <p:spPr>
          <a:xfrm>
            <a:off x="2734056" y="3657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数据关联公式与显示</a:t>
            </a:r>
            <a:endParaRPr lang="en-US" sz="1450" dirty="0"/>
          </a:p>
        </p:txBody>
      </p:sp>
      <p:sp>
        <p:nvSpPr>
          <p:cNvPr id="104" name="S04/object-90"/>
          <p:cNvSpPr/>
          <p:nvPr/>
        </p:nvSpPr>
        <p:spPr>
          <a:xfrm flipV="1">
            <a:off x="3054096" y="4169664"/>
            <a:ext cx="661294" cy="159106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05" name="S04/object-91"/>
          <p:cNvSpPr/>
          <p:nvPr/>
        </p:nvSpPr>
        <p:spPr>
          <a:xfrm>
            <a:off x="3715390" y="4169664"/>
            <a:ext cx="371978" cy="95463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06" name="S04/object-92"/>
          <p:cNvSpPr/>
          <p:nvPr/>
        </p:nvSpPr>
        <p:spPr>
          <a:xfrm flipH="1">
            <a:off x="3426074" y="4265127"/>
            <a:ext cx="661294" cy="159106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07" name="S04/object-93"/>
          <p:cNvSpPr/>
          <p:nvPr/>
        </p:nvSpPr>
        <p:spPr>
          <a:xfrm flipH="1" flipV="1">
            <a:off x="3054096" y="4328770"/>
            <a:ext cx="371978" cy="95463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08" name="S04/object-94"/>
          <p:cNvSpPr/>
          <p:nvPr/>
        </p:nvSpPr>
        <p:spPr>
          <a:xfrm flipV="1">
            <a:off x="3054096" y="4450751"/>
            <a:ext cx="661294" cy="153802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09" name="S04/object-95"/>
          <p:cNvSpPr/>
          <p:nvPr/>
        </p:nvSpPr>
        <p:spPr>
          <a:xfrm>
            <a:off x="3715390" y="4450751"/>
            <a:ext cx="371978" cy="95463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10" name="S04/object-96"/>
          <p:cNvSpPr/>
          <p:nvPr/>
        </p:nvSpPr>
        <p:spPr>
          <a:xfrm flipH="1">
            <a:off x="3426074" y="4546214"/>
            <a:ext cx="661294" cy="153802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11" name="S04/object-97"/>
          <p:cNvSpPr/>
          <p:nvPr/>
        </p:nvSpPr>
        <p:spPr>
          <a:xfrm flipH="1" flipV="1">
            <a:off x="3054096" y="4604553"/>
            <a:ext cx="371978" cy="95463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12" name="S04/object-98"/>
          <p:cNvSpPr/>
          <p:nvPr/>
        </p:nvSpPr>
        <p:spPr>
          <a:xfrm>
            <a:off x="3054096" y="4328770"/>
            <a:ext cx="0" cy="275783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13" name="S04/object-99"/>
          <p:cNvSpPr/>
          <p:nvPr/>
        </p:nvSpPr>
        <p:spPr>
          <a:xfrm>
            <a:off x="3715390" y="4169664"/>
            <a:ext cx="0" cy="281087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14" name="S04/object-100"/>
          <p:cNvSpPr/>
          <p:nvPr/>
        </p:nvSpPr>
        <p:spPr>
          <a:xfrm>
            <a:off x="4087368" y="4265127"/>
            <a:ext cx="0" cy="281087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15" name="S04/object-101"/>
          <p:cNvSpPr/>
          <p:nvPr/>
        </p:nvSpPr>
        <p:spPr>
          <a:xfrm>
            <a:off x="3426074" y="4424233"/>
            <a:ext cx="0" cy="275783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16" name="S04/object-102"/>
          <p:cNvSpPr/>
          <p:nvPr/>
        </p:nvSpPr>
        <p:spPr>
          <a:xfrm>
            <a:off x="3022092" y="4296766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17" name="S04/object-103"/>
          <p:cNvSpPr/>
          <p:nvPr/>
        </p:nvSpPr>
        <p:spPr>
          <a:xfrm>
            <a:off x="3683386" y="4137660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18" name="S04/object-104"/>
          <p:cNvSpPr/>
          <p:nvPr/>
        </p:nvSpPr>
        <p:spPr>
          <a:xfrm>
            <a:off x="4055364" y="4233123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19" name="S04/object-105"/>
          <p:cNvSpPr/>
          <p:nvPr/>
        </p:nvSpPr>
        <p:spPr>
          <a:xfrm>
            <a:off x="3394070" y="4392229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20" name="S04/object-106"/>
          <p:cNvSpPr/>
          <p:nvPr/>
        </p:nvSpPr>
        <p:spPr>
          <a:xfrm>
            <a:off x="3022092" y="4572549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21" name="S04/object-107"/>
          <p:cNvSpPr/>
          <p:nvPr/>
        </p:nvSpPr>
        <p:spPr>
          <a:xfrm>
            <a:off x="3683386" y="4418747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22" name="S04/object-108"/>
          <p:cNvSpPr/>
          <p:nvPr/>
        </p:nvSpPr>
        <p:spPr>
          <a:xfrm>
            <a:off x="4055364" y="4514210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23" name="S04/object-109"/>
          <p:cNvSpPr/>
          <p:nvPr/>
        </p:nvSpPr>
        <p:spPr>
          <a:xfrm>
            <a:off x="3394070" y="4668012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24" name="S04/object-110"/>
          <p:cNvSpPr/>
          <p:nvPr/>
        </p:nvSpPr>
        <p:spPr>
          <a:xfrm flipV="1">
            <a:off x="4251960" y="4242816"/>
            <a:ext cx="0" cy="351130"/>
          </a:xfrm>
          <a:prstGeom prst="line">
            <a:avLst/>
          </a:prstGeom>
          <a:noFill/>
          <a:ln w="1651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125" name="S04/object-111"/>
          <p:cNvSpPr/>
          <p:nvPr/>
        </p:nvSpPr>
        <p:spPr>
          <a:xfrm>
            <a:off x="4251960" y="4593946"/>
            <a:ext cx="402336" cy="63642"/>
          </a:xfrm>
          <a:prstGeom prst="line">
            <a:avLst/>
          </a:prstGeom>
          <a:noFill/>
          <a:ln w="1651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126" name="S04/object-112"/>
          <p:cNvSpPr/>
          <p:nvPr/>
        </p:nvSpPr>
        <p:spPr>
          <a:xfrm>
            <a:off x="4197096" y="405079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</a:t>
            </a:r>
            <a:endParaRPr lang="en-US" sz="1100" dirty="0"/>
          </a:p>
        </p:txBody>
      </p:sp>
      <p:sp>
        <p:nvSpPr>
          <p:cNvPr id="127" name="S04/object-113"/>
          <p:cNvSpPr/>
          <p:nvPr/>
        </p:nvSpPr>
        <p:spPr>
          <a:xfrm>
            <a:off x="4672584" y="459394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</a:t>
            </a:r>
            <a:endParaRPr lang="en-US" sz="1100" dirty="0"/>
          </a:p>
        </p:txBody>
      </p:sp>
      <p:sp>
        <p:nvSpPr>
          <p:cNvPr id="128" name="S04/object-114"/>
          <p:cNvSpPr/>
          <p:nvPr/>
        </p:nvSpPr>
        <p:spPr>
          <a:xfrm>
            <a:off x="4809744" y="2487168"/>
            <a:ext cx="182880" cy="0"/>
          </a:xfrm>
          <a:prstGeom prst="line">
            <a:avLst/>
          </a:prstGeom>
          <a:noFill/>
          <a:ln w="3556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129" name="S04/object-115"/>
          <p:cNvSpPr/>
          <p:nvPr/>
        </p:nvSpPr>
        <p:spPr>
          <a:xfrm>
            <a:off x="5001768" y="2157984"/>
            <a:ext cx="2185416" cy="2734056"/>
          </a:xfrm>
          <a:prstGeom prst="rect">
            <a:avLst>
              <a:gd name="adj" fmla="val 6695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130" name="S04/route-11"/>
          <p:cNvSpPr/>
          <p:nvPr/>
        </p:nvSpPr>
        <p:spPr>
          <a:xfrm>
            <a:off x="5001768" y="2157984"/>
            <a:ext cx="2185416" cy="521208"/>
          </a:xfrm>
          <a:prstGeom prst="rect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31" name="S04/route-12"/>
          <p:cNvSpPr/>
          <p:nvPr/>
        </p:nvSpPr>
        <p:spPr>
          <a:xfrm>
            <a:off x="5148072" y="2276856"/>
            <a:ext cx="283464" cy="283464"/>
          </a:xfrm>
          <a:prstGeom prst="gear6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2" name="S04/object-116"/>
          <p:cNvSpPr/>
          <p:nvPr/>
        </p:nvSpPr>
        <p:spPr>
          <a:xfrm>
            <a:off x="5250119" y="2378903"/>
            <a:ext cx="79370" cy="79370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33" name="S04/object-117"/>
          <p:cNvSpPr/>
          <p:nvPr/>
        </p:nvSpPr>
        <p:spPr>
          <a:xfrm>
            <a:off x="5541264" y="227685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本地求解</a:t>
            </a:r>
            <a:endParaRPr lang="en-US" sz="2100" dirty="0"/>
          </a:p>
        </p:txBody>
      </p:sp>
      <p:sp>
        <p:nvSpPr>
          <p:cNvPr id="134" name="S04/object-118"/>
          <p:cNvSpPr/>
          <p:nvPr/>
        </p:nvSpPr>
        <p:spPr>
          <a:xfrm>
            <a:off x="5120640" y="27797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TypeScript + mathjs</a:t>
            </a:r>
            <a:endParaRPr lang="en-US" sz="1450" dirty="0"/>
          </a:p>
        </p:txBody>
      </p:sp>
      <p:sp>
        <p:nvSpPr>
          <p:cNvPr id="135" name="S04/object-119"/>
          <p:cNvSpPr/>
          <p:nvPr/>
        </p:nvSpPr>
        <p:spPr>
          <a:xfrm>
            <a:off x="5120640" y="30723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sparse LU求解</a:t>
            </a:r>
            <a:endParaRPr lang="en-US" sz="1450" dirty="0"/>
          </a:p>
        </p:txBody>
      </p:sp>
      <p:sp>
        <p:nvSpPr>
          <p:cNvPr id="136" name="S04/object-120"/>
          <p:cNvSpPr/>
          <p:nvPr/>
        </p:nvSpPr>
        <p:spPr>
          <a:xfrm>
            <a:off x="5120640" y="33649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Worker CPU异步计算</a:t>
            </a:r>
            <a:endParaRPr lang="en-US" sz="1450" dirty="0"/>
          </a:p>
        </p:txBody>
      </p:sp>
      <p:sp>
        <p:nvSpPr>
          <p:cNvPr id="137" name="S04/object-121"/>
          <p:cNvSpPr/>
          <p:nvPr/>
        </p:nvSpPr>
        <p:spPr>
          <a:xfrm>
            <a:off x="5120640" y="3657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本地离线运行</a:t>
            </a:r>
            <a:endParaRPr lang="en-US" sz="1450" dirty="0"/>
          </a:p>
        </p:txBody>
      </p:sp>
      <p:sp>
        <p:nvSpPr>
          <p:cNvPr id="138" name="S04/object-122"/>
          <p:cNvSpPr/>
          <p:nvPr/>
        </p:nvSpPr>
        <p:spPr>
          <a:xfrm>
            <a:off x="5120640" y="39502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Euler–Bernoulli梁</a:t>
            </a:r>
            <a:endParaRPr lang="en-US" sz="1200" dirty="0"/>
          </a:p>
        </p:txBody>
      </p:sp>
      <p:sp>
        <p:nvSpPr>
          <p:cNvPr id="139" name="S04/route-13"/>
          <p:cNvSpPr/>
          <p:nvPr/>
        </p:nvSpPr>
        <p:spPr>
          <a:xfrm>
            <a:off x="5833872" y="4361688"/>
            <a:ext cx="4572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40" name="S04/object-123"/>
          <p:cNvSpPr/>
          <p:nvPr/>
        </p:nvSpPr>
        <p:spPr>
          <a:xfrm>
            <a:off x="6062472" y="4690872"/>
            <a:ext cx="0" cy="82296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41" name="S04/object-124"/>
          <p:cNvSpPr/>
          <p:nvPr/>
        </p:nvSpPr>
        <p:spPr>
          <a:xfrm>
            <a:off x="5902452" y="4796028"/>
            <a:ext cx="320040" cy="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42" name="S04/route-14"/>
          <p:cNvSpPr/>
          <p:nvPr/>
        </p:nvSpPr>
        <p:spPr>
          <a:xfrm>
            <a:off x="5984748" y="4416552"/>
            <a:ext cx="155448" cy="155448"/>
          </a:xfrm>
          <a:prstGeom prst="gear6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43" name="S04/object-125"/>
          <p:cNvSpPr/>
          <p:nvPr/>
        </p:nvSpPr>
        <p:spPr>
          <a:xfrm>
            <a:off x="6040709" y="4472513"/>
            <a:ext cx="43525" cy="4352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4" name="S04/object-126"/>
          <p:cNvSpPr/>
          <p:nvPr/>
        </p:nvSpPr>
        <p:spPr>
          <a:xfrm>
            <a:off x="7196328" y="2487168"/>
            <a:ext cx="182880" cy="0"/>
          </a:xfrm>
          <a:prstGeom prst="line">
            <a:avLst/>
          </a:prstGeom>
          <a:noFill/>
          <a:ln w="3556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145" name="S04/object-127"/>
          <p:cNvSpPr/>
          <p:nvPr/>
        </p:nvSpPr>
        <p:spPr>
          <a:xfrm>
            <a:off x="7388352" y="2157984"/>
            <a:ext cx="2185416" cy="2734056"/>
          </a:xfrm>
          <a:prstGeom prst="rect">
            <a:avLst>
              <a:gd name="adj" fmla="val 6695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146" name="S04/route-15"/>
          <p:cNvSpPr/>
          <p:nvPr/>
        </p:nvSpPr>
        <p:spPr>
          <a:xfrm>
            <a:off x="7388352" y="2157984"/>
            <a:ext cx="2185416" cy="521208"/>
          </a:xfrm>
          <a:prstGeom prst="rect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47" name="S04/route-16"/>
          <p:cNvSpPr/>
          <p:nvPr/>
        </p:nvSpPr>
        <p:spPr>
          <a:xfrm>
            <a:off x="7534656" y="2461108"/>
            <a:ext cx="51024" cy="992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8" name="S04/route-17"/>
          <p:cNvSpPr/>
          <p:nvPr/>
        </p:nvSpPr>
        <p:spPr>
          <a:xfrm>
            <a:off x="7625364" y="2390242"/>
            <a:ext cx="51024" cy="17007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9" name="S04/route-18"/>
          <p:cNvSpPr/>
          <p:nvPr/>
        </p:nvSpPr>
        <p:spPr>
          <a:xfrm>
            <a:off x="7716073" y="2305202"/>
            <a:ext cx="51024" cy="25511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0" name="S04/object-128"/>
          <p:cNvSpPr/>
          <p:nvPr/>
        </p:nvSpPr>
        <p:spPr>
          <a:xfrm>
            <a:off x="7927848" y="227685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结果与推导</a:t>
            </a:r>
            <a:endParaRPr lang="en-US" sz="2100" dirty="0"/>
          </a:p>
        </p:txBody>
      </p:sp>
      <p:sp>
        <p:nvSpPr>
          <p:cNvPr id="151" name="S04/object-129"/>
          <p:cNvSpPr/>
          <p:nvPr/>
        </p:nvSpPr>
        <p:spPr>
          <a:xfrm>
            <a:off x="7507224" y="27797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位移、变形与内力</a:t>
            </a:r>
            <a:endParaRPr lang="en-US" sz="1450" dirty="0"/>
          </a:p>
        </p:txBody>
      </p:sp>
      <p:sp>
        <p:nvSpPr>
          <p:cNvPr id="152" name="S04/object-130"/>
          <p:cNvSpPr/>
          <p:nvPr/>
        </p:nvSpPr>
        <p:spPr>
          <a:xfrm>
            <a:off x="7507224" y="30723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空间刚架：构件端力</a:t>
            </a:r>
            <a:endParaRPr lang="en-US" sz="1450" dirty="0"/>
          </a:p>
        </p:txBody>
      </p:sp>
      <p:sp>
        <p:nvSpPr>
          <p:cNvPr id="153" name="S04/object-131"/>
          <p:cNvSpPr/>
          <p:nvPr/>
        </p:nvSpPr>
        <p:spPr>
          <a:xfrm>
            <a:off x="7507224" y="33649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公式库与分步推导</a:t>
            </a:r>
            <a:endParaRPr lang="en-US" sz="1450" dirty="0"/>
          </a:p>
        </p:txBody>
      </p:sp>
      <p:sp>
        <p:nvSpPr>
          <p:cNvPr id="154" name="S04/object-132"/>
          <p:cNvSpPr/>
          <p:nvPr/>
        </p:nvSpPr>
        <p:spPr>
          <a:xfrm>
            <a:off x="7507224" y="3657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危险位置核查</a:t>
            </a:r>
            <a:endParaRPr lang="en-US" sz="1450" dirty="0"/>
          </a:p>
        </p:txBody>
      </p:sp>
      <p:sp>
        <p:nvSpPr>
          <p:cNvPr id="155" name="S04/object-133"/>
          <p:cNvSpPr/>
          <p:nvPr/>
        </p:nvSpPr>
        <p:spPr>
          <a:xfrm>
            <a:off x="7507224" y="39502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SVG / Three.js显示</a:t>
            </a:r>
            <a:endParaRPr lang="en-US" sz="1450" dirty="0"/>
          </a:p>
        </p:txBody>
      </p:sp>
      <p:sp>
        <p:nvSpPr>
          <p:cNvPr id="156" name="S04/object-134"/>
          <p:cNvSpPr/>
          <p:nvPr/>
        </p:nvSpPr>
        <p:spPr>
          <a:xfrm>
            <a:off x="7607808" y="4645152"/>
            <a:ext cx="768096" cy="0"/>
          </a:xfrm>
          <a:prstGeom prst="line">
            <a:avLst/>
          </a:prstGeom>
          <a:noFill/>
          <a:ln w="50800">
            <a:solidFill>
              <a:srgbClr val="9BAEAA"/>
            </a:solidFill>
            <a:prstDash val="solid"/>
          </a:ln>
        </p:spPr>
      </p:sp>
      <p:sp>
        <p:nvSpPr>
          <p:cNvPr id="157" name="S04/route-19"/>
          <p:cNvSpPr/>
          <p:nvPr/>
        </p:nvSpPr>
        <p:spPr>
          <a:xfrm>
            <a:off x="7534656" y="4663440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58" name="S04/object-135"/>
          <p:cNvSpPr/>
          <p:nvPr/>
        </p:nvSpPr>
        <p:spPr>
          <a:xfrm>
            <a:off x="7498080" y="4818888"/>
            <a:ext cx="219456" cy="0"/>
          </a:xfrm>
          <a:prstGeom prst="line">
            <a:avLst/>
          </a:prstGeom>
          <a:noFill/>
          <a:ln w="12700">
            <a:solidFill>
              <a:srgbClr val="00654E"/>
            </a:solidFill>
            <a:prstDash val="solid"/>
          </a:ln>
        </p:spPr>
      </p:sp>
      <p:sp>
        <p:nvSpPr>
          <p:cNvPr id="159" name="S04/route-20"/>
          <p:cNvSpPr/>
          <p:nvPr/>
        </p:nvSpPr>
        <p:spPr>
          <a:xfrm>
            <a:off x="8302752" y="4663440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60" name="S04/object-136"/>
          <p:cNvSpPr/>
          <p:nvPr/>
        </p:nvSpPr>
        <p:spPr>
          <a:xfrm>
            <a:off x="8266176" y="4818888"/>
            <a:ext cx="219456" cy="0"/>
          </a:xfrm>
          <a:prstGeom prst="line">
            <a:avLst/>
          </a:prstGeom>
          <a:noFill/>
          <a:ln w="12700">
            <a:solidFill>
              <a:srgbClr val="00654E"/>
            </a:solidFill>
            <a:prstDash val="solid"/>
          </a:ln>
        </p:spPr>
      </p:sp>
      <p:sp>
        <p:nvSpPr>
          <p:cNvPr id="161" name="S04/object-137"/>
          <p:cNvSpPr/>
          <p:nvPr/>
        </p:nvSpPr>
        <p:spPr>
          <a:xfrm>
            <a:off x="7991856" y="4352544"/>
            <a:ext cx="0" cy="237744"/>
          </a:xfrm>
          <a:prstGeom prst="line">
            <a:avLst/>
          </a:prstGeom>
          <a:noFill/>
          <a:ln w="2032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162" name="S04/object-138"/>
          <p:cNvSpPr/>
          <p:nvPr/>
        </p:nvSpPr>
        <p:spPr>
          <a:xfrm>
            <a:off x="8046720" y="42519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</a:t>
            </a:r>
            <a:endParaRPr lang="en-US" sz="1200" dirty="0"/>
          </a:p>
        </p:txBody>
      </p:sp>
      <p:sp>
        <p:nvSpPr>
          <p:cNvPr id="163" name="S04/object-139"/>
          <p:cNvSpPr/>
          <p:nvPr/>
        </p:nvSpPr>
        <p:spPr>
          <a:xfrm>
            <a:off x="7596835" y="4709160"/>
            <a:ext cx="197510" cy="109728"/>
          </a:xfrm>
          <a:prstGeom prst="line">
            <a:avLst/>
          </a:prstGeom>
          <a:noFill/>
          <a:ln w="13970">
            <a:solidFill>
              <a:srgbClr val="00654E"/>
            </a:solidFill>
            <a:prstDash val="dash"/>
          </a:ln>
        </p:spPr>
      </p:sp>
      <p:sp>
        <p:nvSpPr>
          <p:cNvPr id="164" name="S04/object-140"/>
          <p:cNvSpPr/>
          <p:nvPr/>
        </p:nvSpPr>
        <p:spPr>
          <a:xfrm>
            <a:off x="7794346" y="4818888"/>
            <a:ext cx="197510" cy="45720"/>
          </a:xfrm>
          <a:prstGeom prst="line">
            <a:avLst/>
          </a:prstGeom>
          <a:noFill/>
          <a:ln w="13970">
            <a:solidFill>
              <a:srgbClr val="00654E"/>
            </a:solidFill>
            <a:prstDash val="dash"/>
          </a:ln>
        </p:spPr>
      </p:sp>
      <p:sp>
        <p:nvSpPr>
          <p:cNvPr id="165" name="S04/object-141"/>
          <p:cNvSpPr/>
          <p:nvPr/>
        </p:nvSpPr>
        <p:spPr>
          <a:xfrm flipV="1">
            <a:off x="7991856" y="4818888"/>
            <a:ext cx="197510" cy="45720"/>
          </a:xfrm>
          <a:prstGeom prst="line">
            <a:avLst/>
          </a:prstGeom>
          <a:noFill/>
          <a:ln w="13970">
            <a:solidFill>
              <a:srgbClr val="00654E"/>
            </a:solidFill>
            <a:prstDash val="dash"/>
          </a:ln>
        </p:spPr>
      </p:sp>
      <p:sp>
        <p:nvSpPr>
          <p:cNvPr id="166" name="S04/object-142"/>
          <p:cNvSpPr/>
          <p:nvPr/>
        </p:nvSpPr>
        <p:spPr>
          <a:xfrm flipV="1">
            <a:off x="8189366" y="4709160"/>
            <a:ext cx="197510" cy="109728"/>
          </a:xfrm>
          <a:prstGeom prst="line">
            <a:avLst/>
          </a:prstGeom>
          <a:noFill/>
          <a:ln w="13970">
            <a:solidFill>
              <a:srgbClr val="00654E"/>
            </a:solidFill>
            <a:prstDash val="dash"/>
          </a:ln>
        </p:spPr>
      </p:sp>
      <p:sp>
        <p:nvSpPr>
          <p:cNvPr id="167" name="S04/object-143"/>
          <p:cNvSpPr/>
          <p:nvPr/>
        </p:nvSpPr>
        <p:spPr>
          <a:xfrm flipV="1">
            <a:off x="8622792" y="4352544"/>
            <a:ext cx="351130" cy="123444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68" name="S04/object-144"/>
          <p:cNvSpPr/>
          <p:nvPr/>
        </p:nvSpPr>
        <p:spPr>
          <a:xfrm>
            <a:off x="8973922" y="4352544"/>
            <a:ext cx="197510" cy="74066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69" name="S04/object-145"/>
          <p:cNvSpPr/>
          <p:nvPr/>
        </p:nvSpPr>
        <p:spPr>
          <a:xfrm flipH="1">
            <a:off x="8820302" y="4426610"/>
            <a:ext cx="351130" cy="123444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0" name="S04/object-146"/>
          <p:cNvSpPr/>
          <p:nvPr/>
        </p:nvSpPr>
        <p:spPr>
          <a:xfrm flipH="1" flipV="1">
            <a:off x="8622792" y="4475988"/>
            <a:ext cx="197510" cy="74066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1" name="S04/object-147"/>
          <p:cNvSpPr/>
          <p:nvPr/>
        </p:nvSpPr>
        <p:spPr>
          <a:xfrm flipV="1">
            <a:off x="8622792" y="4570628"/>
            <a:ext cx="351130" cy="119329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2" name="S04/object-148"/>
          <p:cNvSpPr/>
          <p:nvPr/>
        </p:nvSpPr>
        <p:spPr>
          <a:xfrm>
            <a:off x="8973922" y="4570628"/>
            <a:ext cx="197510" cy="74066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3" name="S04/object-149"/>
          <p:cNvSpPr/>
          <p:nvPr/>
        </p:nvSpPr>
        <p:spPr>
          <a:xfrm flipH="1">
            <a:off x="8820302" y="4644695"/>
            <a:ext cx="351130" cy="119329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4" name="S04/object-150"/>
          <p:cNvSpPr/>
          <p:nvPr/>
        </p:nvSpPr>
        <p:spPr>
          <a:xfrm flipH="1" flipV="1">
            <a:off x="8622792" y="4689958"/>
            <a:ext cx="197510" cy="74066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5" name="S04/object-151"/>
          <p:cNvSpPr/>
          <p:nvPr/>
        </p:nvSpPr>
        <p:spPr>
          <a:xfrm>
            <a:off x="8622792" y="4475988"/>
            <a:ext cx="0" cy="213970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6" name="S04/object-152"/>
          <p:cNvSpPr/>
          <p:nvPr/>
        </p:nvSpPr>
        <p:spPr>
          <a:xfrm>
            <a:off x="8973922" y="4352544"/>
            <a:ext cx="0" cy="218084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7" name="S04/object-153"/>
          <p:cNvSpPr/>
          <p:nvPr/>
        </p:nvSpPr>
        <p:spPr>
          <a:xfrm>
            <a:off x="9171432" y="4426610"/>
            <a:ext cx="0" cy="218084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8" name="S04/object-154"/>
          <p:cNvSpPr/>
          <p:nvPr/>
        </p:nvSpPr>
        <p:spPr>
          <a:xfrm>
            <a:off x="8820302" y="4550054"/>
            <a:ext cx="0" cy="213970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9" name="S04/object-155"/>
          <p:cNvSpPr/>
          <p:nvPr/>
        </p:nvSpPr>
        <p:spPr>
          <a:xfrm>
            <a:off x="8590788" y="4443984"/>
            <a:ext cx="64008" cy="64008"/>
          </a:xfrm>
          <a:prstGeom prst="ellipse">
            <a:avLst/>
          </a:prstGeom>
          <a:solidFill>
            <a:srgbClr val="198E74"/>
          </a:solidFill>
          <a:ln w="12700">
            <a:solidFill>
              <a:srgbClr val="198E74"/>
            </a:solidFill>
            <a:prstDash val="solid"/>
          </a:ln>
        </p:spPr>
      </p:sp>
      <p:sp>
        <p:nvSpPr>
          <p:cNvPr id="180" name="S04/object-156"/>
          <p:cNvSpPr/>
          <p:nvPr/>
        </p:nvSpPr>
        <p:spPr>
          <a:xfrm>
            <a:off x="8941918" y="4320540"/>
            <a:ext cx="64008" cy="64008"/>
          </a:xfrm>
          <a:prstGeom prst="ellipse">
            <a:avLst/>
          </a:prstGeom>
          <a:solidFill>
            <a:srgbClr val="198E74"/>
          </a:solidFill>
          <a:ln w="12700">
            <a:solidFill>
              <a:srgbClr val="198E74"/>
            </a:solidFill>
            <a:prstDash val="solid"/>
          </a:ln>
        </p:spPr>
      </p:sp>
      <p:sp>
        <p:nvSpPr>
          <p:cNvPr id="181" name="S04/object-157"/>
          <p:cNvSpPr/>
          <p:nvPr/>
        </p:nvSpPr>
        <p:spPr>
          <a:xfrm>
            <a:off x="9139428" y="4394606"/>
            <a:ext cx="64008" cy="64008"/>
          </a:xfrm>
          <a:prstGeom prst="ellipse">
            <a:avLst/>
          </a:prstGeom>
          <a:solidFill>
            <a:srgbClr val="198E74"/>
          </a:solidFill>
          <a:ln w="12700">
            <a:solidFill>
              <a:srgbClr val="198E74"/>
            </a:solidFill>
            <a:prstDash val="solid"/>
          </a:ln>
        </p:spPr>
      </p:sp>
      <p:sp>
        <p:nvSpPr>
          <p:cNvPr id="182" name="S04/object-158"/>
          <p:cNvSpPr/>
          <p:nvPr/>
        </p:nvSpPr>
        <p:spPr>
          <a:xfrm>
            <a:off x="8788298" y="4518050"/>
            <a:ext cx="64008" cy="64008"/>
          </a:xfrm>
          <a:prstGeom prst="ellipse">
            <a:avLst/>
          </a:prstGeom>
          <a:solidFill>
            <a:srgbClr val="198E74"/>
          </a:solidFill>
          <a:ln w="12700">
            <a:solidFill>
              <a:srgbClr val="198E74"/>
            </a:solidFill>
            <a:prstDash val="solid"/>
          </a:ln>
        </p:spPr>
      </p:sp>
      <p:sp>
        <p:nvSpPr>
          <p:cNvPr id="183" name="S04/object-159"/>
          <p:cNvSpPr/>
          <p:nvPr/>
        </p:nvSpPr>
        <p:spPr>
          <a:xfrm>
            <a:off x="8590788" y="4657954"/>
            <a:ext cx="64008" cy="64008"/>
          </a:xfrm>
          <a:prstGeom prst="ellipse">
            <a:avLst/>
          </a:prstGeom>
          <a:solidFill>
            <a:srgbClr val="198E74"/>
          </a:solidFill>
          <a:ln w="12700">
            <a:solidFill>
              <a:srgbClr val="198E74"/>
            </a:solidFill>
            <a:prstDash val="solid"/>
          </a:ln>
        </p:spPr>
      </p:sp>
      <p:sp>
        <p:nvSpPr>
          <p:cNvPr id="184" name="S04/object-160"/>
          <p:cNvSpPr/>
          <p:nvPr/>
        </p:nvSpPr>
        <p:spPr>
          <a:xfrm>
            <a:off x="8941918" y="4538624"/>
            <a:ext cx="64008" cy="64008"/>
          </a:xfrm>
          <a:prstGeom prst="ellipse">
            <a:avLst/>
          </a:prstGeom>
          <a:solidFill>
            <a:srgbClr val="198E74"/>
          </a:solidFill>
          <a:ln w="12700">
            <a:solidFill>
              <a:srgbClr val="198E74"/>
            </a:solidFill>
            <a:prstDash val="solid"/>
          </a:ln>
        </p:spPr>
      </p:sp>
      <p:sp>
        <p:nvSpPr>
          <p:cNvPr id="185" name="S04/object-161"/>
          <p:cNvSpPr/>
          <p:nvPr/>
        </p:nvSpPr>
        <p:spPr>
          <a:xfrm>
            <a:off x="9139428" y="4612691"/>
            <a:ext cx="64008" cy="64008"/>
          </a:xfrm>
          <a:prstGeom prst="ellipse">
            <a:avLst/>
          </a:prstGeom>
          <a:solidFill>
            <a:srgbClr val="198E74"/>
          </a:solidFill>
          <a:ln w="12700">
            <a:solidFill>
              <a:srgbClr val="198E74"/>
            </a:solidFill>
            <a:prstDash val="solid"/>
          </a:ln>
        </p:spPr>
      </p:sp>
      <p:sp>
        <p:nvSpPr>
          <p:cNvPr id="186" name="S04/object-162"/>
          <p:cNvSpPr/>
          <p:nvPr/>
        </p:nvSpPr>
        <p:spPr>
          <a:xfrm>
            <a:off x="8788298" y="4732020"/>
            <a:ext cx="64008" cy="64008"/>
          </a:xfrm>
          <a:prstGeom prst="ellipse">
            <a:avLst/>
          </a:prstGeom>
          <a:solidFill>
            <a:srgbClr val="198E74"/>
          </a:solidFill>
          <a:ln w="12700">
            <a:solidFill>
              <a:srgbClr val="198E74"/>
            </a:solidFill>
            <a:prstDash val="solid"/>
          </a:ln>
        </p:spPr>
      </p:sp>
      <p:sp>
        <p:nvSpPr>
          <p:cNvPr id="187" name="S04/object-163"/>
          <p:cNvSpPr/>
          <p:nvPr/>
        </p:nvSpPr>
        <p:spPr>
          <a:xfrm>
            <a:off x="9582912" y="2487168"/>
            <a:ext cx="182880" cy="0"/>
          </a:xfrm>
          <a:prstGeom prst="line">
            <a:avLst/>
          </a:prstGeom>
          <a:noFill/>
          <a:ln w="3556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188" name="S04/object-164"/>
          <p:cNvSpPr/>
          <p:nvPr/>
        </p:nvSpPr>
        <p:spPr>
          <a:xfrm>
            <a:off x="9774936" y="2157984"/>
            <a:ext cx="2185416" cy="2734056"/>
          </a:xfrm>
          <a:prstGeom prst="rect">
            <a:avLst>
              <a:gd name="adj" fmla="val 6695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189" name="S04/route-21"/>
          <p:cNvSpPr/>
          <p:nvPr/>
        </p:nvSpPr>
        <p:spPr>
          <a:xfrm>
            <a:off x="9774936" y="2157984"/>
            <a:ext cx="2185416" cy="521208"/>
          </a:xfrm>
          <a:prstGeom prst="rect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90" name="S04/route-22"/>
          <p:cNvSpPr/>
          <p:nvPr/>
        </p:nvSpPr>
        <p:spPr>
          <a:xfrm>
            <a:off x="9921240" y="2276856"/>
            <a:ext cx="283464" cy="119055"/>
          </a:xfrm>
          <a:prstGeom prst="diamon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1" name="S04/route-23"/>
          <p:cNvSpPr/>
          <p:nvPr/>
        </p:nvSpPr>
        <p:spPr>
          <a:xfrm>
            <a:off x="9992106" y="2381738"/>
            <a:ext cx="141732" cy="7937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2" name="S04/object-165"/>
          <p:cNvSpPr/>
          <p:nvPr/>
        </p:nvSpPr>
        <p:spPr>
          <a:xfrm>
            <a:off x="10190531" y="2339218"/>
            <a:ext cx="0" cy="136063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193" name="S04/object-166"/>
          <p:cNvSpPr/>
          <p:nvPr/>
        </p:nvSpPr>
        <p:spPr>
          <a:xfrm>
            <a:off x="10314432" y="227685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教学应用</a:t>
            </a:r>
            <a:endParaRPr lang="en-US" sz="2100" dirty="0"/>
          </a:p>
        </p:txBody>
      </p:sp>
      <p:sp>
        <p:nvSpPr>
          <p:cNvPr id="194" name="S04/object-167"/>
          <p:cNvSpPr/>
          <p:nvPr/>
        </p:nvSpPr>
        <p:spPr>
          <a:xfrm>
            <a:off x="9893808" y="27797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课堂演示与例题</a:t>
            </a:r>
            <a:endParaRPr lang="en-US" sz="1450" dirty="0"/>
          </a:p>
        </p:txBody>
      </p:sp>
      <p:sp>
        <p:nvSpPr>
          <p:cNvPr id="195" name="S04/object-168"/>
          <p:cNvSpPr/>
          <p:nvPr/>
        </p:nvSpPr>
        <p:spPr>
          <a:xfrm>
            <a:off x="9893808" y="30723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自主练习与校核</a:t>
            </a:r>
            <a:endParaRPr lang="en-US" sz="1450" dirty="0"/>
          </a:p>
        </p:txBody>
      </p:sp>
      <p:sp>
        <p:nvSpPr>
          <p:cNvPr id="196" name="S04/object-169"/>
          <p:cNvSpPr/>
          <p:nvPr/>
        </p:nvSpPr>
        <p:spPr>
          <a:xfrm>
            <a:off x="9893808" y="33649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开卷辅助与概念</a:t>
            </a:r>
            <a:endParaRPr lang="en-US" sz="1450" dirty="0"/>
          </a:p>
        </p:txBody>
      </p:sp>
      <p:sp>
        <p:nvSpPr>
          <p:cNvPr id="197" name="S04/object-170"/>
          <p:cNvSpPr/>
          <p:nvPr/>
        </p:nvSpPr>
        <p:spPr>
          <a:xfrm>
            <a:off x="9893808" y="3657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先预测，再改参数</a:t>
            </a:r>
            <a:endParaRPr lang="en-US" sz="1450" dirty="0"/>
          </a:p>
        </p:txBody>
      </p:sp>
      <p:sp>
        <p:nvSpPr>
          <p:cNvPr id="198" name="S04/route-24"/>
          <p:cNvSpPr/>
          <p:nvPr/>
        </p:nvSpPr>
        <p:spPr>
          <a:xfrm>
            <a:off x="10826496" y="4206240"/>
            <a:ext cx="658368" cy="460858"/>
          </a:xfrm>
          <a:prstGeom prst="rect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99" name="S04/object-171"/>
          <p:cNvSpPr/>
          <p:nvPr/>
        </p:nvSpPr>
        <p:spPr>
          <a:xfrm>
            <a:off x="11155680" y="4680265"/>
            <a:ext cx="0" cy="118506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00" name="S04/object-172"/>
          <p:cNvSpPr/>
          <p:nvPr/>
        </p:nvSpPr>
        <p:spPr>
          <a:xfrm>
            <a:off x="10925251" y="4831690"/>
            <a:ext cx="460858" cy="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01" name="S04/route-25"/>
          <p:cNvSpPr/>
          <p:nvPr/>
        </p:nvSpPr>
        <p:spPr>
          <a:xfrm>
            <a:off x="11043757" y="4285244"/>
            <a:ext cx="223845" cy="223845"/>
          </a:xfrm>
          <a:prstGeom prst="gear6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202" name="S04/object-173"/>
          <p:cNvSpPr/>
          <p:nvPr/>
        </p:nvSpPr>
        <p:spPr>
          <a:xfrm>
            <a:off x="11124342" y="4365828"/>
            <a:ext cx="62677" cy="6267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3" name="S04/object-174"/>
          <p:cNvSpPr/>
          <p:nvPr/>
        </p:nvSpPr>
        <p:spPr>
          <a:xfrm>
            <a:off x="10140696" y="4416552"/>
            <a:ext cx="146304" cy="146304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204" name="S04/object-175"/>
          <p:cNvSpPr/>
          <p:nvPr/>
        </p:nvSpPr>
        <p:spPr>
          <a:xfrm>
            <a:off x="10094976" y="4590288"/>
            <a:ext cx="237744" cy="173736"/>
          </a:xfrm>
          <a:prstGeom prst="rect">
            <a:avLst>
              <a:gd name="adj" fmla="val 84211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205" name="S04/object-176"/>
          <p:cNvSpPr/>
          <p:nvPr/>
        </p:nvSpPr>
        <p:spPr>
          <a:xfrm>
            <a:off x="10524744" y="4416552"/>
            <a:ext cx="146304" cy="146304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206" name="S04/object-177"/>
          <p:cNvSpPr/>
          <p:nvPr/>
        </p:nvSpPr>
        <p:spPr>
          <a:xfrm>
            <a:off x="10479024" y="4590288"/>
            <a:ext cx="237744" cy="173736"/>
          </a:xfrm>
          <a:prstGeom prst="rect">
            <a:avLst>
              <a:gd name="adj" fmla="val 84211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207" name="S04/object-178"/>
          <p:cNvSpPr/>
          <p:nvPr/>
        </p:nvSpPr>
        <p:spPr>
          <a:xfrm>
            <a:off x="10908792" y="4416552"/>
            <a:ext cx="146304" cy="146304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208" name="S04/object-179"/>
          <p:cNvSpPr/>
          <p:nvPr/>
        </p:nvSpPr>
        <p:spPr>
          <a:xfrm>
            <a:off x="10863072" y="4590288"/>
            <a:ext cx="237744" cy="173736"/>
          </a:xfrm>
          <a:prstGeom prst="rect">
            <a:avLst>
              <a:gd name="adj" fmla="val 84211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209" name="S04/verification"/>
          <p:cNvSpPr/>
          <p:nvPr/>
        </p:nvSpPr>
        <p:spPr>
          <a:xfrm>
            <a:off x="2551176" y="5230368"/>
            <a:ext cx="5074920" cy="576072"/>
          </a:xfrm>
          <a:prstGeom prst="roundRect">
            <a:avLst>
              <a:gd name="adj" fmla="val 25397"/>
            </a:avLst>
          </a:prstGeom>
          <a:solidFill>
            <a:srgbClr val="F7FBF9"/>
          </a:solidFill>
          <a:ln w="10160">
            <a:solidFill>
              <a:srgbClr val="F7FBF9"/>
            </a:solidFill>
            <a:prstDash val="solid"/>
          </a:ln>
        </p:spPr>
      </p:sp>
      <p:sp>
        <p:nvSpPr>
          <p:cNvPr id="210" name="S04/route-26"/>
          <p:cNvSpPr/>
          <p:nvPr/>
        </p:nvSpPr>
        <p:spPr>
          <a:xfrm>
            <a:off x="2743200" y="5358384"/>
            <a:ext cx="223845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211" name="S04/object-180"/>
          <p:cNvSpPr/>
          <p:nvPr/>
        </p:nvSpPr>
        <p:spPr>
          <a:xfrm>
            <a:off x="2780508" y="5436108"/>
            <a:ext cx="143012" cy="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12" name="S04/object-181"/>
          <p:cNvSpPr/>
          <p:nvPr/>
        </p:nvSpPr>
        <p:spPr>
          <a:xfrm>
            <a:off x="2780508" y="5498287"/>
            <a:ext cx="143012" cy="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13" name="S04/object-182"/>
          <p:cNvSpPr/>
          <p:nvPr/>
        </p:nvSpPr>
        <p:spPr>
          <a:xfrm>
            <a:off x="2780508" y="5560466"/>
            <a:ext cx="143012" cy="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14" name="S04/object-183"/>
          <p:cNvSpPr/>
          <p:nvPr/>
        </p:nvSpPr>
        <p:spPr>
          <a:xfrm flipV="1">
            <a:off x="2892430" y="5513832"/>
            <a:ext cx="146121" cy="14301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15" name="S04/object-184"/>
          <p:cNvSpPr/>
          <p:nvPr/>
        </p:nvSpPr>
        <p:spPr>
          <a:xfrm>
            <a:off x="3182112" y="5367528"/>
            <a:ext cx="1984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解析解 / 案例验证</a:t>
            </a:r>
            <a:endParaRPr lang="en-US" sz="1700" dirty="0"/>
          </a:p>
        </p:txBody>
      </p:sp>
      <p:sp>
        <p:nvSpPr>
          <p:cNvPr id="216" name="S04/object-185"/>
          <p:cNvSpPr/>
          <p:nvPr/>
        </p:nvSpPr>
        <p:spPr>
          <a:xfrm>
            <a:off x="5376672" y="5312664"/>
            <a:ext cx="2066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理论解析解对比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典型案例对照与误差检查</a:t>
            </a:r>
            <a:endParaRPr lang="en-US" sz="1300" dirty="0"/>
          </a:p>
        </p:txBody>
      </p:sp>
      <p:sp>
        <p:nvSpPr>
          <p:cNvPr id="217" name="S04/object-186"/>
          <p:cNvSpPr/>
          <p:nvPr/>
        </p:nvSpPr>
        <p:spPr>
          <a:xfrm>
            <a:off x="6099048" y="4919472"/>
            <a:ext cx="0" cy="292608"/>
          </a:xfrm>
          <a:prstGeom prst="line">
            <a:avLst/>
          </a:prstGeom>
          <a:noFill/>
          <a:ln w="25400">
            <a:solidFill>
              <a:srgbClr val="00654E"/>
            </a:solidFill>
            <a:prstDash val="solid"/>
          </a:ln>
        </p:spPr>
      </p:sp>
      <p:sp>
        <p:nvSpPr>
          <p:cNvPr id="218" name="S04/object-187"/>
          <p:cNvSpPr/>
          <p:nvPr/>
        </p:nvSpPr>
        <p:spPr>
          <a:xfrm flipH="1">
            <a:off x="1298448" y="5513832"/>
            <a:ext cx="1234440" cy="0"/>
          </a:xfrm>
          <a:prstGeom prst="line">
            <a:avLst/>
          </a:prstGeom>
          <a:noFill/>
          <a:ln w="25400">
            <a:solidFill>
              <a:srgbClr val="00654E"/>
            </a:solidFill>
            <a:prstDash val="solid"/>
          </a:ln>
        </p:spPr>
      </p:sp>
      <p:sp>
        <p:nvSpPr>
          <p:cNvPr id="219" name="S04/object-188"/>
          <p:cNvSpPr/>
          <p:nvPr/>
        </p:nvSpPr>
        <p:spPr>
          <a:xfrm flipV="1">
            <a:off x="1298448" y="4937760"/>
            <a:ext cx="0" cy="576072"/>
          </a:xfrm>
          <a:prstGeom prst="line">
            <a:avLst/>
          </a:prstGeom>
          <a:noFill/>
          <a:ln w="2540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220" name="S04/object-189"/>
          <p:cNvSpPr/>
          <p:nvPr/>
        </p:nvSpPr>
        <p:spPr>
          <a:xfrm flipV="1">
            <a:off x="3685032" y="4937760"/>
            <a:ext cx="0" cy="283464"/>
          </a:xfrm>
          <a:prstGeom prst="line">
            <a:avLst/>
          </a:prstGeom>
          <a:noFill/>
          <a:ln w="2540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221" name="S04/limits"/>
          <p:cNvSpPr/>
          <p:nvPr/>
        </p:nvSpPr>
        <p:spPr>
          <a:xfrm>
            <a:off x="8275320" y="5157216"/>
            <a:ext cx="3685032" cy="832104"/>
          </a:xfrm>
          <a:prstGeom prst="roundRect">
            <a:avLst>
              <a:gd name="adj" fmla="val 17582"/>
            </a:avLst>
          </a:prstGeom>
          <a:solidFill>
            <a:srgbClr val="E5F0EB"/>
          </a:solidFill>
          <a:ln w="10160">
            <a:solidFill>
              <a:srgbClr val="E5F0EB"/>
            </a:solidFill>
            <a:prstDash val="solid"/>
          </a:ln>
        </p:spPr>
      </p:sp>
      <p:sp>
        <p:nvSpPr>
          <p:cNvPr id="222" name="S04/object-190"/>
          <p:cNvSpPr/>
          <p:nvPr/>
        </p:nvSpPr>
        <p:spPr>
          <a:xfrm>
            <a:off x="8412480" y="528523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当前边界</a:t>
            </a:r>
            <a:endParaRPr lang="en-US" sz="1600" dirty="0"/>
          </a:p>
        </p:txBody>
      </p:sp>
      <p:sp>
        <p:nvSpPr>
          <p:cNvPr id="223" name="S04/object-191"/>
          <p:cNvSpPr/>
          <p:nvPr/>
        </p:nvSpPr>
        <p:spPr>
          <a:xfrm>
            <a:off x="9418320" y="5230368"/>
            <a:ext cx="2404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Tet4实验；暂无成熟实体云图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WASM未接入；WebGPU仅检测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空间当前仅节点荷载、端内力</a:t>
            </a:r>
            <a:endParaRPr lang="en-US" sz="1200" dirty="0"/>
          </a:p>
        </p:txBody>
      </p:sp>
      <p:sp>
        <p:nvSpPr>
          <p:cNvPr id="224" name="S04/future-layer"/>
          <p:cNvSpPr/>
          <p:nvPr/>
        </p:nvSpPr>
        <p:spPr>
          <a:xfrm>
            <a:off x="164592" y="6144768"/>
            <a:ext cx="11868912" cy="539496"/>
          </a:xfrm>
          <a:prstGeom prst="roundRect">
            <a:avLst/>
          </a:prstGeom>
          <a:solidFill>
            <a:srgbClr val="FFF9EF"/>
          </a:solidFill>
          <a:ln w="15240">
            <a:solidFill>
              <a:srgbClr val="D88118"/>
            </a:solidFill>
            <a:prstDash val="dash"/>
          </a:ln>
        </p:spPr>
      </p:sp>
      <p:sp>
        <p:nvSpPr>
          <p:cNvPr id="225" name="S04/object-192"/>
          <p:cNvSpPr/>
          <p:nvPr/>
        </p:nvSpPr>
        <p:spPr>
          <a:xfrm>
            <a:off x="347472" y="6291072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D88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规划层</a:t>
            </a:r>
            <a:endParaRPr lang="en-US" sz="1800" dirty="0"/>
          </a:p>
        </p:txBody>
      </p:sp>
      <p:sp>
        <p:nvSpPr>
          <p:cNvPr id="226" name="S04/future-0"/>
          <p:cNvSpPr/>
          <p:nvPr/>
        </p:nvSpPr>
        <p:spPr>
          <a:xfrm>
            <a:off x="1508760" y="6236208"/>
            <a:ext cx="3090672" cy="365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8118"/>
            </a:solidFill>
            <a:prstDash val="dash"/>
          </a:ln>
        </p:spPr>
      </p:sp>
      <p:sp>
        <p:nvSpPr>
          <p:cNvPr id="227" name="S04/object-193"/>
          <p:cNvSpPr/>
          <p:nvPr/>
        </p:nvSpPr>
        <p:spPr>
          <a:xfrm flipV="1">
            <a:off x="1667866" y="6295461"/>
            <a:ext cx="98755" cy="50475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28" name="S04/object-194"/>
          <p:cNvSpPr/>
          <p:nvPr/>
        </p:nvSpPr>
        <p:spPr>
          <a:xfrm>
            <a:off x="1766621" y="6295461"/>
            <a:ext cx="87782" cy="50475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29" name="S04/object-195"/>
          <p:cNvSpPr/>
          <p:nvPr/>
        </p:nvSpPr>
        <p:spPr>
          <a:xfrm flipH="1">
            <a:off x="1755648" y="6345936"/>
            <a:ext cx="98755" cy="54864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0" name="S04/object-196"/>
          <p:cNvSpPr/>
          <p:nvPr/>
        </p:nvSpPr>
        <p:spPr>
          <a:xfrm flipH="1" flipV="1">
            <a:off x="1667866" y="6345936"/>
            <a:ext cx="87782" cy="54864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1" name="S04/object-197"/>
          <p:cNvSpPr/>
          <p:nvPr/>
        </p:nvSpPr>
        <p:spPr>
          <a:xfrm>
            <a:off x="1667866" y="6345936"/>
            <a:ext cx="0" cy="116312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2" name="S04/object-198"/>
          <p:cNvSpPr/>
          <p:nvPr/>
        </p:nvSpPr>
        <p:spPr>
          <a:xfrm>
            <a:off x="1667866" y="6462248"/>
            <a:ext cx="87782" cy="48280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3" name="S04/object-199"/>
          <p:cNvSpPr/>
          <p:nvPr/>
        </p:nvSpPr>
        <p:spPr>
          <a:xfrm flipV="1">
            <a:off x="1755648" y="6460053"/>
            <a:ext cx="98755" cy="50475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4" name="S04/object-200"/>
          <p:cNvSpPr/>
          <p:nvPr/>
        </p:nvSpPr>
        <p:spPr>
          <a:xfrm flipV="1">
            <a:off x="1854403" y="6345936"/>
            <a:ext cx="0" cy="114117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5" name="S04/object-201"/>
          <p:cNvSpPr/>
          <p:nvPr/>
        </p:nvSpPr>
        <p:spPr>
          <a:xfrm>
            <a:off x="1755648" y="6400800"/>
            <a:ext cx="0" cy="109728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6" name="S04/object-202"/>
          <p:cNvSpPr/>
          <p:nvPr/>
        </p:nvSpPr>
        <p:spPr>
          <a:xfrm>
            <a:off x="2002536" y="631850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D88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空间荷载补齐</a:t>
            </a:r>
            <a:endParaRPr lang="en-US" sz="1700" dirty="0"/>
          </a:p>
        </p:txBody>
      </p:sp>
      <p:sp>
        <p:nvSpPr>
          <p:cNvPr id="237" name="S04/object-203"/>
          <p:cNvSpPr/>
          <p:nvPr/>
        </p:nvSpPr>
        <p:spPr>
          <a:xfrm>
            <a:off x="4654296" y="6419088"/>
            <a:ext cx="310896" cy="0"/>
          </a:xfrm>
          <a:prstGeom prst="line">
            <a:avLst/>
          </a:prstGeom>
          <a:noFill/>
          <a:ln w="22860">
            <a:solidFill>
              <a:srgbClr val="D88118"/>
            </a:solidFill>
            <a:prstDash val="dash"/>
            <a:tailEnd type="triangle"/>
          </a:ln>
        </p:spPr>
      </p:sp>
      <p:sp>
        <p:nvSpPr>
          <p:cNvPr id="238" name="S04/future-1"/>
          <p:cNvSpPr/>
          <p:nvPr/>
        </p:nvSpPr>
        <p:spPr>
          <a:xfrm>
            <a:off x="5020056" y="6236208"/>
            <a:ext cx="3090672" cy="365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8118"/>
            </a:solidFill>
            <a:prstDash val="dash"/>
          </a:ln>
        </p:spPr>
      </p:sp>
      <p:sp>
        <p:nvSpPr>
          <p:cNvPr id="239" name="S04/route-27"/>
          <p:cNvSpPr/>
          <p:nvPr/>
        </p:nvSpPr>
        <p:spPr>
          <a:xfrm>
            <a:off x="5157216" y="6433718"/>
            <a:ext cx="39502" cy="76810"/>
          </a:xfrm>
          <a:prstGeom prst="rect">
            <a:avLst/>
          </a:prstGeom>
          <a:solidFill>
            <a:srgbClr val="D88118"/>
          </a:solidFill>
          <a:ln w="12700">
            <a:solidFill>
              <a:srgbClr val="D88118"/>
            </a:solidFill>
            <a:prstDash val="solid"/>
          </a:ln>
        </p:spPr>
      </p:sp>
      <p:sp>
        <p:nvSpPr>
          <p:cNvPr id="240" name="S04/route-28"/>
          <p:cNvSpPr/>
          <p:nvPr/>
        </p:nvSpPr>
        <p:spPr>
          <a:xfrm>
            <a:off x="5227442" y="6378854"/>
            <a:ext cx="39502" cy="131674"/>
          </a:xfrm>
          <a:prstGeom prst="rect">
            <a:avLst/>
          </a:prstGeom>
          <a:solidFill>
            <a:srgbClr val="D88118"/>
          </a:solidFill>
          <a:ln w="12700">
            <a:solidFill>
              <a:srgbClr val="D88118"/>
            </a:solidFill>
            <a:prstDash val="solid"/>
          </a:ln>
        </p:spPr>
      </p:sp>
      <p:sp>
        <p:nvSpPr>
          <p:cNvPr id="241" name="S04/route-29"/>
          <p:cNvSpPr/>
          <p:nvPr/>
        </p:nvSpPr>
        <p:spPr>
          <a:xfrm>
            <a:off x="5297668" y="6313018"/>
            <a:ext cx="39502" cy="197510"/>
          </a:xfrm>
          <a:prstGeom prst="rect">
            <a:avLst/>
          </a:prstGeom>
          <a:solidFill>
            <a:srgbClr val="D88118"/>
          </a:solidFill>
          <a:ln w="12700">
            <a:solidFill>
              <a:srgbClr val="D88118"/>
            </a:solidFill>
            <a:prstDash val="solid"/>
          </a:ln>
        </p:spPr>
      </p:sp>
      <p:sp>
        <p:nvSpPr>
          <p:cNvPr id="242" name="S04/object-204"/>
          <p:cNvSpPr/>
          <p:nvPr/>
        </p:nvSpPr>
        <p:spPr>
          <a:xfrm>
            <a:off x="5513832" y="631850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D88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实体分析完善</a:t>
            </a:r>
            <a:endParaRPr lang="en-US" sz="1700" dirty="0"/>
          </a:p>
        </p:txBody>
      </p:sp>
      <p:sp>
        <p:nvSpPr>
          <p:cNvPr id="243" name="S04/object-205"/>
          <p:cNvSpPr/>
          <p:nvPr/>
        </p:nvSpPr>
        <p:spPr>
          <a:xfrm>
            <a:off x="8165592" y="6419088"/>
            <a:ext cx="310896" cy="0"/>
          </a:xfrm>
          <a:prstGeom prst="line">
            <a:avLst/>
          </a:prstGeom>
          <a:noFill/>
          <a:ln w="22860">
            <a:solidFill>
              <a:srgbClr val="D88118"/>
            </a:solidFill>
            <a:prstDash val="dash"/>
            <a:tailEnd type="triangle"/>
          </a:ln>
        </p:spPr>
      </p:sp>
      <p:sp>
        <p:nvSpPr>
          <p:cNvPr id="244" name="S04/future-2"/>
          <p:cNvSpPr/>
          <p:nvPr/>
        </p:nvSpPr>
        <p:spPr>
          <a:xfrm>
            <a:off x="8531352" y="6236208"/>
            <a:ext cx="3090672" cy="365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8118"/>
            </a:solidFill>
            <a:prstDash val="dash"/>
          </a:ln>
        </p:spPr>
      </p:sp>
      <p:sp>
        <p:nvSpPr>
          <p:cNvPr id="245" name="S04/route-30"/>
          <p:cNvSpPr/>
          <p:nvPr/>
        </p:nvSpPr>
        <p:spPr>
          <a:xfrm>
            <a:off x="8668512" y="6291072"/>
            <a:ext cx="219456" cy="219456"/>
          </a:xfrm>
          <a:prstGeom prst="gear6">
            <a:avLst/>
          </a:prstGeom>
          <a:solidFill>
            <a:srgbClr val="D88118"/>
          </a:solidFill>
          <a:ln w="12700">
            <a:solidFill>
              <a:srgbClr val="D88118"/>
            </a:solidFill>
            <a:prstDash val="solid"/>
          </a:ln>
        </p:spPr>
      </p:sp>
      <p:sp>
        <p:nvSpPr>
          <p:cNvPr id="246" name="S04/object-206"/>
          <p:cNvSpPr/>
          <p:nvPr/>
        </p:nvSpPr>
        <p:spPr>
          <a:xfrm>
            <a:off x="8747516" y="6370076"/>
            <a:ext cx="61448" cy="61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7" name="S04/object-207"/>
          <p:cNvSpPr/>
          <p:nvPr/>
        </p:nvSpPr>
        <p:spPr>
          <a:xfrm>
            <a:off x="9025128" y="631850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D88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WASM / WebGPU验证</a:t>
            </a:r>
            <a:endParaRPr lang="en-US" sz="1700" dirty="0"/>
          </a:p>
        </p:txBody>
      </p:sp>
      <p:sp>
        <p:nvSpPr>
          <p:cNvPr id="248" name="S04/sources"/>
          <p:cNvSpPr/>
          <p:nvPr/>
        </p:nvSpPr>
        <p:spPr>
          <a:xfrm>
            <a:off x="411480" y="6729984"/>
            <a:ext cx="11338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7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依据：软件README、求解器能力审计及实机记录；工程图形为概念示意，非应力云图或新增试验；规划项尚未完成。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拉压弯扭大师</dc:creator>
  <cp:lastModifiedBy>拉压弯扭大师</cp:lastModifiedBy>
  <cp:revision>1</cp:revision>
  <dcterms:created xsi:type="dcterms:W3CDTF">2026-10-11T10:25:37Z</dcterms:created>
  <dcterms:modified xsi:type="dcterms:W3CDTF">2026-10-11T10:25:37Z</dcterms:modified>
</cp:coreProperties>
</file>
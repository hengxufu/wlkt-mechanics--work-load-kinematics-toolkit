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45秒：讲清从模型输入到CPU求解，再到结果观察及解析核验的流程。出现差异时返回检查输入。
视觉与内容增强：明确模型创建、材料截面、约束荷载、求解计算、结果展示、教学解释六阶段，区分软件功能与验证环节。
来源：README.md；用户提供的技术架构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7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8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9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20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1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2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3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4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6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4F0FA"/>
          </a:solidFill>
          <a:ln w="10160">
            <a:solidFill>
              <a:srgbClr val="E4F0FA"/>
            </a:solidFill>
            <a:prstDash val="solid"/>
          </a:ln>
        </p:spPr>
      </p:sp>
      <p:sp>
        <p:nvSpPr>
          <p:cNvPr id="27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8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9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30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2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4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6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7" name="S02/object-36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2/object-37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19" name="S02/object-38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20" name="S02/object-39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21" name="S02/object-40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2" name="S02/object-41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23" name="S02/object-42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先画条件，再建立模型</a:t>
            </a:r>
            <a:endParaRPr lang="en-US" sz="1800" dirty="0"/>
          </a:p>
        </p:txBody>
      </p:sp>
      <p:sp>
        <p:nvSpPr>
          <p:cNvPr id="24" name="S02/object-43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5F3F2"/>
          </a:solidFill>
          <a:ln w="10160">
            <a:solidFill>
              <a:srgbClr val="E5F3F2"/>
            </a:solidFill>
            <a:prstDash val="solid"/>
          </a:ln>
        </p:spPr>
      </p:sp>
      <p:sp>
        <p:nvSpPr>
          <p:cNvPr id="25" name="S02/object-44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26" name="S02/object-45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27" name="S02/object-46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28" name="S02/object-47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9" name="S02/object-48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30" name="S02/object-49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先辨符号，再比较幅值</a:t>
            </a:r>
            <a:endParaRPr lang="en-US" sz="1800" dirty="0"/>
          </a:p>
        </p:txBody>
      </p:sp>
      <p:sp>
        <p:nvSpPr>
          <p:cNvPr id="31" name="S02/object-50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2/object-51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33" name="S02/object-52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34" name="S02/object-53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35" name="S02/object-54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36" name="S02/object-55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37" name="S02/object-56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先作预测，再核对结果</a:t>
            </a:r>
            <a:endParaRPr lang="en-US" sz="1800" dirty="0"/>
          </a:p>
        </p:txBody>
      </p:sp>
      <p:sp>
        <p:nvSpPr>
          <p:cNvPr id="38" name="S02/object-57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学习闭环：条件 → 模型 → 响应 → 解释 → 回到条件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3/object-5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5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6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6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6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6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3/object-6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6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7" name="S03/object-66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3/object-67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S03/object-68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20" name="S03/object-69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1" name="S03/object-70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2" name="S03/object-71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3" name="S03/object-72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4" name="S03/object-73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5" name="S03/object-74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26" name="S03/object-75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7" name="S03/object-76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28" name="S03/object-77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9" name="S03/object-78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30" name="S03/object-79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1" name="S03/object-80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2" name="S03/object-81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3" name="S03/object-82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4" name="S03/object-83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5" name="S03/object-84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6" name="S03/object-85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37" name="S03/object-86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38" name="S03/object-87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39" name="S03/object-88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0" name="S03/object-89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1" name="S03/object-90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42" name="S03/object-91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3" name="S03/object-92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4" name="S03/object-93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5" name="S03/object-94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46" name="S03/object-95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47" name="S03/object-96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8" name="S03/object-97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4/object-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4/object-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4/object-1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4/object-1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4/object-1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4/object-1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4/object-1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从建模到核验的完整流程</a:t>
            </a:r>
            <a:endParaRPr lang="en-US" sz="2800" dirty="0"/>
          </a:p>
        </p:txBody>
      </p:sp>
      <p:sp>
        <p:nvSpPr>
          <p:cNvPr id="12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输入、求解、展示和解析核对形成学习闭环</a:t>
            </a:r>
            <a:endParaRPr lang="en-US" sz="1600" dirty="0"/>
          </a:p>
        </p:txBody>
      </p:sp>
      <p:sp>
        <p:nvSpPr>
          <p:cNvPr id="14" name="S04/object-1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来源：README.md；用户提供的技术架构</a:t>
            </a:r>
            <a:endParaRPr lang="en-US" sz="800" dirty="0"/>
          </a:p>
        </p:txBody>
      </p:sp>
      <p:sp>
        <p:nvSpPr>
          <p:cNvPr id="17" name="S04/object-10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4/object-10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S04/object-10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物理条件</a:t>
            </a:r>
            <a:endParaRPr lang="en-US" sz="1800" dirty="0"/>
          </a:p>
        </p:txBody>
      </p:sp>
      <p:sp>
        <p:nvSpPr>
          <p:cNvPr id="20" name="S04/object-10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单位、几何、受力</a:t>
            </a:r>
            <a:endParaRPr lang="en-US" sz="1200" dirty="0"/>
          </a:p>
        </p:txBody>
      </p:sp>
      <p:sp>
        <p:nvSpPr>
          <p:cNvPr id="21" name="S04/object-11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2" name="S04/object-11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04/object-11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S04/object-11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离散结构模型</a:t>
            </a:r>
            <a:endParaRPr lang="en-US" sz="1800" dirty="0"/>
          </a:p>
        </p:txBody>
      </p:sp>
      <p:sp>
        <p:nvSpPr>
          <p:cNvPr id="25" name="S04/object-11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节点、构件、材料</a:t>
            </a:r>
            <a:endParaRPr lang="en-US" sz="1200" dirty="0"/>
          </a:p>
        </p:txBody>
      </p:sp>
      <p:sp>
        <p:nvSpPr>
          <p:cNvPr id="26" name="S04/object-11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7" name="S04/object-11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4/object-11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S04/object-11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800" dirty="0"/>
          </a:p>
        </p:txBody>
      </p:sp>
      <p:sp>
        <p:nvSpPr>
          <p:cNvPr id="30" name="S04/object-11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自由度、等效作用</a:t>
            </a:r>
            <a:endParaRPr lang="en-US" sz="1200" dirty="0"/>
          </a:p>
        </p:txBody>
      </p:sp>
      <p:sp>
        <p:nvSpPr>
          <p:cNvPr id="31" name="S04/object-12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2" name="S04/object-12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4/object-12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S04/object-12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局部到整体</a:t>
            </a:r>
            <a:endParaRPr lang="en-US" sz="1800" dirty="0"/>
          </a:p>
        </p:txBody>
      </p:sp>
      <p:sp>
        <p:nvSpPr>
          <p:cNvPr id="35" name="S04/object-12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单元刚度、坐标变换</a:t>
            </a:r>
            <a:endParaRPr lang="en-US" sz="1200" dirty="0"/>
          </a:p>
        </p:txBody>
      </p:sp>
      <p:sp>
        <p:nvSpPr>
          <p:cNvPr id="36" name="S04/object-12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7" name="S04/object-12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8" name="S04/object-12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9" name="S04/object-12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1800" dirty="0"/>
          </a:p>
        </p:txBody>
      </p:sp>
      <p:sp>
        <p:nvSpPr>
          <p:cNvPr id="40" name="S04/object-12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位移、反力、端力</a:t>
            </a:r>
            <a:endParaRPr lang="en-US" sz="1200" dirty="0"/>
          </a:p>
        </p:txBody>
      </p:sp>
      <p:sp>
        <p:nvSpPr>
          <p:cNvPr id="41" name="S04/object-13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42" name="S04/object-13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3" name="S04/object-13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结果解释与可视化</a:t>
            </a:r>
            <a:endParaRPr lang="en-US" sz="2200" dirty="0"/>
          </a:p>
        </p:txBody>
      </p:sp>
      <p:sp>
        <p:nvSpPr>
          <p:cNvPr id="44" name="S04/object-13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/ V / M、变形、结果表与教学推导</a:t>
            </a:r>
            <a:endParaRPr lang="en-US" sz="1500" dirty="0"/>
          </a:p>
        </p:txBody>
      </p:sp>
      <p:sp>
        <p:nvSpPr>
          <p:cNvPr id="45" name="S04/object-13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6" name="S04/object-13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独立校核：平衡关系 + 解析解 + 参数实验</a:t>
            </a:r>
            <a:endParaRPr lang="en-US" sz="2000" dirty="0"/>
          </a:p>
        </p:txBody>
      </p:sp>
      <p:sp>
        <p:nvSpPr>
          <p:cNvPr id="47" name="S04/object-13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8" name="S04/object-13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9" name="S04/object-13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输入校核</a:t>
            </a:r>
            <a:endParaRPr lang="en-US" sz="1800" dirty="0"/>
          </a:p>
        </p:txBody>
      </p:sp>
      <p:sp>
        <p:nvSpPr>
          <p:cNvPr id="50" name="S04/object-13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约束是否足够 / 单位是否一致 / 荷载方向是否正确</a:t>
            </a:r>
            <a:endParaRPr lang="en-US" sz="1900" dirty="0"/>
          </a:p>
        </p:txBody>
      </p:sp>
      <p:sp>
        <p:nvSpPr>
          <p:cNvPr id="51" name="S04/object-14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800" dirty="0"/>
          </a:p>
        </p:txBody>
      </p:sp>
      <p:sp>
        <p:nvSpPr>
          <p:cNvPr id="52" name="S04/object-14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不只确认“求解完成”，还要解释结果是否符合物理预期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5/object-14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14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14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14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14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14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5/object-14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1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7" name="S05/object-150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18" name="S05/object-151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9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0" name="S05/object-152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5/object-153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05/object-154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23" name="S05/object-155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24" name="S05/object-156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05/object-157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05/object-158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27" name="S05/object-159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28" name="S05/object-160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9" name="S05/object-161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05/object-162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31" name="S05/object-163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6/object-16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16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16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16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16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16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6/object-17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17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7" name="S06/object-172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6/object-173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9" name="S06/support-0-173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0" name="S06/object-175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1" name="S06/support-1-175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2" name="S06/object-177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3" name="S06/object-178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4" name="S06/object-179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25" name="S06/object-180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26" name="S06/object-181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27" name="S06/object-182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8" name="S06/object-183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29" name="S06/object-184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30" name="S06/object-185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31" name="S06/object-186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32" name="S06/object-187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3" name="S06/object-188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S06/object-189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7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06/object-190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7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8" name="S06/object-191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7/object-1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1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1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1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1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19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7/object-19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19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7" name="S07/object-200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B端；先辨符号，再比较幅值。</a:t>
            </a:r>
            <a:endParaRPr lang="en-US" sz="1200" dirty="0"/>
          </a:p>
        </p:txBody>
      </p:sp>
      <p:sp>
        <p:nvSpPr>
          <p:cNvPr id="18" name="S07/object-201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07/object-202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07/object-203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21" name="S07/object-204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2" name="S07/object-205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07/object-206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24" name="S07/object-207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5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6" name="S07/object-208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7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8" name="S07/object-209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07/object-210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30" name="S07/object-211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7/object-212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32" name="S07/object-213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8/object-21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21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21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21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21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21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8/object-22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22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7" name="S08/object-222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9" name="S08/object-223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1" name="S08/object-224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8/object-225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3" name="S08/object-226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4" name="S08/object-227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8/object-228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6" name="S08/object-229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7" name="S08/object-230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8/object-231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9" name="S08/object-232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30" name="S08/object-233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9/object-23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23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23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23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23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23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9/object-24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24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7" name="S09/object-242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9/object-243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19" name="S09/object-244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9/object-245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1" name="S09/object-246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9/object-247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3" name="S09/object-248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4" name="S09/object-249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5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S09/object-250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9/object-251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29" name="S09/object-252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30" name="S09/object-253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9/object-254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2" name="S09/object-255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3" name="S09/object-256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4" name="S09/object-257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5" name="S09/object-258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6" name="S09/object-259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0/object-26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26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26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26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26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26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0/object-26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26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7" name="S10/object-268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19" name="S10/object-269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0/object-270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0/object-271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10/object-272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23" name="S10/object-273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4" name="S10/object-274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25" name="S10/object-275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26" name="S10/object-276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0/object-277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10/object-278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29" name="S10/object-279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0" name="S10/object-280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31" name="S10/object-281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10/object-282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3" name="S10/object-283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S10/object-284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35" name="S10/object-285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6" name="S10/object-286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37" name="S10/object-287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38" name="S10/object-288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9" name="S10/object-289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S10/object-290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41" name="S10/object-291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42" name="S10/object-292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1/object-29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29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29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29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29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29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1/object-29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30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7" name="S11/object-301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8" name="S11/object-302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9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20" name="S11/object-303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1/object-304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11/object-305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3" name="S11/object-306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1/object-307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5" name="S11/object-308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6" name="S11/object-309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7" name="S11/object-310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1/object-311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9" name="S11/object-312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0" name="S11/object-313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1" name="S11/object-314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2" name="S11/object-315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3" name="S11/object-316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4" name="S11/object-317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5" name="S11/object-318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6" name="S11/object-319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2/object-32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32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32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32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32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32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2/object-32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3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7" name="S12/object-328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8" name="S12/object-329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9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20" name="S12/object-330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12/object-331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S12/object-332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3" name="S12/object-333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2/object-334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S12/object-335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6" name="S12/object-336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12/object-337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8" name="S12/object-338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13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30" name="S12/object-339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1" name="S12/object-340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3/object-3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3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3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3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3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34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3/object-34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34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7" name="S13/object-349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E2F0F8"/>
          </a:solidFill>
          <a:ln w="10160">
            <a:solidFill>
              <a:srgbClr val="E2F0F8"/>
            </a:solidFill>
            <a:prstDash val="solid"/>
          </a:ln>
        </p:spPr>
      </p:sp>
      <p:sp>
        <p:nvSpPr>
          <p:cNvPr id="18" name="S13/object-350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9" name="S13/object-351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20" name="S13/object-352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13/object-353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2" name="S13/object-354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3" name="S13/object-355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4" name="S13/object-356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25" name="S13/object-357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6" name="S13/object-358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7" name="S13/object-359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8" name="S13/object-360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3/object-361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30" name="S13/object-362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1" name="S13/object-363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2" name="S13/object-364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3" name="S13/object-365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4" name="S13/object-366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5" name="S13/object-367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6" name="S13/object-368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仅设备检测；未启用 GPU 数值内核。Worker不可用时回退主线程CPU。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4/object-36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37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37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37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37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37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4/object-37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37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7" name="S14/object-377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4/object-378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19" name="S14/object-379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20" name="S14/object-380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1" name="S14/object-381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2" name="S14/object-382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3" name="S14/object-383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4" name="S14/object-384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9F4F2"/>
          </a:solidFill>
          <a:ln w="10160">
            <a:solidFill>
              <a:srgbClr val="E9F4F2"/>
            </a:solidFill>
            <a:prstDash val="solid"/>
          </a:ln>
        </p:spPr>
      </p:sp>
      <p:sp>
        <p:nvSpPr>
          <p:cNvPr id="25" name="S14/object-385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6" name="S14/object-386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7" name="S14/object-387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28" name="S14/object-388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29" name="S14/object-389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30" name="S14/object-390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1" name="S14/object-391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14/object-392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3" name="S14/object-393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4" name="S14/object-394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5" name="S14/object-395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6" name="S14/object-396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37" name="S14/object-397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5/object-3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3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4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4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4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4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5/object-4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4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7" name="S15/object-4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9" name="S15/object-4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5/object-4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5/object-4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2" name="S15/object-4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3" name="S15/object-4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15/object-4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15/object-4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6" name="S15/object-4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7" name="S15/object-4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8" name="S15/object-4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S15/object-4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30" name="S15/object-4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1" name="S15/object-4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15/object-4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15/object-4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4" name="S15/object-4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5" name="S15/object-4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6/object-4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4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4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4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4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42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6/object-43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43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7" name="S16/object-432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18" name="S16/object-433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16/object-434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20" name="S16/object-435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21" name="S16/object-436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22" name="S16/object-437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23" name="S16/object-438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2F3F0"/>
          </a:solidFill>
          <a:ln w="10160">
            <a:solidFill>
              <a:srgbClr val="E2F3F0"/>
            </a:solidFill>
            <a:prstDash val="solid"/>
          </a:ln>
        </p:spPr>
      </p:sp>
      <p:sp>
        <p:nvSpPr>
          <p:cNvPr id="24" name="S16/object-43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25" name="S16/object-44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26" name="S16/object-44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27" name="S16/object-44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28" name="S16/object-44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6/object-444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30" name="S16/object-445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31" name="S16/object-446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32" name="S16/object-447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33" name="S16/object-448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34" name="S16/object-449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补充边界与荷载组合 → 建立回归算例 → 完善空间分析与完整力矩核验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7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7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7" name="S17/object-458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7/object-459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17/object-460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17/object-461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1" name="S17/object-462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2" name="S17/object-463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3" name="S17/object-464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24" name="S17/object-465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7/object-466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6" name="S17/object-467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17/object-468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28" name="S17/object-469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29" name="S17/object-470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30" name="S17/object-471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1" name="S17/object-472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2" name="S17/object-473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17/object-474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S17/object-475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35" name="S17/object-476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36" name="S17/object-477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37" name="S17/object-478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38" name="S17/object-479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9" name="S17/object-480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0" name="S17/object-481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S17/object-482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42" name="S17/object-483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43" name="S17/object-484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44" name="S17/object-485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8/object-4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4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4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4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4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49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8/object-49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49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7" name="S18/object-494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8/object-495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S18/object-496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20" name="S18/object-497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1" name="S18/object-498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2" name="S18/object-499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3" name="S18/object-500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8/object-501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S18/object-502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6" name="S18/object-503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7" name="S18/object-504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28" name="S18/object-505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9" name="S18/object-506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18/object-507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S18/object-508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2" name="S18/object-509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3" name="S18/object-510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4" name="S18/object-511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5" name="S18/object-512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6" name="S18/object-513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S18/object-514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38" name="S18/object-515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39" name="S18/object-516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40" name="S18/object-517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1" name="S18/object-518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拉压弯扭大师｜视觉与内容增强版</dc:title>
  <dc:subject>PptxGenJS Presentation</dc:subject>
  <dc:creator>拉压弯扭大师</dc:creator>
  <cp:lastModifiedBy>拉压弯扭大师</cp:lastModifiedBy>
  <cp:revision>1</cp:revision>
  <dcterms:created xsi:type="dcterms:W3CDTF">2026-10-11T10:02:11Z</dcterms:created>
  <dcterms:modified xsi:type="dcterms:W3CDTF">2026-10-11T10:02:11Z</dcterms:modified>
</cp:coreProperties>
</file>
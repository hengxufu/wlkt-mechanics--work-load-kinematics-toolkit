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-1-1.jpg" ContentType="image/jpg"/>
  <Override PartName="/ppt/media/image-15-1.jpg" ContentType="image/jpg"/>
  <Override PartName="/ppt/media/image-5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A端反力</c:v>
                </c:pt>
              </c:strCache>
            </c:strRef>
          </c:tx>
          <c:spPr>
            <a:solidFill>
              <a:srgbClr val="075FA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B端反力</c:v>
                </c:pt>
              </c:strCache>
            </c:strRef>
          </c:tx>
          <c:spPr>
            <a:solidFill>
              <a:srgbClr val="008D9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峰值弯矩幅值</c:v>
                </c:pt>
              </c:strCache>
            </c:strRef>
          </c:tx>
          <c:spPr>
            <a:solidFill>
              <a:srgbClr val="008D9C"/>
            </a:solidFill>
            <a:ln w="25400" cap="flat">
              <a:solidFill>
                <a:srgbClr val="008D9C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8D9C"/>
              </a:solidFill>
              <a:ln w="9525" cap="flat">
                <a:solidFill>
                  <a:srgbClr val="008D9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24</c:v>
                </c:pt>
                <c:pt idx="2">
                  <c:v>27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30秒：介绍软件定位和版本，说明今天重点是用真实算例验证学习功能，而非宣传工程认证能力。
视觉与内容增强：增加副标题“本地离线材料力学学习软件”，明确v2.0.2、二维与三维分析及学习辅助定位。
来源：README.md；用户提供的产品定位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40秒：围绕一道具体简支梁题，解释建模、结果和解析公式之间的理解障碍，不虚构教学改善数据。
视觉与内容增强：围绕建模抽象、内力符号、结果核验三个困难，逐一对应可视建模、图形显示、分步推导。
来源：二维简支梁解析条件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40秒：介绍软件覆盖的基本变形与组合变形，强调力学量之间的联系，不把功能范围等同于全面测试。
视觉与内容增强：补充轴力与正应力、弯曲正应力、圆轴扭转切应力等基础关系，区分载荷类型、变形模式与适用条件。
来源：README.md公式库及功能说明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45秒：讲清从模型输入到CPU求解，再到结果观察及解析核验的流程。出现差异时返回检查输入。
视觉与内容增强：明确模型创建、材料截面、约束荷载、求解计算、结果展示、教学解释六阶段，区分软件功能与验证环节。
来源：README.md；用户提供的技术架构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40秒：使用真实截图说明工作区布局，重点展示模型对象与属性面板如何对应；图标字体异常不修饰。
视觉与内容增强：解释左侧模型树、中部视图区、右侧属性面板的职责，以及修改参数后如何形成建模—观察—调整闭环。
来源：live/01-workspace.jpg；qa/live-run-evidence.json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45秒：说明2节点1单元的梁模型如何设置支座与跨中集中荷载；重点检查位置和单位。
视觉与内容增强：列明跨度6m、跨中集中力18kN、两端简支，以及目标输出支反力、剪力和弯矩，给出理论预测。
来源：live/07-load-properties.jpg；qa/live-run-evidence.json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55秒：解释剪力在集中载荷处跃变、弯矩在跨中达到最大幅值，并强调软件的负号约定。
视觉与内容增强：结合真实结果说明剪力在跨中跳变、弯矩在跨中达到最大幅值27kN·m；软件显示负27，须解释符号约定。
来源：live/06-shear.jpg；live/03-beam-moment.jpg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65秒：逐项核验9、9、27三个幅值。解释截图的-27符号、端弯矩0与跨中极值不同。
视觉与内容增强：以左右反力各9kN、最大弯矩幅值27kN·m进行对照；严格区分解析期望、实际读数和误差判断。
来源：live/03-beam-moment.jpg；live/05-element-results.jpg；qa/live-run-evidence.json；RA=RB=P/2；Mmax=PL/4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45秒：演示理论上载荷从左侧1米移至跨中时，反力分配及弯矩峰值的变化。这不是新增实测。
视觉与内容增强：固定18kN荷载，将作用位置设为距左端1、2、3m；解析预测左右反力分别为15/3、12/6、9/9kN，最大弯矩幅值15、24、27kN·m。
来源：解析预测：P=18kN，L=6m，a=1/2/3m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50秒：从实机分步推导返回基本弯曲公式，说明危险截面判断依赖内力分布与截面条件。
视觉与内容增强：通过受力分析、平衡方程、内力求解、结果检查四步串联静力学知识，说明公式助手的学习价值。
来源：live/04-derivation.jpg；README.md公式库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50秒：解释空间刚架如何从平面建模扩展到每节点6自由度，区分单元12×12和整体24自由度。
视觉与内容增强：解释三向平移与三向转动，并以四节点三构件模型说明未施加约束前共有24个节点自由度，避免误解为24个有效自由度。
来源：README.md；空间刚架运行条件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55秒：逐项展示三向受力与支座反力相消。残差和单次耗时只描述当前运行，缺少力矩及应力核验。
视觉与内容增强：展示三向外力8000、-5000、-12000N与相反总反力的对应关系；仅声称三向外力平衡已核验，不推及力矩平衡。
来源：live/11-space-results.jpg；qa/live-run-evidence.json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40秒：讲解前端、Worker求解器和Three.js之间的数据流，明确计算不依靠尚未实现的GPU数值内核。
视觉与内容增强：介绍模型数据、求解模块、可视化界面、公式知识库及Windows/PWA交付形态；WebGPU目前仅检测设备能力。
来源：README.md；用户提供的技术栈和求解能力说明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45秒：把功能描述与真实运行证据分开。强调Tet4和WebGPU的现状，不利用单一算例推断整体可靠性。
视觉与内容增强：区分已实现的梁刚架学习功能、实验中的Tet4模块，以及尚未实现的实体连续应力云图；明确非工程设计认证。
来源：README.md；qa/live-run-evidence.json；技术边界说明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45秒：给同学一条最短复现路径，并用常见输入错误说明如何排查。明确尚未验证安装包部署。
视觉与内容增强：以新建工程、建立6m梁、添加支座、施加18kN集中力、求解并比对反力为完整教学流程，不虚构下载地址。
来源：live/01-workspace.jpg；live/07-load-properties.jpg；二维解析核验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30秒：总结学习闭环，邀请同学通过简单算例复算结果。后续优先补齐参数扫描与空间完整平衡验证。
视觉与内容增强：归纳可视化建模、结果解释、解析对照三项教学价值，并指出进一步完善验证体系和空间分析的方向。
来源：二维解析与实机记录；三维实机记录；证据缺口清单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附录备查，不计入12分钟。答疑时解释公式、单位与符号定义，尤其注意反力方向和弯矩幅值口径。
视觉与内容增强：补充拉压、弯曲、扭转及平衡方程的适用前提、变量含义与典型使用场景，使页面具有独立复习价值。
来源：静力学公式；README.md公式符号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附录备查，不计入12分钟。供同学追溯实机截图、解析预测和技术说明，避免把一次运行扩大解释。
视觉与内容增强：建立已核验结果、解析预测、实验功能、尚未实现功能四级证据分类；再次注明GPU仅检测，不能证明GPU求解。
来源：README.md；outputs/classmate-sharing/assets/live/；qa/live-run-evidence.json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1/object-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1/object-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1/object-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1/object-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1/object-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1/object-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1/object-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2800" dirty="0"/>
          </a:p>
        </p:txBody>
      </p:sp>
      <p:sp>
        <p:nvSpPr>
          <p:cNvPr id="12" name="S0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本地离线的材料力学学习辅助软件</a:t>
            </a:r>
            <a:endParaRPr lang="en-US" sz="1600" dirty="0"/>
          </a:p>
        </p:txBody>
      </p:sp>
      <p:sp>
        <p:nvSpPr>
          <p:cNvPr id="14" name="S01/object-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S0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来源：README.md；用户提供的产品定位</a:t>
            </a:r>
            <a:endParaRPr lang="en-US" sz="800" dirty="0"/>
          </a:p>
        </p:txBody>
      </p:sp>
      <p:sp>
        <p:nvSpPr>
          <p:cNvPr id="16" name="S01/object-9"/>
          <p:cNvSpPr/>
          <p:nvPr/>
        </p:nvSpPr>
        <p:spPr>
          <a:xfrm>
            <a:off x="594360" y="1847088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7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从力学概念</a:t>
            </a:r>
            <a:endParaRPr lang="en-US" sz="3700" dirty="0"/>
          </a:p>
        </p:txBody>
      </p:sp>
      <p:sp>
        <p:nvSpPr>
          <p:cNvPr id="17" name="S01/object-10"/>
          <p:cNvSpPr/>
          <p:nvPr/>
        </p:nvSpPr>
        <p:spPr>
          <a:xfrm>
            <a:off x="594360" y="2615184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到可验证计算</a:t>
            </a:r>
            <a:endParaRPr lang="en-US" sz="4000" dirty="0"/>
          </a:p>
        </p:txBody>
      </p:sp>
      <p:sp>
        <p:nvSpPr>
          <p:cNvPr id="18" name="S01/object-11"/>
          <p:cNvSpPr/>
          <p:nvPr/>
        </p:nvSpPr>
        <p:spPr>
          <a:xfrm>
            <a:off x="630936" y="354787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本地离线材料力学学习软件</a:t>
            </a:r>
            <a:endParaRPr lang="en-US" sz="2400" dirty="0"/>
          </a:p>
        </p:txBody>
      </p:sp>
      <p:sp>
        <p:nvSpPr>
          <p:cNvPr id="19" name="S01/object-12"/>
          <p:cNvSpPr/>
          <p:nvPr/>
        </p:nvSpPr>
        <p:spPr>
          <a:xfrm>
            <a:off x="658368" y="4242816"/>
            <a:ext cx="210312" cy="0"/>
          </a:xfrm>
          <a:prstGeom prst="line">
            <a:avLst/>
          </a:prstGeom>
          <a:noFill/>
          <a:ln w="25400">
            <a:solidFill>
              <a:srgbClr val="D98236"/>
            </a:solidFill>
            <a:prstDash val="solid"/>
          </a:ln>
        </p:spPr>
      </p:sp>
      <p:sp>
        <p:nvSpPr>
          <p:cNvPr id="20" name="S01/object-13"/>
          <p:cNvSpPr/>
          <p:nvPr/>
        </p:nvSpPr>
        <p:spPr>
          <a:xfrm>
            <a:off x="1005840" y="4114800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模型：节点 / 材料 / 截面</a:t>
            </a:r>
            <a:endParaRPr lang="en-US" sz="1800" dirty="0"/>
          </a:p>
        </p:txBody>
      </p:sp>
      <p:sp>
        <p:nvSpPr>
          <p:cNvPr id="21" name="S01/object-14"/>
          <p:cNvSpPr/>
          <p:nvPr/>
        </p:nvSpPr>
        <p:spPr>
          <a:xfrm>
            <a:off x="658368" y="4636008"/>
            <a:ext cx="210312" cy="0"/>
          </a:xfrm>
          <a:prstGeom prst="line">
            <a:avLst/>
          </a:prstGeom>
          <a:noFill/>
          <a:ln w="25400">
            <a:solidFill>
              <a:srgbClr val="D98236"/>
            </a:solidFill>
            <a:prstDash val="solid"/>
          </a:ln>
        </p:spPr>
      </p:sp>
      <p:sp>
        <p:nvSpPr>
          <p:cNvPr id="22" name="S01/object-15"/>
          <p:cNvSpPr/>
          <p:nvPr/>
        </p:nvSpPr>
        <p:spPr>
          <a:xfrm>
            <a:off x="1005840" y="4507992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响应：内力 / 变形 / 反力</a:t>
            </a:r>
            <a:endParaRPr lang="en-US" sz="1800" dirty="0"/>
          </a:p>
        </p:txBody>
      </p:sp>
      <p:sp>
        <p:nvSpPr>
          <p:cNvPr id="23" name="S01/object-16"/>
          <p:cNvSpPr/>
          <p:nvPr/>
        </p:nvSpPr>
        <p:spPr>
          <a:xfrm>
            <a:off x="658368" y="5029200"/>
            <a:ext cx="210312" cy="0"/>
          </a:xfrm>
          <a:prstGeom prst="line">
            <a:avLst/>
          </a:prstGeom>
          <a:noFill/>
          <a:ln w="25400">
            <a:solidFill>
              <a:srgbClr val="D98236"/>
            </a:solidFill>
            <a:prstDash val="solid"/>
          </a:ln>
        </p:spPr>
      </p:sp>
      <p:sp>
        <p:nvSpPr>
          <p:cNvPr id="24" name="S01/object-17"/>
          <p:cNvSpPr/>
          <p:nvPr/>
        </p:nvSpPr>
        <p:spPr>
          <a:xfrm>
            <a:off x="1005840" y="4901184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解释：公式 / 推导 / 核验</a:t>
            </a:r>
            <a:endParaRPr lang="en-US" sz="1800" dirty="0"/>
          </a:p>
        </p:txBody>
      </p:sp>
      <p:sp>
        <p:nvSpPr>
          <p:cNvPr id="25" name="S01/object-18"/>
          <p:cNvSpPr/>
          <p:nvPr/>
        </p:nvSpPr>
        <p:spPr>
          <a:xfrm>
            <a:off x="7040880" y="1810512"/>
            <a:ext cx="4407408" cy="3456432"/>
          </a:xfrm>
          <a:prstGeom prst="roundRect">
            <a:avLst>
              <a:gd name="adj" fmla="val 4233"/>
            </a:avLst>
          </a:prstGeom>
          <a:solidFill>
            <a:srgbClr val="E4F0FA"/>
          </a:solidFill>
          <a:ln w="10160">
            <a:solidFill>
              <a:srgbClr val="E4F0FA"/>
            </a:solidFill>
            <a:prstDash val="solid"/>
          </a:ln>
        </p:spPr>
      </p:sp>
      <p:sp>
        <p:nvSpPr>
          <p:cNvPr id="26" name="S01/object-19"/>
          <p:cNvSpPr/>
          <p:nvPr/>
        </p:nvSpPr>
        <p:spPr>
          <a:xfrm>
            <a:off x="7292340" y="2199132"/>
            <a:ext cx="3886200" cy="2194560"/>
          </a:xfrm>
          <a:prstGeom prst="rect">
            <a:avLst>
              <a:gd name="adj" fmla="val 6667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27" name="S01/cover-workspa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5360" y="2221992"/>
            <a:ext cx="3820160" cy="2148840"/>
          </a:xfrm>
          <a:prstGeom prst="rect">
            <a:avLst/>
          </a:prstGeom>
        </p:spPr>
      </p:pic>
      <p:sp>
        <p:nvSpPr>
          <p:cNvPr id="28" name="S01/object-20"/>
          <p:cNvSpPr/>
          <p:nvPr/>
        </p:nvSpPr>
        <p:spPr>
          <a:xfrm>
            <a:off x="7315200" y="4645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真实工作区 · 二维 / 空间杆系</a:t>
            </a:r>
            <a:endParaRPr lang="en-US" sz="1600" dirty="0"/>
          </a:p>
        </p:txBody>
      </p:sp>
      <p:sp>
        <p:nvSpPr>
          <p:cNvPr id="29" name="S01/object-21"/>
          <p:cNvSpPr/>
          <p:nvPr/>
        </p:nvSpPr>
        <p:spPr>
          <a:xfrm>
            <a:off x="64008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0" name="S01/object-22"/>
          <p:cNvSpPr/>
          <p:nvPr/>
        </p:nvSpPr>
        <p:spPr>
          <a:xfrm>
            <a:off x="74980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</a:t>
            </a:r>
            <a:endParaRPr lang="en-US" sz="1200" dirty="0"/>
          </a:p>
        </p:txBody>
      </p:sp>
      <p:sp>
        <p:nvSpPr>
          <p:cNvPr id="31" name="S01/object-23"/>
          <p:cNvSpPr/>
          <p:nvPr/>
        </p:nvSpPr>
        <p:spPr>
          <a:xfrm>
            <a:off x="256032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2" name="S01/object-24"/>
          <p:cNvSpPr/>
          <p:nvPr/>
        </p:nvSpPr>
        <p:spPr>
          <a:xfrm>
            <a:off x="267004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v2.0.2</a:t>
            </a:r>
            <a:endParaRPr lang="en-US" sz="1200" dirty="0"/>
          </a:p>
        </p:txBody>
      </p:sp>
      <p:sp>
        <p:nvSpPr>
          <p:cNvPr id="33" name="S01/object-25"/>
          <p:cNvSpPr/>
          <p:nvPr/>
        </p:nvSpPr>
        <p:spPr>
          <a:xfrm>
            <a:off x="448056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4" name="S01/object-26"/>
          <p:cNvSpPr/>
          <p:nvPr/>
        </p:nvSpPr>
        <p:spPr>
          <a:xfrm>
            <a:off x="459028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同学分享</a:t>
            </a:r>
            <a:endParaRPr lang="en-US" sz="1200" dirty="0"/>
          </a:p>
        </p:txBody>
      </p:sp>
      <p:sp>
        <p:nvSpPr>
          <p:cNvPr id="35" name="S01/object-27"/>
          <p:cNvSpPr/>
          <p:nvPr/>
        </p:nvSpPr>
        <p:spPr>
          <a:xfrm>
            <a:off x="9006840" y="6016752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概念飘带仅作装饰</a:t>
            </a:r>
            <a:endParaRPr lang="en-US" sz="900" dirty="0"/>
          </a:p>
        </p:txBody>
      </p:sp>
      <p:pic>
        <p:nvPicPr>
          <p:cNvPr id="36" name="S01/web-rich-10" descr="single-element asset; sha256=5e1964e58ec7623075b85b16b802c7f91f796e46c8bda04914050eaf19c654e9; source=D:\MACHANICS-OF-MATERIALS-main\outputs\research-ppt-rich\asset-jobs\R10\LMB-A10-original.png" title="ornament: web-rich-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5074920"/>
            <a:ext cx="246888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2/object-2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2/object-2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2/object-3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2/object-3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2/object-3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2/object-3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2/object-3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为什么需要这样的学习工具？</a:t>
            </a:r>
            <a:endParaRPr lang="en-US" sz="2800" dirty="0"/>
          </a:p>
        </p:txBody>
      </p:sp>
      <p:sp>
        <p:nvSpPr>
          <p:cNvPr id="12" name="S0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课堂难点是把模型、计算与内力图联系起来</a:t>
            </a:r>
            <a:endParaRPr lang="en-US" sz="1600" dirty="0"/>
          </a:p>
        </p:txBody>
      </p:sp>
      <p:sp>
        <p:nvSpPr>
          <p:cNvPr id="14" name="S02/object-3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0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来源：二维简支梁解析条件</a:t>
            </a:r>
            <a:endParaRPr lang="en-US" sz="800" dirty="0"/>
          </a:p>
        </p:txBody>
      </p:sp>
      <p:sp>
        <p:nvSpPr>
          <p:cNvPr id="16" name="S02/object-36"/>
          <p:cNvSpPr/>
          <p:nvPr/>
        </p:nvSpPr>
        <p:spPr>
          <a:xfrm>
            <a:off x="59436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02/object-37"/>
          <p:cNvSpPr/>
          <p:nvPr/>
        </p:nvSpPr>
        <p:spPr>
          <a:xfrm>
            <a:off x="77724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S02/object-38"/>
          <p:cNvSpPr/>
          <p:nvPr/>
        </p:nvSpPr>
        <p:spPr>
          <a:xfrm>
            <a:off x="77724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建模抽象</a:t>
            </a:r>
            <a:endParaRPr lang="en-US" sz="2300" dirty="0"/>
          </a:p>
        </p:txBody>
      </p:sp>
      <p:sp>
        <p:nvSpPr>
          <p:cNvPr id="19" name="S02/object-39"/>
          <p:cNvSpPr/>
          <p:nvPr/>
        </p:nvSpPr>
        <p:spPr>
          <a:xfrm>
            <a:off x="77724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支座究竟约束什么？</a:t>
            </a:r>
            <a:endParaRPr lang="en-US" sz="1900" dirty="0"/>
          </a:p>
        </p:txBody>
      </p:sp>
      <p:sp>
        <p:nvSpPr>
          <p:cNvPr id="20" name="S02/object-40"/>
          <p:cNvSpPr/>
          <p:nvPr/>
        </p:nvSpPr>
        <p:spPr>
          <a:xfrm>
            <a:off x="795528" y="3968496"/>
            <a:ext cx="3017520" cy="0"/>
          </a:xfrm>
          <a:prstGeom prst="line">
            <a:avLst/>
          </a:prstGeom>
          <a:noFill/>
          <a:ln w="12700">
            <a:solidFill>
              <a:srgbClr val="C8DFF1"/>
            </a:solidFill>
            <a:prstDash val="solid"/>
          </a:ln>
        </p:spPr>
      </p:sp>
      <p:sp>
        <p:nvSpPr>
          <p:cNvPr id="21" name="S02/object-41"/>
          <p:cNvSpPr/>
          <p:nvPr/>
        </p:nvSpPr>
        <p:spPr>
          <a:xfrm>
            <a:off x="77724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 / 单元 / 自由度</a:t>
            </a:r>
            <a:endParaRPr lang="en-US" sz="1700" dirty="0"/>
          </a:p>
        </p:txBody>
      </p:sp>
      <p:sp>
        <p:nvSpPr>
          <p:cNvPr id="22" name="S02/object-42"/>
          <p:cNvSpPr/>
          <p:nvPr/>
        </p:nvSpPr>
        <p:spPr>
          <a:xfrm>
            <a:off x="77724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先画条件，再建立模型</a:t>
            </a:r>
            <a:endParaRPr lang="en-US" sz="1800" dirty="0"/>
          </a:p>
        </p:txBody>
      </p:sp>
      <p:sp>
        <p:nvSpPr>
          <p:cNvPr id="23" name="S02/object-43"/>
          <p:cNvSpPr/>
          <p:nvPr/>
        </p:nvSpPr>
        <p:spPr>
          <a:xfrm>
            <a:off x="438912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5F3F2"/>
          </a:solidFill>
          <a:ln w="10160">
            <a:solidFill>
              <a:srgbClr val="E5F3F2"/>
            </a:solidFill>
            <a:prstDash val="solid"/>
          </a:ln>
        </p:spPr>
      </p:sp>
      <p:sp>
        <p:nvSpPr>
          <p:cNvPr id="24" name="S02/object-44"/>
          <p:cNvSpPr/>
          <p:nvPr/>
        </p:nvSpPr>
        <p:spPr>
          <a:xfrm>
            <a:off x="457200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000" dirty="0"/>
          </a:p>
        </p:txBody>
      </p:sp>
      <p:sp>
        <p:nvSpPr>
          <p:cNvPr id="25" name="S02/object-45"/>
          <p:cNvSpPr/>
          <p:nvPr/>
        </p:nvSpPr>
        <p:spPr>
          <a:xfrm>
            <a:off x="457200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符号难读</a:t>
            </a:r>
            <a:endParaRPr lang="en-US" sz="2300" dirty="0"/>
          </a:p>
        </p:txBody>
      </p:sp>
      <p:sp>
        <p:nvSpPr>
          <p:cNvPr id="26" name="S02/object-46"/>
          <p:cNvSpPr/>
          <p:nvPr/>
        </p:nvSpPr>
        <p:spPr>
          <a:xfrm>
            <a:off x="457200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负弯矩是否表示错误？</a:t>
            </a:r>
            <a:endParaRPr lang="en-US" sz="1900" dirty="0"/>
          </a:p>
        </p:txBody>
      </p:sp>
      <p:sp>
        <p:nvSpPr>
          <p:cNvPr id="27" name="S02/object-47"/>
          <p:cNvSpPr/>
          <p:nvPr/>
        </p:nvSpPr>
        <p:spPr>
          <a:xfrm>
            <a:off x="4590288" y="3968496"/>
            <a:ext cx="3017520" cy="0"/>
          </a:xfrm>
          <a:prstGeom prst="line">
            <a:avLst/>
          </a:prstGeom>
          <a:noFill/>
          <a:ln w="12700">
            <a:solidFill>
              <a:srgbClr val="C8DFF1"/>
            </a:solidFill>
            <a:prstDash val="solid"/>
          </a:ln>
        </p:spPr>
      </p:sp>
      <p:sp>
        <p:nvSpPr>
          <p:cNvPr id="28" name="S02/object-48"/>
          <p:cNvSpPr/>
          <p:nvPr/>
        </p:nvSpPr>
        <p:spPr>
          <a:xfrm>
            <a:off x="457200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局部坐标 / 正负约定</a:t>
            </a:r>
            <a:endParaRPr lang="en-US" sz="1700" dirty="0"/>
          </a:p>
        </p:txBody>
      </p:sp>
      <p:sp>
        <p:nvSpPr>
          <p:cNvPr id="29" name="S02/object-49"/>
          <p:cNvSpPr/>
          <p:nvPr/>
        </p:nvSpPr>
        <p:spPr>
          <a:xfrm>
            <a:off x="457200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先辨符号，再比较幅值</a:t>
            </a:r>
            <a:endParaRPr lang="en-US" sz="1800" dirty="0"/>
          </a:p>
        </p:txBody>
      </p:sp>
      <p:sp>
        <p:nvSpPr>
          <p:cNvPr id="30" name="S02/object-50"/>
          <p:cNvSpPr/>
          <p:nvPr/>
        </p:nvSpPr>
        <p:spPr>
          <a:xfrm>
            <a:off x="818388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1" name="S02/object-51"/>
          <p:cNvSpPr/>
          <p:nvPr/>
        </p:nvSpPr>
        <p:spPr>
          <a:xfrm>
            <a:off x="836676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000" dirty="0"/>
          </a:p>
        </p:txBody>
      </p:sp>
      <p:sp>
        <p:nvSpPr>
          <p:cNvPr id="32" name="S02/object-52"/>
          <p:cNvSpPr/>
          <p:nvPr/>
        </p:nvSpPr>
        <p:spPr>
          <a:xfrm>
            <a:off x="836676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可信度判断</a:t>
            </a:r>
            <a:endParaRPr lang="en-US" sz="2300" dirty="0"/>
          </a:p>
        </p:txBody>
      </p:sp>
      <p:sp>
        <p:nvSpPr>
          <p:cNvPr id="33" name="S02/object-53"/>
          <p:cNvSpPr/>
          <p:nvPr/>
        </p:nvSpPr>
        <p:spPr>
          <a:xfrm>
            <a:off x="836676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求解完成就足够吗？</a:t>
            </a:r>
            <a:endParaRPr lang="en-US" sz="1900" dirty="0"/>
          </a:p>
        </p:txBody>
      </p:sp>
      <p:sp>
        <p:nvSpPr>
          <p:cNvPr id="34" name="S02/object-54"/>
          <p:cNvSpPr/>
          <p:nvPr/>
        </p:nvSpPr>
        <p:spPr>
          <a:xfrm>
            <a:off x="8385048" y="3968496"/>
            <a:ext cx="3017520" cy="0"/>
          </a:xfrm>
          <a:prstGeom prst="line">
            <a:avLst/>
          </a:prstGeom>
          <a:noFill/>
          <a:ln w="12700">
            <a:solidFill>
              <a:srgbClr val="C8DFF1"/>
            </a:solidFill>
            <a:prstDash val="solid"/>
          </a:ln>
        </p:spPr>
      </p:sp>
      <p:sp>
        <p:nvSpPr>
          <p:cNvPr id="35" name="S02/object-55"/>
          <p:cNvSpPr/>
          <p:nvPr/>
        </p:nvSpPr>
        <p:spPr>
          <a:xfrm>
            <a:off x="836676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平衡关系 / 解析对照</a:t>
            </a:r>
            <a:endParaRPr lang="en-US" sz="1700" dirty="0"/>
          </a:p>
        </p:txBody>
      </p:sp>
      <p:sp>
        <p:nvSpPr>
          <p:cNvPr id="36" name="S02/object-56"/>
          <p:cNvSpPr/>
          <p:nvPr/>
        </p:nvSpPr>
        <p:spPr>
          <a:xfrm>
            <a:off x="836676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先作预测，再核对结果</a:t>
            </a:r>
            <a:endParaRPr lang="en-US" sz="1800" dirty="0"/>
          </a:p>
        </p:txBody>
      </p:sp>
      <p:sp>
        <p:nvSpPr>
          <p:cNvPr id="37" name="S02/object-57"/>
          <p:cNvSpPr/>
          <p:nvPr/>
        </p:nvSpPr>
        <p:spPr>
          <a:xfrm>
            <a:off x="795528" y="59253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学习闭环：条件 → 模型 → 响应 → 解释 → 回到条件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3/object-5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3/object-5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3/object-6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3/object-6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3/object-6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3/object-6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3/object-6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四类基本变形与统一力学量</a:t>
            </a:r>
            <a:endParaRPr lang="en-US" sz="2800" dirty="0"/>
          </a:p>
        </p:txBody>
      </p:sp>
      <p:sp>
        <p:nvSpPr>
          <p:cNvPr id="12" name="S0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不同变形形式共享内力、材料与截面参数</a:t>
            </a:r>
            <a:endParaRPr lang="en-US" sz="1600" dirty="0"/>
          </a:p>
        </p:txBody>
      </p:sp>
      <p:sp>
        <p:nvSpPr>
          <p:cNvPr id="14" name="S03/object-6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0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来源：README.md公式库及功能说明</a:t>
            </a:r>
            <a:endParaRPr lang="en-US" sz="800" dirty="0"/>
          </a:p>
        </p:txBody>
      </p:sp>
      <p:sp>
        <p:nvSpPr>
          <p:cNvPr id="16" name="S03/object-66"/>
          <p:cNvSpPr/>
          <p:nvPr/>
        </p:nvSpPr>
        <p:spPr>
          <a:xfrm>
            <a:off x="594360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03/object-67"/>
          <p:cNvSpPr/>
          <p:nvPr/>
        </p:nvSpPr>
        <p:spPr>
          <a:xfrm>
            <a:off x="749808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18" name="S03/object-68"/>
          <p:cNvSpPr/>
          <p:nvPr/>
        </p:nvSpPr>
        <p:spPr>
          <a:xfrm>
            <a:off x="1417320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拉伸</a:t>
            </a:r>
            <a:endParaRPr lang="en-US" sz="2400" dirty="0"/>
          </a:p>
        </p:txBody>
      </p:sp>
      <p:sp>
        <p:nvSpPr>
          <p:cNvPr id="19" name="S03/object-69"/>
          <p:cNvSpPr/>
          <p:nvPr/>
        </p:nvSpPr>
        <p:spPr>
          <a:xfrm>
            <a:off x="740664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→ σ → ΔL</a:t>
            </a:r>
            <a:endParaRPr lang="en-US" sz="1800" dirty="0"/>
          </a:p>
        </p:txBody>
      </p:sp>
      <p:sp>
        <p:nvSpPr>
          <p:cNvPr id="20" name="S03/object-70"/>
          <p:cNvSpPr/>
          <p:nvPr/>
        </p:nvSpPr>
        <p:spPr>
          <a:xfrm>
            <a:off x="740664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N / A</a:t>
            </a:r>
            <a:endParaRPr lang="en-US" sz="2100" dirty="0"/>
          </a:p>
        </p:txBody>
      </p:sp>
      <p:sp>
        <p:nvSpPr>
          <p:cNvPr id="21" name="S03/object-71"/>
          <p:cNvSpPr/>
          <p:nvPr/>
        </p:nvSpPr>
        <p:spPr>
          <a:xfrm>
            <a:off x="740664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ΔL = NL / (EA)</a:t>
            </a:r>
            <a:endParaRPr lang="en-US" sz="1700" dirty="0"/>
          </a:p>
        </p:txBody>
      </p:sp>
      <p:sp>
        <p:nvSpPr>
          <p:cNvPr id="22" name="S03/object-72"/>
          <p:cNvSpPr/>
          <p:nvPr/>
        </p:nvSpPr>
        <p:spPr>
          <a:xfrm>
            <a:off x="749808" y="5468112"/>
            <a:ext cx="2286000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23" name="S03/object-73"/>
          <p:cNvSpPr/>
          <p:nvPr/>
        </p:nvSpPr>
        <p:spPr>
          <a:xfrm>
            <a:off x="740664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轴力与长度变化</a:t>
            </a:r>
            <a:endParaRPr lang="en-US" sz="1200" dirty="0"/>
          </a:p>
        </p:txBody>
      </p:sp>
      <p:sp>
        <p:nvSpPr>
          <p:cNvPr id="24" name="S03/object-74"/>
          <p:cNvSpPr/>
          <p:nvPr/>
        </p:nvSpPr>
        <p:spPr>
          <a:xfrm>
            <a:off x="3447288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4F3"/>
          </a:solidFill>
          <a:ln w="10160">
            <a:solidFill>
              <a:srgbClr val="E8F4F3"/>
            </a:solidFill>
            <a:prstDash val="solid"/>
          </a:ln>
        </p:spPr>
      </p:sp>
      <p:sp>
        <p:nvSpPr>
          <p:cNvPr id="25" name="S03/object-75"/>
          <p:cNvSpPr/>
          <p:nvPr/>
        </p:nvSpPr>
        <p:spPr>
          <a:xfrm>
            <a:off x="3602736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26" name="S03/object-76"/>
          <p:cNvSpPr/>
          <p:nvPr/>
        </p:nvSpPr>
        <p:spPr>
          <a:xfrm>
            <a:off x="4270248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</a:t>
            </a:r>
            <a:endParaRPr lang="en-US" sz="2400" dirty="0"/>
          </a:p>
        </p:txBody>
      </p:sp>
      <p:sp>
        <p:nvSpPr>
          <p:cNvPr id="27" name="S03/object-77"/>
          <p:cNvSpPr/>
          <p:nvPr/>
        </p:nvSpPr>
        <p:spPr>
          <a:xfrm>
            <a:off x="3593592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→ σ → ΔL</a:t>
            </a:r>
            <a:endParaRPr lang="en-US" sz="1800" dirty="0"/>
          </a:p>
        </p:txBody>
      </p:sp>
      <p:sp>
        <p:nvSpPr>
          <p:cNvPr id="28" name="S03/object-78"/>
          <p:cNvSpPr/>
          <p:nvPr/>
        </p:nvSpPr>
        <p:spPr>
          <a:xfrm>
            <a:off x="3593592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N / A</a:t>
            </a:r>
            <a:endParaRPr lang="en-US" sz="2100" dirty="0"/>
          </a:p>
        </p:txBody>
      </p:sp>
      <p:sp>
        <p:nvSpPr>
          <p:cNvPr id="29" name="S03/object-79"/>
          <p:cNvSpPr/>
          <p:nvPr/>
        </p:nvSpPr>
        <p:spPr>
          <a:xfrm>
            <a:off x="3593592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压缩取符号约定</a:t>
            </a:r>
            <a:endParaRPr lang="en-US" sz="1700" dirty="0"/>
          </a:p>
        </p:txBody>
      </p:sp>
      <p:sp>
        <p:nvSpPr>
          <p:cNvPr id="30" name="S03/object-80"/>
          <p:cNvSpPr/>
          <p:nvPr/>
        </p:nvSpPr>
        <p:spPr>
          <a:xfrm>
            <a:off x="3602736" y="5468112"/>
            <a:ext cx="2286000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31" name="S03/object-81"/>
          <p:cNvSpPr/>
          <p:nvPr/>
        </p:nvSpPr>
        <p:spPr>
          <a:xfrm>
            <a:off x="3593592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短柱概念，非失稳分析</a:t>
            </a:r>
            <a:endParaRPr lang="en-US" sz="1200" dirty="0"/>
          </a:p>
        </p:txBody>
      </p:sp>
      <p:sp>
        <p:nvSpPr>
          <p:cNvPr id="32" name="S03/object-82"/>
          <p:cNvSpPr/>
          <p:nvPr/>
        </p:nvSpPr>
        <p:spPr>
          <a:xfrm>
            <a:off x="6300216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3" name="S03/object-83"/>
          <p:cNvSpPr/>
          <p:nvPr/>
        </p:nvSpPr>
        <p:spPr>
          <a:xfrm>
            <a:off x="6455664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34" name="S03/object-84"/>
          <p:cNvSpPr/>
          <p:nvPr/>
        </p:nvSpPr>
        <p:spPr>
          <a:xfrm>
            <a:off x="7123176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</a:t>
            </a:r>
            <a:endParaRPr lang="en-US" sz="2400" dirty="0"/>
          </a:p>
        </p:txBody>
      </p:sp>
      <p:sp>
        <p:nvSpPr>
          <p:cNvPr id="35" name="S03/object-85"/>
          <p:cNvSpPr/>
          <p:nvPr/>
        </p:nvSpPr>
        <p:spPr>
          <a:xfrm>
            <a:off x="6446520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 → M → σ、w</a:t>
            </a:r>
            <a:endParaRPr lang="en-US" sz="1800" dirty="0"/>
          </a:p>
        </p:txBody>
      </p:sp>
      <p:sp>
        <p:nvSpPr>
          <p:cNvPr id="36" name="S03/object-86"/>
          <p:cNvSpPr/>
          <p:nvPr/>
        </p:nvSpPr>
        <p:spPr>
          <a:xfrm>
            <a:off x="6446520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σmax = M / W</a:t>
            </a:r>
            <a:endParaRPr lang="en-US" sz="2100" dirty="0"/>
          </a:p>
        </p:txBody>
      </p:sp>
      <p:sp>
        <p:nvSpPr>
          <p:cNvPr id="37" name="S03/object-87"/>
          <p:cNvSpPr/>
          <p:nvPr/>
        </p:nvSpPr>
        <p:spPr>
          <a:xfrm>
            <a:off x="6446520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EI 控制挠度</a:t>
            </a:r>
            <a:endParaRPr lang="en-US" sz="1700" dirty="0"/>
          </a:p>
        </p:txBody>
      </p:sp>
      <p:sp>
        <p:nvSpPr>
          <p:cNvPr id="38" name="S03/object-88"/>
          <p:cNvSpPr/>
          <p:nvPr/>
        </p:nvSpPr>
        <p:spPr>
          <a:xfrm>
            <a:off x="6455664" y="5468112"/>
            <a:ext cx="2286000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39" name="S03/object-89"/>
          <p:cNvSpPr/>
          <p:nvPr/>
        </p:nvSpPr>
        <p:spPr>
          <a:xfrm>
            <a:off x="6446520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关注危险截面位置</a:t>
            </a:r>
            <a:endParaRPr lang="en-US" sz="1200" dirty="0"/>
          </a:p>
        </p:txBody>
      </p:sp>
      <p:sp>
        <p:nvSpPr>
          <p:cNvPr id="40" name="S03/object-90"/>
          <p:cNvSpPr/>
          <p:nvPr/>
        </p:nvSpPr>
        <p:spPr>
          <a:xfrm>
            <a:off x="9153144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4F3"/>
          </a:solidFill>
          <a:ln w="10160">
            <a:solidFill>
              <a:srgbClr val="E8F4F3"/>
            </a:solidFill>
            <a:prstDash val="solid"/>
          </a:ln>
        </p:spPr>
      </p:sp>
      <p:sp>
        <p:nvSpPr>
          <p:cNvPr id="41" name="S03/object-91"/>
          <p:cNvSpPr/>
          <p:nvPr/>
        </p:nvSpPr>
        <p:spPr>
          <a:xfrm>
            <a:off x="9308592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42" name="S03/object-92"/>
          <p:cNvSpPr/>
          <p:nvPr/>
        </p:nvSpPr>
        <p:spPr>
          <a:xfrm>
            <a:off x="9976104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扭转</a:t>
            </a:r>
            <a:endParaRPr lang="en-US" sz="2400" dirty="0"/>
          </a:p>
        </p:txBody>
      </p:sp>
      <p:sp>
        <p:nvSpPr>
          <p:cNvPr id="43" name="S03/object-93"/>
          <p:cNvSpPr/>
          <p:nvPr/>
        </p:nvSpPr>
        <p:spPr>
          <a:xfrm>
            <a:off x="9299448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→ τ → φ</a:t>
            </a:r>
            <a:endParaRPr lang="en-US" sz="1800" dirty="0"/>
          </a:p>
        </p:txBody>
      </p:sp>
      <p:sp>
        <p:nvSpPr>
          <p:cNvPr id="44" name="S03/object-94"/>
          <p:cNvSpPr/>
          <p:nvPr/>
        </p:nvSpPr>
        <p:spPr>
          <a:xfrm>
            <a:off x="9299448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τmax = T / Wt</a:t>
            </a:r>
            <a:endParaRPr lang="en-US" sz="2100" dirty="0"/>
          </a:p>
        </p:txBody>
      </p:sp>
      <p:sp>
        <p:nvSpPr>
          <p:cNvPr id="45" name="S03/object-95"/>
          <p:cNvSpPr/>
          <p:nvPr/>
        </p:nvSpPr>
        <p:spPr>
          <a:xfrm>
            <a:off x="9299448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φ = TL / (GJ)</a:t>
            </a:r>
            <a:endParaRPr lang="en-US" sz="1700" dirty="0"/>
          </a:p>
        </p:txBody>
      </p:sp>
      <p:sp>
        <p:nvSpPr>
          <p:cNvPr id="46" name="S03/object-96"/>
          <p:cNvSpPr/>
          <p:nvPr/>
        </p:nvSpPr>
        <p:spPr>
          <a:xfrm>
            <a:off x="9308592" y="5468112"/>
            <a:ext cx="2286000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47" name="S03/object-97"/>
          <p:cNvSpPr/>
          <p:nvPr/>
        </p:nvSpPr>
        <p:spPr>
          <a:xfrm>
            <a:off x="9299448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均匀圆轴、小变形</a:t>
            </a:r>
            <a:endParaRPr lang="en-US" sz="1200" dirty="0"/>
          </a:p>
        </p:txBody>
      </p:sp>
      <p:pic>
        <p:nvPicPr>
          <p:cNvPr id="48" name="S03/web-rich-01" descr="single-element asset; sha256=dc2af86829bcb3b581c0028ff9aca7a69673be3c6b53b4ac61016c3bf96f22f2; source=D:\MACHANICS-OF-MATERIALS-main\outputs\research-ppt-rich\asset-jobs\R01\LMB-A01-original.png" title="concept: web-rich-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56" y="2560320"/>
            <a:ext cx="1069848" cy="1069848"/>
          </a:xfrm>
          <a:prstGeom prst="rect">
            <a:avLst/>
          </a:prstGeom>
        </p:spPr>
      </p:pic>
      <p:pic>
        <p:nvPicPr>
          <p:cNvPr id="49" name="S03/web-rich-02" descr="single-element asset; sha256=1d89bfc612bfe06d536c62378f5d93c05dd8cb1e858087469ac598fbc565d456; source=D:\MACHANICS-OF-MATERIALS-main\outputs\research-ppt-rich\asset-jobs\R02\LMB-A02-original.png" title="concept: web-rich-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" y="2560320"/>
            <a:ext cx="1069848" cy="1069848"/>
          </a:xfrm>
          <a:prstGeom prst="rect">
            <a:avLst/>
          </a:prstGeom>
        </p:spPr>
      </p:pic>
      <p:pic>
        <p:nvPicPr>
          <p:cNvPr id="50" name="S03/web-rich-03" descr="single-element asset; sha256=a39b3f4935ee4dd51afda4280479e0fd859ccff7159de3b7b9642679d36f4422; source=D:\MACHANICS-OF-MATERIALS-main\outputs\research-ppt-rich\asset-jobs\R03\LMB-A03-original.png" title="concept: web-rich-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2560320"/>
            <a:ext cx="1069848" cy="1069848"/>
          </a:xfrm>
          <a:prstGeom prst="rect">
            <a:avLst/>
          </a:prstGeom>
        </p:spPr>
      </p:pic>
      <p:pic>
        <p:nvPicPr>
          <p:cNvPr id="51" name="S03/web-rich-04" descr="single-element asset; sha256=0ac29514cfe88aea1b3a412ce7dac11041e221e56cf845596f68f1892d294d3c; source=D:\MACHANICS-OF-MATERIALS-main\outputs\research-ppt-rich\asset-jobs\R04\LMB-A04-original.png" title="concept: web-rich-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0" y="2560320"/>
            <a:ext cx="1069848" cy="10698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4/object-9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4/object-9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4/object-10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4/object-10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4/object-10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4/object-10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4/object-10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从建模到核验的完整流程</a:t>
            </a:r>
            <a:endParaRPr lang="en-US" sz="2800" dirty="0"/>
          </a:p>
        </p:txBody>
      </p:sp>
      <p:sp>
        <p:nvSpPr>
          <p:cNvPr id="12" name="S0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输入、求解、展示和解析核对形成学习闭环</a:t>
            </a:r>
            <a:endParaRPr lang="en-US" sz="1600" dirty="0"/>
          </a:p>
        </p:txBody>
      </p:sp>
      <p:sp>
        <p:nvSpPr>
          <p:cNvPr id="14" name="S04/object-10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S0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来源：README.md；用户提供的技术架构</a:t>
            </a:r>
            <a:endParaRPr lang="en-US" sz="800" dirty="0"/>
          </a:p>
        </p:txBody>
      </p:sp>
      <p:sp>
        <p:nvSpPr>
          <p:cNvPr id="16" name="S04/object-106"/>
          <p:cNvSpPr/>
          <p:nvPr/>
        </p:nvSpPr>
        <p:spPr>
          <a:xfrm>
            <a:off x="594360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04/object-107"/>
          <p:cNvSpPr/>
          <p:nvPr/>
        </p:nvSpPr>
        <p:spPr>
          <a:xfrm>
            <a:off x="740664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S04/object-108"/>
          <p:cNvSpPr/>
          <p:nvPr/>
        </p:nvSpPr>
        <p:spPr>
          <a:xfrm>
            <a:off x="740664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 / 物理条件</a:t>
            </a:r>
            <a:endParaRPr lang="en-US" sz="1800" dirty="0"/>
          </a:p>
        </p:txBody>
      </p:sp>
      <p:sp>
        <p:nvSpPr>
          <p:cNvPr id="19" name="S04/object-109"/>
          <p:cNvSpPr/>
          <p:nvPr/>
        </p:nvSpPr>
        <p:spPr>
          <a:xfrm>
            <a:off x="704088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单位、几何、受力</a:t>
            </a:r>
            <a:endParaRPr lang="en-US" sz="1200" dirty="0"/>
          </a:p>
        </p:txBody>
      </p:sp>
      <p:sp>
        <p:nvSpPr>
          <p:cNvPr id="20" name="S04/object-110"/>
          <p:cNvSpPr/>
          <p:nvPr/>
        </p:nvSpPr>
        <p:spPr>
          <a:xfrm>
            <a:off x="2587752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21" name="S04/object-111"/>
          <p:cNvSpPr/>
          <p:nvPr/>
        </p:nvSpPr>
        <p:spPr>
          <a:xfrm>
            <a:off x="2843784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2" name="S04/object-112"/>
          <p:cNvSpPr/>
          <p:nvPr/>
        </p:nvSpPr>
        <p:spPr>
          <a:xfrm>
            <a:off x="2990088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S04/object-113"/>
          <p:cNvSpPr/>
          <p:nvPr/>
        </p:nvSpPr>
        <p:spPr>
          <a:xfrm>
            <a:off x="2990088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离散结构模型</a:t>
            </a:r>
            <a:endParaRPr lang="en-US" sz="1800" dirty="0"/>
          </a:p>
        </p:txBody>
      </p:sp>
      <p:sp>
        <p:nvSpPr>
          <p:cNvPr id="24" name="S04/object-114"/>
          <p:cNvSpPr/>
          <p:nvPr/>
        </p:nvSpPr>
        <p:spPr>
          <a:xfrm>
            <a:off x="2953512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节点、构件、材料</a:t>
            </a:r>
            <a:endParaRPr lang="en-US" sz="1200" dirty="0"/>
          </a:p>
        </p:txBody>
      </p:sp>
      <p:sp>
        <p:nvSpPr>
          <p:cNvPr id="25" name="S04/object-115"/>
          <p:cNvSpPr/>
          <p:nvPr/>
        </p:nvSpPr>
        <p:spPr>
          <a:xfrm>
            <a:off x="4837176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26" name="S04/object-116"/>
          <p:cNvSpPr/>
          <p:nvPr/>
        </p:nvSpPr>
        <p:spPr>
          <a:xfrm>
            <a:off x="5093208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7" name="S04/object-117"/>
          <p:cNvSpPr/>
          <p:nvPr/>
        </p:nvSpPr>
        <p:spPr>
          <a:xfrm>
            <a:off x="5239512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S04/object-118"/>
          <p:cNvSpPr/>
          <p:nvPr/>
        </p:nvSpPr>
        <p:spPr>
          <a:xfrm>
            <a:off x="5239512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约束与荷载</a:t>
            </a:r>
            <a:endParaRPr lang="en-US" sz="1800" dirty="0"/>
          </a:p>
        </p:txBody>
      </p:sp>
      <p:sp>
        <p:nvSpPr>
          <p:cNvPr id="29" name="S04/object-119"/>
          <p:cNvSpPr/>
          <p:nvPr/>
        </p:nvSpPr>
        <p:spPr>
          <a:xfrm>
            <a:off x="5202936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自由度、等效作用</a:t>
            </a:r>
            <a:endParaRPr lang="en-US" sz="1200" dirty="0"/>
          </a:p>
        </p:txBody>
      </p:sp>
      <p:sp>
        <p:nvSpPr>
          <p:cNvPr id="30" name="S04/object-120"/>
          <p:cNvSpPr/>
          <p:nvPr/>
        </p:nvSpPr>
        <p:spPr>
          <a:xfrm>
            <a:off x="7086600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31" name="S04/object-121"/>
          <p:cNvSpPr/>
          <p:nvPr/>
        </p:nvSpPr>
        <p:spPr>
          <a:xfrm>
            <a:off x="7342632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2" name="S04/object-122"/>
          <p:cNvSpPr/>
          <p:nvPr/>
        </p:nvSpPr>
        <p:spPr>
          <a:xfrm>
            <a:off x="7488936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S04/object-123"/>
          <p:cNvSpPr/>
          <p:nvPr/>
        </p:nvSpPr>
        <p:spPr>
          <a:xfrm>
            <a:off x="7488936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局部到整体</a:t>
            </a:r>
            <a:endParaRPr lang="en-US" sz="1800" dirty="0"/>
          </a:p>
        </p:txBody>
      </p:sp>
      <p:sp>
        <p:nvSpPr>
          <p:cNvPr id="34" name="S04/object-124"/>
          <p:cNvSpPr/>
          <p:nvPr/>
        </p:nvSpPr>
        <p:spPr>
          <a:xfrm>
            <a:off x="7452360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单元刚度、坐标变换</a:t>
            </a:r>
            <a:endParaRPr lang="en-US" sz="1200" dirty="0"/>
          </a:p>
        </p:txBody>
      </p:sp>
      <p:sp>
        <p:nvSpPr>
          <p:cNvPr id="35" name="S04/object-125"/>
          <p:cNvSpPr/>
          <p:nvPr/>
        </p:nvSpPr>
        <p:spPr>
          <a:xfrm>
            <a:off x="9336024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36" name="S04/object-126"/>
          <p:cNvSpPr/>
          <p:nvPr/>
        </p:nvSpPr>
        <p:spPr>
          <a:xfrm>
            <a:off x="9592056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D9EFF1"/>
          </a:solidFill>
          <a:ln w="10160">
            <a:solidFill>
              <a:srgbClr val="D9EFF1"/>
            </a:solidFill>
            <a:prstDash val="solid"/>
          </a:ln>
        </p:spPr>
      </p:sp>
      <p:sp>
        <p:nvSpPr>
          <p:cNvPr id="37" name="S04/object-127"/>
          <p:cNvSpPr/>
          <p:nvPr/>
        </p:nvSpPr>
        <p:spPr>
          <a:xfrm>
            <a:off x="9738360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38" name="S04/object-128"/>
          <p:cNvSpPr/>
          <p:nvPr/>
        </p:nvSpPr>
        <p:spPr>
          <a:xfrm>
            <a:off x="9738360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</a:t>
            </a:r>
            <a:endParaRPr lang="en-US" sz="1800" dirty="0"/>
          </a:p>
        </p:txBody>
      </p:sp>
      <p:sp>
        <p:nvSpPr>
          <p:cNvPr id="39" name="S04/object-129"/>
          <p:cNvSpPr/>
          <p:nvPr/>
        </p:nvSpPr>
        <p:spPr>
          <a:xfrm>
            <a:off x="9701784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位移、反力、端力</a:t>
            </a:r>
            <a:endParaRPr lang="en-US" sz="1200" dirty="0"/>
          </a:p>
        </p:txBody>
      </p:sp>
      <p:sp>
        <p:nvSpPr>
          <p:cNvPr id="40" name="S04/object-130"/>
          <p:cNvSpPr/>
          <p:nvPr/>
        </p:nvSpPr>
        <p:spPr>
          <a:xfrm>
            <a:off x="10561320" y="3218688"/>
            <a:ext cx="0" cy="530352"/>
          </a:xfrm>
          <a:prstGeom prst="line">
            <a:avLst/>
          </a:prstGeom>
          <a:noFill/>
          <a:ln w="2032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41" name="S04/object-131"/>
          <p:cNvSpPr/>
          <p:nvPr/>
        </p:nvSpPr>
        <p:spPr>
          <a:xfrm>
            <a:off x="6537960" y="3794760"/>
            <a:ext cx="5074920" cy="1051560"/>
          </a:xfrm>
          <a:prstGeom prst="roundRect">
            <a:avLst>
              <a:gd name="adj" fmla="val 13913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42" name="S04/object-132"/>
          <p:cNvSpPr/>
          <p:nvPr/>
        </p:nvSpPr>
        <p:spPr>
          <a:xfrm>
            <a:off x="6766560" y="3977640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结果解释与可视化</a:t>
            </a:r>
            <a:endParaRPr lang="en-US" sz="2200" dirty="0"/>
          </a:p>
        </p:txBody>
      </p:sp>
      <p:sp>
        <p:nvSpPr>
          <p:cNvPr id="43" name="S04/object-133"/>
          <p:cNvSpPr/>
          <p:nvPr/>
        </p:nvSpPr>
        <p:spPr>
          <a:xfrm>
            <a:off x="6766560" y="447141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/ V / M、变形、结果表与教学推导</a:t>
            </a:r>
            <a:endParaRPr lang="en-US" sz="1500" dirty="0"/>
          </a:p>
        </p:txBody>
      </p:sp>
      <p:sp>
        <p:nvSpPr>
          <p:cNvPr id="44" name="S04/object-134"/>
          <p:cNvSpPr/>
          <p:nvPr/>
        </p:nvSpPr>
        <p:spPr>
          <a:xfrm>
            <a:off x="594360" y="3794760"/>
            <a:ext cx="5349240" cy="1051560"/>
          </a:xfrm>
          <a:prstGeom prst="roundRect">
            <a:avLst>
              <a:gd name="adj" fmla="val 13913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45" name="S04/object-135"/>
          <p:cNvSpPr/>
          <p:nvPr/>
        </p:nvSpPr>
        <p:spPr>
          <a:xfrm>
            <a:off x="804672" y="4014216"/>
            <a:ext cx="4937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独立校核：平衡关系 + 解析解 + 参数实验</a:t>
            </a:r>
            <a:endParaRPr lang="en-US" sz="2000" dirty="0"/>
          </a:p>
        </p:txBody>
      </p:sp>
      <p:sp>
        <p:nvSpPr>
          <p:cNvPr id="46" name="S04/object-136"/>
          <p:cNvSpPr/>
          <p:nvPr/>
        </p:nvSpPr>
        <p:spPr>
          <a:xfrm flipH="1">
            <a:off x="5961888" y="4315968"/>
            <a:ext cx="548640" cy="0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47" name="S04/object-137"/>
          <p:cNvSpPr/>
          <p:nvPr/>
        </p:nvSpPr>
        <p:spPr>
          <a:xfrm flipV="1">
            <a:off x="3246120" y="3246120"/>
            <a:ext cx="0" cy="521208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48" name="S04/object-138"/>
          <p:cNvSpPr/>
          <p:nvPr/>
        </p:nvSpPr>
        <p:spPr>
          <a:xfrm>
            <a:off x="685800" y="5285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输入校核</a:t>
            </a:r>
            <a:endParaRPr lang="en-US" sz="1800" dirty="0"/>
          </a:p>
        </p:txBody>
      </p:sp>
      <p:sp>
        <p:nvSpPr>
          <p:cNvPr id="49" name="S04/object-139"/>
          <p:cNvSpPr/>
          <p:nvPr/>
        </p:nvSpPr>
        <p:spPr>
          <a:xfrm>
            <a:off x="2560320" y="523036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约束是否足够 / 单位是否一致 / 荷载方向是否正确</a:t>
            </a:r>
            <a:endParaRPr lang="en-US" sz="1900" dirty="0"/>
          </a:p>
        </p:txBody>
      </p:sp>
      <p:sp>
        <p:nvSpPr>
          <p:cNvPr id="50" name="S04/object-140"/>
          <p:cNvSpPr/>
          <p:nvPr/>
        </p:nvSpPr>
        <p:spPr>
          <a:xfrm>
            <a:off x="685800" y="5824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闭环原则</a:t>
            </a:r>
            <a:endParaRPr lang="en-US" sz="1800" dirty="0"/>
          </a:p>
        </p:txBody>
      </p:sp>
      <p:sp>
        <p:nvSpPr>
          <p:cNvPr id="51" name="S04/object-141"/>
          <p:cNvSpPr/>
          <p:nvPr/>
        </p:nvSpPr>
        <p:spPr>
          <a:xfrm>
            <a:off x="2560320" y="576072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不只确认“求解完成”，还要解释结果是否符合物理预期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5/object-14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5/object-14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5/object-14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5/object-14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5/object-14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5/object-147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5/object-148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真实工作区如何组织？</a:t>
            </a:r>
            <a:endParaRPr lang="en-US" sz="2800" dirty="0"/>
          </a:p>
        </p:txBody>
      </p:sp>
      <p:sp>
        <p:nvSpPr>
          <p:cNvPr id="12" name="S0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左模型树、中视图区、右属性面板协同操作</a:t>
            </a:r>
            <a:endParaRPr lang="en-US" sz="1600" dirty="0"/>
          </a:p>
        </p:txBody>
      </p:sp>
      <p:sp>
        <p:nvSpPr>
          <p:cNvPr id="14" name="S05/object-14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15" name="S0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来源：live/01-workspace.jpg；qa/live-run-evidence.json</a:t>
            </a:r>
            <a:endParaRPr lang="en-US" sz="800" dirty="0"/>
          </a:p>
        </p:txBody>
      </p:sp>
      <p:sp>
        <p:nvSpPr>
          <p:cNvPr id="16" name="S05/object-150"/>
          <p:cNvSpPr/>
          <p:nvPr/>
        </p:nvSpPr>
        <p:spPr>
          <a:xfrm>
            <a:off x="640080" y="159105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典型交互：选中对象 → 修改属性 → 观察视图 → 核对结果</a:t>
            </a:r>
            <a:endParaRPr lang="en-US" sz="1300" dirty="0"/>
          </a:p>
        </p:txBody>
      </p:sp>
      <p:sp>
        <p:nvSpPr>
          <p:cNvPr id="17" name="S05/object-151"/>
          <p:cNvSpPr/>
          <p:nvPr/>
        </p:nvSpPr>
        <p:spPr>
          <a:xfrm>
            <a:off x="571500" y="1760220"/>
            <a:ext cx="8458200" cy="4617720"/>
          </a:xfrm>
          <a:prstGeom prst="rect">
            <a:avLst>
              <a:gd name="adj" fmla="val 316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8" name="S05/workspace-eviden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00" y="1783080"/>
            <a:ext cx="8128000" cy="4572000"/>
          </a:xfrm>
          <a:prstGeom prst="rect">
            <a:avLst/>
          </a:prstGeom>
        </p:spPr>
      </p:pic>
      <p:sp>
        <p:nvSpPr>
          <p:cNvPr id="19" name="S05/object-152"/>
          <p:cNvSpPr/>
          <p:nvPr/>
        </p:nvSpPr>
        <p:spPr>
          <a:xfrm>
            <a:off x="9217152" y="196596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0" name="S05/object-153"/>
          <p:cNvSpPr/>
          <p:nvPr/>
        </p:nvSpPr>
        <p:spPr>
          <a:xfrm>
            <a:off x="9217152" y="20162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05/object-154"/>
          <p:cNvSpPr/>
          <p:nvPr/>
        </p:nvSpPr>
        <p:spPr>
          <a:xfrm>
            <a:off x="9656064" y="195224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模型树</a:t>
            </a:r>
            <a:endParaRPr lang="en-US" sz="2100" dirty="0"/>
          </a:p>
        </p:txBody>
      </p:sp>
      <p:sp>
        <p:nvSpPr>
          <p:cNvPr id="22" name="S05/object-155"/>
          <p:cNvSpPr/>
          <p:nvPr/>
        </p:nvSpPr>
        <p:spPr>
          <a:xfrm>
            <a:off x="9262872" y="249631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节点、构件与条件</a:t>
            </a:r>
            <a:endParaRPr lang="en-US" sz="1700" dirty="0"/>
          </a:p>
        </p:txBody>
      </p:sp>
      <p:sp>
        <p:nvSpPr>
          <p:cNvPr id="23" name="S05/object-156"/>
          <p:cNvSpPr/>
          <p:nvPr/>
        </p:nvSpPr>
        <p:spPr>
          <a:xfrm>
            <a:off x="9217152" y="32004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4" name="S05/object-157"/>
          <p:cNvSpPr/>
          <p:nvPr/>
        </p:nvSpPr>
        <p:spPr>
          <a:xfrm>
            <a:off x="9217152" y="32506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S05/object-158"/>
          <p:cNvSpPr/>
          <p:nvPr/>
        </p:nvSpPr>
        <p:spPr>
          <a:xfrm>
            <a:off x="9656064" y="318668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工作视图</a:t>
            </a:r>
            <a:endParaRPr lang="en-US" sz="2100" dirty="0"/>
          </a:p>
        </p:txBody>
      </p:sp>
      <p:sp>
        <p:nvSpPr>
          <p:cNvPr id="26" name="S05/object-159"/>
          <p:cNvSpPr/>
          <p:nvPr/>
        </p:nvSpPr>
        <p:spPr>
          <a:xfrm>
            <a:off x="9262872" y="37307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几何、荷载与结果</a:t>
            </a:r>
            <a:endParaRPr lang="en-US" sz="1700" dirty="0"/>
          </a:p>
        </p:txBody>
      </p:sp>
      <p:sp>
        <p:nvSpPr>
          <p:cNvPr id="27" name="S05/object-160"/>
          <p:cNvSpPr/>
          <p:nvPr/>
        </p:nvSpPr>
        <p:spPr>
          <a:xfrm>
            <a:off x="9217152" y="443484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8" name="S05/object-161"/>
          <p:cNvSpPr/>
          <p:nvPr/>
        </p:nvSpPr>
        <p:spPr>
          <a:xfrm>
            <a:off x="9217152" y="44851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S05/object-162"/>
          <p:cNvSpPr/>
          <p:nvPr/>
        </p:nvSpPr>
        <p:spPr>
          <a:xfrm>
            <a:off x="9656064" y="442112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属性栏</a:t>
            </a:r>
            <a:endParaRPr lang="en-US" sz="2100" dirty="0"/>
          </a:p>
        </p:txBody>
      </p:sp>
      <p:sp>
        <p:nvSpPr>
          <p:cNvPr id="30" name="S05/object-163"/>
          <p:cNvSpPr/>
          <p:nvPr/>
        </p:nvSpPr>
        <p:spPr>
          <a:xfrm>
            <a:off x="9262872" y="496519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选中对象后检查参数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6/object-16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6/object-16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6/object-16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6/object-16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6/object-16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6/object-16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6/object-17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6m简支梁的建模与荷载</a:t>
            </a:r>
            <a:endParaRPr lang="en-US" sz="2800" dirty="0"/>
          </a:p>
        </p:txBody>
      </p:sp>
      <p:sp>
        <p:nvSpPr>
          <p:cNvPr id="12" name="S0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两节点一单元也能描述跨中集中力</a:t>
            </a:r>
            <a:endParaRPr lang="en-US" sz="1600" dirty="0"/>
          </a:p>
        </p:txBody>
      </p:sp>
      <p:sp>
        <p:nvSpPr>
          <p:cNvPr id="14" name="S06/object-17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15" name="S0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来源：live/07-load-properties.jpg；qa/live-run-evidence.json</a:t>
            </a:r>
            <a:endParaRPr lang="en-US" sz="800" dirty="0"/>
          </a:p>
        </p:txBody>
      </p:sp>
      <p:sp>
        <p:nvSpPr>
          <p:cNvPr id="16" name="S06/object-172"/>
          <p:cNvSpPr/>
          <p:nvPr/>
        </p:nvSpPr>
        <p:spPr>
          <a:xfrm>
            <a:off x="594360" y="1828800"/>
            <a:ext cx="6492240" cy="4251960"/>
          </a:xfrm>
          <a:prstGeom prst="roundRect">
            <a:avLst>
              <a:gd name="adj" fmla="val 344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06/object-173"/>
          <p:cNvSpPr/>
          <p:nvPr/>
        </p:nvSpPr>
        <p:spPr>
          <a:xfrm>
            <a:off x="1097280" y="3246120"/>
            <a:ext cx="5440680" cy="0"/>
          </a:xfrm>
          <a:prstGeom prst="line">
            <a:avLst/>
          </a:prstGeom>
          <a:noFill/>
          <a:ln w="63500">
            <a:solidFill>
              <a:srgbClr val="123E62"/>
            </a:solidFill>
            <a:prstDash val="solid"/>
          </a:ln>
        </p:spPr>
      </p:sp>
      <p:sp>
        <p:nvSpPr>
          <p:cNvPr id="18" name="S06/support-0-173"/>
          <p:cNvSpPr/>
          <p:nvPr/>
        </p:nvSpPr>
        <p:spPr>
          <a:xfrm>
            <a:off x="950976" y="329184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19" name="S06/object-175"/>
          <p:cNvSpPr/>
          <p:nvPr/>
        </p:nvSpPr>
        <p:spPr>
          <a:xfrm>
            <a:off x="868680" y="359359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0" name="S06/support-1-175"/>
          <p:cNvSpPr/>
          <p:nvPr/>
        </p:nvSpPr>
        <p:spPr>
          <a:xfrm>
            <a:off x="6391656" y="329184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21" name="S06/object-177"/>
          <p:cNvSpPr/>
          <p:nvPr/>
        </p:nvSpPr>
        <p:spPr>
          <a:xfrm>
            <a:off x="6309360" y="359359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2" name="S06/object-178"/>
          <p:cNvSpPr/>
          <p:nvPr/>
        </p:nvSpPr>
        <p:spPr>
          <a:xfrm>
            <a:off x="3817620" y="2560320"/>
            <a:ext cx="0" cy="630936"/>
          </a:xfrm>
          <a:prstGeom prst="line">
            <a:avLst/>
          </a:prstGeom>
          <a:noFill/>
          <a:ln w="31750">
            <a:solidFill>
              <a:srgbClr val="D98236"/>
            </a:solidFill>
            <a:prstDash val="solid"/>
            <a:tailEnd type="triangle"/>
          </a:ln>
        </p:spPr>
      </p:sp>
      <p:sp>
        <p:nvSpPr>
          <p:cNvPr id="23" name="S06/object-179"/>
          <p:cNvSpPr/>
          <p:nvPr/>
        </p:nvSpPr>
        <p:spPr>
          <a:xfrm>
            <a:off x="3927348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D982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600" dirty="0"/>
          </a:p>
        </p:txBody>
      </p:sp>
      <p:sp>
        <p:nvSpPr>
          <p:cNvPr id="24" name="S06/object-180"/>
          <p:cNvSpPr/>
          <p:nvPr/>
        </p:nvSpPr>
        <p:spPr>
          <a:xfrm>
            <a:off x="9601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500" dirty="0"/>
          </a:p>
        </p:txBody>
      </p:sp>
      <p:sp>
        <p:nvSpPr>
          <p:cNvPr id="25" name="S06/object-181"/>
          <p:cNvSpPr/>
          <p:nvPr/>
        </p:nvSpPr>
        <p:spPr>
          <a:xfrm>
            <a:off x="64008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500" dirty="0"/>
          </a:p>
        </p:txBody>
      </p:sp>
      <p:sp>
        <p:nvSpPr>
          <p:cNvPr id="26" name="S06/object-182"/>
          <p:cNvSpPr/>
          <p:nvPr/>
        </p:nvSpPr>
        <p:spPr>
          <a:xfrm>
            <a:off x="1097280" y="4105656"/>
            <a:ext cx="544068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7" name="S06/object-183"/>
          <p:cNvSpPr/>
          <p:nvPr/>
        </p:nvSpPr>
        <p:spPr>
          <a:xfrm>
            <a:off x="3268980" y="4178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6 m</a:t>
            </a:r>
            <a:endParaRPr lang="en-US" sz="1600" dirty="0"/>
          </a:p>
        </p:txBody>
      </p:sp>
      <p:sp>
        <p:nvSpPr>
          <p:cNvPr id="28" name="S06/object-184"/>
          <p:cNvSpPr/>
          <p:nvPr/>
        </p:nvSpPr>
        <p:spPr>
          <a:xfrm>
            <a:off x="2267712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 E1：A—B</a:t>
            </a:r>
            <a:endParaRPr lang="en-US" sz="2200" dirty="0"/>
          </a:p>
        </p:txBody>
      </p:sp>
      <p:sp>
        <p:nvSpPr>
          <p:cNvPr id="29" name="S06/object-185"/>
          <p:cNvSpPr/>
          <p:nvPr/>
        </p:nvSpPr>
        <p:spPr>
          <a:xfrm>
            <a:off x="2286000" y="4736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D982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单元内集中力：a = 3 m</a:t>
            </a:r>
            <a:endParaRPr lang="en-US" sz="2000" dirty="0"/>
          </a:p>
        </p:txBody>
      </p:sp>
      <p:sp>
        <p:nvSpPr>
          <p:cNvPr id="30" name="S06/object-186"/>
          <p:cNvSpPr/>
          <p:nvPr/>
        </p:nvSpPr>
        <p:spPr>
          <a:xfrm>
            <a:off x="868680" y="551383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个节点 · 1 个梁单元 · 无需新增跨中节点</a:t>
            </a:r>
            <a:endParaRPr lang="en-US" sz="1700" dirty="0"/>
          </a:p>
        </p:txBody>
      </p:sp>
      <p:sp>
        <p:nvSpPr>
          <p:cNvPr id="31" name="S06/object-187"/>
          <p:cNvSpPr/>
          <p:nvPr/>
        </p:nvSpPr>
        <p:spPr>
          <a:xfrm>
            <a:off x="7452360" y="187452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2" name="S06/object-188"/>
          <p:cNvSpPr/>
          <p:nvPr/>
        </p:nvSpPr>
        <p:spPr>
          <a:xfrm>
            <a:off x="7452360" y="192481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33" name="S06/object-189"/>
          <p:cNvSpPr/>
          <p:nvPr/>
        </p:nvSpPr>
        <p:spPr>
          <a:xfrm>
            <a:off x="7891272" y="186080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边界条件与自由度</a:t>
            </a:r>
            <a:endParaRPr lang="en-US" sz="2100" dirty="0"/>
          </a:p>
        </p:txBody>
      </p:sp>
      <p:graphicFrame>
        <p:nvGraphicFramePr>
          <p:cNvPr id="34" name="S06/suppor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2542032"/>
          <a:ext cx="4187952" cy="1719072"/>
        </p:xfrm>
        <a:graphic>
          <a:graphicData uri="http://schemas.openxmlformats.org/drawingml/2006/table">
            <a:tbl>
              <a:tblPr/>
              <a:tblGrid>
                <a:gridCol w="640080"/>
                <a:gridCol w="1691640"/>
                <a:gridCol w="1856232"/>
              </a:tblGrid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受约束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自由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S06/object-190"/>
          <p:cNvSpPr/>
          <p:nvPr/>
        </p:nvSpPr>
        <p:spPr>
          <a:xfrm>
            <a:off x="7383780" y="4466844"/>
            <a:ext cx="2377440" cy="1664208"/>
          </a:xfrm>
          <a:prstGeom prst="rect">
            <a:avLst>
              <a:gd name="adj" fmla="val 8791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36" name="S06/load-properties" descr="真实本地程序截图；来源 load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4022" y="4489704"/>
            <a:ext cx="1956955" cy="1618488"/>
          </a:xfrm>
          <a:prstGeom prst="rect">
            <a:avLst/>
          </a:prstGeom>
        </p:spPr>
      </p:pic>
      <p:sp>
        <p:nvSpPr>
          <p:cNvPr id="37" name="S06/object-191"/>
          <p:cNvSpPr/>
          <p:nvPr/>
        </p:nvSpPr>
        <p:spPr>
          <a:xfrm>
            <a:off x="9976104" y="464515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荷载属性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−1.800×10⁴ N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 3.000 m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7/object-19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7/object-19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7/object-19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7/object-19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7/object-19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7/object-197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7/object-198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剪力与弯矩为什么这样变化？</a:t>
            </a:r>
            <a:endParaRPr lang="en-US" sz="2800" dirty="0"/>
          </a:p>
        </p:txBody>
      </p:sp>
      <p:sp>
        <p:nvSpPr>
          <p:cNvPr id="12" name="S0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集中力引起剪力跃变和跨中弯矩极值</a:t>
            </a:r>
            <a:endParaRPr lang="en-US" sz="1600" dirty="0"/>
          </a:p>
        </p:txBody>
      </p:sp>
      <p:sp>
        <p:nvSpPr>
          <p:cNvPr id="14" name="S07/object-19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15" name="S0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来源：live/06-shear.jpg；live/03-beam-moment.jpg</a:t>
            </a:r>
            <a:endParaRPr lang="en-US" sz="800" dirty="0"/>
          </a:p>
        </p:txBody>
      </p:sp>
      <p:sp>
        <p:nvSpPr>
          <p:cNvPr id="16" name="S07/object-200"/>
          <p:cNvSpPr/>
          <p:nvPr/>
        </p:nvSpPr>
        <p:spPr>
          <a:xfrm>
            <a:off x="640080" y="15727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沿梁读取：A端 → 集中力左侧 → 集中力右侧 → B端；先辨符号，再比较幅值。</a:t>
            </a:r>
            <a:endParaRPr lang="en-US" sz="1200" dirty="0"/>
          </a:p>
        </p:txBody>
      </p:sp>
      <p:sp>
        <p:nvSpPr>
          <p:cNvPr id="17" name="S07/object-201"/>
          <p:cNvSpPr/>
          <p:nvPr/>
        </p:nvSpPr>
        <p:spPr>
          <a:xfrm>
            <a:off x="594360" y="178308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8" name="S07/object-202"/>
          <p:cNvSpPr/>
          <p:nvPr/>
        </p:nvSpPr>
        <p:spPr>
          <a:xfrm>
            <a:off x="59436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S07/object-203"/>
          <p:cNvSpPr/>
          <p:nvPr/>
        </p:nvSpPr>
        <p:spPr>
          <a:xfrm>
            <a:off x="1033272" y="17693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剪力：集中力处发生跳变</a:t>
            </a:r>
            <a:endParaRPr lang="en-US" sz="2100" dirty="0"/>
          </a:p>
        </p:txBody>
      </p:sp>
      <p:sp>
        <p:nvSpPr>
          <p:cNvPr id="20" name="S07/object-204"/>
          <p:cNvSpPr/>
          <p:nvPr/>
        </p:nvSpPr>
        <p:spPr>
          <a:xfrm>
            <a:off x="6355080" y="178308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1" name="S07/object-205"/>
          <p:cNvSpPr/>
          <p:nvPr/>
        </p:nvSpPr>
        <p:spPr>
          <a:xfrm>
            <a:off x="635508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S07/object-206"/>
          <p:cNvSpPr/>
          <p:nvPr/>
        </p:nvSpPr>
        <p:spPr>
          <a:xfrm>
            <a:off x="6793992" y="176936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弯矩：跨中达到幅值峰值</a:t>
            </a:r>
            <a:endParaRPr lang="en-US" sz="2100" dirty="0"/>
          </a:p>
        </p:txBody>
      </p:sp>
      <p:sp>
        <p:nvSpPr>
          <p:cNvPr id="23" name="S07/object-207"/>
          <p:cNvSpPr/>
          <p:nvPr/>
        </p:nvSpPr>
        <p:spPr>
          <a:xfrm>
            <a:off x="57150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24" name="S07/shear-evidence" descr="真实本地程序截图；来源 shear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326" y="2423160"/>
            <a:ext cx="5249868" cy="2953512"/>
          </a:xfrm>
          <a:prstGeom prst="rect">
            <a:avLst/>
          </a:prstGeom>
        </p:spPr>
      </p:pic>
      <p:sp>
        <p:nvSpPr>
          <p:cNvPr id="25" name="S07/object-208"/>
          <p:cNvSpPr/>
          <p:nvPr/>
        </p:nvSpPr>
        <p:spPr>
          <a:xfrm>
            <a:off x="633222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26" name="S07/moment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046" y="2423160"/>
            <a:ext cx="5249868" cy="2953512"/>
          </a:xfrm>
          <a:prstGeom prst="rect">
            <a:avLst/>
          </a:prstGeom>
        </p:spPr>
      </p:pic>
      <p:sp>
        <p:nvSpPr>
          <p:cNvPr id="27" name="S07/object-209"/>
          <p:cNvSpPr/>
          <p:nvPr/>
        </p:nvSpPr>
        <p:spPr>
          <a:xfrm>
            <a:off x="758952" y="5605272"/>
            <a:ext cx="283464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8" name="S07/object-210"/>
          <p:cNvSpPr/>
          <p:nvPr/>
        </p:nvSpPr>
        <p:spPr>
          <a:xfrm>
            <a:off x="868680" y="566928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左右段幅值 9 kN</a:t>
            </a:r>
            <a:endParaRPr lang="en-US" sz="1200" dirty="0"/>
          </a:p>
        </p:txBody>
      </p:sp>
      <p:sp>
        <p:nvSpPr>
          <p:cNvPr id="29" name="S07/object-211"/>
          <p:cNvSpPr/>
          <p:nvPr/>
        </p:nvSpPr>
        <p:spPr>
          <a:xfrm>
            <a:off x="6519672" y="5605272"/>
            <a:ext cx="329184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0" name="S07/object-212"/>
          <p:cNvSpPr/>
          <p:nvPr/>
        </p:nvSpPr>
        <p:spPr>
          <a:xfrm>
            <a:off x="6629400" y="5669280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跨中标注 −27 kN·m</a:t>
            </a:r>
            <a:endParaRPr lang="en-US" sz="1200" dirty="0"/>
          </a:p>
        </p:txBody>
      </p:sp>
      <p:sp>
        <p:nvSpPr>
          <p:cNvPr id="31" name="S07/object-213"/>
          <p:cNvSpPr/>
          <p:nvPr/>
        </p:nvSpPr>
        <p:spPr>
          <a:xfrm>
            <a:off x="4160520" y="5669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同一模型 / 同一荷载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8/object-21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8/object-21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8/object-21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8/object-21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8/object-21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8/object-21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8/object-22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反力与最大弯矩的数值核验</a:t>
            </a:r>
            <a:endParaRPr lang="en-US" sz="2800" dirty="0"/>
          </a:p>
        </p:txBody>
      </p:sp>
      <p:sp>
        <p:nvSpPr>
          <p:cNvPr id="12" name="S0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给定工况下反力与弯矩幅值符合解析结果</a:t>
            </a:r>
            <a:endParaRPr lang="en-US" sz="1600" dirty="0"/>
          </a:p>
        </p:txBody>
      </p:sp>
      <p:sp>
        <p:nvSpPr>
          <p:cNvPr id="14" name="S08/object-22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15" name="S0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来源：live/03-beam-moment.jpg；live/05-element-results.jpg；qa/live-run-evidence.json；RA=RB=P/2；Mmax=PL/4</a:t>
            </a:r>
            <a:endParaRPr lang="en-US" sz="800" dirty="0"/>
          </a:p>
        </p:txBody>
      </p:sp>
      <p:sp>
        <p:nvSpPr>
          <p:cNvPr id="16" name="S08/object-222"/>
          <p:cNvSpPr/>
          <p:nvPr/>
        </p:nvSpPr>
        <p:spPr>
          <a:xfrm>
            <a:off x="571500" y="1879092"/>
            <a:ext cx="5760720" cy="3264408"/>
          </a:xfrm>
          <a:prstGeom prst="rect">
            <a:avLst>
              <a:gd name="adj" fmla="val 4482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7" name="S08/validation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03701"/>
            <a:ext cx="5715000" cy="3215190"/>
          </a:xfrm>
          <a:prstGeom prst="rect">
            <a:avLst/>
          </a:prstGeom>
        </p:spPr>
      </p:pic>
      <p:sp>
        <p:nvSpPr>
          <p:cNvPr id="18" name="S08/object-223"/>
          <p:cNvSpPr/>
          <p:nvPr/>
        </p:nvSpPr>
        <p:spPr>
          <a:xfrm>
            <a:off x="6620256" y="1920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解析期望 ↔ 实机读数</a:t>
            </a:r>
            <a:endParaRPr lang="en-US" sz="2400" dirty="0"/>
          </a:p>
        </p:txBody>
      </p:sp>
      <p:graphicFrame>
        <p:nvGraphicFramePr>
          <p:cNvPr id="19" name="S08/validati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0256" y="2651760"/>
          <a:ext cx="4828032" cy="2212848"/>
        </p:xfrm>
        <a:graphic>
          <a:graphicData uri="http://schemas.openxmlformats.org/drawingml/2006/table">
            <a:tbl>
              <a:tblPr/>
              <a:tblGrid>
                <a:gridCol w="1627632"/>
                <a:gridCol w="1600200"/>
                <a:gridCol w="1600200"/>
              </a:tblGrid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核验项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解析幅值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界面幅值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A端反力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B端反力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跨中弯矩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kN·m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kN·m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20" name="S08/object-224"/>
          <p:cNvSpPr/>
          <p:nvPr/>
        </p:nvSpPr>
        <p:spPr>
          <a:xfrm>
            <a:off x="64008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1" name="S08/object-225"/>
          <p:cNvSpPr/>
          <p:nvPr/>
        </p:nvSpPr>
        <p:spPr>
          <a:xfrm>
            <a:off x="74980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</a:t>
            </a:r>
            <a:endParaRPr lang="en-US" sz="1200" dirty="0"/>
          </a:p>
        </p:txBody>
      </p:sp>
      <p:sp>
        <p:nvSpPr>
          <p:cNvPr id="22" name="S08/object-226"/>
          <p:cNvSpPr/>
          <p:nvPr/>
        </p:nvSpPr>
        <p:spPr>
          <a:xfrm>
            <a:off x="157276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m / 跨中18 kN</a:t>
            </a:r>
            <a:endParaRPr lang="en-US" sz="1500" dirty="0"/>
          </a:p>
        </p:txBody>
      </p:sp>
      <p:sp>
        <p:nvSpPr>
          <p:cNvPr id="23" name="S08/object-227"/>
          <p:cNvSpPr/>
          <p:nvPr/>
        </p:nvSpPr>
        <p:spPr>
          <a:xfrm>
            <a:off x="443484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4" name="S08/object-228"/>
          <p:cNvSpPr/>
          <p:nvPr/>
        </p:nvSpPr>
        <p:spPr>
          <a:xfrm>
            <a:off x="454456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</a:t>
            </a:r>
            <a:endParaRPr lang="en-US" sz="1200" dirty="0"/>
          </a:p>
        </p:txBody>
      </p:sp>
      <p:sp>
        <p:nvSpPr>
          <p:cNvPr id="25" name="S08/object-229"/>
          <p:cNvSpPr/>
          <p:nvPr/>
        </p:nvSpPr>
        <p:spPr>
          <a:xfrm>
            <a:off x="536752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图中−27遵循软件约定</a:t>
            </a:r>
            <a:endParaRPr lang="en-US" sz="1500" dirty="0"/>
          </a:p>
        </p:txBody>
      </p:sp>
      <p:sp>
        <p:nvSpPr>
          <p:cNvPr id="26" name="S08/object-230"/>
          <p:cNvSpPr/>
          <p:nvPr/>
        </p:nvSpPr>
        <p:spPr>
          <a:xfrm>
            <a:off x="822960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7" name="S08/object-231"/>
          <p:cNvSpPr/>
          <p:nvPr/>
        </p:nvSpPr>
        <p:spPr>
          <a:xfrm>
            <a:off x="833932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</a:t>
            </a:r>
            <a:endParaRPr lang="en-US" sz="1200" dirty="0"/>
          </a:p>
        </p:txBody>
      </p:sp>
      <p:sp>
        <p:nvSpPr>
          <p:cNvPr id="28" name="S08/object-232"/>
          <p:cNvSpPr/>
          <p:nvPr/>
        </p:nvSpPr>
        <p:spPr>
          <a:xfrm>
            <a:off x="916228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端弯矩0，内部峰值27</a:t>
            </a:r>
            <a:endParaRPr lang="en-US" sz="1500" dirty="0"/>
          </a:p>
        </p:txBody>
      </p:sp>
      <p:sp>
        <p:nvSpPr>
          <p:cNvPr id="29" name="S08/object-233"/>
          <p:cNvSpPr/>
          <p:nvPr/>
        </p:nvSpPr>
        <p:spPr>
          <a:xfrm>
            <a:off x="777240" y="6062472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结论限于默认案例的显示幅值对照，尚非全工况精度认证。</a:t>
            </a:r>
            <a:endParaRPr lang="en-US" sz="1200" dirty="0"/>
          </a:p>
        </p:txBody>
      </p:sp>
      <p:pic>
        <p:nvPicPr>
          <p:cNvPr id="30" name="S08/web-rich-08" descr="single-element asset; sha256=335f02bc4e64c0769d0d80118ea35490b9f563e909154409f5af418e3cabfc61; source=D:\MACHANICS-OF-MATERIALS-main\outputs\research-ppt-rich\asset-jobs\R08\LMB-A08-original.png" title="icon: web-rich-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0" y="1719072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9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9/object-23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9/object-23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9/object-23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9/object-23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9/object-23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9/object-23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9/object-24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9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荷载位置如何影响计算结果？</a:t>
            </a:r>
            <a:endParaRPr lang="en-US" sz="2800" dirty="0"/>
          </a:p>
        </p:txBody>
      </p:sp>
      <p:sp>
        <p:nvSpPr>
          <p:cNvPr id="12" name="S09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9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反力分配与弯矩峰值随荷载位置改变</a:t>
            </a:r>
            <a:endParaRPr lang="en-US" sz="1600" dirty="0"/>
          </a:p>
        </p:txBody>
      </p:sp>
      <p:sp>
        <p:nvSpPr>
          <p:cNvPr id="14" name="S09/object-24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100" dirty="0"/>
          </a:p>
        </p:txBody>
      </p:sp>
      <p:sp>
        <p:nvSpPr>
          <p:cNvPr id="15" name="S09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来源：解析预测：P=18kN，L=6m，a=1/2/3m</a:t>
            </a:r>
            <a:endParaRPr lang="en-US" sz="800" dirty="0"/>
          </a:p>
        </p:txBody>
      </p:sp>
      <p:sp>
        <p:nvSpPr>
          <p:cNvPr id="16" name="S09/object-242"/>
          <p:cNvSpPr/>
          <p:nvPr/>
        </p:nvSpPr>
        <p:spPr>
          <a:xfrm>
            <a:off x="65836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09/object-243"/>
          <p:cNvSpPr/>
          <p:nvPr/>
        </p:nvSpPr>
        <p:spPr>
          <a:xfrm>
            <a:off x="76809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a=1m：反力偏向左端</a:t>
            </a:r>
            <a:endParaRPr lang="en-US" sz="1200" dirty="0"/>
          </a:p>
        </p:txBody>
      </p:sp>
      <p:sp>
        <p:nvSpPr>
          <p:cNvPr id="18" name="S09/object-244"/>
          <p:cNvSpPr/>
          <p:nvPr/>
        </p:nvSpPr>
        <p:spPr>
          <a:xfrm>
            <a:off x="445312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9" name="S09/object-245"/>
          <p:cNvSpPr/>
          <p:nvPr/>
        </p:nvSpPr>
        <p:spPr>
          <a:xfrm>
            <a:off x="456285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a=2m：分配逐渐均衡</a:t>
            </a:r>
            <a:endParaRPr lang="en-US" sz="1200" dirty="0"/>
          </a:p>
        </p:txBody>
      </p:sp>
      <p:sp>
        <p:nvSpPr>
          <p:cNvPr id="20" name="S09/object-246"/>
          <p:cNvSpPr/>
          <p:nvPr/>
        </p:nvSpPr>
        <p:spPr>
          <a:xfrm>
            <a:off x="824788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1" name="S09/object-247"/>
          <p:cNvSpPr/>
          <p:nvPr/>
        </p:nvSpPr>
        <p:spPr>
          <a:xfrm>
            <a:off x="835761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a=3m：对称且弯矩幅值最大</a:t>
            </a:r>
            <a:endParaRPr lang="en-US" sz="1200" dirty="0"/>
          </a:p>
        </p:txBody>
      </p:sp>
      <p:sp>
        <p:nvSpPr>
          <p:cNvPr id="22" name="S09/object-248"/>
          <p:cNvSpPr/>
          <p:nvPr/>
        </p:nvSpPr>
        <p:spPr>
          <a:xfrm>
            <a:off x="68580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反力幅值 / kN</a:t>
            </a:r>
            <a:endParaRPr lang="en-US" sz="2200" dirty="0"/>
          </a:p>
        </p:txBody>
      </p:sp>
      <p:sp>
        <p:nvSpPr>
          <p:cNvPr id="23" name="S09/object-249"/>
          <p:cNvSpPr/>
          <p:nvPr/>
        </p:nvSpPr>
        <p:spPr>
          <a:xfrm>
            <a:off x="635508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弯矩峰值幅值 / kN·m</a:t>
            </a:r>
            <a:endParaRPr lang="en-US" sz="2200" dirty="0"/>
          </a:p>
        </p:txBody>
      </p:sp>
      <p:graphicFrame>
        <p:nvGraphicFramePr>
          <p:cNvPr id="24" name="S09/reaction-chart" descr=""/>
          <p:cNvGraphicFramePr/>
          <p:nvPr/>
        </p:nvGraphicFramePr>
        <p:xfrm>
          <a:off x="640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5" name="S09/moment-chart" descr=""/>
          <p:cNvGraphicFramePr/>
          <p:nvPr/>
        </p:nvGraphicFramePr>
        <p:xfrm>
          <a:off x="6355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09/object-250"/>
          <p:cNvSpPr/>
          <p:nvPr/>
        </p:nvSpPr>
        <p:spPr>
          <a:xfrm>
            <a:off x="68580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7" name="S09/object-251"/>
          <p:cNvSpPr/>
          <p:nvPr/>
        </p:nvSpPr>
        <p:spPr>
          <a:xfrm>
            <a:off x="79552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固定荷载</a:t>
            </a:r>
            <a:endParaRPr lang="en-US" sz="1200" dirty="0"/>
          </a:p>
        </p:txBody>
      </p:sp>
      <p:sp>
        <p:nvSpPr>
          <p:cNvPr id="28" name="S09/object-252"/>
          <p:cNvSpPr/>
          <p:nvPr/>
        </p:nvSpPr>
        <p:spPr>
          <a:xfrm>
            <a:off x="191109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400" dirty="0"/>
          </a:p>
        </p:txBody>
      </p:sp>
      <p:sp>
        <p:nvSpPr>
          <p:cNvPr id="29" name="S09/object-253"/>
          <p:cNvSpPr/>
          <p:nvPr/>
        </p:nvSpPr>
        <p:spPr>
          <a:xfrm>
            <a:off x="448056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0" name="S09/object-254"/>
          <p:cNvSpPr/>
          <p:nvPr/>
        </p:nvSpPr>
        <p:spPr>
          <a:xfrm>
            <a:off x="459028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固定跨度</a:t>
            </a:r>
            <a:endParaRPr lang="en-US" sz="1200" dirty="0"/>
          </a:p>
        </p:txBody>
      </p:sp>
      <p:sp>
        <p:nvSpPr>
          <p:cNvPr id="31" name="S09/object-255"/>
          <p:cNvSpPr/>
          <p:nvPr/>
        </p:nvSpPr>
        <p:spPr>
          <a:xfrm>
            <a:off x="570585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6 m</a:t>
            </a:r>
            <a:endParaRPr lang="en-US" sz="1400" dirty="0"/>
          </a:p>
        </p:txBody>
      </p:sp>
      <p:sp>
        <p:nvSpPr>
          <p:cNvPr id="32" name="S09/object-256"/>
          <p:cNvSpPr/>
          <p:nvPr/>
        </p:nvSpPr>
        <p:spPr>
          <a:xfrm>
            <a:off x="827532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3" name="S09/object-257"/>
          <p:cNvSpPr/>
          <p:nvPr/>
        </p:nvSpPr>
        <p:spPr>
          <a:xfrm>
            <a:off x="838504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位置变量</a:t>
            </a:r>
            <a:endParaRPr lang="en-US" sz="1200" dirty="0"/>
          </a:p>
        </p:txBody>
      </p:sp>
      <p:sp>
        <p:nvSpPr>
          <p:cNvPr id="34" name="S09/object-258"/>
          <p:cNvSpPr/>
          <p:nvPr/>
        </p:nvSpPr>
        <p:spPr>
          <a:xfrm>
            <a:off x="950061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a距左端：1 / 2 / 3 m</a:t>
            </a:r>
            <a:endParaRPr lang="en-US" sz="1400" dirty="0"/>
          </a:p>
        </p:txBody>
      </p:sp>
      <p:sp>
        <p:nvSpPr>
          <p:cNvPr id="35" name="S09/object-259"/>
          <p:cNvSpPr/>
          <p:nvPr/>
        </p:nvSpPr>
        <p:spPr>
          <a:xfrm>
            <a:off x="685800" y="6089904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解析预测，非新增实机测量。先预测，再在软件中改变位置并核对。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0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0/object-26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0/object-26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0/object-26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0/object-26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0/object-26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0/object-26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0/object-26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0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教学推导与危险截面分析</a:t>
            </a:r>
            <a:endParaRPr lang="en-US" sz="2800" dirty="0"/>
          </a:p>
        </p:txBody>
      </p:sp>
      <p:sp>
        <p:nvSpPr>
          <p:cNvPr id="12" name="S10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0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计算结果需要返回公式和截面条件解释</a:t>
            </a:r>
            <a:endParaRPr lang="en-US" sz="1600" dirty="0"/>
          </a:p>
        </p:txBody>
      </p:sp>
      <p:sp>
        <p:nvSpPr>
          <p:cNvPr id="14" name="S10/object-26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15" name="S10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来源：live/04-derivation.jpg；README.md公式库</a:t>
            </a:r>
            <a:endParaRPr lang="en-US" sz="800" dirty="0"/>
          </a:p>
        </p:txBody>
      </p:sp>
      <p:sp>
        <p:nvSpPr>
          <p:cNvPr id="16" name="S10/object-268"/>
          <p:cNvSpPr/>
          <p:nvPr/>
        </p:nvSpPr>
        <p:spPr>
          <a:xfrm>
            <a:off x="4238244" y="1897380"/>
            <a:ext cx="7205472" cy="1508760"/>
          </a:xfrm>
          <a:prstGeom prst="rect">
            <a:avLst>
              <a:gd name="adj" fmla="val 9697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7" name="S10/derivation-evidence" descr="真实本地程序截图；来源 derivation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1104" y="2116901"/>
            <a:ext cx="7159752" cy="1069718"/>
          </a:xfrm>
          <a:prstGeom prst="rect">
            <a:avLst/>
          </a:prstGeom>
        </p:spPr>
      </p:pic>
      <p:sp>
        <p:nvSpPr>
          <p:cNvPr id="18" name="S10/object-269"/>
          <p:cNvSpPr/>
          <p:nvPr/>
        </p:nvSpPr>
        <p:spPr>
          <a:xfrm>
            <a:off x="612648" y="1947672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9" name="S10/object-270"/>
          <p:cNvSpPr/>
          <p:nvPr/>
        </p:nvSpPr>
        <p:spPr>
          <a:xfrm>
            <a:off x="786384" y="2130552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0" name="S10/object-271"/>
          <p:cNvSpPr/>
          <p:nvPr/>
        </p:nvSpPr>
        <p:spPr>
          <a:xfrm>
            <a:off x="786384" y="2180844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10/object-272"/>
          <p:cNvSpPr/>
          <p:nvPr/>
        </p:nvSpPr>
        <p:spPr>
          <a:xfrm>
            <a:off x="1225296" y="21168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受力分析</a:t>
            </a:r>
            <a:endParaRPr lang="en-US" sz="2100" dirty="0"/>
          </a:p>
        </p:txBody>
      </p:sp>
      <p:sp>
        <p:nvSpPr>
          <p:cNvPr id="22" name="S10/object-273"/>
          <p:cNvSpPr/>
          <p:nvPr/>
        </p:nvSpPr>
        <p:spPr>
          <a:xfrm>
            <a:off x="2194560" y="2761488"/>
            <a:ext cx="0" cy="146304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23" name="S10/object-274"/>
          <p:cNvSpPr/>
          <p:nvPr/>
        </p:nvSpPr>
        <p:spPr>
          <a:xfrm>
            <a:off x="4389120" y="379476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隔离结构，列出外力与支座</a:t>
            </a:r>
            <a:endParaRPr lang="en-US" sz="1800" dirty="0"/>
          </a:p>
        </p:txBody>
      </p:sp>
      <p:sp>
        <p:nvSpPr>
          <p:cNvPr id="24" name="S10/object-275"/>
          <p:cNvSpPr/>
          <p:nvPr/>
        </p:nvSpPr>
        <p:spPr>
          <a:xfrm>
            <a:off x="612648" y="2935224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3F2F1"/>
          </a:solidFill>
          <a:ln w="10160">
            <a:solidFill>
              <a:srgbClr val="E3F2F1"/>
            </a:solidFill>
            <a:prstDash val="solid"/>
          </a:ln>
        </p:spPr>
      </p:sp>
      <p:sp>
        <p:nvSpPr>
          <p:cNvPr id="25" name="S10/object-276"/>
          <p:cNvSpPr/>
          <p:nvPr/>
        </p:nvSpPr>
        <p:spPr>
          <a:xfrm>
            <a:off x="786384" y="3118104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6" name="S10/object-277"/>
          <p:cNvSpPr/>
          <p:nvPr/>
        </p:nvSpPr>
        <p:spPr>
          <a:xfrm>
            <a:off x="786384" y="316839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S10/object-278"/>
          <p:cNvSpPr/>
          <p:nvPr/>
        </p:nvSpPr>
        <p:spPr>
          <a:xfrm>
            <a:off x="1225296" y="310438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整体平衡</a:t>
            </a:r>
            <a:endParaRPr lang="en-US" sz="2100" dirty="0"/>
          </a:p>
        </p:txBody>
      </p:sp>
      <p:sp>
        <p:nvSpPr>
          <p:cNvPr id="28" name="S10/object-279"/>
          <p:cNvSpPr/>
          <p:nvPr/>
        </p:nvSpPr>
        <p:spPr>
          <a:xfrm>
            <a:off x="2194560" y="3749040"/>
            <a:ext cx="0" cy="146304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29" name="S10/object-280"/>
          <p:cNvSpPr/>
          <p:nvPr/>
        </p:nvSpPr>
        <p:spPr>
          <a:xfrm>
            <a:off x="4389120" y="431596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ΣFx=0，ΣFz=0，ΣMy=0</a:t>
            </a:r>
            <a:endParaRPr lang="en-US" sz="1800" dirty="0"/>
          </a:p>
        </p:txBody>
      </p:sp>
      <p:sp>
        <p:nvSpPr>
          <p:cNvPr id="30" name="S10/object-281"/>
          <p:cNvSpPr/>
          <p:nvPr/>
        </p:nvSpPr>
        <p:spPr>
          <a:xfrm>
            <a:off x="612648" y="3922776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1" name="S10/object-282"/>
          <p:cNvSpPr/>
          <p:nvPr/>
        </p:nvSpPr>
        <p:spPr>
          <a:xfrm>
            <a:off x="786384" y="410565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2" name="S10/object-283"/>
          <p:cNvSpPr/>
          <p:nvPr/>
        </p:nvSpPr>
        <p:spPr>
          <a:xfrm>
            <a:off x="786384" y="415594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S10/object-284"/>
          <p:cNvSpPr/>
          <p:nvPr/>
        </p:nvSpPr>
        <p:spPr>
          <a:xfrm>
            <a:off x="1225296" y="409194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截面内力</a:t>
            </a:r>
            <a:endParaRPr lang="en-US" sz="2100" dirty="0"/>
          </a:p>
        </p:txBody>
      </p:sp>
      <p:sp>
        <p:nvSpPr>
          <p:cNvPr id="34" name="S10/object-285"/>
          <p:cNvSpPr/>
          <p:nvPr/>
        </p:nvSpPr>
        <p:spPr>
          <a:xfrm>
            <a:off x="2194560" y="4736592"/>
            <a:ext cx="0" cy="146304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35" name="S10/object-286"/>
          <p:cNvSpPr/>
          <p:nvPr/>
        </p:nvSpPr>
        <p:spPr>
          <a:xfrm>
            <a:off x="4389120" y="483717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dV/dx+qz=0；dM/dx−V=0</a:t>
            </a:r>
            <a:endParaRPr lang="en-US" sz="1800" dirty="0"/>
          </a:p>
        </p:txBody>
      </p:sp>
      <p:sp>
        <p:nvSpPr>
          <p:cNvPr id="36" name="S10/object-287"/>
          <p:cNvSpPr/>
          <p:nvPr/>
        </p:nvSpPr>
        <p:spPr>
          <a:xfrm>
            <a:off x="612648" y="4910328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3F2F1"/>
          </a:solidFill>
          <a:ln w="10160">
            <a:solidFill>
              <a:srgbClr val="E3F2F1"/>
            </a:solidFill>
            <a:prstDash val="solid"/>
          </a:ln>
        </p:spPr>
      </p:sp>
      <p:sp>
        <p:nvSpPr>
          <p:cNvPr id="37" name="S10/object-288"/>
          <p:cNvSpPr/>
          <p:nvPr/>
        </p:nvSpPr>
        <p:spPr>
          <a:xfrm>
            <a:off x="786384" y="509320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8" name="S10/object-289"/>
          <p:cNvSpPr/>
          <p:nvPr/>
        </p:nvSpPr>
        <p:spPr>
          <a:xfrm>
            <a:off x="786384" y="5143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S10/object-290"/>
          <p:cNvSpPr/>
          <p:nvPr/>
        </p:nvSpPr>
        <p:spPr>
          <a:xfrm>
            <a:off x="1225296" y="507949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结果检查</a:t>
            </a:r>
            <a:endParaRPr lang="en-US" sz="2100" dirty="0"/>
          </a:p>
        </p:txBody>
      </p:sp>
      <p:sp>
        <p:nvSpPr>
          <p:cNvPr id="40" name="S10/object-291"/>
          <p:cNvSpPr/>
          <p:nvPr/>
        </p:nvSpPr>
        <p:spPr>
          <a:xfrm>
            <a:off x="4389120" y="5358384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比较边界值、峰值与单位</a:t>
            </a:r>
            <a:endParaRPr lang="en-US" sz="1800" dirty="0"/>
          </a:p>
        </p:txBody>
      </p:sp>
      <p:sp>
        <p:nvSpPr>
          <p:cNvPr id="41" name="S10/object-292"/>
          <p:cNvSpPr/>
          <p:nvPr/>
        </p:nvSpPr>
        <p:spPr>
          <a:xfrm>
            <a:off x="4389120" y="3493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教学助手：让每一步都有可核对的物理含义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1/object-293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1/object-294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1/object-295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1/object-296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1/object-297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1/object-298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1/object-299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空间刚架的六自由度建模</a:t>
            </a:r>
            <a:endParaRPr lang="en-US" sz="2800" dirty="0"/>
          </a:p>
        </p:txBody>
      </p:sp>
      <p:sp>
        <p:nvSpPr>
          <p:cNvPr id="12" name="S1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空间梁节点同时包含三平移与三转动</a:t>
            </a:r>
            <a:endParaRPr lang="en-US" sz="1600" dirty="0"/>
          </a:p>
        </p:txBody>
      </p:sp>
      <p:sp>
        <p:nvSpPr>
          <p:cNvPr id="14" name="S11/object-300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sp>
        <p:nvSpPr>
          <p:cNvPr id="15" name="S1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来源：README.md；空间刚架运行条件</a:t>
            </a:r>
            <a:endParaRPr lang="en-US" sz="800" dirty="0"/>
          </a:p>
        </p:txBody>
      </p:sp>
      <p:sp>
        <p:nvSpPr>
          <p:cNvPr id="16" name="S11/object-301"/>
          <p:cNvSpPr/>
          <p:nvPr/>
        </p:nvSpPr>
        <p:spPr>
          <a:xfrm>
            <a:off x="5669280" y="156362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× 6 = 24：约束处理前节点自由度总数，不等于24个有效自由度。</a:t>
            </a:r>
            <a:endParaRPr lang="en-US" sz="1200" dirty="0"/>
          </a:p>
        </p:txBody>
      </p:sp>
      <p:sp>
        <p:nvSpPr>
          <p:cNvPr id="17" name="S11/object-302"/>
          <p:cNvSpPr/>
          <p:nvPr/>
        </p:nvSpPr>
        <p:spPr>
          <a:xfrm>
            <a:off x="571500" y="1787652"/>
            <a:ext cx="4709160" cy="4142232"/>
          </a:xfrm>
          <a:prstGeom prst="rect">
            <a:avLst>
              <a:gd name="adj" fmla="val 3532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8" name="S11/space-model" descr="真实本地程序截图；来源 space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12364"/>
            <a:ext cx="4663440" cy="4092808"/>
          </a:xfrm>
          <a:prstGeom prst="rect">
            <a:avLst/>
          </a:prstGeom>
        </p:spPr>
      </p:pic>
      <p:sp>
        <p:nvSpPr>
          <p:cNvPr id="19" name="S11/object-303"/>
          <p:cNvSpPr/>
          <p:nvPr/>
        </p:nvSpPr>
        <p:spPr>
          <a:xfrm>
            <a:off x="5596128" y="192024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0" name="S11/object-304"/>
          <p:cNvSpPr/>
          <p:nvPr/>
        </p:nvSpPr>
        <p:spPr>
          <a:xfrm>
            <a:off x="5596128" y="19705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11/object-305"/>
          <p:cNvSpPr/>
          <p:nvPr/>
        </p:nvSpPr>
        <p:spPr>
          <a:xfrm>
            <a:off x="6035040" y="190652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每节点六自由度</a:t>
            </a:r>
            <a:endParaRPr lang="en-US" sz="2100" dirty="0"/>
          </a:p>
        </p:txBody>
      </p:sp>
      <p:sp>
        <p:nvSpPr>
          <p:cNvPr id="22" name="S11/object-306"/>
          <p:cNvSpPr/>
          <p:nvPr/>
        </p:nvSpPr>
        <p:spPr>
          <a:xfrm>
            <a:off x="5687568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3" name="S11/object-307"/>
          <p:cNvSpPr/>
          <p:nvPr/>
        </p:nvSpPr>
        <p:spPr>
          <a:xfrm>
            <a:off x="5797296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Ux</a:t>
            </a:r>
            <a:endParaRPr lang="en-US" sz="1200" dirty="0"/>
          </a:p>
        </p:txBody>
      </p:sp>
      <p:sp>
        <p:nvSpPr>
          <p:cNvPr id="24" name="S11/object-308"/>
          <p:cNvSpPr/>
          <p:nvPr/>
        </p:nvSpPr>
        <p:spPr>
          <a:xfrm>
            <a:off x="7644384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11/object-309"/>
          <p:cNvSpPr/>
          <p:nvPr/>
        </p:nvSpPr>
        <p:spPr>
          <a:xfrm>
            <a:off x="7754112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Uy</a:t>
            </a:r>
            <a:endParaRPr lang="en-US" sz="1200" dirty="0"/>
          </a:p>
        </p:txBody>
      </p:sp>
      <p:sp>
        <p:nvSpPr>
          <p:cNvPr id="26" name="S11/object-310"/>
          <p:cNvSpPr/>
          <p:nvPr/>
        </p:nvSpPr>
        <p:spPr>
          <a:xfrm>
            <a:off x="9601200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7" name="S11/object-311"/>
          <p:cNvSpPr/>
          <p:nvPr/>
        </p:nvSpPr>
        <p:spPr>
          <a:xfrm>
            <a:off x="9710928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Uz</a:t>
            </a:r>
            <a:endParaRPr lang="en-US" sz="1200" dirty="0"/>
          </a:p>
        </p:txBody>
      </p:sp>
      <p:sp>
        <p:nvSpPr>
          <p:cNvPr id="28" name="S11/object-312"/>
          <p:cNvSpPr/>
          <p:nvPr/>
        </p:nvSpPr>
        <p:spPr>
          <a:xfrm>
            <a:off x="5687568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29" name="S11/object-313"/>
          <p:cNvSpPr/>
          <p:nvPr/>
        </p:nvSpPr>
        <p:spPr>
          <a:xfrm>
            <a:off x="5797296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Rx</a:t>
            </a:r>
            <a:endParaRPr lang="en-US" sz="1200" dirty="0"/>
          </a:p>
        </p:txBody>
      </p:sp>
      <p:sp>
        <p:nvSpPr>
          <p:cNvPr id="30" name="S11/object-314"/>
          <p:cNvSpPr/>
          <p:nvPr/>
        </p:nvSpPr>
        <p:spPr>
          <a:xfrm>
            <a:off x="7644384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31" name="S11/object-315"/>
          <p:cNvSpPr/>
          <p:nvPr/>
        </p:nvSpPr>
        <p:spPr>
          <a:xfrm>
            <a:off x="7754112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Ry</a:t>
            </a:r>
            <a:endParaRPr lang="en-US" sz="1200" dirty="0"/>
          </a:p>
        </p:txBody>
      </p:sp>
      <p:sp>
        <p:nvSpPr>
          <p:cNvPr id="32" name="S11/object-316"/>
          <p:cNvSpPr/>
          <p:nvPr/>
        </p:nvSpPr>
        <p:spPr>
          <a:xfrm>
            <a:off x="9601200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33" name="S11/object-317"/>
          <p:cNvSpPr/>
          <p:nvPr/>
        </p:nvSpPr>
        <p:spPr>
          <a:xfrm>
            <a:off x="9710928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Rz</a:t>
            </a:r>
            <a:endParaRPr lang="en-US" sz="1200" dirty="0"/>
          </a:p>
        </p:txBody>
      </p:sp>
      <p:sp>
        <p:nvSpPr>
          <p:cNvPr id="34" name="S11/object-318"/>
          <p:cNvSpPr/>
          <p:nvPr/>
        </p:nvSpPr>
        <p:spPr>
          <a:xfrm>
            <a:off x="5687568" y="45537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两端共 12 自由度 → 12×12 单元刚度</a:t>
            </a:r>
            <a:endParaRPr lang="en-US" sz="2400" dirty="0"/>
          </a:p>
        </p:txBody>
      </p:sp>
      <p:sp>
        <p:nvSpPr>
          <p:cNvPr id="35" name="S11/object-319"/>
          <p:cNvSpPr/>
          <p:nvPr/>
        </p:nvSpPr>
        <p:spPr>
          <a:xfrm>
            <a:off x="5687568" y="5202936"/>
            <a:ext cx="5669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EA/L：轴向  ·  GJ/L：扭转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 y / z：双向弯曲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Euler–Bernoulli 梁，不含剪切变形修正</a:t>
            </a:r>
            <a:endParaRPr lang="en-US" sz="1800" dirty="0"/>
          </a:p>
        </p:txBody>
      </p:sp>
      <p:pic>
        <p:nvPicPr>
          <p:cNvPr id="36" name="S11/web-rich-05" descr="single-element asset; sha256=af217bb32630993ae49d9698e8a3765b5d21037a8ac6b3e67ecdb1491576290b; source=D:\MACHANICS-OF-MATERIALS-main\outputs\research-ppt-rich\asset-jobs\R05\LMB-A05-original.png" title="concept: web-rich-0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2660" y="1938528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2/object-32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2/object-32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2/object-32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2/object-32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2/object-32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2/object-32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2/object-32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空间刚架的实机结果核验</a:t>
            </a:r>
            <a:endParaRPr lang="en-US" sz="2800" dirty="0"/>
          </a:p>
        </p:txBody>
      </p:sp>
      <p:sp>
        <p:nvSpPr>
          <p:cNvPr id="12" name="S1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三向合力平衡成立，完整力矩核验仍缺失</a:t>
            </a:r>
            <a:endParaRPr lang="en-US" sz="1600" dirty="0"/>
          </a:p>
        </p:txBody>
      </p:sp>
      <p:sp>
        <p:nvSpPr>
          <p:cNvPr id="14" name="S12/object-32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15" name="S1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来源：live/11-space-results.jpg；qa/live-run-evidence.json</a:t>
            </a:r>
            <a:endParaRPr lang="en-US" sz="800" dirty="0"/>
          </a:p>
        </p:txBody>
      </p:sp>
      <p:sp>
        <p:nvSpPr>
          <p:cNvPr id="16" name="S12/object-328"/>
          <p:cNvSpPr/>
          <p:nvPr/>
        </p:nvSpPr>
        <p:spPr>
          <a:xfrm>
            <a:off x="640080" y="1581912"/>
            <a:ext cx="10881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核验步骤：读取外力 → 读取总反力 → 逐方向求和 → 明确未检查的力矩。</a:t>
            </a:r>
            <a:endParaRPr lang="en-US" sz="1200" dirty="0"/>
          </a:p>
        </p:txBody>
      </p:sp>
      <p:sp>
        <p:nvSpPr>
          <p:cNvPr id="17" name="S12/object-329"/>
          <p:cNvSpPr/>
          <p:nvPr/>
        </p:nvSpPr>
        <p:spPr>
          <a:xfrm>
            <a:off x="571500" y="1805940"/>
            <a:ext cx="3108960" cy="4114800"/>
          </a:xfrm>
          <a:prstGeom prst="rect">
            <a:avLst>
              <a:gd name="adj" fmla="val 4706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8" name="S12/space-results" descr="真实本地程序截图；来源 space-table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93378"/>
            <a:ext cx="3063240" cy="3939925"/>
          </a:xfrm>
          <a:prstGeom prst="rect">
            <a:avLst/>
          </a:prstGeom>
        </p:spPr>
      </p:pic>
      <p:sp>
        <p:nvSpPr>
          <p:cNvPr id="19" name="S12/object-330"/>
          <p:cNvSpPr/>
          <p:nvPr/>
        </p:nvSpPr>
        <p:spPr>
          <a:xfrm>
            <a:off x="398678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12/object-331"/>
          <p:cNvSpPr/>
          <p:nvPr/>
        </p:nvSpPr>
        <p:spPr>
          <a:xfrm>
            <a:off x="415137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S12/object-332"/>
          <p:cNvSpPr/>
          <p:nvPr/>
        </p:nvSpPr>
        <p:spPr>
          <a:xfrm>
            <a:off x="514807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1700" dirty="0"/>
          </a:p>
        </p:txBody>
      </p:sp>
      <p:sp>
        <p:nvSpPr>
          <p:cNvPr id="22" name="S12/object-333"/>
          <p:cNvSpPr/>
          <p:nvPr/>
        </p:nvSpPr>
        <p:spPr>
          <a:xfrm>
            <a:off x="659282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3" name="S12/object-334"/>
          <p:cNvSpPr/>
          <p:nvPr/>
        </p:nvSpPr>
        <p:spPr>
          <a:xfrm>
            <a:off x="675741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" dirty="0"/>
          </a:p>
        </p:txBody>
      </p:sp>
      <p:sp>
        <p:nvSpPr>
          <p:cNvPr id="24" name="S12/object-335"/>
          <p:cNvSpPr/>
          <p:nvPr/>
        </p:nvSpPr>
        <p:spPr>
          <a:xfrm>
            <a:off x="775411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构件</a:t>
            </a:r>
            <a:endParaRPr lang="en-US" sz="1700" dirty="0"/>
          </a:p>
        </p:txBody>
      </p:sp>
      <p:sp>
        <p:nvSpPr>
          <p:cNvPr id="25" name="S12/object-336"/>
          <p:cNvSpPr/>
          <p:nvPr/>
        </p:nvSpPr>
        <p:spPr>
          <a:xfrm>
            <a:off x="919886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6" name="S12/object-337"/>
          <p:cNvSpPr/>
          <p:nvPr/>
        </p:nvSpPr>
        <p:spPr>
          <a:xfrm>
            <a:off x="936345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3000" dirty="0"/>
          </a:p>
        </p:txBody>
      </p:sp>
      <p:sp>
        <p:nvSpPr>
          <p:cNvPr id="27" name="S12/object-338"/>
          <p:cNvSpPr/>
          <p:nvPr/>
        </p:nvSpPr>
        <p:spPr>
          <a:xfrm>
            <a:off x="1036015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总自由度</a:t>
            </a:r>
            <a:endParaRPr lang="en-US" sz="1700" dirty="0"/>
          </a:p>
        </p:txBody>
      </p:sp>
      <p:graphicFrame>
        <p:nvGraphicFramePr>
          <p:cNvPr id="28" name="S12/space-bala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86784" y="3172968"/>
          <a:ext cx="7626096" cy="2057400"/>
        </p:xfrm>
        <a:graphic>
          <a:graphicData uri="http://schemas.openxmlformats.org/drawingml/2006/table">
            <a:tbl>
              <a:tblPr/>
              <a:tblGrid>
                <a:gridCol w="1143000"/>
                <a:gridCol w="2194560"/>
                <a:gridCol w="2194560"/>
                <a:gridCol w="2093976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D点外力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A点反力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平衡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29" name="S12/object-339"/>
          <p:cNvSpPr/>
          <p:nvPr/>
        </p:nvSpPr>
        <p:spPr>
          <a:xfrm>
            <a:off x="4023360" y="5559552"/>
            <a:ext cx="7498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本次界面报告：Worker CPU；残差约 6×10⁻¹⁴；变形显示放大 2.4 倍。</a:t>
            </a:r>
            <a:endParaRPr lang="en-US" sz="1600" dirty="0"/>
          </a:p>
        </p:txBody>
      </p:sp>
      <p:sp>
        <p:nvSpPr>
          <p:cNvPr id="30" name="S12/object-340"/>
          <p:cNvSpPr/>
          <p:nvPr/>
        </p:nvSpPr>
        <p:spPr>
          <a:xfrm>
            <a:off x="4023360" y="6025896"/>
            <a:ext cx="7498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仅核对三向力平衡；扭矩数值未捕获，应力 / 安全系数未补填。</a:t>
            </a:r>
            <a:endParaRPr lang="en-US" sz="1200" dirty="0"/>
          </a:p>
        </p:txBody>
      </p:sp>
      <p:pic>
        <p:nvPicPr>
          <p:cNvPr id="31" name="S12/web-rich-07" descr="single-element asset; sha256=881ed38959dd1970746da1196b1f0d4df3f603add426666e0168b158b198e0e5; source=D:\MACHANICS-OF-MATERIALS-main\outputs\research-ppt-rich\asset-jobs\R07\LMB-A07-original.png" title="concept: web-rich-0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0776" y="804672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3/object-34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3/object-34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3/object-34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3/object-34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3/object-34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3/object-34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3/object-34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本地求解软件的技术架构</a:t>
            </a:r>
            <a:endParaRPr lang="en-US" sz="2800" dirty="0"/>
          </a:p>
        </p:txBody>
      </p:sp>
      <p:sp>
        <p:nvSpPr>
          <p:cNvPr id="12" name="S1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当前数值求解主要运行于Worker CPU</a:t>
            </a:r>
            <a:endParaRPr lang="en-US" sz="1600" dirty="0"/>
          </a:p>
        </p:txBody>
      </p:sp>
      <p:sp>
        <p:nvSpPr>
          <p:cNvPr id="14" name="S13/object-34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  <p:sp>
        <p:nvSpPr>
          <p:cNvPr id="15" name="S1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来源：README.md；用户提供的技术栈和求解能力说明</a:t>
            </a:r>
            <a:endParaRPr lang="en-US" sz="800" dirty="0"/>
          </a:p>
        </p:txBody>
      </p:sp>
      <p:sp>
        <p:nvSpPr>
          <p:cNvPr id="16" name="S13/object-349"/>
          <p:cNvSpPr/>
          <p:nvPr/>
        </p:nvSpPr>
        <p:spPr>
          <a:xfrm>
            <a:off x="4434840" y="2039112"/>
            <a:ext cx="3246120" cy="3639312"/>
          </a:xfrm>
          <a:prstGeom prst="roundRect">
            <a:avLst>
              <a:gd name="adj" fmla="val 4507"/>
            </a:avLst>
          </a:prstGeom>
          <a:solidFill>
            <a:srgbClr val="E2F0F8"/>
          </a:solidFill>
          <a:ln w="10160">
            <a:solidFill>
              <a:srgbClr val="E2F0F8"/>
            </a:solidFill>
            <a:prstDash val="solid"/>
          </a:ln>
        </p:spPr>
      </p:sp>
      <p:sp>
        <p:nvSpPr>
          <p:cNvPr id="17" name="S13/object-350"/>
          <p:cNvSpPr/>
          <p:nvPr/>
        </p:nvSpPr>
        <p:spPr>
          <a:xfrm>
            <a:off x="4617720" y="420624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本地计算核心</a:t>
            </a:r>
            <a:endParaRPr lang="en-US" sz="2200" dirty="0"/>
          </a:p>
        </p:txBody>
      </p:sp>
      <p:sp>
        <p:nvSpPr>
          <p:cNvPr id="18" name="S13/object-351"/>
          <p:cNvSpPr/>
          <p:nvPr/>
        </p:nvSpPr>
        <p:spPr>
          <a:xfrm>
            <a:off x="4617720" y="4837176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单元组装 / 约束分块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 → 反力与端力</a:t>
            </a:r>
            <a:endParaRPr lang="en-US" sz="1600" dirty="0"/>
          </a:p>
        </p:txBody>
      </p:sp>
      <p:sp>
        <p:nvSpPr>
          <p:cNvPr id="19" name="S13/object-352"/>
          <p:cNvSpPr/>
          <p:nvPr/>
        </p:nvSpPr>
        <p:spPr>
          <a:xfrm>
            <a:off x="6400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13/object-353"/>
          <p:cNvSpPr/>
          <p:nvPr/>
        </p:nvSpPr>
        <p:spPr>
          <a:xfrm>
            <a:off x="8229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模型数据</a:t>
            </a:r>
            <a:endParaRPr lang="en-US" sz="2100" dirty="0"/>
          </a:p>
        </p:txBody>
      </p:sp>
      <p:sp>
        <p:nvSpPr>
          <p:cNvPr id="21" name="S13/object-354"/>
          <p:cNvSpPr/>
          <p:nvPr/>
        </p:nvSpPr>
        <p:spPr>
          <a:xfrm>
            <a:off x="8229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节点、材料、截面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约束与荷载</a:t>
            </a:r>
            <a:endParaRPr lang="en-US" sz="1700" dirty="0"/>
          </a:p>
        </p:txBody>
      </p:sp>
      <p:sp>
        <p:nvSpPr>
          <p:cNvPr id="22" name="S13/object-355"/>
          <p:cNvSpPr/>
          <p:nvPr/>
        </p:nvSpPr>
        <p:spPr>
          <a:xfrm>
            <a:off x="4005072" y="2660904"/>
            <a:ext cx="384048" cy="0"/>
          </a:xfrm>
          <a:prstGeom prst="line">
            <a:avLst/>
          </a:prstGeom>
          <a:noFill/>
          <a:ln w="2032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23" name="S13/object-356"/>
          <p:cNvSpPr/>
          <p:nvPr/>
        </p:nvSpPr>
        <p:spPr>
          <a:xfrm>
            <a:off x="81838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6F3F1"/>
          </a:solidFill>
          <a:ln w="10160">
            <a:solidFill>
              <a:srgbClr val="E6F3F1"/>
            </a:solidFill>
            <a:prstDash val="solid"/>
          </a:ln>
        </p:spPr>
      </p:sp>
      <p:sp>
        <p:nvSpPr>
          <p:cNvPr id="24" name="S13/object-357"/>
          <p:cNvSpPr/>
          <p:nvPr/>
        </p:nvSpPr>
        <p:spPr>
          <a:xfrm>
            <a:off x="83667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可视交互</a:t>
            </a:r>
            <a:endParaRPr lang="en-US" sz="2100" dirty="0"/>
          </a:p>
        </p:txBody>
      </p:sp>
      <p:sp>
        <p:nvSpPr>
          <p:cNvPr id="25" name="S13/object-358"/>
          <p:cNvSpPr/>
          <p:nvPr/>
        </p:nvSpPr>
        <p:spPr>
          <a:xfrm>
            <a:off x="83667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/ TypeScript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 视图</a:t>
            </a:r>
            <a:endParaRPr lang="en-US" sz="1700" dirty="0"/>
          </a:p>
        </p:txBody>
      </p:sp>
      <p:sp>
        <p:nvSpPr>
          <p:cNvPr id="26" name="S13/object-359"/>
          <p:cNvSpPr/>
          <p:nvPr/>
        </p:nvSpPr>
        <p:spPr>
          <a:xfrm>
            <a:off x="7680960" y="2660904"/>
            <a:ext cx="457200" cy="0"/>
          </a:xfrm>
          <a:prstGeom prst="line">
            <a:avLst/>
          </a:prstGeom>
          <a:noFill/>
          <a:ln w="2032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27" name="S13/object-360"/>
          <p:cNvSpPr/>
          <p:nvPr/>
        </p:nvSpPr>
        <p:spPr>
          <a:xfrm>
            <a:off x="6400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8" name="S13/object-361"/>
          <p:cNvSpPr/>
          <p:nvPr/>
        </p:nvSpPr>
        <p:spPr>
          <a:xfrm>
            <a:off x="8229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学习解释</a:t>
            </a:r>
            <a:endParaRPr lang="en-US" sz="2100" dirty="0"/>
          </a:p>
        </p:txBody>
      </p:sp>
      <p:sp>
        <p:nvSpPr>
          <p:cNvPr id="29" name="S13/object-362"/>
          <p:cNvSpPr/>
          <p:nvPr/>
        </p:nvSpPr>
        <p:spPr>
          <a:xfrm>
            <a:off x="8229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公式库 / 分步推导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内力与结果表</a:t>
            </a:r>
            <a:endParaRPr lang="en-US" sz="1700" dirty="0"/>
          </a:p>
        </p:txBody>
      </p:sp>
      <p:sp>
        <p:nvSpPr>
          <p:cNvPr id="30" name="S13/object-363"/>
          <p:cNvSpPr/>
          <p:nvPr/>
        </p:nvSpPr>
        <p:spPr>
          <a:xfrm>
            <a:off x="4005072" y="4974336"/>
            <a:ext cx="384048" cy="0"/>
          </a:xfrm>
          <a:prstGeom prst="line">
            <a:avLst/>
          </a:prstGeom>
          <a:noFill/>
          <a:ln w="2032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31" name="S13/object-364"/>
          <p:cNvSpPr/>
          <p:nvPr/>
        </p:nvSpPr>
        <p:spPr>
          <a:xfrm>
            <a:off x="81838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6F3F1"/>
          </a:solidFill>
          <a:ln w="10160">
            <a:solidFill>
              <a:srgbClr val="E6F3F1"/>
            </a:solidFill>
            <a:prstDash val="solid"/>
          </a:ln>
        </p:spPr>
      </p:sp>
      <p:sp>
        <p:nvSpPr>
          <p:cNvPr id="32" name="S13/object-365"/>
          <p:cNvSpPr/>
          <p:nvPr/>
        </p:nvSpPr>
        <p:spPr>
          <a:xfrm>
            <a:off x="83667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离线交付</a:t>
            </a:r>
            <a:endParaRPr lang="en-US" sz="2100" dirty="0"/>
          </a:p>
        </p:txBody>
      </p:sp>
      <p:sp>
        <p:nvSpPr>
          <p:cNvPr id="33" name="S13/object-366"/>
          <p:cNvSpPr/>
          <p:nvPr/>
        </p:nvSpPr>
        <p:spPr>
          <a:xfrm>
            <a:off x="83667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 / PWA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CPU + sparse LU</a:t>
            </a:r>
            <a:endParaRPr lang="en-US" sz="1700" dirty="0"/>
          </a:p>
        </p:txBody>
      </p:sp>
      <p:sp>
        <p:nvSpPr>
          <p:cNvPr id="34" name="S13/object-367"/>
          <p:cNvSpPr/>
          <p:nvPr/>
        </p:nvSpPr>
        <p:spPr>
          <a:xfrm>
            <a:off x="7680960" y="4974336"/>
            <a:ext cx="457200" cy="0"/>
          </a:xfrm>
          <a:prstGeom prst="line">
            <a:avLst/>
          </a:prstGeom>
          <a:noFill/>
          <a:ln w="2032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35" name="S13/object-368"/>
          <p:cNvSpPr/>
          <p:nvPr/>
        </p:nvSpPr>
        <p:spPr>
          <a:xfrm>
            <a:off x="777240" y="598932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WebGPU 仅设备检测；未启用 GPU 数值内核。Worker不可用时回退主线程CPU。</a:t>
            </a:r>
            <a:endParaRPr lang="en-US" sz="1300" dirty="0"/>
          </a:p>
        </p:txBody>
      </p:sp>
      <p:pic>
        <p:nvPicPr>
          <p:cNvPr id="36" name="S13/web-rich-06" descr="single-element asset; sha256=7219270d1872eace0e5871a166736f61451423463dd6701f9a72c9e46c26f9d9; source=D:\MACHANICS-OF-MATERIALS-main\outputs\research-ppt-rich\asset-jobs\R06\LMB-A06-original.png" title="icon: web-rich-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660" y="2423160"/>
            <a:ext cx="150876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4/object-369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4/object-370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4/object-371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4/object-372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4/object-373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4/object-374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4/object-375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哪些能力已具备，哪些仍受限？</a:t>
            </a:r>
            <a:endParaRPr lang="en-US" sz="2800" dirty="0"/>
          </a:p>
        </p:txBody>
      </p:sp>
      <p:sp>
        <p:nvSpPr>
          <p:cNvPr id="12" name="S1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功能存在、实机观察与充分验证不是一回事</a:t>
            </a:r>
            <a:endParaRPr lang="en-US" sz="1600" dirty="0"/>
          </a:p>
        </p:txBody>
      </p:sp>
      <p:sp>
        <p:nvSpPr>
          <p:cNvPr id="14" name="S14/object-37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  <p:sp>
        <p:nvSpPr>
          <p:cNvPr id="15" name="S1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来源：README.md；qa/live-run-evidence.json；技术边界说明</a:t>
            </a:r>
            <a:endParaRPr lang="en-US" sz="800" dirty="0"/>
          </a:p>
        </p:txBody>
      </p:sp>
      <p:sp>
        <p:nvSpPr>
          <p:cNvPr id="16" name="S14/object-377"/>
          <p:cNvSpPr/>
          <p:nvPr/>
        </p:nvSpPr>
        <p:spPr>
          <a:xfrm>
            <a:off x="594360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14/object-378"/>
          <p:cNvSpPr/>
          <p:nvPr/>
        </p:nvSpPr>
        <p:spPr>
          <a:xfrm>
            <a:off x="758952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 · 学习功能</a:t>
            </a:r>
            <a:endParaRPr lang="en-US" sz="2000" dirty="0"/>
          </a:p>
        </p:txBody>
      </p:sp>
      <p:sp>
        <p:nvSpPr>
          <p:cNvPr id="18" name="S14/object-379"/>
          <p:cNvSpPr/>
          <p:nvPr/>
        </p:nvSpPr>
        <p:spPr>
          <a:xfrm>
            <a:off x="777240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二维梁 / 刚架</a:t>
            </a:r>
            <a:endParaRPr lang="en-US" sz="2000" dirty="0"/>
          </a:p>
        </p:txBody>
      </p:sp>
      <p:sp>
        <p:nvSpPr>
          <p:cNvPr id="19" name="S14/object-380"/>
          <p:cNvSpPr/>
          <p:nvPr/>
        </p:nvSpPr>
        <p:spPr>
          <a:xfrm>
            <a:off x="777240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反力、N / V / M、变形</a:t>
            </a:r>
            <a:endParaRPr lang="en-US" sz="1600" dirty="0"/>
          </a:p>
        </p:txBody>
      </p:sp>
      <p:sp>
        <p:nvSpPr>
          <p:cNvPr id="20" name="S14/object-381"/>
          <p:cNvSpPr/>
          <p:nvPr/>
        </p:nvSpPr>
        <p:spPr>
          <a:xfrm>
            <a:off x="777240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空间杆系</a:t>
            </a:r>
            <a:endParaRPr lang="en-US" sz="2000" dirty="0"/>
          </a:p>
        </p:txBody>
      </p:sp>
      <p:sp>
        <p:nvSpPr>
          <p:cNvPr id="21" name="S14/object-382"/>
          <p:cNvSpPr/>
          <p:nvPr/>
        </p:nvSpPr>
        <p:spPr>
          <a:xfrm>
            <a:off x="777240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节点自由度、构件端力</a:t>
            </a:r>
            <a:endParaRPr lang="en-US" sz="1600" dirty="0"/>
          </a:p>
        </p:txBody>
      </p:sp>
      <p:sp>
        <p:nvSpPr>
          <p:cNvPr id="22" name="S14/object-383"/>
          <p:cNvSpPr/>
          <p:nvPr/>
        </p:nvSpPr>
        <p:spPr>
          <a:xfrm>
            <a:off x="777240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使用前检查条件与符号</a:t>
            </a:r>
            <a:endParaRPr lang="en-US" sz="1400" dirty="0"/>
          </a:p>
        </p:txBody>
      </p:sp>
      <p:sp>
        <p:nvSpPr>
          <p:cNvPr id="23" name="S14/object-384"/>
          <p:cNvSpPr/>
          <p:nvPr/>
        </p:nvSpPr>
        <p:spPr>
          <a:xfrm>
            <a:off x="4398264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9F4F2"/>
          </a:solidFill>
          <a:ln w="10160">
            <a:solidFill>
              <a:srgbClr val="E9F4F2"/>
            </a:solidFill>
            <a:prstDash val="solid"/>
          </a:ln>
        </p:spPr>
      </p:sp>
      <p:sp>
        <p:nvSpPr>
          <p:cNvPr id="24" name="S14/object-385"/>
          <p:cNvSpPr/>
          <p:nvPr/>
        </p:nvSpPr>
        <p:spPr>
          <a:xfrm>
            <a:off x="4562856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实验中 · 继续验证</a:t>
            </a:r>
            <a:endParaRPr lang="en-US" sz="2000" dirty="0"/>
          </a:p>
        </p:txBody>
      </p:sp>
      <p:sp>
        <p:nvSpPr>
          <p:cNvPr id="25" name="S14/object-386"/>
          <p:cNvSpPr/>
          <p:nvPr/>
        </p:nvSpPr>
        <p:spPr>
          <a:xfrm>
            <a:off x="4581144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Tet4实验内核</a:t>
            </a:r>
            <a:endParaRPr lang="en-US" sz="2000" dirty="0"/>
          </a:p>
        </p:txBody>
      </p:sp>
      <p:sp>
        <p:nvSpPr>
          <p:cNvPr id="26" name="S14/object-387"/>
          <p:cNvSpPr/>
          <p:nvPr/>
        </p:nvSpPr>
        <p:spPr>
          <a:xfrm>
            <a:off x="4581144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与主编辑器实体链仍待完善</a:t>
            </a:r>
            <a:endParaRPr lang="en-US" sz="1600" dirty="0"/>
          </a:p>
        </p:txBody>
      </p:sp>
      <p:sp>
        <p:nvSpPr>
          <p:cNvPr id="27" name="S14/object-388"/>
          <p:cNvSpPr/>
          <p:nvPr/>
        </p:nvSpPr>
        <p:spPr>
          <a:xfrm>
            <a:off x="4581144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WebGPU能力检测</a:t>
            </a:r>
            <a:endParaRPr lang="en-US" sz="2000" dirty="0"/>
          </a:p>
        </p:txBody>
      </p:sp>
      <p:sp>
        <p:nvSpPr>
          <p:cNvPr id="28" name="S14/object-389"/>
          <p:cNvSpPr/>
          <p:nvPr/>
        </p:nvSpPr>
        <p:spPr>
          <a:xfrm>
            <a:off x="4581144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不等于GPU数值求解</a:t>
            </a:r>
            <a:endParaRPr lang="en-US" sz="1600" dirty="0"/>
          </a:p>
        </p:txBody>
      </p:sp>
      <p:sp>
        <p:nvSpPr>
          <p:cNvPr id="29" name="S14/object-390"/>
          <p:cNvSpPr/>
          <p:nvPr/>
        </p:nvSpPr>
        <p:spPr>
          <a:xfrm>
            <a:off x="4581144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不把界面入口当作成熟能力</a:t>
            </a:r>
            <a:endParaRPr lang="en-US" sz="1400" dirty="0"/>
          </a:p>
        </p:txBody>
      </p:sp>
      <p:sp>
        <p:nvSpPr>
          <p:cNvPr id="30" name="S14/object-391"/>
          <p:cNvSpPr/>
          <p:nvPr/>
        </p:nvSpPr>
        <p:spPr>
          <a:xfrm>
            <a:off x="8202168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1" name="S14/object-392"/>
          <p:cNvSpPr/>
          <p:nvPr/>
        </p:nvSpPr>
        <p:spPr>
          <a:xfrm>
            <a:off x="8366760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用途边界 · 如实说明</a:t>
            </a:r>
            <a:endParaRPr lang="en-US" sz="2000" dirty="0"/>
          </a:p>
        </p:txBody>
      </p:sp>
      <p:sp>
        <p:nvSpPr>
          <p:cNvPr id="32" name="S14/object-393"/>
          <p:cNvSpPr/>
          <p:nvPr/>
        </p:nvSpPr>
        <p:spPr>
          <a:xfrm>
            <a:off x="8385048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课堂学习与训练</a:t>
            </a:r>
            <a:endParaRPr lang="en-US" sz="2000" dirty="0"/>
          </a:p>
        </p:txBody>
      </p:sp>
      <p:sp>
        <p:nvSpPr>
          <p:cNvPr id="33" name="S14/object-394"/>
          <p:cNvSpPr/>
          <p:nvPr/>
        </p:nvSpPr>
        <p:spPr>
          <a:xfrm>
            <a:off x="8385048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解析对照、可视化理解</a:t>
            </a:r>
            <a:endParaRPr lang="en-US" sz="1600" dirty="0"/>
          </a:p>
        </p:txBody>
      </p:sp>
      <p:sp>
        <p:nvSpPr>
          <p:cNvPr id="34" name="S14/object-395"/>
          <p:cNvSpPr/>
          <p:nvPr/>
        </p:nvSpPr>
        <p:spPr>
          <a:xfrm>
            <a:off x="8385048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尚非工程认证</a:t>
            </a:r>
            <a:endParaRPr lang="en-US" sz="2000" dirty="0"/>
          </a:p>
        </p:txBody>
      </p:sp>
      <p:sp>
        <p:nvSpPr>
          <p:cNvPr id="35" name="S14/object-396"/>
          <p:cNvSpPr/>
          <p:nvPr/>
        </p:nvSpPr>
        <p:spPr>
          <a:xfrm>
            <a:off x="8385048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不用于设计、鉴定或商业用途</a:t>
            </a:r>
            <a:endParaRPr lang="en-US" sz="1600" dirty="0"/>
          </a:p>
        </p:txBody>
      </p:sp>
      <p:sp>
        <p:nvSpPr>
          <p:cNvPr id="36" name="S14/object-397"/>
          <p:cNvSpPr/>
          <p:nvPr/>
        </p:nvSpPr>
        <p:spPr>
          <a:xfrm>
            <a:off x="8385048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功能存在 ≠ 充分验证</a:t>
            </a:r>
            <a:endParaRPr lang="en-US" sz="1400" dirty="0"/>
          </a:p>
        </p:txBody>
      </p:sp>
      <p:pic>
        <p:nvPicPr>
          <p:cNvPr id="37" name="S14/web-rich-09" descr="single-element asset; sha256=bca6ce2edf8253445c3bb8fc91e810354c9b163bbb703c1003ce3e10cc5b47bd; source=D:\MACHANICS-OF-MATERIALS-main\outputs\research-ppt-rich\asset-jobs\R09\LMB-A09-original.png" title="icon: web-rich-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5348" y="813816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5/object-39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5/object-39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5/object-40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5/object-40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5/object-40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5/object-40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5/object-40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如何复现一个简单学习算例？</a:t>
            </a:r>
            <a:endParaRPr lang="en-US" sz="2800" dirty="0"/>
          </a:p>
        </p:txBody>
      </p:sp>
      <p:sp>
        <p:nvSpPr>
          <p:cNvPr id="12" name="S1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从建模、结果查看到解析核对按顺序操作</a:t>
            </a:r>
            <a:endParaRPr lang="en-US" sz="1600" dirty="0"/>
          </a:p>
        </p:txBody>
      </p:sp>
      <p:sp>
        <p:nvSpPr>
          <p:cNvPr id="14" name="S15/object-40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  <p:sp>
        <p:nvSpPr>
          <p:cNvPr id="15" name="S1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来源：live/01-workspace.jpg；live/07-load-properties.jpg；二维解析核验</a:t>
            </a:r>
            <a:endParaRPr lang="en-US" sz="800" dirty="0"/>
          </a:p>
        </p:txBody>
      </p:sp>
      <p:sp>
        <p:nvSpPr>
          <p:cNvPr id="16" name="S15/object-406"/>
          <p:cNvSpPr/>
          <p:nvPr/>
        </p:nvSpPr>
        <p:spPr>
          <a:xfrm>
            <a:off x="571500" y="1805940"/>
            <a:ext cx="6172200" cy="3493008"/>
          </a:xfrm>
          <a:prstGeom prst="rect">
            <a:avLst>
              <a:gd name="adj" fmla="val 418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7" name="S15/guide-evidence" descr="真实本地程序截图；来源 02-guid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9372"/>
            <a:ext cx="6126480" cy="3446145"/>
          </a:xfrm>
          <a:prstGeom prst="rect">
            <a:avLst/>
          </a:prstGeom>
        </p:spPr>
      </p:pic>
      <p:sp>
        <p:nvSpPr>
          <p:cNvPr id="18" name="S15/object-407"/>
          <p:cNvSpPr/>
          <p:nvPr/>
        </p:nvSpPr>
        <p:spPr>
          <a:xfrm>
            <a:off x="7059168" y="18288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9" name="S15/object-408"/>
          <p:cNvSpPr/>
          <p:nvPr/>
        </p:nvSpPr>
        <p:spPr>
          <a:xfrm>
            <a:off x="7059168" y="18790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S15/object-409"/>
          <p:cNvSpPr/>
          <p:nvPr/>
        </p:nvSpPr>
        <p:spPr>
          <a:xfrm>
            <a:off x="7498080" y="1815084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载入案例</a:t>
            </a:r>
            <a:endParaRPr lang="en-US" sz="2100" dirty="0"/>
          </a:p>
        </p:txBody>
      </p:sp>
      <p:sp>
        <p:nvSpPr>
          <p:cNvPr id="21" name="S15/object-410"/>
          <p:cNvSpPr/>
          <p:nvPr/>
        </p:nvSpPr>
        <p:spPr>
          <a:xfrm>
            <a:off x="7498080" y="228600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 → 使用指导与默认案例</a:t>
            </a:r>
            <a:endParaRPr lang="en-US" sz="1700" dirty="0"/>
          </a:p>
        </p:txBody>
      </p:sp>
      <p:sp>
        <p:nvSpPr>
          <p:cNvPr id="22" name="S15/object-411"/>
          <p:cNvSpPr/>
          <p:nvPr/>
        </p:nvSpPr>
        <p:spPr>
          <a:xfrm>
            <a:off x="7059168" y="280720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3" name="S15/object-412"/>
          <p:cNvSpPr/>
          <p:nvPr/>
        </p:nvSpPr>
        <p:spPr>
          <a:xfrm>
            <a:off x="7059168" y="2857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S15/object-413"/>
          <p:cNvSpPr/>
          <p:nvPr/>
        </p:nvSpPr>
        <p:spPr>
          <a:xfrm>
            <a:off x="7498080" y="2793492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检查条件</a:t>
            </a:r>
            <a:endParaRPr lang="en-US" sz="2100" dirty="0"/>
          </a:p>
        </p:txBody>
      </p:sp>
      <p:sp>
        <p:nvSpPr>
          <p:cNvPr id="25" name="S15/object-414"/>
          <p:cNvSpPr/>
          <p:nvPr/>
        </p:nvSpPr>
        <p:spPr>
          <a:xfrm>
            <a:off x="7498080" y="3264408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单位、截面、约束、荷载方向</a:t>
            </a:r>
            <a:endParaRPr lang="en-US" sz="1700" dirty="0"/>
          </a:p>
        </p:txBody>
      </p:sp>
      <p:sp>
        <p:nvSpPr>
          <p:cNvPr id="26" name="S15/object-415"/>
          <p:cNvSpPr/>
          <p:nvPr/>
        </p:nvSpPr>
        <p:spPr>
          <a:xfrm>
            <a:off x="7059168" y="378561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7" name="S15/object-416"/>
          <p:cNvSpPr/>
          <p:nvPr/>
        </p:nvSpPr>
        <p:spPr>
          <a:xfrm>
            <a:off x="7059168" y="383590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S15/object-417"/>
          <p:cNvSpPr/>
          <p:nvPr/>
        </p:nvSpPr>
        <p:spPr>
          <a:xfrm>
            <a:off x="7498080" y="377190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求解与核对</a:t>
            </a:r>
            <a:endParaRPr lang="en-US" sz="2100" dirty="0"/>
          </a:p>
        </p:txBody>
      </p:sp>
      <p:sp>
        <p:nvSpPr>
          <p:cNvPr id="29" name="S15/object-418"/>
          <p:cNvSpPr/>
          <p:nvPr/>
        </p:nvSpPr>
        <p:spPr>
          <a:xfrm>
            <a:off x="7498080" y="4242816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二维自动求解；三维点本地求解</a:t>
            </a:r>
            <a:endParaRPr lang="en-US" sz="1700" dirty="0"/>
          </a:p>
        </p:txBody>
      </p:sp>
      <p:sp>
        <p:nvSpPr>
          <p:cNvPr id="30" name="S15/object-419"/>
          <p:cNvSpPr/>
          <p:nvPr/>
        </p:nvSpPr>
        <p:spPr>
          <a:xfrm>
            <a:off x="7059168" y="4764024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1" name="S15/object-420"/>
          <p:cNvSpPr/>
          <p:nvPr/>
        </p:nvSpPr>
        <p:spPr>
          <a:xfrm>
            <a:off x="7059168" y="481431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S15/object-421"/>
          <p:cNvSpPr/>
          <p:nvPr/>
        </p:nvSpPr>
        <p:spPr>
          <a:xfrm>
            <a:off x="7498080" y="475030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改变单参数</a:t>
            </a:r>
            <a:endParaRPr lang="en-US" sz="2100" dirty="0"/>
          </a:p>
        </p:txBody>
      </p:sp>
      <p:sp>
        <p:nvSpPr>
          <p:cNvPr id="33" name="S15/object-422"/>
          <p:cNvSpPr/>
          <p:nvPr/>
        </p:nvSpPr>
        <p:spPr>
          <a:xfrm>
            <a:off x="7498080" y="5221224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先预测，改位置，再比较结果</a:t>
            </a:r>
            <a:endParaRPr lang="en-US" sz="1700" dirty="0"/>
          </a:p>
        </p:txBody>
      </p:sp>
      <p:sp>
        <p:nvSpPr>
          <p:cNvPr id="34" name="S15/object-423"/>
          <p:cNvSpPr/>
          <p:nvPr/>
        </p:nvSpPr>
        <p:spPr>
          <a:xfrm>
            <a:off x="685800" y="57424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排错线索：不稳定→约束；量级异常→单位；图形异常→方向与局部坐标。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6/object-42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6/object-42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6/object-42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6/object-42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6/object-42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6/object-42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6/object-43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让力学结果真正可理解</a:t>
            </a:r>
            <a:endParaRPr lang="en-US" sz="2800" dirty="0"/>
          </a:p>
        </p:txBody>
      </p:sp>
      <p:sp>
        <p:nvSpPr>
          <p:cNvPr id="12" name="S1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以可复算案例验证功能，再逐步扩展边界</a:t>
            </a:r>
            <a:endParaRPr lang="en-US" sz="1600" dirty="0"/>
          </a:p>
        </p:txBody>
      </p:sp>
      <p:sp>
        <p:nvSpPr>
          <p:cNvPr id="14" name="S16/object-43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  <p:sp>
        <p:nvSpPr>
          <p:cNvPr id="15" name="S1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来源：二维解析与实机记录；三维实机记录；证据缺口清单</a:t>
            </a:r>
            <a:endParaRPr lang="en-US" sz="800" dirty="0"/>
          </a:p>
        </p:txBody>
      </p:sp>
      <p:sp>
        <p:nvSpPr>
          <p:cNvPr id="16" name="S16/object-432"/>
          <p:cNvSpPr/>
          <p:nvPr/>
        </p:nvSpPr>
        <p:spPr>
          <a:xfrm>
            <a:off x="685800" y="19202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3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把“看见结果”推进到“解释结果”</a:t>
            </a:r>
            <a:endParaRPr lang="en-US" sz="3300" dirty="0"/>
          </a:p>
        </p:txBody>
      </p:sp>
      <p:sp>
        <p:nvSpPr>
          <p:cNvPr id="17" name="S16/object-433"/>
          <p:cNvSpPr/>
          <p:nvPr/>
        </p:nvSpPr>
        <p:spPr>
          <a:xfrm>
            <a:off x="64008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8" name="S16/object-434"/>
          <p:cNvSpPr/>
          <p:nvPr/>
        </p:nvSpPr>
        <p:spPr>
          <a:xfrm>
            <a:off x="82296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19" name="S16/object-435"/>
          <p:cNvSpPr/>
          <p:nvPr/>
        </p:nvSpPr>
        <p:spPr>
          <a:xfrm>
            <a:off x="82296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可视化建模</a:t>
            </a:r>
            <a:endParaRPr lang="en-US" sz="2300" dirty="0"/>
          </a:p>
        </p:txBody>
      </p:sp>
      <p:sp>
        <p:nvSpPr>
          <p:cNvPr id="20" name="S16/object-436"/>
          <p:cNvSpPr/>
          <p:nvPr/>
        </p:nvSpPr>
        <p:spPr>
          <a:xfrm>
            <a:off x="82296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把条件转成节点与构件</a:t>
            </a:r>
            <a:endParaRPr lang="en-US" sz="1700" dirty="0"/>
          </a:p>
        </p:txBody>
      </p:sp>
      <p:sp>
        <p:nvSpPr>
          <p:cNvPr id="21" name="S16/object-437"/>
          <p:cNvSpPr/>
          <p:nvPr/>
        </p:nvSpPr>
        <p:spPr>
          <a:xfrm>
            <a:off x="82296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已见：二维与空间工作区</a:t>
            </a:r>
            <a:endParaRPr lang="en-US" sz="1200" dirty="0"/>
          </a:p>
        </p:txBody>
      </p:sp>
      <p:sp>
        <p:nvSpPr>
          <p:cNvPr id="22" name="S16/object-438"/>
          <p:cNvSpPr/>
          <p:nvPr/>
        </p:nvSpPr>
        <p:spPr>
          <a:xfrm>
            <a:off x="443484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2F3F0"/>
          </a:solidFill>
          <a:ln w="10160">
            <a:solidFill>
              <a:srgbClr val="E2F3F0"/>
            </a:solidFill>
            <a:prstDash val="solid"/>
          </a:ln>
        </p:spPr>
      </p:sp>
      <p:sp>
        <p:nvSpPr>
          <p:cNvPr id="23" name="S16/object-439"/>
          <p:cNvSpPr/>
          <p:nvPr/>
        </p:nvSpPr>
        <p:spPr>
          <a:xfrm>
            <a:off x="461772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24" name="S16/object-440"/>
          <p:cNvSpPr/>
          <p:nvPr/>
        </p:nvSpPr>
        <p:spPr>
          <a:xfrm>
            <a:off x="461772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结果解释</a:t>
            </a:r>
            <a:endParaRPr lang="en-US" sz="2300" dirty="0"/>
          </a:p>
        </p:txBody>
      </p:sp>
      <p:sp>
        <p:nvSpPr>
          <p:cNvPr id="25" name="S16/object-441"/>
          <p:cNvSpPr/>
          <p:nvPr/>
        </p:nvSpPr>
        <p:spPr>
          <a:xfrm>
            <a:off x="461772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联系内力图、公式与危险位置</a:t>
            </a:r>
            <a:endParaRPr lang="en-US" sz="1700" dirty="0"/>
          </a:p>
        </p:txBody>
      </p:sp>
      <p:sp>
        <p:nvSpPr>
          <p:cNvPr id="26" name="S16/object-442"/>
          <p:cNvSpPr/>
          <p:nvPr/>
        </p:nvSpPr>
        <p:spPr>
          <a:xfrm>
            <a:off x="461772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已见：默认梁幅值对照</a:t>
            </a:r>
            <a:endParaRPr lang="en-US" sz="1200" dirty="0"/>
          </a:p>
        </p:txBody>
      </p:sp>
      <p:sp>
        <p:nvSpPr>
          <p:cNvPr id="27" name="S16/object-443"/>
          <p:cNvSpPr/>
          <p:nvPr/>
        </p:nvSpPr>
        <p:spPr>
          <a:xfrm>
            <a:off x="822960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8" name="S16/object-444"/>
          <p:cNvSpPr/>
          <p:nvPr/>
        </p:nvSpPr>
        <p:spPr>
          <a:xfrm>
            <a:off x="841248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29" name="S16/object-445"/>
          <p:cNvSpPr/>
          <p:nvPr/>
        </p:nvSpPr>
        <p:spPr>
          <a:xfrm>
            <a:off x="841248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独立核验</a:t>
            </a:r>
            <a:endParaRPr lang="en-US" sz="2300" dirty="0"/>
          </a:p>
        </p:txBody>
      </p:sp>
      <p:sp>
        <p:nvSpPr>
          <p:cNvPr id="30" name="S16/object-446"/>
          <p:cNvSpPr/>
          <p:nvPr/>
        </p:nvSpPr>
        <p:spPr>
          <a:xfrm>
            <a:off x="841248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平衡关系与解析解交叉检查</a:t>
            </a:r>
            <a:endParaRPr lang="en-US" sz="1700" dirty="0"/>
          </a:p>
        </p:txBody>
      </p:sp>
      <p:sp>
        <p:nvSpPr>
          <p:cNvPr id="31" name="S16/object-447"/>
          <p:cNvSpPr/>
          <p:nvPr/>
        </p:nvSpPr>
        <p:spPr>
          <a:xfrm>
            <a:off x="841248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已见：空间三向力平衡</a:t>
            </a:r>
            <a:endParaRPr lang="en-US" sz="1200" dirty="0"/>
          </a:p>
        </p:txBody>
      </p:sp>
      <p:sp>
        <p:nvSpPr>
          <p:cNvPr id="32" name="S16/object-448"/>
          <p:cNvSpPr/>
          <p:nvPr/>
        </p:nvSpPr>
        <p:spPr>
          <a:xfrm>
            <a:off x="749808" y="56509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900" dirty="0"/>
          </a:p>
        </p:txBody>
      </p:sp>
      <p:sp>
        <p:nvSpPr>
          <p:cNvPr id="33" name="S16/object-449"/>
          <p:cNvSpPr/>
          <p:nvPr/>
        </p:nvSpPr>
        <p:spPr>
          <a:xfrm>
            <a:off x="2057400" y="563270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补充边界与荷载组合 → 建立回归算例 → 完善空间分析与完整力矩核验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7/object-45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7/object-45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7/object-45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7/object-45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7/object-45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7/object-45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7/object-45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附录：公式与单位速查</a:t>
            </a:r>
            <a:endParaRPr lang="en-US" sz="2800" dirty="0"/>
          </a:p>
        </p:txBody>
      </p:sp>
      <p:sp>
        <p:nvSpPr>
          <p:cNvPr id="12" name="S1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统一参数定义、单位和符号口径</a:t>
            </a:r>
            <a:endParaRPr lang="en-US" sz="1600" dirty="0"/>
          </a:p>
        </p:txBody>
      </p:sp>
      <p:sp>
        <p:nvSpPr>
          <p:cNvPr id="14" name="S17/object-45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  <p:sp>
        <p:nvSpPr>
          <p:cNvPr id="15" name="S1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来源：静力学公式；README.md公式符号</a:t>
            </a:r>
            <a:endParaRPr lang="en-US" sz="800" dirty="0"/>
          </a:p>
        </p:txBody>
      </p:sp>
      <p:sp>
        <p:nvSpPr>
          <p:cNvPr id="16" name="S17/object-458"/>
          <p:cNvSpPr/>
          <p:nvPr/>
        </p:nvSpPr>
        <p:spPr>
          <a:xfrm>
            <a:off x="59436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17/object-459"/>
          <p:cNvSpPr/>
          <p:nvPr/>
        </p:nvSpPr>
        <p:spPr>
          <a:xfrm>
            <a:off x="75895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8" name="S17/object-460"/>
          <p:cNvSpPr/>
          <p:nvPr/>
        </p:nvSpPr>
        <p:spPr>
          <a:xfrm>
            <a:off x="86868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S17/object-461"/>
          <p:cNvSpPr/>
          <p:nvPr/>
        </p:nvSpPr>
        <p:spPr>
          <a:xfrm>
            <a:off x="141732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轴向拉压</a:t>
            </a:r>
            <a:endParaRPr lang="en-US" sz="2200" dirty="0"/>
          </a:p>
        </p:txBody>
      </p:sp>
      <p:sp>
        <p:nvSpPr>
          <p:cNvPr id="20" name="S17/object-462"/>
          <p:cNvSpPr/>
          <p:nvPr/>
        </p:nvSpPr>
        <p:spPr>
          <a:xfrm>
            <a:off x="77724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σ=N/A；ΔL=NL/(EA)</a:t>
            </a:r>
            <a:endParaRPr lang="en-US" sz="2000" dirty="0"/>
          </a:p>
        </p:txBody>
      </p:sp>
      <p:sp>
        <p:nvSpPr>
          <p:cNvPr id="21" name="S17/object-463"/>
          <p:cNvSpPr/>
          <p:nvPr/>
        </p:nvSpPr>
        <p:spPr>
          <a:xfrm>
            <a:off x="77724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N：轴力；A：面积；E：弹性模量</a:t>
            </a:r>
            <a:endParaRPr lang="en-US" sz="1400" dirty="0"/>
          </a:p>
        </p:txBody>
      </p:sp>
      <p:sp>
        <p:nvSpPr>
          <p:cNvPr id="22" name="S17/object-464"/>
          <p:cNvSpPr/>
          <p:nvPr/>
        </p:nvSpPr>
        <p:spPr>
          <a:xfrm>
            <a:off x="77724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均匀等截面、线弹性；统一N/m/Pa</a:t>
            </a:r>
            <a:endParaRPr lang="en-US" sz="1200" dirty="0"/>
          </a:p>
        </p:txBody>
      </p:sp>
      <p:sp>
        <p:nvSpPr>
          <p:cNvPr id="23" name="S17/object-465"/>
          <p:cNvSpPr/>
          <p:nvPr/>
        </p:nvSpPr>
        <p:spPr>
          <a:xfrm>
            <a:off x="626364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4" name="S17/object-466"/>
          <p:cNvSpPr/>
          <p:nvPr/>
        </p:nvSpPr>
        <p:spPr>
          <a:xfrm>
            <a:off x="642823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17/object-467"/>
          <p:cNvSpPr/>
          <p:nvPr/>
        </p:nvSpPr>
        <p:spPr>
          <a:xfrm>
            <a:off x="653796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S17/object-468"/>
          <p:cNvSpPr/>
          <p:nvPr/>
        </p:nvSpPr>
        <p:spPr>
          <a:xfrm>
            <a:off x="708660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弯曲响应</a:t>
            </a:r>
            <a:endParaRPr lang="en-US" sz="2200" dirty="0"/>
          </a:p>
        </p:txBody>
      </p:sp>
      <p:sp>
        <p:nvSpPr>
          <p:cNvPr id="27" name="S17/object-469"/>
          <p:cNvSpPr/>
          <p:nvPr/>
        </p:nvSpPr>
        <p:spPr>
          <a:xfrm>
            <a:off x="644652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σmax=M/W；EI控制挠度</a:t>
            </a:r>
            <a:endParaRPr lang="en-US" sz="2000" dirty="0"/>
          </a:p>
        </p:txBody>
      </p:sp>
      <p:sp>
        <p:nvSpPr>
          <p:cNvPr id="28" name="S17/object-470"/>
          <p:cNvSpPr/>
          <p:nvPr/>
        </p:nvSpPr>
        <p:spPr>
          <a:xfrm>
            <a:off x="644652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M：弯矩；W：抗弯截面系数</a:t>
            </a:r>
            <a:endParaRPr lang="en-US" sz="1400" dirty="0"/>
          </a:p>
        </p:txBody>
      </p:sp>
      <p:sp>
        <p:nvSpPr>
          <p:cNvPr id="29" name="S17/object-471"/>
          <p:cNvSpPr/>
          <p:nvPr/>
        </p:nvSpPr>
        <p:spPr>
          <a:xfrm>
            <a:off x="644652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线弹性、小变形；截面与边界须匹配</a:t>
            </a:r>
            <a:endParaRPr lang="en-US" sz="1200" dirty="0"/>
          </a:p>
        </p:txBody>
      </p:sp>
      <p:sp>
        <p:nvSpPr>
          <p:cNvPr id="30" name="S17/object-472"/>
          <p:cNvSpPr/>
          <p:nvPr/>
        </p:nvSpPr>
        <p:spPr>
          <a:xfrm>
            <a:off x="59436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6F3F1"/>
          </a:solidFill>
          <a:ln w="10160">
            <a:solidFill>
              <a:srgbClr val="E6F3F1"/>
            </a:solidFill>
            <a:prstDash val="solid"/>
          </a:ln>
        </p:spPr>
      </p:sp>
      <p:sp>
        <p:nvSpPr>
          <p:cNvPr id="31" name="S17/object-473"/>
          <p:cNvSpPr/>
          <p:nvPr/>
        </p:nvSpPr>
        <p:spPr>
          <a:xfrm>
            <a:off x="75895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2" name="S17/object-474"/>
          <p:cNvSpPr/>
          <p:nvPr/>
        </p:nvSpPr>
        <p:spPr>
          <a:xfrm>
            <a:off x="86868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S17/object-475"/>
          <p:cNvSpPr/>
          <p:nvPr/>
        </p:nvSpPr>
        <p:spPr>
          <a:xfrm>
            <a:off x="141732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圆轴扭转</a:t>
            </a:r>
            <a:endParaRPr lang="en-US" sz="2200" dirty="0"/>
          </a:p>
        </p:txBody>
      </p:sp>
      <p:sp>
        <p:nvSpPr>
          <p:cNvPr id="34" name="S17/object-476"/>
          <p:cNvSpPr/>
          <p:nvPr/>
        </p:nvSpPr>
        <p:spPr>
          <a:xfrm>
            <a:off x="77724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τmax=T/Wt；φ=TL/(GJ)</a:t>
            </a:r>
            <a:endParaRPr lang="en-US" sz="2000" dirty="0"/>
          </a:p>
        </p:txBody>
      </p:sp>
      <p:sp>
        <p:nvSpPr>
          <p:cNvPr id="35" name="S17/object-477"/>
          <p:cNvSpPr/>
          <p:nvPr/>
        </p:nvSpPr>
        <p:spPr>
          <a:xfrm>
            <a:off x="77724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T：扭矩；J：极惯性矩；G：剪切模量</a:t>
            </a:r>
            <a:endParaRPr lang="en-US" sz="1400" dirty="0"/>
          </a:p>
        </p:txBody>
      </p:sp>
      <p:sp>
        <p:nvSpPr>
          <p:cNvPr id="36" name="S17/object-478"/>
          <p:cNvSpPr/>
          <p:nvPr/>
        </p:nvSpPr>
        <p:spPr>
          <a:xfrm>
            <a:off x="77724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均匀圆轴、小变形；角度按rad</a:t>
            </a:r>
            <a:endParaRPr lang="en-US" sz="1200" dirty="0"/>
          </a:p>
        </p:txBody>
      </p:sp>
      <p:sp>
        <p:nvSpPr>
          <p:cNvPr id="37" name="S17/object-479"/>
          <p:cNvSpPr/>
          <p:nvPr/>
        </p:nvSpPr>
        <p:spPr>
          <a:xfrm>
            <a:off x="626364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6F3F1"/>
          </a:solidFill>
          <a:ln w="10160">
            <a:solidFill>
              <a:srgbClr val="E6F3F1"/>
            </a:solidFill>
            <a:prstDash val="solid"/>
          </a:ln>
        </p:spPr>
      </p:sp>
      <p:sp>
        <p:nvSpPr>
          <p:cNvPr id="38" name="S17/object-480"/>
          <p:cNvSpPr/>
          <p:nvPr/>
        </p:nvSpPr>
        <p:spPr>
          <a:xfrm>
            <a:off x="642823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9" name="S17/object-481"/>
          <p:cNvSpPr/>
          <p:nvPr/>
        </p:nvSpPr>
        <p:spPr>
          <a:xfrm>
            <a:off x="653796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S17/object-482"/>
          <p:cNvSpPr/>
          <p:nvPr/>
        </p:nvSpPr>
        <p:spPr>
          <a:xfrm>
            <a:off x="708660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集中力简支梁</a:t>
            </a:r>
            <a:endParaRPr lang="en-US" sz="2200" dirty="0"/>
          </a:p>
        </p:txBody>
      </p:sp>
      <p:sp>
        <p:nvSpPr>
          <p:cNvPr id="41" name="S17/object-483"/>
          <p:cNvSpPr/>
          <p:nvPr/>
        </p:nvSpPr>
        <p:spPr>
          <a:xfrm>
            <a:off x="644652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RA=P(L−a)/L；Mpeak=Pa(L−a)/L</a:t>
            </a:r>
            <a:endParaRPr lang="en-US" sz="2000" dirty="0"/>
          </a:p>
        </p:txBody>
      </p:sp>
      <p:sp>
        <p:nvSpPr>
          <p:cNvPr id="42" name="S17/object-484"/>
          <p:cNvSpPr/>
          <p:nvPr/>
        </p:nvSpPr>
        <p:spPr>
          <a:xfrm>
            <a:off x="644652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a：距左支座位置；0&lt;a&lt;L</a:t>
            </a:r>
            <a:endParaRPr lang="en-US" sz="1400" dirty="0"/>
          </a:p>
        </p:txBody>
      </p:sp>
      <p:sp>
        <p:nvSpPr>
          <p:cNvPr id="43" name="S17/object-485"/>
          <p:cNvSpPr/>
          <p:nvPr/>
        </p:nvSpPr>
        <p:spPr>
          <a:xfrm>
            <a:off x="644652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本稿P=18kN，L=6m；仅解析预测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8/object-48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8/object-48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8/object-48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8/object-48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8/object-49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8/object-49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8/object-49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附录：证据索引与验证范围</a:t>
            </a:r>
            <a:endParaRPr lang="en-US" sz="2800" dirty="0"/>
          </a:p>
        </p:txBody>
      </p:sp>
      <p:sp>
        <p:nvSpPr>
          <p:cNvPr id="12" name="S1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每一项结论必须能够追溯到具体来源</a:t>
            </a:r>
            <a:endParaRPr lang="en-US" sz="1600" dirty="0"/>
          </a:p>
        </p:txBody>
      </p:sp>
      <p:sp>
        <p:nvSpPr>
          <p:cNvPr id="14" name="S18/object-49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  <p:sp>
        <p:nvSpPr>
          <p:cNvPr id="15" name="S1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来源：README.md；outputs/classmate-sharing/assets/live/；qa/live-run-evidence.json</a:t>
            </a:r>
            <a:endParaRPr lang="en-US" sz="800" dirty="0"/>
          </a:p>
        </p:txBody>
      </p:sp>
      <p:sp>
        <p:nvSpPr>
          <p:cNvPr id="16" name="S18/object-494"/>
          <p:cNvSpPr/>
          <p:nvPr/>
        </p:nvSpPr>
        <p:spPr>
          <a:xfrm>
            <a:off x="640080" y="1847088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18/object-495"/>
          <p:cNvSpPr/>
          <p:nvPr/>
        </p:nvSpPr>
        <p:spPr>
          <a:xfrm>
            <a:off x="749808" y="1911096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18" name="S18/object-496"/>
          <p:cNvSpPr/>
          <p:nvPr/>
        </p:nvSpPr>
        <p:spPr>
          <a:xfrm>
            <a:off x="1325880" y="18562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实机已观察</a:t>
            </a:r>
            <a:endParaRPr lang="en-US" sz="2100" dirty="0"/>
          </a:p>
        </p:txBody>
      </p:sp>
      <p:sp>
        <p:nvSpPr>
          <p:cNvPr id="19" name="S18/object-497"/>
          <p:cNvSpPr/>
          <p:nvPr/>
        </p:nvSpPr>
        <p:spPr>
          <a:xfrm>
            <a:off x="3566160" y="18562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二维梁9/9kN与27kN·m幅值；空间三向力平衡</a:t>
            </a:r>
            <a:endParaRPr lang="en-US" sz="1800" dirty="0"/>
          </a:p>
        </p:txBody>
      </p:sp>
      <p:sp>
        <p:nvSpPr>
          <p:cNvPr id="20" name="S18/object-498"/>
          <p:cNvSpPr/>
          <p:nvPr/>
        </p:nvSpPr>
        <p:spPr>
          <a:xfrm>
            <a:off x="3566160" y="2377440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本地实机截图与运行记录</a:t>
            </a:r>
            <a:endParaRPr lang="en-US" sz="1200" dirty="0"/>
          </a:p>
        </p:txBody>
      </p:sp>
      <p:sp>
        <p:nvSpPr>
          <p:cNvPr id="21" name="S18/object-499"/>
          <p:cNvSpPr/>
          <p:nvPr/>
        </p:nvSpPr>
        <p:spPr>
          <a:xfrm>
            <a:off x="1325880" y="2660904"/>
            <a:ext cx="1012240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22" name="S18/object-500"/>
          <p:cNvSpPr/>
          <p:nvPr/>
        </p:nvSpPr>
        <p:spPr>
          <a:xfrm>
            <a:off x="640080" y="2834640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3" name="S18/object-501"/>
          <p:cNvSpPr/>
          <p:nvPr/>
        </p:nvSpPr>
        <p:spPr>
          <a:xfrm>
            <a:off x="749808" y="2898648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24" name="S18/object-502"/>
          <p:cNvSpPr/>
          <p:nvPr/>
        </p:nvSpPr>
        <p:spPr>
          <a:xfrm>
            <a:off x="1325880" y="28437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解析预测</a:t>
            </a:r>
            <a:endParaRPr lang="en-US" sz="2100" dirty="0"/>
          </a:p>
        </p:txBody>
      </p:sp>
      <p:sp>
        <p:nvSpPr>
          <p:cNvPr id="25" name="S18/object-503"/>
          <p:cNvSpPr/>
          <p:nvPr/>
        </p:nvSpPr>
        <p:spPr>
          <a:xfrm>
            <a:off x="3566160" y="284378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荷载位置a=1/2/3m的反力与弯矩趋势</a:t>
            </a:r>
            <a:endParaRPr lang="en-US" sz="1800" dirty="0"/>
          </a:p>
        </p:txBody>
      </p:sp>
      <p:sp>
        <p:nvSpPr>
          <p:cNvPr id="26" name="S18/object-504"/>
          <p:cNvSpPr/>
          <p:nvPr/>
        </p:nvSpPr>
        <p:spPr>
          <a:xfrm>
            <a:off x="3566160" y="3364992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sources/native-data.json，非新增测量</a:t>
            </a:r>
            <a:endParaRPr lang="en-US" sz="1200" dirty="0"/>
          </a:p>
        </p:txBody>
      </p:sp>
      <p:sp>
        <p:nvSpPr>
          <p:cNvPr id="27" name="S18/object-505"/>
          <p:cNvSpPr/>
          <p:nvPr/>
        </p:nvSpPr>
        <p:spPr>
          <a:xfrm>
            <a:off x="1325880" y="3648456"/>
            <a:ext cx="1012240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28" name="S18/object-506"/>
          <p:cNvSpPr/>
          <p:nvPr/>
        </p:nvSpPr>
        <p:spPr>
          <a:xfrm>
            <a:off x="640080" y="3822192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9" name="S18/object-507"/>
          <p:cNvSpPr/>
          <p:nvPr/>
        </p:nvSpPr>
        <p:spPr>
          <a:xfrm>
            <a:off x="749808" y="3886200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30" name="S18/object-508"/>
          <p:cNvSpPr/>
          <p:nvPr/>
        </p:nvSpPr>
        <p:spPr>
          <a:xfrm>
            <a:off x="1325880" y="3831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实验与缺项</a:t>
            </a:r>
            <a:endParaRPr lang="en-US" sz="2100" dirty="0"/>
          </a:p>
        </p:txBody>
      </p:sp>
      <p:sp>
        <p:nvSpPr>
          <p:cNvPr id="31" name="S18/object-509"/>
          <p:cNvSpPr/>
          <p:nvPr/>
        </p:nvSpPr>
        <p:spPr>
          <a:xfrm>
            <a:off x="3566160" y="38313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Tet4实验；完整力矩核验待补；GPU仅检测</a:t>
            </a:r>
            <a:endParaRPr lang="en-US" sz="1800" dirty="0"/>
          </a:p>
        </p:txBody>
      </p:sp>
      <p:sp>
        <p:nvSpPr>
          <p:cNvPr id="32" name="S18/object-510"/>
          <p:cNvSpPr/>
          <p:nvPr/>
        </p:nvSpPr>
        <p:spPr>
          <a:xfrm>
            <a:off x="3566160" y="4352544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README及求解能力审计</a:t>
            </a:r>
            <a:endParaRPr lang="en-US" sz="1200" dirty="0"/>
          </a:p>
        </p:txBody>
      </p:sp>
      <p:sp>
        <p:nvSpPr>
          <p:cNvPr id="33" name="S18/object-511"/>
          <p:cNvSpPr/>
          <p:nvPr/>
        </p:nvSpPr>
        <p:spPr>
          <a:xfrm>
            <a:off x="1325880" y="4636008"/>
            <a:ext cx="1012240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34" name="S18/object-512"/>
          <p:cNvSpPr/>
          <p:nvPr/>
        </p:nvSpPr>
        <p:spPr>
          <a:xfrm>
            <a:off x="640080" y="4809744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5" name="S18/object-513"/>
          <p:cNvSpPr/>
          <p:nvPr/>
        </p:nvSpPr>
        <p:spPr>
          <a:xfrm>
            <a:off x="749808" y="4873752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36" name="S18/object-514"/>
          <p:cNvSpPr/>
          <p:nvPr/>
        </p:nvSpPr>
        <p:spPr>
          <a:xfrm>
            <a:off x="1325880" y="4818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视觉协作</a:t>
            </a:r>
            <a:endParaRPr lang="en-US" sz="2100" dirty="0"/>
          </a:p>
        </p:txBody>
      </p:sp>
      <p:sp>
        <p:nvSpPr>
          <p:cNvPr id="37" name="S18/object-515"/>
          <p:cNvSpPr/>
          <p:nvPr/>
        </p:nvSpPr>
        <p:spPr>
          <a:xfrm>
            <a:off x="3566160" y="48188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网页规划与逐项独立素材生成，模型名未核验</a:t>
            </a:r>
            <a:endParaRPr lang="en-US" sz="1800" dirty="0"/>
          </a:p>
        </p:txBody>
      </p:sp>
      <p:sp>
        <p:nvSpPr>
          <p:cNvPr id="38" name="S18/object-516"/>
          <p:cNvSpPr/>
          <p:nvPr/>
        </p:nvSpPr>
        <p:spPr>
          <a:xfrm>
            <a:off x="3566160" y="5340096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用户授权当前网页版继续</a:t>
            </a:r>
            <a:endParaRPr lang="en-US" sz="1200" dirty="0"/>
          </a:p>
        </p:txBody>
      </p:sp>
      <p:sp>
        <p:nvSpPr>
          <p:cNvPr id="39" name="S18/object-517"/>
          <p:cNvSpPr/>
          <p:nvPr/>
        </p:nvSpPr>
        <p:spPr>
          <a:xfrm>
            <a:off x="1325880" y="5623560"/>
            <a:ext cx="1012240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40" name="S18/object-518"/>
          <p:cNvSpPr/>
          <p:nvPr/>
        </p:nvSpPr>
        <p:spPr>
          <a:xfrm>
            <a:off x="777240" y="5934456"/>
            <a:ext cx="10698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欢迎带着模型、单位和截图交流：先定位条件，再判断差异。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拉压弯扭大师｜视觉与内容增强版</dc:title>
  <dc:subject>PptxGenJS Presentation</dc:subject>
  <dc:creator>拉压弯扭大师</dc:creator>
  <cp:lastModifiedBy>拉压弯扭大师</cp:lastModifiedBy>
  <cp:revision>1</cp:revision>
  <dcterms:created xsi:type="dcterms:W3CDTF">2026-10-11T10:00:36Z</dcterms:created>
  <dcterms:modified xsi:type="dcterms:W3CDTF">2026-10-11T10:00:36Z</dcterms:modified>
</cp:coreProperties>
</file>
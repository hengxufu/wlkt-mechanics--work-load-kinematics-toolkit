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1-1.jpg" ContentType="image/jpg"/>
  <Override PartName="/ppt/media/image-15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FA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008D9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Times New Roman"/>
                  <a:ea typeface="Microsoft YaHei"/>
                  <a:cs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Times New Roman"/>
              <a:ea typeface="Microsoft YaHei"/>
              <a:cs typeface="Times New Roman"/>
            </a:defRPr>
          </a:pPr>
          <a:endParaRPr lang="en-US">
            <a:latin typeface="Times New Roman"/>
            <a:ea typeface="Microsoft YaHei"/>
            <a:cs typeface="Times New Roman"/>
          </a:endParaRPr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008D9C"/>
            </a:solidFill>
            <a:ln w="25400" cap="flat">
              <a:solidFill>
                <a:srgbClr val="008D9C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  <a:ea typeface="Microsoft YaHei"/>
                    <a:cs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D9C"/>
              </a:solidFill>
              <a:ln w="9525" cap="flat">
                <a:solidFill>
                  <a:srgbClr val="008D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Times New Roman"/>
                  <a:ea typeface="Microsoft YaHei"/>
                  <a:cs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defRPr>
            </a:pPr>
            <a:endParaRPr lang="en-US">
              <a:latin typeface="Times New Roman"/>
              <a:ea typeface="Microsoft YaHei"/>
              <a:cs typeface="Times New Roman"/>
            </a:endParaR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5282F153-3F37-0F45-9E97-73ACFA13230C}" type="datetimeFigureOut">
              <a:rPr lang="en-US">
                <a:latin typeface="Times New Roman"/>
                <a:ea typeface="Microsoft YaHei"/>
                <a:cs typeface="Times New Roman"/>
              </a:rPr>
              <a:t>7/23/19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Microsoft YaHei"/>
                <a:cs typeface="Times New Roman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CE5E9CC1-C706-0F49-92D6-E571CC5EEA8F}" type="slidenum">
              <a:rPr lang="en-US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2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45秒：讲清从模型输入到CPU求解，再到结果观察及解析核验的流程。出现差异时返回检查输入。
视觉与内容增强：明确模型创建、材料截面、约束荷载、求解计算、结果展示、教学解释六阶段，区分软件功能与验证环节。
来源：README.md；用户提供的技术架构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4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5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6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7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8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9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10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11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12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13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14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15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16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17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18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bodyStyle>
    <p:otherStyle>
      <a:defPPr>
        <a:defRPr lang="en-US">
          <a:latin typeface="Times New Roman"/>
          <a:ea typeface="Microsoft YaHei"/>
          <a:cs typeface="Times New Roman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本地离线的材料力学学习辅助软件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来源：README.md；用户提供的产品定位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从力学概念</a:t>
            </a:r>
            <a:endParaRPr lang="en-US" sz="3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到可验证计算</a:t>
            </a:r>
            <a:endParaRPr lang="en-US" sz="4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本地离线材料力学学习软件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模型：节点 / 材料 / 截面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响应：内力 / 变形 / 反力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4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解释：公式 / 推导 / 核验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4F0FA"/>
          </a:solidFill>
          <a:ln w="10160">
            <a:solidFill>
              <a:srgbClr val="E4F0FA"/>
            </a:solidFill>
            <a:prstDash val="solid"/>
          </a:ln>
        </p:spPr>
      </p:sp>
      <p:sp>
        <p:nvSpPr>
          <p:cNvPr id="26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7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8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真实工作区 · 二维 / 空间杆系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本地离线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v2.0.2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4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同学分享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概念飘带仅作装饰</a:t>
            </a:r>
            <a:endParaRPr lang="en-US" sz="9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6" name="S01/web-rich-10" descr="single-element asset; sha256=5e1964e58ec7623075b85b16b802c7f91f796e46c8bda04914050eaf19c654e9; source=D:\MACHANICS-OF-MATERIALS-main\outputs\research-ppt-rich\asset-jobs\R10\LMB-A10-original.png" title="ornament: web-rich-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5074920"/>
            <a:ext cx="246888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为什么需要这样的学习工具？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课堂难点是把模型、计算与内力图联系起来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来源：二维简支梁解析条件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2/object-36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2/object-37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2/object-38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建模抽象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2/object-39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支座究竟约束什么？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2/object-40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21" name="S02/object-41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节点 / 单元 / 自由度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2/object-42"/>
          <p:cNvSpPr/>
          <p:nvPr/>
        </p:nvSpPr>
        <p:spPr>
          <a:xfrm>
            <a:off x="77724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先画条件，再建立模型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2/object-43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5F3F2"/>
          </a:solidFill>
          <a:ln w="10160">
            <a:solidFill>
              <a:srgbClr val="E5F3F2"/>
            </a:solidFill>
            <a:prstDash val="solid"/>
          </a:ln>
        </p:spPr>
      </p:sp>
      <p:sp>
        <p:nvSpPr>
          <p:cNvPr id="24" name="S02/object-44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2/object-45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符号难读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2/object-46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负弯矩是否表示错误？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02/object-47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28" name="S02/object-48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局部坐标 / 正负约定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2/object-49"/>
          <p:cNvSpPr/>
          <p:nvPr/>
        </p:nvSpPr>
        <p:spPr>
          <a:xfrm>
            <a:off x="457200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先辨符号，再比较幅值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2/object-50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02/object-51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2/object-52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可信度判断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2/object-53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求解完成就足够吗？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2/object-54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35" name="S02/object-55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平衡关系 / 解析对照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02/object-56"/>
          <p:cNvSpPr/>
          <p:nvPr/>
        </p:nvSpPr>
        <p:spPr>
          <a:xfrm>
            <a:off x="836676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先作预测，再核对结果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02/object-57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学习闭环：条件 → 模型 → 响应 → 解释 → 回到条件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3/object-5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3/object-5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3/object-6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3/object-6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3/object-6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3/object-6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3/object-6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四类基本变形与统一力学量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不同变形形式共享内力、材料与截面参数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3/object-6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来源：README.md公式库及功能说明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3/object-66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3/object-67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3/object-68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拉伸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3/object-69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N → σ → ΔL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3/object-70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 = N / A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3/object-71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ΔL = NL / (EA)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3/object-72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3" name="S03/object-73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轴力与长度变化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03/object-74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25" name="S03/object-75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3/object-76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压缩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03/object-77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N → σ → ΔL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3/object-78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 = N / A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3/object-79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压缩取符号约定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3/object-80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1" name="S03/object-81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短柱概念，非失稳分析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3/object-82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3/object-83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3/object-84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弯曲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3/object-85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V → M → σ、w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03/object-86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σmax = M / W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03/object-87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EI 控制挠度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3/object-88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9" name="S03/object-89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关注危险截面位置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03/object-90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41" name="S03/object-91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03/object-92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扭转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03/object-93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T → τ → φ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4" name="S03/object-94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τmax = T / Wt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5" name="S03/object-95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φ = TL / (GJ)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6" name="S03/object-96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7" name="S03/object-97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均匀圆轴、小变形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48" name="S03/web-rich-01" descr="single-element asset; sha256=dc2af86829bcb3b581c0028ff9aca7a69673be3c6b53b4ac61016c3bf96f22f2; source=D:\MACHANICS-OF-MATERIALS-main\outputs\research-ppt-rich\asset-jobs\R01\LMB-A01-original.png" title="concept: web-rich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2560320"/>
            <a:ext cx="1069848" cy="1069848"/>
          </a:xfrm>
          <a:prstGeom prst="rect">
            <a:avLst/>
          </a:prstGeom>
        </p:spPr>
      </p:pic>
      <p:pic>
        <p:nvPicPr>
          <p:cNvPr id="49" name="S03/web-rich-02" descr="single-element asset; sha256=1d89bfc612bfe06d536c62378f5d93c05dd8cb1e858087469ac598fbc565d456; source=D:\MACHANICS-OF-MATERIALS-main\outputs\research-ppt-rich\asset-jobs\R02\LMB-A02-original.png" title="concept: web-rich-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2560320"/>
            <a:ext cx="1069848" cy="1069848"/>
          </a:xfrm>
          <a:prstGeom prst="rect">
            <a:avLst/>
          </a:prstGeom>
        </p:spPr>
      </p:pic>
      <p:pic>
        <p:nvPicPr>
          <p:cNvPr id="50" name="S03/web-rich-03" descr="single-element asset; sha256=a39b3f4935ee4dd51afda4280479e0fd859ccff7159de3b7b9642679d36f4422; source=D:\MACHANICS-OF-MATERIALS-main\outputs\research-ppt-rich\asset-jobs\R03\LMB-A03-original.png" title="concept: web-rich-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2560320"/>
            <a:ext cx="1069848" cy="1069848"/>
          </a:xfrm>
          <a:prstGeom prst="rect">
            <a:avLst/>
          </a:prstGeom>
        </p:spPr>
      </p:pic>
      <p:pic>
        <p:nvPicPr>
          <p:cNvPr id="51" name="S03/web-rich-04" descr="single-element asset; sha256=0ac29514cfe88aea1b3a412ce7dac11041e221e56cf845596f68f1892d294d3c; source=D:\MACHANICS-OF-MATERIALS-main\outputs\research-ppt-rich\asset-jobs\R04\LMB-A04-original.png" title="concept: web-rich-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2560320"/>
            <a:ext cx="1069848" cy="1069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4/object-9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4/object-9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4/object-10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4/object-10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4/object-10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4/object-10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4/object-10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从建模到核验的完整流程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输入、求解、展示和解析核对形成学习闭环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4/object-1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来源：README.md；用户提供的技术架构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4/object-106"/>
          <p:cNvSpPr/>
          <p:nvPr/>
        </p:nvSpPr>
        <p:spPr>
          <a:xfrm>
            <a:off x="594360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4/object-107"/>
          <p:cNvSpPr/>
          <p:nvPr/>
        </p:nvSpPr>
        <p:spPr>
          <a:xfrm>
            <a:off x="740664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4/object-108"/>
          <p:cNvSpPr/>
          <p:nvPr/>
        </p:nvSpPr>
        <p:spPr>
          <a:xfrm>
            <a:off x="740664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题目 / 物理条件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4/object-109"/>
          <p:cNvSpPr/>
          <p:nvPr/>
        </p:nvSpPr>
        <p:spPr>
          <a:xfrm>
            <a:off x="704088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单位、几何、受力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4/object-110"/>
          <p:cNvSpPr/>
          <p:nvPr/>
        </p:nvSpPr>
        <p:spPr>
          <a:xfrm>
            <a:off x="2587752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1" name="S04/object-111"/>
          <p:cNvSpPr/>
          <p:nvPr/>
        </p:nvSpPr>
        <p:spPr>
          <a:xfrm>
            <a:off x="2843784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4/object-112"/>
          <p:cNvSpPr/>
          <p:nvPr/>
        </p:nvSpPr>
        <p:spPr>
          <a:xfrm>
            <a:off x="2990088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4/object-113"/>
          <p:cNvSpPr/>
          <p:nvPr/>
        </p:nvSpPr>
        <p:spPr>
          <a:xfrm>
            <a:off x="2990088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离散结构模型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04/object-114"/>
          <p:cNvSpPr/>
          <p:nvPr/>
        </p:nvSpPr>
        <p:spPr>
          <a:xfrm>
            <a:off x="2953512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节点、构件、材料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4/object-115"/>
          <p:cNvSpPr/>
          <p:nvPr/>
        </p:nvSpPr>
        <p:spPr>
          <a:xfrm>
            <a:off x="4837176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6" name="S04/object-116"/>
          <p:cNvSpPr/>
          <p:nvPr/>
        </p:nvSpPr>
        <p:spPr>
          <a:xfrm>
            <a:off x="5093208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4/object-117"/>
          <p:cNvSpPr/>
          <p:nvPr/>
        </p:nvSpPr>
        <p:spPr>
          <a:xfrm>
            <a:off x="523951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4/object-118"/>
          <p:cNvSpPr/>
          <p:nvPr/>
        </p:nvSpPr>
        <p:spPr>
          <a:xfrm>
            <a:off x="5239512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约束与荷载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4/object-119"/>
          <p:cNvSpPr/>
          <p:nvPr/>
        </p:nvSpPr>
        <p:spPr>
          <a:xfrm>
            <a:off x="5202936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自由度、等效作用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4/object-120"/>
          <p:cNvSpPr/>
          <p:nvPr/>
        </p:nvSpPr>
        <p:spPr>
          <a:xfrm>
            <a:off x="7086600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1" name="S04/object-121"/>
          <p:cNvSpPr/>
          <p:nvPr/>
        </p:nvSpPr>
        <p:spPr>
          <a:xfrm>
            <a:off x="7342632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04/object-122"/>
          <p:cNvSpPr/>
          <p:nvPr/>
        </p:nvSpPr>
        <p:spPr>
          <a:xfrm>
            <a:off x="7488936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4/object-123"/>
          <p:cNvSpPr/>
          <p:nvPr/>
        </p:nvSpPr>
        <p:spPr>
          <a:xfrm>
            <a:off x="7488936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局部到整体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4/object-124"/>
          <p:cNvSpPr/>
          <p:nvPr/>
        </p:nvSpPr>
        <p:spPr>
          <a:xfrm>
            <a:off x="7452360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单元刚度、坐标变换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4/object-125"/>
          <p:cNvSpPr/>
          <p:nvPr/>
        </p:nvSpPr>
        <p:spPr>
          <a:xfrm>
            <a:off x="9336024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6" name="S04/object-126"/>
          <p:cNvSpPr/>
          <p:nvPr/>
        </p:nvSpPr>
        <p:spPr>
          <a:xfrm>
            <a:off x="9592056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D9EFF1"/>
          </a:solidFill>
          <a:ln w="10160">
            <a:solidFill>
              <a:srgbClr val="D9EFF1"/>
            </a:solidFill>
            <a:prstDash val="solid"/>
          </a:ln>
        </p:spPr>
      </p:sp>
      <p:sp>
        <p:nvSpPr>
          <p:cNvPr id="37" name="S04/object-127"/>
          <p:cNvSpPr/>
          <p:nvPr/>
        </p:nvSpPr>
        <p:spPr>
          <a:xfrm>
            <a:off x="9738360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05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4/object-128"/>
          <p:cNvSpPr/>
          <p:nvPr/>
        </p:nvSpPr>
        <p:spPr>
          <a:xfrm>
            <a:off x="9738360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本地求解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4/object-129"/>
          <p:cNvSpPr/>
          <p:nvPr/>
        </p:nvSpPr>
        <p:spPr>
          <a:xfrm>
            <a:off x="9701784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位移、反力、端力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04/object-130"/>
          <p:cNvSpPr/>
          <p:nvPr/>
        </p:nvSpPr>
        <p:spPr>
          <a:xfrm>
            <a:off x="10561320" y="3218688"/>
            <a:ext cx="0" cy="530352"/>
          </a:xfrm>
          <a:prstGeom prst="line">
            <a:avLst/>
          </a:prstGeom>
          <a:noFill/>
          <a:ln w="2032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41" name="S04/object-131"/>
          <p:cNvSpPr/>
          <p:nvPr/>
        </p:nvSpPr>
        <p:spPr>
          <a:xfrm>
            <a:off x="6537960" y="3794760"/>
            <a:ext cx="5074920" cy="1051560"/>
          </a:xfrm>
          <a:prstGeom prst="roundRect">
            <a:avLst>
              <a:gd name="adj" fmla="val 139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42" name="S04/object-132"/>
          <p:cNvSpPr/>
          <p:nvPr/>
        </p:nvSpPr>
        <p:spPr>
          <a:xfrm>
            <a:off x="6766560" y="39776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结果解释与可视化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04/object-133"/>
          <p:cNvSpPr/>
          <p:nvPr/>
        </p:nvSpPr>
        <p:spPr>
          <a:xfrm>
            <a:off x="6766560" y="44714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N / V / M、变形、结果表与教学推导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4" name="S04/object-134"/>
          <p:cNvSpPr/>
          <p:nvPr/>
        </p:nvSpPr>
        <p:spPr>
          <a:xfrm>
            <a:off x="594360" y="3794760"/>
            <a:ext cx="5349240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45" name="S04/object-135"/>
          <p:cNvSpPr/>
          <p:nvPr/>
        </p:nvSpPr>
        <p:spPr>
          <a:xfrm>
            <a:off x="804672" y="4014216"/>
            <a:ext cx="4937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独立校核：平衡关系 + 解析解 + 参数实验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6" name="S04/object-136"/>
          <p:cNvSpPr/>
          <p:nvPr/>
        </p:nvSpPr>
        <p:spPr>
          <a:xfrm flipH="1">
            <a:off x="5961888" y="4315968"/>
            <a:ext cx="548640" cy="0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7" name="S04/object-137"/>
          <p:cNvSpPr/>
          <p:nvPr/>
        </p:nvSpPr>
        <p:spPr>
          <a:xfrm flipV="1">
            <a:off x="3246120" y="3246120"/>
            <a:ext cx="0" cy="521208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8" name="S04/object-138"/>
          <p:cNvSpPr/>
          <p:nvPr/>
        </p:nvSpPr>
        <p:spPr>
          <a:xfrm>
            <a:off x="685800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输入校核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9" name="S04/object-139"/>
          <p:cNvSpPr/>
          <p:nvPr/>
        </p:nvSpPr>
        <p:spPr>
          <a:xfrm>
            <a:off x="2560320" y="523036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约束是否足够 / 单位是否一致 / 荷载方向是否正确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0" name="S04/object-140"/>
          <p:cNvSpPr/>
          <p:nvPr/>
        </p:nvSpPr>
        <p:spPr>
          <a:xfrm>
            <a:off x="685800" y="5824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闭环原则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1" name="S04/object-141"/>
          <p:cNvSpPr/>
          <p:nvPr/>
        </p:nvSpPr>
        <p:spPr>
          <a:xfrm>
            <a:off x="2560320" y="57607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不只确认“求解完成”，还要解释结果是否符合物理预期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5/object-14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5/object-14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5/object-14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5/object-14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5/object-14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5/object-14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5/object-14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真实工作区如何组织？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左模型树、中视图区、右属性面板协同操作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5/object-14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05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来源：live/01-workspace.jpg；qa/live-run-evidence.json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5/object-150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典型交互：选中对象 → 修改属性 → 观察视图 → 核对结果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05/object-151"/>
          <p:cNvSpPr/>
          <p:nvPr/>
        </p:nvSpPr>
        <p:spPr>
          <a:xfrm>
            <a:off x="571500" y="1879092"/>
            <a:ext cx="8458200" cy="4270248"/>
          </a:xfrm>
          <a:prstGeom prst="rect">
            <a:avLst>
              <a:gd name="adj" fmla="val 342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64" y="1901952"/>
            <a:ext cx="7510272" cy="4224528"/>
          </a:xfrm>
          <a:prstGeom prst="rect">
            <a:avLst/>
          </a:prstGeom>
        </p:spPr>
      </p:pic>
      <p:sp>
        <p:nvSpPr>
          <p:cNvPr id="19" name="S05/object-152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05/object-153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05/object-154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模型树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5/object-155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节点、构件与条件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5/object-156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4" name="S05/object-157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5/object-158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工作视图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5/object-159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几何、荷载与结果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05/object-160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8" name="S05/object-161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5/object-162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属性栏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5/object-163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选中对象后检查参数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6/object-16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6/object-16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6/object-16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6/object-16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6/object-16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6/object-16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6/object-17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6m简支梁的建模与荷载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两节点一单元也能描述跨中集中力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6/object-17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06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来源：live/07-load-properties.jpg；qa/live-run-evidence.json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6/object-172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6/object-173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18" name="S06/support-0-173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19" name="S06/object-175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0" name="S06/support-1-175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1" name="S06/object-177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2" name="S06/object-178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3" name="S06/object-179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Times New Roman"/>
                <a:ea typeface="Microsoft YaHei"/>
                <a:cs typeface="Times New Roman"/>
              </a:rPr>
              <a:t>P = 18 kN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06/object-180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A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6/object-181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B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6/object-182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7" name="S06/object-183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L = 6 m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6/object-184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单元 E1：A—B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6/object-185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98236"/>
                </a:solidFill>
                <a:latin typeface="Times New Roman"/>
                <a:ea typeface="Microsoft YaHei"/>
                <a:cs typeface="Times New Roman"/>
              </a:rPr>
              <a:t>单元内集中力：a = 3 m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06/object-186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2 个节点 · 1 个梁单元 · 无需新增跨中节点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6/object-187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2" name="S06/object-188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06/object-189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边界条件与自由度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34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节点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受约束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自由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Dx、Dz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Ry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B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Dz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Dx、Ry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S06/object-190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36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37" name="S06/object-191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荷载属性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−1.800×10⁴ N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位置 3.000 m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7/object-19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7/object-19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7/object-19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7/object-19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7/object-19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7/object-19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7/object-19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剪力与弯矩为什么这样变化？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集中力引起剪力跃变和跨中弯矩极值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7/object-19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07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来源：live/06-shear.jpg；live/03-beam-moment.jpg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7/object-200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沿梁读取：A端 → 集中力左侧 → 集中力右侧 → B端；先辨符号，再比较幅值。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07/object-201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8" name="S07/object-202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07/object-203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剪力：集中力处发生跳变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7/object-204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07/object-205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7/object-206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弯矩：跨中达到幅值峰值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7/object-207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4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25" name="S07/object-208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6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27" name="S07/object-209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07/object-210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左右段幅值 9 kN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7/object-211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7/object-212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跨中标注 −27 kN·m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7/object-213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同一模型 / 同一荷载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8/object-21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8/object-21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8/object-21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8/object-21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8/object-21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8/object-21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8/object-22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反力与最大弯矩的数值核验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给定工况下反力与弯矩幅值符合解析结果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8/object-22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08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来源：live/03-beam-moment.jpg；live/05-element-results.jpg；qa/live-run-evidence.json；RA=RB=P/2；Mmax=PL/4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8/object-222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7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8" name="S08/object-223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解析期望 ↔ 实机读数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1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核验项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解析幅值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界面幅值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A端反力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B端反力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 kN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跨中弯矩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27 kN·m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27 kN·m</a:t>
                      </a:r>
                      <a:endParaRPr lang="en-US" sz="16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20" name="S08/object-224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1" name="S08/object-225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条件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8/object-226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6 m / 跨中18 kN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8/object-227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08/object-228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符号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08/object-229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图中−27遵循软件约定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08/object-230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8/object-231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位置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8/object-232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端弯矩0，内部峰值27</a:t>
            </a:r>
            <a:endParaRPr lang="en-US" sz="15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8/object-233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结论限于默认案例的显示幅值对照，尚非全工况精度认证。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0" name="S08/web-rich-08" descr="single-element asset; sha256=335f02bc4e64c0769d0d80118ea35490b9f563e909154409f5af418e3cabfc61; source=D:\MACHANICS-OF-MATERIALS-main\outputs\research-ppt-rich\asset-jobs\R08\LMB-A08-original.png" title="icon: web-rich-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171907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9/object-23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09/object-23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9/object-23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09/object-23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09/object-23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09/object-23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9/object-24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荷载位置如何影响计算结果？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反力分配与弯矩峰值随荷载位置改变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09/object-24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09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来源：解析预测：P=18kN，L=6m，a=1/2/3m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09/object-242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09/object-243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a=1m：反力偏向左端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09/object-244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09/object-245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a=2m：分配逐渐均衡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09/object-246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1" name="S09/object-247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a=3m：对称且弯矩幅值最大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9/object-248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反力幅值 / kN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09/object-249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弯矩峰值幅值 / kN·m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24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09/object-250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9/object-251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固定荷载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9/object-252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P = 18 kN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09/object-253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9/object-254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固定跨度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09/object-255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L = 6 m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09/object-256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9/object-257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位置变量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09/object-258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a距左端：1 / 2 / 3 m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09/object-259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解析预测，非新增实机测量。先预测，再在软件中改变位置并核对。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0/object-26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0/object-26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0/object-26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0/object-26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0/object-26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0/object-26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0/object-26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教学推导与危险截面分析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计算结果需要返回公式和截面条件解释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0/object-26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10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来源：live/04-derivation.jpg；README.md公式库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0/object-268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7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18" name="S10/object-269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10/object-270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0/object-271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0/object-272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受力分析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0/object-273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3" name="S10/object-274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隔离结构，列出外力与支座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0/object-275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3F2F1"/>
          </a:solidFill>
          <a:ln w="10160">
            <a:solidFill>
              <a:srgbClr val="E3F2F1"/>
            </a:solidFill>
            <a:prstDash val="solid"/>
          </a:ln>
        </p:spPr>
      </p:sp>
      <p:sp>
        <p:nvSpPr>
          <p:cNvPr id="25" name="S10/object-276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6" name="S10/object-277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0/object-278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整体平衡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0/object-279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9" name="S10/object-280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ΣFx=0，ΣFz=0，ΣMy=0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0/object-281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10/object-282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2" name="S10/object-283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0/object-284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截面内力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0/object-285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5" name="S10/object-286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dV/dx+qz=0；dM/dx−V=0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0/object-287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3F2F1"/>
          </a:solidFill>
          <a:ln w="10160">
            <a:solidFill>
              <a:srgbClr val="E3F2F1"/>
            </a:solidFill>
            <a:prstDash val="solid"/>
          </a:ln>
        </p:spPr>
      </p:sp>
      <p:sp>
        <p:nvSpPr>
          <p:cNvPr id="37" name="S10/object-288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8" name="S10/object-289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10/object-290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结果检查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10/object-291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比较边界值、峰值与单位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10/object-292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教学助手：让每一步都有可核对的物理含义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1/object-29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1/object-29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1/object-29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1/object-29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1/object-29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1/object-29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1/object-29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空间刚架的六自由度建模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空间梁节点同时包含三平移与三转动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1/object-30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11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来源：README.md；空间刚架运行条件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1/object-301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4 × 6 = 24：约束处理前节点自由度总数，不等于24个有效自由度。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11/object-302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9" name="S11/object-303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1/object-304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1/object-305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每节点六自由度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1/object-306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11/object-307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Ux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1/object-308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1/object-309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Uy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1/object-310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11/object-311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Uz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1/object-312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9" name="S11/object-313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Rx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1/object-314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1" name="S11/object-315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Ry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1/object-316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3" name="S11/object-317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Rz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1/object-318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两端共 12 自由度 → 12×12 单元刚度</a:t>
            </a:r>
            <a:endParaRPr lang="en-US" sz="2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1/object-319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EA/L：轴向  ·  GJ/L：扭转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局部 y / z：双向弯曲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Euler–Bernoulli 梁，不含剪切变形修正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6" name="S11/web-rich-05" descr="single-element asset; sha256=af217bb32630993ae49d9698e8a3765b5d21037a8ac6b3e67ecdb1491576290b; source=D:\MACHANICS-OF-MATERIALS-main\outputs\research-ppt-rich\asset-jobs\R05\LMB-A05-original.png" title="concept: web-rich-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60" y="1938528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2/object-32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2/object-32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2/object-32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2/object-32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2/object-32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2/object-32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2/object-32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空间刚架的实机结果核验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三向合力平衡成立，完整力矩核验仍缺失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2/object-32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12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来源：live/11-space-results.jpg；qa/live-run-evidence.json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2/object-328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核验步骤：读取外力 → 读取总反力 → 逐方向求和 → 明确未检查的力矩。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12/object-329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9" name="S12/object-330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2/object-331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2/object-332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节点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2/object-333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12/object-334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2/object-335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构件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2/object-336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6" name="S12/object-337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24</a:t>
            </a:r>
            <a:endParaRPr lang="en-US" sz="3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2/object-338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总自由度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graphicFrame>
        <p:nvGraphicFramePr>
          <p:cNvPr id="28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方向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D点外力 / N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A点反力 / N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平衡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x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8000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−8000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y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−5000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5000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z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−12000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12000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0</a:t>
                      </a:r>
                      <a:endParaRPr lang="en-US" sz="1900" dirty="0">
                        <a:latin typeface="Times New Roman"/>
                        <a:ea typeface="Microsoft YaHei"/>
                        <a:cs typeface="Times New Roman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29" name="S12/object-339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本次界面报告：Worker CPU；残差约 6×10⁻¹⁴；变形显示放大 2.4 倍。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2/object-340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仅核对三向力平衡；扭矩数值未捕获，应力 / 安全系数未补填。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1" name="S12/web-rich-07" descr="single-element asset; sha256=881ed38959dd1970746da1196b1f0d4df3f603add426666e0168b158b198e0e5; source=D:\MACHANICS-OF-MATERIALS-main\outputs\research-ppt-rich\asset-jobs\R07\LMB-A07-original.png" title="concept: web-rich-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776" y="804672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3/object-34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3/object-34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3/object-34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3/object-34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3/object-34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3/object-34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3/object-34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本地求解软件的技术架构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当前数值求解主要运行于Worker CPU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3/object-34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13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来源：README.md；用户提供的技术栈和求解能力说明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3/object-349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E2F0F8"/>
          </a:solidFill>
          <a:ln w="10160">
            <a:solidFill>
              <a:srgbClr val="E2F0F8"/>
            </a:solidFill>
            <a:prstDash val="solid"/>
          </a:ln>
        </p:spPr>
      </p:sp>
      <p:sp>
        <p:nvSpPr>
          <p:cNvPr id="17" name="S13/object-350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本地计算核心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13/object-351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单元组装 / 约束分块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位移 → 反力与端力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3/object-352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3/object-353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模型数据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3/object-354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节点、材料、截面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约束与荷载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3/object-355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3" name="S13/object-356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24" name="S13/object-357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可视交互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3/object-358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Vue 3 / TypeScript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Three.js 视图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3/object-359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7" name="S13/object-360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13/object-361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学习解释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3/object-362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公式库 / 分步推导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内力与结果表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3/object-363"/>
          <p:cNvSpPr/>
          <p:nvPr/>
        </p:nvSpPr>
        <p:spPr>
          <a:xfrm flipH="1"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1" name="S13/object-364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2" name="S13/object-365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离线交付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3/object-366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Electron / PWA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Worker CPU + sparse LU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3/object-367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5" name="S13/object-368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WebGPU 仅设备检测；未启用 GPU 数值内核。Worker不可用时回退主线程CPU。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6" name="S13/web-rich-06" descr="single-element asset; sha256=7219270d1872eace0e5871a166736f61451423463dd6701f9a72c9e46c26f9d9; source=D:\MACHANICS-OF-MATERIALS-main\outputs\research-ppt-rich\asset-jobs\R06\LMB-A06-original.png" title="icon: web-rich-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242316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4/object-36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4/object-37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4/object-37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4/object-37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4/object-37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4/object-37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4/object-37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哪些能力已具备，哪些仍受限？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功能存在、实机观察与充分验证不是一回事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4/object-37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14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来源：README.md；qa/live-run-evidence.json；技术边界说明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4/object-377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4/object-378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已实现 · 学习功能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14/object-379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二维梁 / 刚架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4/object-380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反力、N / V / M、变形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4/object-381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空间杆系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4/object-382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节点自由度、构件端力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4/object-383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使用前检查条件与符号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4/object-384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9F4F2"/>
          </a:solidFill>
          <a:ln w="10160">
            <a:solidFill>
              <a:srgbClr val="E9F4F2"/>
            </a:solidFill>
            <a:prstDash val="solid"/>
          </a:ln>
        </p:spPr>
      </p:sp>
      <p:sp>
        <p:nvSpPr>
          <p:cNvPr id="24" name="S14/object-385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实验中 · 继续验证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4/object-386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Tet4实验内核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4/object-387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与主编辑器实体链仍待完善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4/object-388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WebGPU能力检测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4/object-389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不等于GPU数值求解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4/object-390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不把界面入口当作成熟能力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4/object-391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14/object-392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用途边界 · 如实说明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4/object-393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课堂学习与训练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4/object-394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解析对照、可视化理解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4/object-395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尚非工程认证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4/object-396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不用于设计、鉴定或商业用途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4/object-397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功能存在 ≠ 充分验证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pic>
        <p:nvPicPr>
          <p:cNvPr id="37" name="S14/web-rich-09" descr="single-element asset; sha256=bca6ce2edf8253445c3bb8fc91e810354c9b163bbb703c1003ce3e10cc5b47bd; source=D:\MACHANICS-OF-MATERIALS-main\outputs\research-ppt-rich\asset-jobs\R09\LMB-A09-original.png" title="icon: web-rich-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48" y="813816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5/object-39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5/object-39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5/object-40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5/object-40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5/object-40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5/object-40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5/object-40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如何复现一个简单学习算例？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从建模、结果查看到解析核对按顺序操作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5/object-4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15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来源：live/01-workspace.jpg；live/07-load-properties.jpg；二维解析核验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5/object-406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7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18" name="S15/object-407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9" name="S15/object-408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5/object-409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载入案例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5/object-410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帮助 → 使用指导与默认案例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5/object-411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3" name="S15/object-412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5/object-413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检查条件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5/object-414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单位、截面、约束、荷载方向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5/object-415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7" name="S15/object-416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5/object-417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求解与核对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5/object-418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二维自动求解；三维点本地求解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5/object-419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1" name="S15/object-420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5/object-421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改变单参数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5/object-422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先预测，改位置，再比较结果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5/object-423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排错线索：不稳定→约束；量级异常→单位；图形异常→方向与局部坐标。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6/object-42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6/object-42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6/object-42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6/object-42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6/object-42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6/object-42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6/object-43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让力学结果真正可理解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以可复算案例验证功能，再逐步扩展边界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6/object-43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16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来源：二维解析与实机记录；三维实机记录；证据缺口清单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6/object-432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把“看见结果”推进到“解释结果”</a:t>
            </a:r>
            <a:endParaRPr lang="en-US" sz="3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7" name="S16/object-433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6/object-434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6/object-435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可视化建模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6/object-436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把条件转成节点与构件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6/object-437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已见：二维与空间工作区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6/object-438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2F3F0"/>
          </a:solidFill>
          <a:ln w="10160">
            <a:solidFill>
              <a:srgbClr val="E2F3F0"/>
            </a:solidFill>
            <a:prstDash val="solid"/>
          </a:ln>
        </p:spPr>
      </p:sp>
      <p:sp>
        <p:nvSpPr>
          <p:cNvPr id="23" name="S16/object-43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6/object-44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结果解释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6/object-44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联系内力图、公式与危险位置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6/object-44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已见：默认梁幅值对照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6/object-44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16/object-444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2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6/object-445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独立核验</a:t>
            </a:r>
            <a:endParaRPr lang="en-US" sz="2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6/object-446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平衡关系与解析解交叉检查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6/object-447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已见：空间三向力平衡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6/object-448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下一步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6/object-449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补充边界与荷载组合 → 建立回归算例 → 完善空间分析与完整力矩核验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7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7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7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7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7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7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7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附录：公式与单位速查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统一参数定义、单位和符号口径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7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17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来源：静力学公式；README.md公式符号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7/object-458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7/object-459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7/object-460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1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7/object-461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轴向拉压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7/object-462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σ=N/A；ΔL=NL/(EA)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7/object-463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N：轴力；A：面积；E：弹性模量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17/object-464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均匀等截面、线弹性；统一N/m/Pa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" name="S17/object-465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7/object-466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7/object-467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2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7/object-468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弯曲响应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7/object-469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σmax=M/W；EI控制挠度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17/object-470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M：弯矩；W：抗弯截面系数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9" name="S17/object-471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线弹性、小变形；截面与边界须匹配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7/object-472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1" name="S17/object-473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17/object-474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3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7/object-475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圆轴扭转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4" name="S17/object-476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τmax=T/Wt；φ=TL/(GJ)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5" name="S17/object-477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T：扭矩；J：极惯性矩；G：剪切模量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7/object-478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均匀圆轴、小变形；角度按rad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7/object-479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8" name="S17/object-480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9" name="S17/object-481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4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0" name="S17/object-482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集中力简支梁</a:t>
            </a:r>
            <a:endParaRPr lang="en-US" sz="2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17/object-483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RA=P(L−a)/L；Mpeak=Pa(L−a)/L</a:t>
            </a:r>
            <a:endParaRPr lang="en-US" sz="20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2" name="S17/object-484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a：距左支座位置；0&lt;a&lt;L</a:t>
            </a:r>
            <a:endParaRPr lang="en-US" sz="14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3" name="S17/object-485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本稿P=18kN，L=6m；仅解析预测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8/object-48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01 研究背景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S18/object-48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02 技术路线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18/object-48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Times New Roman"/>
                <a:ea typeface="Microsoft YaHei"/>
                <a:cs typeface="Times New Roman"/>
              </a:rPr>
              <a:t>03 实机验证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18/object-48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04 分享展望</a:t>
            </a:r>
            <a:endParaRPr lang="en-US" sz="19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8" name="S18/object-49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拉压弯扭大师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9" name="S18/object-49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8/object-49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附录：证据索引与验证范围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每一项结论必须能够追溯到具体来源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4" name="S18/object-49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Times New Roman"/>
                <a:ea typeface="Microsoft YaHei"/>
                <a:cs typeface="Times New Roman"/>
              </a:rPr>
              <a:t>18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来源：README.md；outputs/classmate-sharing/assets/live/；qa/live-run-evidence.json</a:t>
            </a:r>
            <a:endParaRPr lang="en-US" sz="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" name="S18/object-494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8/object-495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01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8" name="S18/object-496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实机已观察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" name="S18/object-497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二维梁9/9kN与27kN·m幅值；空间三向力平衡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0" name="S18/object-498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本地实机截图与运行记录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" name="S18/object-499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2" name="S18/object-500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18/object-501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02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" name="S18/object-502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解析预测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5" name="S18/object-503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荷载位置a=1/2/3m的反力与弯矩趋势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6" name="S18/object-504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sources/native-data.json，非新增测量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7" name="S18/object-505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8" name="S18/object-506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18/object-507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03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0" name="S18/object-508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实验与缺项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1" name="S18/object-509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Tet4实验；完整力矩核验待补；GPU仅检测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2" name="S18/object-510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README及求解能力审计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3" name="S18/object-511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4" name="S18/object-512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18/object-513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04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6" name="S18/object-514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Times New Roman"/>
                <a:ea typeface="Microsoft YaHei"/>
                <a:cs typeface="Times New Roman"/>
              </a:rPr>
              <a:t>视觉协作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7" name="S18/object-515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Times New Roman"/>
                <a:ea typeface="Microsoft YaHei"/>
                <a:cs typeface="Times New Roman"/>
              </a:rPr>
              <a:t>网页规划与逐项独立素材生成，模型名未核验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18/object-516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Times New Roman"/>
                <a:ea typeface="Microsoft YaHei"/>
                <a:cs typeface="Times New Roman"/>
              </a:rPr>
              <a:t>用户授权当前网页版继续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18/object-517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0" name="S18/object-518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Times New Roman"/>
                <a:ea typeface="Microsoft YaHei"/>
                <a:cs typeface="Times New Roman"/>
              </a:rPr>
              <a:t>欢迎带着模型、单位和截图交流：先定位条件，再判断差异。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Microsoft YaHei"/>
        <a:cs typeface="Times New Roman"/>
        <a:font script="Jpan" typeface="游ゴシック Light"/>
        <a:font script="Hang" typeface="맑은 고딕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Microsoft YaHei"/>
        <a:cs typeface="Times New Roman"/>
        <a:font script="Jpan" typeface="游ゴシック"/>
        <a:font script="Hang" typeface="맑은 고딕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拉压弯扭大师｜视觉与内容增强版</dc:title>
  <dc:subject>PptxGenJS Presentation</dc:subject>
  <dc:creator>拉压弯扭大师</dc:creator>
  <cp:lastModifiedBy>拉压弯扭大师</cp:lastModifiedBy>
  <cp:revision>1</cp:revision>
  <dcterms:created xsi:type="dcterms:W3CDTF">2026-10-11T10:02:11Z</dcterms:created>
  <dcterms:modified xsi:type="dcterms:W3CDTF">2026-10-11T10:02:11Z</dcterms:modified>
</cp:coreProperties>
</file>
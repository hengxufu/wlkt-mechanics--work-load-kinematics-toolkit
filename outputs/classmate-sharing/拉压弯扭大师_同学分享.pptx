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Microsoft YaHei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【25秒】今天分享我做的拉压弯扭大师。我们不先讲一串功能，而是从课堂里熟悉的一根梁开始，看看软件怎样帮助理解受力、内力和变形。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【45秒】请同学想一想：一道题得到答案后，能不能说清内力图形状？这里不是替大家定义共同痛点，而是用三个问题引出软件希望帮助的学习过程。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【45秒】软件把四类材料力学问题放在一起。建模是输入，内力和变形是观察对象，公式和推导帮助理解。不同分析模块的覆盖范围有所区别，不把它们说成所有工况都自动贯通。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【50秒】这一页是可编辑的界面区域示意，不是实际截图。现场切到软件后，依次指出左侧模型树、中间视图区、右侧属性面板。选择对象后修改属性，再回到视图区确认。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【45秒】这是真实仓库文档图，展示均布荷载下的简支梁与变形曲线。它是历史界面示例，不代表当前界面外观，也不是后面18千牛集中力算例的运行结果。用它说明把受力和变形放在一起观察的价值。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75秒】现场打开默认教学案例或建立6米简支梁，检查支座自由度和18千牛集中力方向。若采用跨中节点分成两段，确认构件连接和截面一致。先让同学预测，再求解。材料和截面影响变形，但这个静定结构的反力和弯矩可先由平衡求出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65秒】对称性与竖向平衡给出两端各9千牛。跨中弯矩等于9乘3，即27千牛米。请对照实际软件结果，检查单位、正负号和最大值位置。图只表达幅值，不能据此强行认定软件的正弯矩绘图方向。本次制稿没有完成该算例的端到端运行验收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【50秒】公式库和分步推导适合复习计算依据。不是只复制最终答案：先说清模型假设、材料参数和截面参数，再看推导。现场可选一个简单轴向问题演示，避免临时切换到没有准备的复杂工况。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空间分析适合展示三维杆系，示意图不是软件截图。强调视图模式和分析维度是两件事：旋转到三维视图不意味着二维模型自动获得三维自由度。当前空间刚架主要支持节点荷载和杆端结果，不夸大为完整实体分析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秒】技术上只介绍同学有感知的部分：模型输入后在本机求解，再展示结果。Worker帮助把部分计算放到后台。桌面版、PWA和离线静态分发是项目支持的使用形态，具体安装文件以实际提供的版本为准。不要宣称未经测试的性能提升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【55秒】这里主动讲清边界。实验模块不等于已经可用于成熟实体分析；检测到GPU不等于存在GPU求解内核。软件服务学习与教学，不能把课堂演示结果当作工程认证。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【50秒】演示时请同学只改变一个条件，比如集中力位置，先预测反力比例和弯矩峰值变化，再求解。邀请同学反馈不清楚的操作或手算不一致的案例，最好附模型、单位和截图。最后留出提问时间。
事实来源：README.md；docs/solver-capability-audit.md；docs/version-2.0-stage-1.md。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1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73F46"/>
          </a:solidFill>
          <a:ln w="12700">
            <a:solidFill>
              <a:srgbClr val="173F46"/>
            </a:solidFill>
            <a:prstDash val="solid"/>
          </a:ln>
        </p:spPr>
      </p:sp>
      <p:pic>
        <p:nvPicPr>
          <p:cNvPr id="3" name="product-icon" descr="D:\MACHANICS-OF-MATERIALS-main\public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594360" cy="594360"/>
          </a:xfrm>
          <a:prstGeom prst="rect">
            <a:avLst/>
          </a:prstGeom>
        </p:spPr>
      </p:pic>
      <p:sp>
        <p:nvSpPr>
          <p:cNvPr id="4" name="text-2"/>
          <p:cNvSpPr/>
          <p:nvPr/>
        </p:nvSpPr>
        <p:spPr>
          <a:xfrm>
            <a:off x="13716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D7C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同学软件分享  |  v2.0.2</a:t>
            </a:r>
            <a:endParaRPr lang="en-US" sz="1400" dirty="0"/>
          </a:p>
        </p:txBody>
      </p:sp>
      <p:sp>
        <p:nvSpPr>
          <p:cNvPr id="5" name="text-3"/>
          <p:cNvSpPr/>
          <p:nvPr/>
        </p:nvSpPr>
        <p:spPr>
          <a:xfrm>
            <a:off x="640080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4200" dirty="0"/>
          </a:p>
        </p:txBody>
      </p:sp>
      <p:sp>
        <p:nvSpPr>
          <p:cNvPr id="6" name="text-4"/>
          <p:cNvSpPr/>
          <p:nvPr/>
        </p:nvSpPr>
        <p:spPr>
          <a:xfrm>
            <a:off x="658368" y="29718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E5D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让材料力学看得见</a:t>
            </a:r>
            <a:endParaRPr lang="en-US" sz="3000" dirty="0"/>
          </a:p>
        </p:txBody>
      </p:sp>
      <p:sp>
        <p:nvSpPr>
          <p:cNvPr id="7" name="text-5"/>
          <p:cNvSpPr/>
          <p:nvPr/>
        </p:nvSpPr>
        <p:spPr>
          <a:xfrm>
            <a:off x="685800" y="3931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6E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从一根梁出发，连接建模、求解与理解</a:t>
            </a:r>
            <a:endParaRPr lang="en-US" sz="2000" dirty="0"/>
          </a:p>
        </p:txBody>
      </p:sp>
      <p:sp>
        <p:nvSpPr>
          <p:cNvPr id="8" name="line-6"/>
          <p:cNvSpPr/>
          <p:nvPr/>
        </p:nvSpPr>
        <p:spPr>
          <a:xfrm>
            <a:off x="8549640" y="5212080"/>
            <a:ext cx="2880360" cy="0"/>
          </a:xfrm>
          <a:prstGeom prst="line">
            <a:avLst/>
          </a:prstGeom>
          <a:noFill/>
          <a:ln w="88900">
            <a:solidFill>
              <a:srgbClr val="B3E5D8"/>
            </a:solidFill>
            <a:prstDash val="solid"/>
          </a:ln>
        </p:spPr>
      </p:sp>
      <p:sp>
        <p:nvSpPr>
          <p:cNvPr id="9" name="line-7"/>
          <p:cNvSpPr/>
          <p:nvPr/>
        </p:nvSpPr>
        <p:spPr>
          <a:xfrm>
            <a:off x="9985248" y="4069080"/>
            <a:ext cx="0" cy="960120"/>
          </a:xfrm>
          <a:prstGeom prst="line">
            <a:avLst/>
          </a:prstGeom>
          <a:noFill/>
          <a:ln w="50800">
            <a:solidFill>
              <a:srgbClr val="E5A44A"/>
            </a:solidFill>
            <a:prstDash val="solid"/>
            <a:tailEnd type="triangle"/>
          </a:ln>
        </p:spPr>
      </p:sp>
      <p:sp>
        <p:nvSpPr>
          <p:cNvPr id="10" name="text-8"/>
          <p:cNvSpPr/>
          <p:nvPr/>
        </p:nvSpPr>
        <p:spPr>
          <a:xfrm>
            <a:off x="68580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E5D8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建模 → 求解 → 解释 → 验证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9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从课堂问题出发</a:t>
            </a:r>
            <a:endParaRPr lang="en-US" sz="1100" dirty="0"/>
          </a:p>
        </p:txBody>
      </p:sp>
      <p:sp>
        <p:nvSpPr>
          <p:cNvPr id="3" name="text-10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做完题之后，你能解释图为什么这样画吗？</a:t>
            </a:r>
            <a:endParaRPr lang="en-US" sz="2900" dirty="0"/>
          </a:p>
        </p:txBody>
      </p:sp>
      <p:sp>
        <p:nvSpPr>
          <p:cNvPr id="4" name="line-1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12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1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panel-14"/>
          <p:cNvSpPr/>
          <p:nvPr/>
        </p:nvSpPr>
        <p:spPr>
          <a:xfrm>
            <a:off x="502920" y="1920240"/>
            <a:ext cx="3547872" cy="32004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8" name="text-15"/>
          <p:cNvSpPr/>
          <p:nvPr/>
        </p:nvSpPr>
        <p:spPr>
          <a:xfrm>
            <a:off x="704088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-16"/>
          <p:cNvSpPr/>
          <p:nvPr/>
        </p:nvSpPr>
        <p:spPr>
          <a:xfrm>
            <a:off x="704088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模型怎么建？</a:t>
            </a:r>
            <a:endParaRPr lang="en-US" sz="2200" dirty="0"/>
          </a:p>
        </p:txBody>
      </p:sp>
      <p:sp>
        <p:nvSpPr>
          <p:cNvPr id="10" name="text-17"/>
          <p:cNvSpPr/>
          <p:nvPr/>
        </p:nvSpPr>
        <p:spPr>
          <a:xfrm>
            <a:off x="704088" y="3383280"/>
            <a:ext cx="3145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支座限制了哪些自由度？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荷载方向、单位是否正确？</a:t>
            </a:r>
            <a:endParaRPr lang="en-US" sz="1700" dirty="0"/>
          </a:p>
        </p:txBody>
      </p:sp>
      <p:sp>
        <p:nvSpPr>
          <p:cNvPr id="11" name="panel-18"/>
          <p:cNvSpPr/>
          <p:nvPr/>
        </p:nvSpPr>
        <p:spPr>
          <a:xfrm>
            <a:off x="4325112" y="1920240"/>
            <a:ext cx="3547872" cy="32004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2" name="text-19"/>
          <p:cNvSpPr/>
          <p:nvPr/>
        </p:nvSpPr>
        <p:spPr>
          <a:xfrm>
            <a:off x="4526280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-20"/>
          <p:cNvSpPr/>
          <p:nvPr/>
        </p:nvSpPr>
        <p:spPr>
          <a:xfrm>
            <a:off x="4526280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内力怎么变？</a:t>
            </a:r>
            <a:endParaRPr lang="en-US" sz="2200" dirty="0"/>
          </a:p>
        </p:txBody>
      </p:sp>
      <p:sp>
        <p:nvSpPr>
          <p:cNvPr id="14" name="text-21"/>
          <p:cNvSpPr/>
          <p:nvPr/>
        </p:nvSpPr>
        <p:spPr>
          <a:xfrm>
            <a:off x="4526280" y="3383280"/>
            <a:ext cx="3145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剪力为什么出现跳变？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弯矩最大值在哪里？</a:t>
            </a:r>
            <a:endParaRPr lang="en-US" sz="1700" dirty="0"/>
          </a:p>
        </p:txBody>
      </p:sp>
      <p:sp>
        <p:nvSpPr>
          <p:cNvPr id="15" name="panel-22"/>
          <p:cNvSpPr/>
          <p:nvPr/>
        </p:nvSpPr>
        <p:spPr>
          <a:xfrm>
            <a:off x="8147304" y="1920240"/>
            <a:ext cx="3547872" cy="320040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6" name="text-23"/>
          <p:cNvSpPr/>
          <p:nvPr/>
        </p:nvSpPr>
        <p:spPr>
          <a:xfrm>
            <a:off x="8348472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-24"/>
          <p:cNvSpPr/>
          <p:nvPr/>
        </p:nvSpPr>
        <p:spPr>
          <a:xfrm>
            <a:off x="8348472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答案怎么验？</a:t>
            </a:r>
            <a:endParaRPr lang="en-US" sz="2200" dirty="0"/>
          </a:p>
        </p:txBody>
      </p:sp>
      <p:sp>
        <p:nvSpPr>
          <p:cNvPr id="18" name="text-25"/>
          <p:cNvSpPr/>
          <p:nvPr/>
        </p:nvSpPr>
        <p:spPr>
          <a:xfrm>
            <a:off x="8348472" y="3383280"/>
            <a:ext cx="3145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数值是否满足平衡？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能否和手算相互印证？</a:t>
            </a:r>
            <a:endParaRPr lang="en-US" sz="1700" dirty="0"/>
          </a:p>
        </p:txBody>
      </p:sp>
      <p:sp>
        <p:nvSpPr>
          <p:cNvPr id="19" name="text-26"/>
          <p:cNvSpPr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我的目标：把“算出数值”进一步变成“理解结构”。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7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软件分享</a:t>
            </a:r>
            <a:endParaRPr lang="en-US" sz="1100" dirty="0"/>
          </a:p>
        </p:txBody>
      </p:sp>
      <p:sp>
        <p:nvSpPr>
          <p:cNvPr id="3" name="text-28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把分散的知识点，放进同一个学习过程</a:t>
            </a:r>
            <a:endParaRPr lang="en-US" sz="2900" dirty="0"/>
          </a:p>
        </p:txBody>
      </p:sp>
      <p:sp>
        <p:nvSpPr>
          <p:cNvPr id="4" name="line-29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30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31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panel-32"/>
          <p:cNvSpPr/>
          <p:nvPr/>
        </p:nvSpPr>
        <p:spPr>
          <a:xfrm>
            <a:off x="502920" y="1874520"/>
            <a:ext cx="2670048" cy="6400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8" name="text-33"/>
          <p:cNvSpPr/>
          <p:nvPr/>
        </p:nvSpPr>
        <p:spPr>
          <a:xfrm>
            <a:off x="65836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拉伸与压缩</a:t>
            </a:r>
            <a:endParaRPr lang="en-US" sz="1900" dirty="0"/>
          </a:p>
        </p:txBody>
      </p:sp>
      <p:sp>
        <p:nvSpPr>
          <p:cNvPr id="9" name="panel-34"/>
          <p:cNvSpPr/>
          <p:nvPr/>
        </p:nvSpPr>
        <p:spPr>
          <a:xfrm>
            <a:off x="3337560" y="1874520"/>
            <a:ext cx="2670048" cy="640080"/>
          </a:xfrm>
          <a:prstGeom prst="rect">
            <a:avLst/>
          </a:prstGeom>
          <a:solidFill>
            <a:srgbClr val="DDF2EB"/>
          </a:solidFill>
          <a:ln w="12700">
            <a:solidFill>
              <a:srgbClr val="DDF2EB"/>
            </a:solidFill>
            <a:prstDash val="solid"/>
          </a:ln>
        </p:spPr>
      </p:sp>
      <p:sp>
        <p:nvSpPr>
          <p:cNvPr id="10" name="text-35"/>
          <p:cNvSpPr/>
          <p:nvPr/>
        </p:nvSpPr>
        <p:spPr>
          <a:xfrm>
            <a:off x="349300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900" dirty="0"/>
          </a:p>
        </p:txBody>
      </p:sp>
      <p:sp>
        <p:nvSpPr>
          <p:cNvPr id="11" name="panel-36"/>
          <p:cNvSpPr/>
          <p:nvPr/>
        </p:nvSpPr>
        <p:spPr>
          <a:xfrm>
            <a:off x="6172200" y="1874520"/>
            <a:ext cx="2670048" cy="6400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2" name="text-37"/>
          <p:cNvSpPr/>
          <p:nvPr/>
        </p:nvSpPr>
        <p:spPr>
          <a:xfrm>
            <a:off x="632764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900" dirty="0"/>
          </a:p>
        </p:txBody>
      </p:sp>
      <p:sp>
        <p:nvSpPr>
          <p:cNvPr id="13" name="panel-38"/>
          <p:cNvSpPr/>
          <p:nvPr/>
        </p:nvSpPr>
        <p:spPr>
          <a:xfrm>
            <a:off x="9006840" y="1874520"/>
            <a:ext cx="2670048" cy="640080"/>
          </a:xfrm>
          <a:prstGeom prst="rect">
            <a:avLst/>
          </a:prstGeom>
          <a:solidFill>
            <a:srgbClr val="DDF2EB"/>
          </a:solidFill>
          <a:ln w="12700">
            <a:solidFill>
              <a:srgbClr val="DDF2EB"/>
            </a:solidFill>
            <a:prstDash val="solid"/>
          </a:ln>
        </p:spPr>
      </p:sp>
      <p:sp>
        <p:nvSpPr>
          <p:cNvPr id="14" name="text-39"/>
          <p:cNvSpPr/>
          <p:nvPr/>
        </p:nvSpPr>
        <p:spPr>
          <a:xfrm>
            <a:off x="9162288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900" dirty="0"/>
          </a:p>
        </p:txBody>
      </p:sp>
      <p:sp>
        <p:nvSpPr>
          <p:cNvPr id="15" name="panel-40"/>
          <p:cNvSpPr/>
          <p:nvPr/>
        </p:nvSpPr>
        <p:spPr>
          <a:xfrm>
            <a:off x="502920" y="2907792"/>
            <a:ext cx="3547872" cy="26974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6" name="text-41"/>
          <p:cNvSpPr/>
          <p:nvPr/>
        </p:nvSpPr>
        <p:spPr>
          <a:xfrm>
            <a:off x="704088" y="309067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17" name="text-42"/>
          <p:cNvSpPr/>
          <p:nvPr/>
        </p:nvSpPr>
        <p:spPr>
          <a:xfrm>
            <a:off x="704088" y="368503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建立力学模型</a:t>
            </a:r>
            <a:endParaRPr lang="en-US" sz="2200" dirty="0"/>
          </a:p>
        </p:txBody>
      </p:sp>
      <p:sp>
        <p:nvSpPr>
          <p:cNvPr id="18" name="text-43"/>
          <p:cNvSpPr/>
          <p:nvPr/>
        </p:nvSpPr>
        <p:spPr>
          <a:xfrm>
            <a:off x="704088" y="4370832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节点、杆件、材料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截面、支座与荷载</a:t>
            </a:r>
            <a:endParaRPr lang="en-US" sz="1700" dirty="0"/>
          </a:p>
        </p:txBody>
      </p:sp>
      <p:sp>
        <p:nvSpPr>
          <p:cNvPr id="19" name="panel-44"/>
          <p:cNvSpPr/>
          <p:nvPr/>
        </p:nvSpPr>
        <p:spPr>
          <a:xfrm>
            <a:off x="4325112" y="2907792"/>
            <a:ext cx="3547872" cy="26974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20" name="text-45"/>
          <p:cNvSpPr/>
          <p:nvPr/>
        </p:nvSpPr>
        <p:spPr>
          <a:xfrm>
            <a:off x="4526280" y="309067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400" dirty="0"/>
          </a:p>
        </p:txBody>
      </p:sp>
      <p:sp>
        <p:nvSpPr>
          <p:cNvPr id="21" name="text-46"/>
          <p:cNvSpPr/>
          <p:nvPr/>
        </p:nvSpPr>
        <p:spPr>
          <a:xfrm>
            <a:off x="4526280" y="368503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查看结构响应</a:t>
            </a:r>
            <a:endParaRPr lang="en-US" sz="2200" dirty="0"/>
          </a:p>
        </p:txBody>
      </p:sp>
      <p:sp>
        <p:nvSpPr>
          <p:cNvPr id="22" name="text-47"/>
          <p:cNvSpPr/>
          <p:nvPr/>
        </p:nvSpPr>
        <p:spPr>
          <a:xfrm>
            <a:off x="4526280" y="4370832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支反力、内力与变形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二维梁 / 刚架分析</a:t>
            </a:r>
            <a:endParaRPr lang="en-US" sz="1700" dirty="0"/>
          </a:p>
        </p:txBody>
      </p:sp>
      <p:sp>
        <p:nvSpPr>
          <p:cNvPr id="23" name="panel-48"/>
          <p:cNvSpPr/>
          <p:nvPr/>
        </p:nvSpPr>
        <p:spPr>
          <a:xfrm>
            <a:off x="8147304" y="2907792"/>
            <a:ext cx="3547872" cy="26974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24" name="text-49"/>
          <p:cNvSpPr/>
          <p:nvPr/>
        </p:nvSpPr>
        <p:spPr>
          <a:xfrm>
            <a:off x="8348472" y="309067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400" dirty="0"/>
          </a:p>
        </p:txBody>
      </p:sp>
      <p:sp>
        <p:nvSpPr>
          <p:cNvPr id="25" name="text-50"/>
          <p:cNvSpPr/>
          <p:nvPr/>
        </p:nvSpPr>
        <p:spPr>
          <a:xfrm>
            <a:off x="8348472" y="368503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回到计算依据</a:t>
            </a:r>
            <a:endParaRPr lang="en-US" sz="2200" dirty="0"/>
          </a:p>
        </p:txBody>
      </p:sp>
      <p:sp>
        <p:nvSpPr>
          <p:cNvPr id="26" name="text-51"/>
          <p:cNvSpPr/>
          <p:nvPr/>
        </p:nvSpPr>
        <p:spPr>
          <a:xfrm>
            <a:off x="8348472" y="4370832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公式库与分步推导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典型案例对照验证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2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界面导航</a:t>
            </a:r>
            <a:endParaRPr lang="en-US" sz="1100" dirty="0"/>
          </a:p>
        </p:txBody>
      </p:sp>
      <p:sp>
        <p:nvSpPr>
          <p:cNvPr id="3" name="text-53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先记住三个区域，上手就有方向</a:t>
            </a:r>
            <a:endParaRPr lang="en-US" sz="2900" dirty="0"/>
          </a:p>
        </p:txBody>
      </p:sp>
      <p:sp>
        <p:nvSpPr>
          <p:cNvPr id="4" name="line-54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55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56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panel-57"/>
          <p:cNvSpPr/>
          <p:nvPr/>
        </p:nvSpPr>
        <p:spPr>
          <a:xfrm>
            <a:off x="502920" y="1874520"/>
            <a:ext cx="2331720" cy="33832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8" name="panel-58"/>
          <p:cNvSpPr/>
          <p:nvPr/>
        </p:nvSpPr>
        <p:spPr>
          <a:xfrm>
            <a:off x="3017520" y="1874520"/>
            <a:ext cx="6217920" cy="3383280"/>
          </a:xfrm>
          <a:prstGeom prst="rect">
            <a:avLst/>
          </a:prstGeom>
          <a:solidFill>
            <a:srgbClr val="DDF2EB"/>
          </a:solidFill>
          <a:ln w="12700">
            <a:solidFill>
              <a:srgbClr val="DDF2EB"/>
            </a:solidFill>
            <a:prstDash val="solid"/>
          </a:ln>
        </p:spPr>
      </p:sp>
      <p:sp>
        <p:nvSpPr>
          <p:cNvPr id="9" name="panel-59"/>
          <p:cNvSpPr/>
          <p:nvPr/>
        </p:nvSpPr>
        <p:spPr>
          <a:xfrm>
            <a:off x="9418320" y="1874520"/>
            <a:ext cx="2267712" cy="33832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0" name="text-60"/>
          <p:cNvSpPr/>
          <p:nvPr/>
        </p:nvSpPr>
        <p:spPr>
          <a:xfrm>
            <a:off x="713232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11" name="text-61"/>
          <p:cNvSpPr/>
          <p:nvPr/>
        </p:nvSpPr>
        <p:spPr>
          <a:xfrm>
            <a:off x="713232" y="2834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杆件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 / 截面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约束 / 荷载</a:t>
            </a:r>
            <a:endParaRPr lang="en-US" sz="1800" dirty="0"/>
          </a:p>
        </p:txBody>
      </p:sp>
      <p:sp>
        <p:nvSpPr>
          <p:cNvPr id="12" name="text-62"/>
          <p:cNvSpPr/>
          <p:nvPr/>
        </p:nvSpPr>
        <p:spPr>
          <a:xfrm>
            <a:off x="324612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视图区</a:t>
            </a:r>
            <a:endParaRPr lang="en-US" sz="2100" dirty="0"/>
          </a:p>
        </p:txBody>
      </p:sp>
      <p:sp>
        <p:nvSpPr>
          <p:cNvPr id="13" name="line-63"/>
          <p:cNvSpPr/>
          <p:nvPr/>
        </p:nvSpPr>
        <p:spPr>
          <a:xfrm>
            <a:off x="3703320" y="3794760"/>
            <a:ext cx="4754880" cy="0"/>
          </a:xfrm>
          <a:prstGeom prst="line">
            <a:avLst/>
          </a:prstGeom>
          <a:noFill/>
          <a:ln w="76200">
            <a:solidFill>
              <a:srgbClr val="142E37"/>
            </a:solidFill>
            <a:prstDash val="solid"/>
          </a:ln>
        </p:spPr>
      </p:sp>
      <p:sp>
        <p:nvSpPr>
          <p:cNvPr id="14" name="support-64"/>
          <p:cNvSpPr/>
          <p:nvPr/>
        </p:nvSpPr>
        <p:spPr>
          <a:xfrm>
            <a:off x="3538728" y="3849624"/>
            <a:ext cx="329184" cy="274320"/>
          </a:xfrm>
          <a:prstGeom prst="triangle">
            <a:avLst/>
          </a:prstGeom>
          <a:solidFill>
            <a:srgbClr val="DDF2EB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15" name="support-65"/>
          <p:cNvSpPr/>
          <p:nvPr/>
        </p:nvSpPr>
        <p:spPr>
          <a:xfrm>
            <a:off x="8293608" y="3849624"/>
            <a:ext cx="329184" cy="274320"/>
          </a:xfrm>
          <a:prstGeom prst="triangle">
            <a:avLst/>
          </a:prstGeom>
          <a:solidFill>
            <a:srgbClr val="DDF2EB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16" name="line-66"/>
          <p:cNvSpPr/>
          <p:nvPr/>
        </p:nvSpPr>
        <p:spPr>
          <a:xfrm>
            <a:off x="6080760" y="2880360"/>
            <a:ext cx="0" cy="868680"/>
          </a:xfrm>
          <a:prstGeom prst="line">
            <a:avLst/>
          </a:prstGeom>
          <a:noFill/>
          <a:ln w="38100">
            <a:solidFill>
              <a:srgbClr val="E5A44A"/>
            </a:solidFill>
            <a:prstDash val="solid"/>
            <a:tailEnd type="triangle"/>
          </a:ln>
        </p:spPr>
      </p:sp>
      <p:sp>
        <p:nvSpPr>
          <p:cNvPr id="17" name="text-67"/>
          <p:cNvSpPr/>
          <p:nvPr/>
        </p:nvSpPr>
        <p:spPr>
          <a:xfrm>
            <a:off x="62179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kN</a:t>
            </a:r>
            <a:endParaRPr lang="en-US" sz="1900" dirty="0"/>
          </a:p>
        </p:txBody>
      </p:sp>
      <p:sp>
        <p:nvSpPr>
          <p:cNvPr id="18" name="text-68"/>
          <p:cNvSpPr/>
          <p:nvPr/>
        </p:nvSpPr>
        <p:spPr>
          <a:xfrm>
            <a:off x="3566160" y="4251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text-69"/>
          <p:cNvSpPr/>
          <p:nvPr/>
        </p:nvSpPr>
        <p:spPr>
          <a:xfrm>
            <a:off x="8321040" y="4251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text-70"/>
          <p:cNvSpPr/>
          <p:nvPr/>
        </p:nvSpPr>
        <p:spPr>
          <a:xfrm>
            <a:off x="3337560" y="4690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选择对象 · 查看受力 · 观察结果</a:t>
            </a:r>
            <a:endParaRPr lang="en-US" sz="1600" dirty="0"/>
          </a:p>
        </p:txBody>
      </p:sp>
      <p:sp>
        <p:nvSpPr>
          <p:cNvPr id="21" name="text-71"/>
          <p:cNvSpPr/>
          <p:nvPr/>
        </p:nvSpPr>
        <p:spPr>
          <a:xfrm>
            <a:off x="9619488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属性面板</a:t>
            </a:r>
            <a:endParaRPr lang="en-US" sz="2100" dirty="0"/>
          </a:p>
        </p:txBody>
      </p:sp>
      <p:sp>
        <p:nvSpPr>
          <p:cNvPr id="22" name="text-72"/>
          <p:cNvSpPr/>
          <p:nvPr/>
        </p:nvSpPr>
        <p:spPr>
          <a:xfrm>
            <a:off x="9619488" y="2834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坐标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材料参数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截面尺寸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荷载大小</a:t>
            </a:r>
            <a:endParaRPr lang="en-US" sz="1800" dirty="0"/>
          </a:p>
        </p:txBody>
      </p:sp>
      <p:sp>
        <p:nvSpPr>
          <p:cNvPr id="23" name="text-73"/>
          <p:cNvSpPr/>
          <p:nvPr/>
        </p:nvSpPr>
        <p:spPr>
          <a:xfrm>
            <a:off x="594360" y="5650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操作顺序：左边找对象 → 中间看位置 → 右边改参数</a:t>
            </a:r>
            <a:endParaRPr lang="en-US" sz="2100" dirty="0"/>
          </a:p>
        </p:txBody>
      </p:sp>
      <p:sp>
        <p:nvSpPr>
          <p:cNvPr id="24" name="text-74"/>
          <p:cNvSpPr/>
          <p:nvPr/>
        </p:nvSpPr>
        <p:spPr>
          <a:xfrm>
            <a:off x="8641080" y="61081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界面区域示意，非软件截图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75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二维分析</a:t>
            </a:r>
            <a:endParaRPr lang="en-US" sz="1100" dirty="0"/>
          </a:p>
        </p:txBody>
      </p:sp>
      <p:sp>
        <p:nvSpPr>
          <p:cNvPr id="3" name="text-76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一眼看受力，也能看到变形</a:t>
            </a:r>
            <a:endParaRPr lang="en-US" sz="2900" dirty="0"/>
          </a:p>
        </p:txBody>
      </p:sp>
      <p:sp>
        <p:nvSpPr>
          <p:cNvPr id="4" name="line-77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78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79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pic>
        <p:nvPicPr>
          <p:cNvPr id="7" name="repository-doc-evidence" descr="D:\MACHANICS-OF-MATERIALS-main\docs\public\simply_suppor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7406640" cy="3493008"/>
          </a:xfrm>
          <a:prstGeom prst="rect">
            <a:avLst/>
          </a:prstGeom>
        </p:spPr>
      </p:pic>
      <p:sp>
        <p:nvSpPr>
          <p:cNvPr id="8" name="text-80"/>
          <p:cNvSpPr/>
          <p:nvPr/>
        </p:nvSpPr>
        <p:spPr>
          <a:xfrm>
            <a:off x="82296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受力</a:t>
            </a:r>
            <a:endParaRPr lang="en-US" sz="2200" dirty="0"/>
          </a:p>
        </p:txBody>
      </p:sp>
      <p:sp>
        <p:nvSpPr>
          <p:cNvPr id="9" name="text-81"/>
          <p:cNvSpPr/>
          <p:nvPr/>
        </p:nvSpPr>
        <p:spPr>
          <a:xfrm>
            <a:off x="82296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荷载与支座关系</a:t>
            </a:r>
            <a:endParaRPr lang="en-US" sz="1700" dirty="0"/>
          </a:p>
        </p:txBody>
      </p:sp>
      <p:sp>
        <p:nvSpPr>
          <p:cNvPr id="10" name="text-82"/>
          <p:cNvSpPr/>
          <p:nvPr/>
        </p:nvSpPr>
        <p:spPr>
          <a:xfrm>
            <a:off x="822960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变形</a:t>
            </a:r>
            <a:endParaRPr lang="en-US" sz="2200" dirty="0"/>
          </a:p>
        </p:txBody>
      </p:sp>
      <p:sp>
        <p:nvSpPr>
          <p:cNvPr id="11" name="text-83"/>
          <p:cNvSpPr/>
          <p:nvPr/>
        </p:nvSpPr>
        <p:spPr>
          <a:xfrm>
            <a:off x="822960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结构响应更直观</a:t>
            </a:r>
            <a:endParaRPr lang="en-US" sz="1700" dirty="0"/>
          </a:p>
        </p:txBody>
      </p:sp>
      <p:sp>
        <p:nvSpPr>
          <p:cNvPr id="12" name="text-84"/>
          <p:cNvSpPr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仓库文档中的历史界面示例：均布荷载简支梁；与下一页集中力案例不同。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5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案例 · 建模</a:t>
            </a:r>
            <a:endParaRPr lang="en-US" sz="1100" dirty="0"/>
          </a:p>
        </p:txBody>
      </p:sp>
      <p:sp>
        <p:nvSpPr>
          <p:cNvPr id="3" name="text-86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现场演示：先预测，再点击求解</a:t>
            </a:r>
            <a:endParaRPr lang="en-US" sz="2900" dirty="0"/>
          </a:p>
        </p:txBody>
      </p:sp>
      <p:sp>
        <p:nvSpPr>
          <p:cNvPr id="4" name="line-87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88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89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line-90"/>
          <p:cNvSpPr/>
          <p:nvPr/>
        </p:nvSpPr>
        <p:spPr>
          <a:xfrm>
            <a:off x="1005840" y="3291840"/>
            <a:ext cx="6492240" cy="0"/>
          </a:xfrm>
          <a:prstGeom prst="line">
            <a:avLst/>
          </a:prstGeom>
          <a:noFill/>
          <a:ln w="76200">
            <a:solidFill>
              <a:srgbClr val="142E37"/>
            </a:solidFill>
            <a:prstDash val="solid"/>
          </a:ln>
        </p:spPr>
      </p:sp>
      <p:sp>
        <p:nvSpPr>
          <p:cNvPr id="8" name="support-91"/>
          <p:cNvSpPr/>
          <p:nvPr/>
        </p:nvSpPr>
        <p:spPr>
          <a:xfrm>
            <a:off x="841248" y="3346704"/>
            <a:ext cx="329184" cy="274320"/>
          </a:xfrm>
          <a:prstGeom prst="triangle">
            <a:avLst/>
          </a:prstGeom>
          <a:solidFill>
            <a:srgbClr val="DDF2EB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9" name="support-92"/>
          <p:cNvSpPr/>
          <p:nvPr/>
        </p:nvSpPr>
        <p:spPr>
          <a:xfrm>
            <a:off x="7333488" y="3346704"/>
            <a:ext cx="329184" cy="274320"/>
          </a:xfrm>
          <a:prstGeom prst="triangle">
            <a:avLst/>
          </a:prstGeom>
          <a:solidFill>
            <a:srgbClr val="DDF2EB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10" name="line-93"/>
          <p:cNvSpPr/>
          <p:nvPr/>
        </p:nvSpPr>
        <p:spPr>
          <a:xfrm>
            <a:off x="4251960" y="2377440"/>
            <a:ext cx="0" cy="868680"/>
          </a:xfrm>
          <a:prstGeom prst="line">
            <a:avLst/>
          </a:prstGeom>
          <a:noFill/>
          <a:ln w="38100">
            <a:solidFill>
              <a:srgbClr val="E5A44A"/>
            </a:solidFill>
            <a:prstDash val="solid"/>
            <a:tailEnd type="triangle"/>
          </a:ln>
        </p:spPr>
      </p:sp>
      <p:sp>
        <p:nvSpPr>
          <p:cNvPr id="11" name="text-94"/>
          <p:cNvSpPr/>
          <p:nvPr/>
        </p:nvSpPr>
        <p:spPr>
          <a:xfrm>
            <a:off x="438912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kN</a:t>
            </a:r>
            <a:endParaRPr lang="en-US" sz="1900" dirty="0"/>
          </a:p>
        </p:txBody>
      </p:sp>
      <p:sp>
        <p:nvSpPr>
          <p:cNvPr id="12" name="text-95"/>
          <p:cNvSpPr/>
          <p:nvPr/>
        </p:nvSpPr>
        <p:spPr>
          <a:xfrm>
            <a:off x="86868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-96"/>
          <p:cNvSpPr/>
          <p:nvPr/>
        </p:nvSpPr>
        <p:spPr>
          <a:xfrm>
            <a:off x="736092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line-97"/>
          <p:cNvSpPr/>
          <p:nvPr/>
        </p:nvSpPr>
        <p:spPr>
          <a:xfrm>
            <a:off x="1005840" y="4297680"/>
            <a:ext cx="6492240" cy="0"/>
          </a:xfrm>
          <a:prstGeom prst="line">
            <a:avLst/>
          </a:prstGeom>
          <a:noFill/>
          <a:ln w="12700">
            <a:solidFill>
              <a:srgbClr val="C7D7D7"/>
            </a:solidFill>
            <a:prstDash val="solid"/>
          </a:ln>
        </p:spPr>
      </p:sp>
      <p:sp>
        <p:nvSpPr>
          <p:cNvPr id="15" name="text-98"/>
          <p:cNvSpPr/>
          <p:nvPr/>
        </p:nvSpPr>
        <p:spPr>
          <a:xfrm>
            <a:off x="205740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 m</a:t>
            </a:r>
            <a:endParaRPr lang="en-US" sz="1900" dirty="0"/>
          </a:p>
        </p:txBody>
      </p:sp>
      <p:sp>
        <p:nvSpPr>
          <p:cNvPr id="16" name="text-99"/>
          <p:cNvSpPr/>
          <p:nvPr/>
        </p:nvSpPr>
        <p:spPr>
          <a:xfrm>
            <a:off x="53492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 m</a:t>
            </a:r>
            <a:endParaRPr lang="en-US" sz="1900" dirty="0"/>
          </a:p>
        </p:txBody>
      </p:sp>
      <p:sp>
        <p:nvSpPr>
          <p:cNvPr id="17" name="panel-100"/>
          <p:cNvSpPr/>
          <p:nvPr/>
        </p:nvSpPr>
        <p:spPr>
          <a:xfrm>
            <a:off x="8229600" y="1920240"/>
            <a:ext cx="3456432" cy="36118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8" name="text-101"/>
          <p:cNvSpPr/>
          <p:nvPr/>
        </p:nvSpPr>
        <p:spPr>
          <a:xfrm>
            <a:off x="84582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输入检查</a:t>
            </a:r>
            <a:endParaRPr lang="en-US" sz="2300" dirty="0"/>
          </a:p>
        </p:txBody>
      </p:sp>
      <p:sp>
        <p:nvSpPr>
          <p:cNvPr id="19" name="text-102"/>
          <p:cNvSpPr/>
          <p:nvPr/>
        </p:nvSpPr>
        <p:spPr>
          <a:xfrm>
            <a:off x="8458200" y="292608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① 跨长 6 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② 两端简支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③ 跨中向下 18 kN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④ 材料、截面与单位</a:t>
            </a:r>
            <a:endParaRPr lang="en-US" sz="1800" dirty="0"/>
          </a:p>
        </p:txBody>
      </p:sp>
      <p:sp>
        <p:nvSpPr>
          <p:cNvPr id="20" name="text-103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先问同学：两端支反力各是多少？最大弯矩在哪里？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4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案例 · 解析对照</a:t>
            </a:r>
            <a:endParaRPr lang="en-US" sz="1100" dirty="0"/>
          </a:p>
        </p:txBody>
      </p:sp>
      <p:sp>
        <p:nvSpPr>
          <p:cNvPr id="3" name="text-105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结果要能解释，更要能验算</a:t>
            </a:r>
            <a:endParaRPr lang="en-US" sz="2900" dirty="0"/>
          </a:p>
        </p:txBody>
      </p:sp>
      <p:sp>
        <p:nvSpPr>
          <p:cNvPr id="4" name="line-106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107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108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line-109"/>
          <p:cNvSpPr/>
          <p:nvPr/>
        </p:nvSpPr>
        <p:spPr>
          <a:xfrm>
            <a:off x="1005840" y="2606040"/>
            <a:ext cx="5669280" cy="0"/>
          </a:xfrm>
          <a:prstGeom prst="line">
            <a:avLst/>
          </a:prstGeom>
          <a:noFill/>
          <a:ln w="76200">
            <a:solidFill>
              <a:srgbClr val="142E37"/>
            </a:solidFill>
            <a:prstDash val="solid"/>
          </a:ln>
        </p:spPr>
      </p:sp>
      <p:sp>
        <p:nvSpPr>
          <p:cNvPr id="8" name="support-110"/>
          <p:cNvSpPr/>
          <p:nvPr/>
        </p:nvSpPr>
        <p:spPr>
          <a:xfrm>
            <a:off x="841248" y="2660904"/>
            <a:ext cx="329184" cy="274320"/>
          </a:xfrm>
          <a:prstGeom prst="triangle">
            <a:avLst/>
          </a:prstGeom>
          <a:solidFill>
            <a:srgbClr val="DDF2EB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9" name="support-111"/>
          <p:cNvSpPr/>
          <p:nvPr/>
        </p:nvSpPr>
        <p:spPr>
          <a:xfrm>
            <a:off x="6510528" y="2660904"/>
            <a:ext cx="329184" cy="274320"/>
          </a:xfrm>
          <a:prstGeom prst="triangle">
            <a:avLst/>
          </a:prstGeom>
          <a:solidFill>
            <a:srgbClr val="DDF2EB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10" name="line-112"/>
          <p:cNvSpPr/>
          <p:nvPr/>
        </p:nvSpPr>
        <p:spPr>
          <a:xfrm>
            <a:off x="3840480" y="1691640"/>
            <a:ext cx="0" cy="868680"/>
          </a:xfrm>
          <a:prstGeom prst="line">
            <a:avLst/>
          </a:prstGeom>
          <a:noFill/>
          <a:ln w="38100">
            <a:solidFill>
              <a:srgbClr val="E5A44A"/>
            </a:solidFill>
            <a:prstDash val="solid"/>
            <a:tailEnd type="triangle"/>
          </a:ln>
        </p:spPr>
      </p:sp>
      <p:sp>
        <p:nvSpPr>
          <p:cNvPr id="11" name="text-113"/>
          <p:cNvSpPr/>
          <p:nvPr/>
        </p:nvSpPr>
        <p:spPr>
          <a:xfrm>
            <a:off x="397764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kN</a:t>
            </a:r>
            <a:endParaRPr lang="en-US" sz="1900" dirty="0"/>
          </a:p>
        </p:txBody>
      </p:sp>
      <p:sp>
        <p:nvSpPr>
          <p:cNvPr id="12" name="text-114"/>
          <p:cNvSpPr/>
          <p:nvPr/>
        </p:nvSpPr>
        <p:spPr>
          <a:xfrm>
            <a:off x="86868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-115"/>
          <p:cNvSpPr/>
          <p:nvPr/>
        </p:nvSpPr>
        <p:spPr>
          <a:xfrm>
            <a:off x="653796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line-116"/>
          <p:cNvSpPr/>
          <p:nvPr/>
        </p:nvSpPr>
        <p:spPr>
          <a:xfrm flipV="1">
            <a:off x="1005840" y="2788920"/>
            <a:ext cx="0" cy="777240"/>
          </a:xfrm>
          <a:prstGeom prst="line">
            <a:avLst/>
          </a:prstGeom>
          <a:noFill/>
          <a:ln w="25400">
            <a:solidFill>
              <a:srgbClr val="008B83"/>
            </a:solidFill>
            <a:prstDash val="solid"/>
            <a:tailEnd type="triangle"/>
          </a:ln>
        </p:spPr>
      </p:sp>
      <p:sp>
        <p:nvSpPr>
          <p:cNvPr id="15" name="line-117"/>
          <p:cNvSpPr/>
          <p:nvPr/>
        </p:nvSpPr>
        <p:spPr>
          <a:xfrm flipV="1">
            <a:off x="6675120" y="2788920"/>
            <a:ext cx="0" cy="777240"/>
          </a:xfrm>
          <a:prstGeom prst="line">
            <a:avLst/>
          </a:prstGeom>
          <a:noFill/>
          <a:ln w="25400">
            <a:solidFill>
              <a:srgbClr val="008B83"/>
            </a:solidFill>
            <a:prstDash val="solid"/>
            <a:tailEnd type="triangle"/>
          </a:ln>
        </p:spPr>
      </p:sp>
      <p:sp>
        <p:nvSpPr>
          <p:cNvPr id="16" name="text-118"/>
          <p:cNvSpPr/>
          <p:nvPr/>
        </p:nvSpPr>
        <p:spPr>
          <a:xfrm>
            <a:off x="123444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9 kN</a:t>
            </a:r>
            <a:endParaRPr lang="en-US" sz="1800" dirty="0"/>
          </a:p>
        </p:txBody>
      </p:sp>
      <p:sp>
        <p:nvSpPr>
          <p:cNvPr id="17" name="text-119"/>
          <p:cNvSpPr/>
          <p:nvPr/>
        </p:nvSpPr>
        <p:spPr>
          <a:xfrm>
            <a:off x="525780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9 kN</a:t>
            </a:r>
            <a:endParaRPr lang="en-US" sz="1800" dirty="0"/>
          </a:p>
        </p:txBody>
      </p:sp>
      <p:sp>
        <p:nvSpPr>
          <p:cNvPr id="18" name="text-120"/>
          <p:cNvSpPr/>
          <p:nvPr/>
        </p:nvSpPr>
        <p:spPr>
          <a:xfrm>
            <a:off x="77724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弯矩幅值示意</a:t>
            </a:r>
            <a:endParaRPr lang="en-US" sz="1500" dirty="0"/>
          </a:p>
        </p:txBody>
      </p:sp>
      <p:sp>
        <p:nvSpPr>
          <p:cNvPr id="19" name="line-121"/>
          <p:cNvSpPr/>
          <p:nvPr/>
        </p:nvSpPr>
        <p:spPr>
          <a:xfrm>
            <a:off x="1005840" y="4800600"/>
            <a:ext cx="5669280" cy="0"/>
          </a:xfrm>
          <a:prstGeom prst="line">
            <a:avLst/>
          </a:prstGeom>
          <a:noFill/>
          <a:ln w="12700">
            <a:solidFill>
              <a:srgbClr val="C7D7D7"/>
            </a:solidFill>
            <a:prstDash val="solid"/>
          </a:ln>
        </p:spPr>
      </p:sp>
      <p:sp>
        <p:nvSpPr>
          <p:cNvPr id="20" name="line-122"/>
          <p:cNvSpPr/>
          <p:nvPr/>
        </p:nvSpPr>
        <p:spPr>
          <a:xfrm>
            <a:off x="1005840" y="4800600"/>
            <a:ext cx="2834640" cy="868680"/>
          </a:xfrm>
          <a:prstGeom prst="line">
            <a:avLst/>
          </a:prstGeom>
          <a:noFill/>
          <a:ln w="38100">
            <a:solidFill>
              <a:srgbClr val="008B83"/>
            </a:solidFill>
            <a:prstDash val="solid"/>
          </a:ln>
        </p:spPr>
      </p:sp>
      <p:sp>
        <p:nvSpPr>
          <p:cNvPr id="21" name="line-123"/>
          <p:cNvSpPr/>
          <p:nvPr/>
        </p:nvSpPr>
        <p:spPr>
          <a:xfrm flipV="1">
            <a:off x="3840480" y="4800600"/>
            <a:ext cx="2834640" cy="868680"/>
          </a:xfrm>
          <a:prstGeom prst="line">
            <a:avLst/>
          </a:prstGeom>
          <a:noFill/>
          <a:ln w="38100">
            <a:solidFill>
              <a:srgbClr val="008B83"/>
            </a:solidFill>
            <a:prstDash val="solid"/>
          </a:ln>
        </p:spPr>
      </p:sp>
      <p:sp>
        <p:nvSpPr>
          <p:cNvPr id="22" name="text-124"/>
          <p:cNvSpPr/>
          <p:nvPr/>
        </p:nvSpPr>
        <p:spPr>
          <a:xfrm>
            <a:off x="406908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跨中最大</a:t>
            </a:r>
            <a:endParaRPr lang="en-US" sz="1500" dirty="0"/>
          </a:p>
        </p:txBody>
      </p:sp>
      <p:sp>
        <p:nvSpPr>
          <p:cNvPr id="23" name="panel-125"/>
          <p:cNvSpPr/>
          <p:nvPr/>
        </p:nvSpPr>
        <p:spPr>
          <a:xfrm>
            <a:off x="7955280" y="1920240"/>
            <a:ext cx="3730752" cy="393192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24" name="text-126"/>
          <p:cNvSpPr/>
          <p:nvPr/>
        </p:nvSpPr>
        <p:spPr>
          <a:xfrm>
            <a:off x="8211312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解析期望值</a:t>
            </a:r>
            <a:endParaRPr lang="en-US" sz="2400" dirty="0"/>
          </a:p>
        </p:txBody>
      </p:sp>
      <p:sp>
        <p:nvSpPr>
          <p:cNvPr id="25" name="text-127"/>
          <p:cNvSpPr/>
          <p:nvPr/>
        </p:nvSpPr>
        <p:spPr>
          <a:xfrm>
            <a:off x="8211312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左右反力各 9 kN</a:t>
            </a:r>
            <a:endParaRPr lang="en-US" sz="2200" dirty="0"/>
          </a:p>
        </p:txBody>
      </p:sp>
      <p:sp>
        <p:nvSpPr>
          <p:cNvPr id="26" name="text-128"/>
          <p:cNvSpPr/>
          <p:nvPr/>
        </p:nvSpPr>
        <p:spPr>
          <a:xfrm>
            <a:off x="8211312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最大弯矩 27 kN·m</a:t>
            </a:r>
            <a:endParaRPr lang="en-US" sz="2200" dirty="0"/>
          </a:p>
        </p:txBody>
      </p:sp>
      <p:sp>
        <p:nvSpPr>
          <p:cNvPr id="27" name="text-129"/>
          <p:cNvSpPr/>
          <p:nvPr/>
        </p:nvSpPr>
        <p:spPr>
          <a:xfrm>
            <a:off x="8211312" y="4709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× 6 ÷ 4 = 27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用软件输出与手算对照</a:t>
            </a:r>
            <a:endParaRPr lang="en-US" sz="1700" dirty="0"/>
          </a:p>
        </p:txBody>
      </p:sp>
      <p:sp>
        <p:nvSpPr>
          <p:cNvPr id="28" name="text-130"/>
          <p:cNvSpPr/>
          <p:nvPr/>
        </p:nvSpPr>
        <p:spPr>
          <a:xfrm>
            <a:off x="548640" y="605332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本页为解析校核值，非本次软件运行实测；弯矩正负按软件约定。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31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教学辅助</a:t>
            </a:r>
            <a:endParaRPr lang="en-US" sz="1100" dirty="0"/>
          </a:p>
        </p:txBody>
      </p:sp>
      <p:sp>
        <p:nvSpPr>
          <p:cNvPr id="3" name="text-132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公式助手：从结果回到“为什么”</a:t>
            </a:r>
            <a:endParaRPr lang="en-US" sz="2900" dirty="0"/>
          </a:p>
        </p:txBody>
      </p:sp>
      <p:sp>
        <p:nvSpPr>
          <p:cNvPr id="4" name="line-133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134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135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panel-136"/>
          <p:cNvSpPr/>
          <p:nvPr/>
        </p:nvSpPr>
        <p:spPr>
          <a:xfrm>
            <a:off x="502920" y="1920240"/>
            <a:ext cx="3547872" cy="352044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8" name="text-137"/>
          <p:cNvSpPr/>
          <p:nvPr/>
        </p:nvSpPr>
        <p:spPr>
          <a:xfrm>
            <a:off x="704088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-138"/>
          <p:cNvSpPr/>
          <p:nvPr/>
        </p:nvSpPr>
        <p:spPr>
          <a:xfrm>
            <a:off x="704088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先选问题</a:t>
            </a:r>
            <a:endParaRPr lang="en-US" sz="2200" dirty="0"/>
          </a:p>
        </p:txBody>
      </p:sp>
      <p:sp>
        <p:nvSpPr>
          <p:cNvPr id="10" name="text-139"/>
          <p:cNvSpPr/>
          <p:nvPr/>
        </p:nvSpPr>
        <p:spPr>
          <a:xfrm>
            <a:off x="704088" y="3383280"/>
            <a:ext cx="314553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明确拉压、弯曲或扭转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识别需要的计算量</a:t>
            </a:r>
            <a:endParaRPr lang="en-US" sz="1700" dirty="0"/>
          </a:p>
        </p:txBody>
      </p:sp>
      <p:sp>
        <p:nvSpPr>
          <p:cNvPr id="11" name="panel-140"/>
          <p:cNvSpPr/>
          <p:nvPr/>
        </p:nvSpPr>
        <p:spPr>
          <a:xfrm>
            <a:off x="4325112" y="1920240"/>
            <a:ext cx="3547872" cy="352044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2" name="text-141"/>
          <p:cNvSpPr/>
          <p:nvPr/>
        </p:nvSpPr>
        <p:spPr>
          <a:xfrm>
            <a:off x="4526280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-142"/>
          <p:cNvSpPr/>
          <p:nvPr/>
        </p:nvSpPr>
        <p:spPr>
          <a:xfrm>
            <a:off x="4526280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再检查参数</a:t>
            </a:r>
            <a:endParaRPr lang="en-US" sz="2200" dirty="0"/>
          </a:p>
        </p:txBody>
      </p:sp>
      <p:sp>
        <p:nvSpPr>
          <p:cNvPr id="14" name="text-143"/>
          <p:cNvSpPr/>
          <p:nvPr/>
        </p:nvSpPr>
        <p:spPr>
          <a:xfrm>
            <a:off x="4526280" y="3383280"/>
            <a:ext cx="314553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材料与截面参数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单位、符号和适用条件</a:t>
            </a:r>
            <a:endParaRPr lang="en-US" sz="1700" dirty="0"/>
          </a:p>
        </p:txBody>
      </p:sp>
      <p:sp>
        <p:nvSpPr>
          <p:cNvPr id="15" name="panel-144"/>
          <p:cNvSpPr/>
          <p:nvPr/>
        </p:nvSpPr>
        <p:spPr>
          <a:xfrm>
            <a:off x="8147304" y="1920240"/>
            <a:ext cx="3547872" cy="352044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6" name="text-145"/>
          <p:cNvSpPr/>
          <p:nvPr/>
        </p:nvSpPr>
        <p:spPr>
          <a:xfrm>
            <a:off x="8348472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-146"/>
          <p:cNvSpPr/>
          <p:nvPr/>
        </p:nvSpPr>
        <p:spPr>
          <a:xfrm>
            <a:off x="8348472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跟着推导理解</a:t>
            </a:r>
            <a:endParaRPr lang="en-US" sz="2200" dirty="0"/>
          </a:p>
        </p:txBody>
      </p:sp>
      <p:sp>
        <p:nvSpPr>
          <p:cNvPr id="18" name="text-147"/>
          <p:cNvSpPr/>
          <p:nvPr/>
        </p:nvSpPr>
        <p:spPr>
          <a:xfrm>
            <a:off x="8348472" y="3383280"/>
            <a:ext cx="314553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查看公式与分步过程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把数值放回力学意义</a:t>
            </a:r>
            <a:endParaRPr lang="en-US" sz="1700" dirty="0"/>
          </a:p>
        </p:txBody>
      </p:sp>
      <p:sp>
        <p:nvSpPr>
          <p:cNvPr id="19" name="text-148"/>
          <p:cNvSpPr/>
          <p:nvPr/>
        </p:nvSpPr>
        <p:spPr>
          <a:xfrm>
            <a:off x="594360" y="5742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使用建议：先手算思路，再用助手检查参数与推导。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49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三维能力</a:t>
            </a:r>
            <a:endParaRPr lang="en-US" sz="1100" dirty="0"/>
          </a:p>
        </p:txBody>
      </p:sp>
      <p:sp>
        <p:nvSpPr>
          <p:cNvPr id="3" name="text-150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从平面走向空间：观察角度也变了</a:t>
            </a:r>
            <a:endParaRPr lang="en-US" sz="2900" dirty="0"/>
          </a:p>
        </p:txBody>
      </p:sp>
      <p:sp>
        <p:nvSpPr>
          <p:cNvPr id="4" name="line-151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152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15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line-154"/>
          <p:cNvSpPr/>
          <p:nvPr/>
        </p:nvSpPr>
        <p:spPr>
          <a:xfrm flipV="1">
            <a:off x="2011680" y="4206240"/>
            <a:ext cx="2926080" cy="1005840"/>
          </a:xfrm>
          <a:prstGeom prst="line">
            <a:avLst/>
          </a:prstGeom>
          <a:noFill/>
          <a:ln w="76200">
            <a:solidFill>
              <a:srgbClr val="142E37"/>
            </a:solidFill>
            <a:prstDash val="solid"/>
          </a:ln>
        </p:spPr>
      </p:sp>
      <p:sp>
        <p:nvSpPr>
          <p:cNvPr id="8" name="line-155"/>
          <p:cNvSpPr/>
          <p:nvPr/>
        </p:nvSpPr>
        <p:spPr>
          <a:xfrm>
            <a:off x="4937760" y="4206240"/>
            <a:ext cx="1463040" cy="914400"/>
          </a:xfrm>
          <a:prstGeom prst="line">
            <a:avLst/>
          </a:prstGeom>
          <a:noFill/>
          <a:ln w="76200">
            <a:solidFill>
              <a:srgbClr val="142E37"/>
            </a:solidFill>
            <a:prstDash val="solid"/>
          </a:ln>
        </p:spPr>
      </p:sp>
      <p:sp>
        <p:nvSpPr>
          <p:cNvPr id="9" name="line-156"/>
          <p:cNvSpPr/>
          <p:nvPr/>
        </p:nvSpPr>
        <p:spPr>
          <a:xfrm flipV="1">
            <a:off x="4937760" y="2377440"/>
            <a:ext cx="0" cy="1828800"/>
          </a:xfrm>
          <a:prstGeom prst="line">
            <a:avLst/>
          </a:prstGeom>
          <a:noFill/>
          <a:ln w="76200">
            <a:solidFill>
              <a:srgbClr val="142E37"/>
            </a:solidFill>
            <a:prstDash val="solid"/>
          </a:ln>
        </p:spPr>
      </p:sp>
      <p:sp>
        <p:nvSpPr>
          <p:cNvPr id="10" name="line-157"/>
          <p:cNvSpPr/>
          <p:nvPr/>
        </p:nvSpPr>
        <p:spPr>
          <a:xfrm>
            <a:off x="4937760" y="2377440"/>
            <a:ext cx="1097280" cy="0"/>
          </a:xfrm>
          <a:prstGeom prst="line">
            <a:avLst/>
          </a:prstGeom>
          <a:noFill/>
          <a:ln w="38100">
            <a:solidFill>
              <a:srgbClr val="E5A44A"/>
            </a:solidFill>
            <a:prstDash val="solid"/>
            <a:tailEnd type="triangle"/>
          </a:ln>
        </p:spPr>
      </p:sp>
      <p:sp>
        <p:nvSpPr>
          <p:cNvPr id="11" name="node-158"/>
          <p:cNvSpPr/>
          <p:nvPr/>
        </p:nvSpPr>
        <p:spPr>
          <a:xfrm>
            <a:off x="1929384" y="5129784"/>
            <a:ext cx="164592" cy="164592"/>
          </a:xfrm>
          <a:prstGeom prst="ellipse">
            <a:avLst/>
          </a:prstGeom>
          <a:solidFill>
            <a:srgbClr val="008B83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12" name="node-159"/>
          <p:cNvSpPr/>
          <p:nvPr/>
        </p:nvSpPr>
        <p:spPr>
          <a:xfrm>
            <a:off x="4855464" y="4123944"/>
            <a:ext cx="164592" cy="164592"/>
          </a:xfrm>
          <a:prstGeom prst="ellipse">
            <a:avLst/>
          </a:prstGeom>
          <a:solidFill>
            <a:srgbClr val="008B83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13" name="node-160"/>
          <p:cNvSpPr/>
          <p:nvPr/>
        </p:nvSpPr>
        <p:spPr>
          <a:xfrm>
            <a:off x="6318504" y="5038344"/>
            <a:ext cx="164592" cy="164592"/>
          </a:xfrm>
          <a:prstGeom prst="ellipse">
            <a:avLst/>
          </a:prstGeom>
          <a:solidFill>
            <a:srgbClr val="008B83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14" name="node-161"/>
          <p:cNvSpPr/>
          <p:nvPr/>
        </p:nvSpPr>
        <p:spPr>
          <a:xfrm>
            <a:off x="4855464" y="2295144"/>
            <a:ext cx="164592" cy="164592"/>
          </a:xfrm>
          <a:prstGeom prst="ellipse">
            <a:avLst/>
          </a:prstGeom>
          <a:solidFill>
            <a:srgbClr val="008B83"/>
          </a:solidFill>
          <a:ln w="12700">
            <a:solidFill>
              <a:srgbClr val="008B83"/>
            </a:solidFill>
            <a:prstDash val="solid"/>
          </a:ln>
        </p:spPr>
      </p:sp>
      <p:sp>
        <p:nvSpPr>
          <p:cNvPr id="15" name="text-162"/>
          <p:cNvSpPr/>
          <p:nvPr/>
        </p:nvSpPr>
        <p:spPr>
          <a:xfrm>
            <a:off x="10972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空间杆系示意</a:t>
            </a:r>
            <a:endParaRPr lang="en-US" sz="1400" dirty="0"/>
          </a:p>
        </p:txBody>
      </p:sp>
      <p:sp>
        <p:nvSpPr>
          <p:cNvPr id="16" name="text-163"/>
          <p:cNvSpPr/>
          <p:nvPr/>
        </p:nvSpPr>
        <p:spPr>
          <a:xfrm>
            <a:off x="790956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空间桁架 / 刚架</a:t>
            </a:r>
            <a:endParaRPr lang="en-US" sz="2500" dirty="0"/>
          </a:p>
        </p:txBody>
      </p:sp>
      <p:sp>
        <p:nvSpPr>
          <p:cNvPr id="17" name="text-164"/>
          <p:cNvSpPr/>
          <p:nvPr/>
        </p:nvSpPr>
        <p:spPr>
          <a:xfrm>
            <a:off x="7909560" y="3017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三维建模与空间观察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节点位移、反力与杆端力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2D / 3D / 分屏显示</a:t>
            </a:r>
            <a:endParaRPr lang="en-US" sz="2000" dirty="0"/>
          </a:p>
        </p:txBody>
      </p:sp>
      <p:sp>
        <p:nvSpPr>
          <p:cNvPr id="18" name="text-165"/>
          <p:cNvSpPr/>
          <p:nvPr/>
        </p:nvSpPr>
        <p:spPr>
          <a:xfrm>
            <a:off x="7909560" y="5212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显示为三维 ≠ 使用三维分析模型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66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实现思路</a:t>
            </a:r>
            <a:endParaRPr lang="en-US" sz="1100" dirty="0"/>
          </a:p>
        </p:txBody>
      </p:sp>
      <p:sp>
        <p:nvSpPr>
          <p:cNvPr id="3" name="text-167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计算在本地，课堂演示更容易准备</a:t>
            </a:r>
            <a:endParaRPr lang="en-US" sz="2900" dirty="0"/>
          </a:p>
        </p:txBody>
      </p:sp>
      <p:sp>
        <p:nvSpPr>
          <p:cNvPr id="4" name="line-168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169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17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panel-171"/>
          <p:cNvSpPr/>
          <p:nvPr/>
        </p:nvSpPr>
        <p:spPr>
          <a:xfrm>
            <a:off x="502920" y="2011680"/>
            <a:ext cx="3547872" cy="29260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8" name="text-172"/>
          <p:cNvSpPr/>
          <p:nvPr/>
        </p:nvSpPr>
        <p:spPr>
          <a:xfrm>
            <a:off x="704088" y="219456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-173"/>
          <p:cNvSpPr/>
          <p:nvPr/>
        </p:nvSpPr>
        <p:spPr>
          <a:xfrm>
            <a:off x="704088" y="278892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交互建模</a:t>
            </a:r>
            <a:endParaRPr lang="en-US" sz="2200" dirty="0"/>
          </a:p>
        </p:txBody>
      </p:sp>
      <p:sp>
        <p:nvSpPr>
          <p:cNvPr id="10" name="text-174"/>
          <p:cNvSpPr/>
          <p:nvPr/>
        </p:nvSpPr>
        <p:spPr>
          <a:xfrm>
            <a:off x="704088" y="347472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整理节点、构件与约束</a:t>
            </a:r>
            <a:endParaRPr lang="en-US" sz="1700" dirty="0"/>
          </a:p>
        </p:txBody>
      </p:sp>
      <p:sp>
        <p:nvSpPr>
          <p:cNvPr id="11" name="line-175"/>
          <p:cNvSpPr/>
          <p:nvPr/>
        </p:nvSpPr>
        <p:spPr>
          <a:xfrm>
            <a:off x="4078224" y="3474720"/>
            <a:ext cx="201168" cy="0"/>
          </a:xfrm>
          <a:prstGeom prst="line">
            <a:avLst/>
          </a:prstGeom>
          <a:noFill/>
          <a:ln w="25400">
            <a:solidFill>
              <a:srgbClr val="008B83"/>
            </a:solidFill>
            <a:prstDash val="solid"/>
            <a:tailEnd type="triangle"/>
          </a:ln>
        </p:spPr>
      </p:sp>
      <p:sp>
        <p:nvSpPr>
          <p:cNvPr id="12" name="panel-176"/>
          <p:cNvSpPr/>
          <p:nvPr/>
        </p:nvSpPr>
        <p:spPr>
          <a:xfrm>
            <a:off x="4325112" y="2011680"/>
            <a:ext cx="3547872" cy="29260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3" name="text-177"/>
          <p:cNvSpPr/>
          <p:nvPr/>
        </p:nvSpPr>
        <p:spPr>
          <a:xfrm>
            <a:off x="4526280" y="219456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-178"/>
          <p:cNvSpPr/>
          <p:nvPr/>
        </p:nvSpPr>
        <p:spPr>
          <a:xfrm>
            <a:off x="4526280" y="278892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数值求解</a:t>
            </a:r>
            <a:endParaRPr lang="en-US" sz="2200" dirty="0"/>
          </a:p>
        </p:txBody>
      </p:sp>
      <p:sp>
        <p:nvSpPr>
          <p:cNvPr id="15" name="text-179"/>
          <p:cNvSpPr/>
          <p:nvPr/>
        </p:nvSpPr>
        <p:spPr>
          <a:xfrm>
            <a:off x="4526280" y="347472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本地 CPU / Worker</a:t>
            </a:r>
            <a:endParaRPr lang="en-US" sz="1700" dirty="0"/>
          </a:p>
        </p:txBody>
      </p:sp>
      <p:sp>
        <p:nvSpPr>
          <p:cNvPr id="16" name="line-180"/>
          <p:cNvSpPr/>
          <p:nvPr/>
        </p:nvSpPr>
        <p:spPr>
          <a:xfrm>
            <a:off x="7900416" y="3474720"/>
            <a:ext cx="201168" cy="0"/>
          </a:xfrm>
          <a:prstGeom prst="line">
            <a:avLst/>
          </a:prstGeom>
          <a:noFill/>
          <a:ln w="25400">
            <a:solidFill>
              <a:srgbClr val="008B83"/>
            </a:solidFill>
            <a:prstDash val="solid"/>
            <a:tailEnd type="triangle"/>
          </a:ln>
        </p:spPr>
      </p:sp>
      <p:sp>
        <p:nvSpPr>
          <p:cNvPr id="17" name="panel-181"/>
          <p:cNvSpPr/>
          <p:nvPr/>
        </p:nvSpPr>
        <p:spPr>
          <a:xfrm>
            <a:off x="8147304" y="2011680"/>
            <a:ext cx="3547872" cy="29260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8" name="text-182"/>
          <p:cNvSpPr/>
          <p:nvPr/>
        </p:nvSpPr>
        <p:spPr>
          <a:xfrm>
            <a:off x="8348472" y="219456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-183"/>
          <p:cNvSpPr/>
          <p:nvPr/>
        </p:nvSpPr>
        <p:spPr>
          <a:xfrm>
            <a:off x="8348472" y="278892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结果展示</a:t>
            </a:r>
            <a:endParaRPr lang="en-US" sz="2200" dirty="0"/>
          </a:p>
        </p:txBody>
      </p:sp>
      <p:sp>
        <p:nvSpPr>
          <p:cNvPr id="20" name="text-184"/>
          <p:cNvSpPr/>
          <p:nvPr/>
        </p:nvSpPr>
        <p:spPr>
          <a:xfrm>
            <a:off x="8348472" y="347472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内力、变形与数据表</a:t>
            </a:r>
            <a:endParaRPr lang="en-US" sz="1700" dirty="0"/>
          </a:p>
        </p:txBody>
      </p:sp>
      <p:sp>
        <p:nvSpPr>
          <p:cNvPr id="21" name="panel-185"/>
          <p:cNvSpPr/>
          <p:nvPr/>
        </p:nvSpPr>
        <p:spPr>
          <a:xfrm>
            <a:off x="502920" y="5376672"/>
            <a:ext cx="11183112" cy="594360"/>
          </a:xfrm>
          <a:prstGeom prst="rect">
            <a:avLst/>
          </a:prstGeom>
          <a:solidFill>
            <a:srgbClr val="DDF2EB"/>
          </a:solidFill>
          <a:ln w="12700">
            <a:solidFill>
              <a:srgbClr val="DDF2EB"/>
            </a:solidFill>
            <a:prstDash val="solid"/>
          </a:ln>
        </p:spPr>
      </p:sp>
      <p:sp>
        <p:nvSpPr>
          <p:cNvPr id="22" name="text-186"/>
          <p:cNvSpPr/>
          <p:nvPr/>
        </p:nvSpPr>
        <p:spPr>
          <a:xfrm>
            <a:off x="731520" y="55138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使用形态：Windows 桌面版  /  PWA 与离线静态版本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87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当前状态</a:t>
            </a:r>
            <a:endParaRPr lang="en-US" sz="1100" dirty="0"/>
          </a:p>
        </p:txBody>
      </p:sp>
      <p:sp>
        <p:nvSpPr>
          <p:cNvPr id="3" name="text-188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介绍功能，也说明适用边界</a:t>
            </a:r>
            <a:endParaRPr lang="en-US" sz="2900" dirty="0"/>
          </a:p>
        </p:txBody>
      </p:sp>
      <p:sp>
        <p:nvSpPr>
          <p:cNvPr id="4" name="line-189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190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191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panel-192"/>
          <p:cNvSpPr/>
          <p:nvPr/>
        </p:nvSpPr>
        <p:spPr>
          <a:xfrm>
            <a:off x="502920" y="1920240"/>
            <a:ext cx="3547872" cy="347472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8" name="text-193"/>
          <p:cNvSpPr/>
          <p:nvPr/>
        </p:nvSpPr>
        <p:spPr>
          <a:xfrm>
            <a:off x="704088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可用于学习</a:t>
            </a:r>
            <a:endParaRPr lang="en-US" sz="1400" dirty="0"/>
          </a:p>
        </p:txBody>
      </p:sp>
      <p:sp>
        <p:nvSpPr>
          <p:cNvPr id="9" name="text-194"/>
          <p:cNvSpPr/>
          <p:nvPr/>
        </p:nvSpPr>
        <p:spPr>
          <a:xfrm>
            <a:off x="704088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已经有的能力</a:t>
            </a:r>
            <a:endParaRPr lang="en-US" sz="2200" dirty="0"/>
          </a:p>
        </p:txBody>
      </p:sp>
      <p:sp>
        <p:nvSpPr>
          <p:cNvPr id="10" name="text-195"/>
          <p:cNvSpPr/>
          <p:nvPr/>
        </p:nvSpPr>
        <p:spPr>
          <a:xfrm>
            <a:off x="704088" y="338328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空间桁架 / 刚架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公式库与分步推导</a:t>
            </a:r>
            <a:endParaRPr lang="en-US" sz="1700" dirty="0"/>
          </a:p>
        </p:txBody>
      </p:sp>
      <p:sp>
        <p:nvSpPr>
          <p:cNvPr id="11" name="panel-196"/>
          <p:cNvSpPr/>
          <p:nvPr/>
        </p:nvSpPr>
        <p:spPr>
          <a:xfrm>
            <a:off x="4325112" y="1920240"/>
            <a:ext cx="3547872" cy="347472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2" name="text-197"/>
          <p:cNvSpPr/>
          <p:nvPr/>
        </p:nvSpPr>
        <p:spPr>
          <a:xfrm>
            <a:off x="4526280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仍在探索</a:t>
            </a:r>
            <a:endParaRPr lang="en-US" sz="1400" dirty="0"/>
          </a:p>
        </p:txBody>
      </p:sp>
      <p:sp>
        <p:nvSpPr>
          <p:cNvPr id="13" name="text-198"/>
          <p:cNvSpPr/>
          <p:nvPr/>
        </p:nvSpPr>
        <p:spPr>
          <a:xfrm>
            <a:off x="4526280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实验与未接入</a:t>
            </a:r>
            <a:endParaRPr lang="en-US" sz="2200" dirty="0"/>
          </a:p>
        </p:txBody>
      </p:sp>
      <p:sp>
        <p:nvSpPr>
          <p:cNvPr id="14" name="text-199"/>
          <p:cNvSpPr/>
          <p:nvPr/>
        </p:nvSpPr>
        <p:spPr>
          <a:xfrm>
            <a:off x="4526280" y="338328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Tet4 为实验模块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WebGPU 仅设备检测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实体连续应力云图未接入</a:t>
            </a:r>
            <a:endParaRPr lang="en-US" sz="1700" dirty="0"/>
          </a:p>
        </p:txBody>
      </p:sp>
      <p:sp>
        <p:nvSpPr>
          <p:cNvPr id="15" name="panel-200"/>
          <p:cNvSpPr/>
          <p:nvPr/>
        </p:nvSpPr>
        <p:spPr>
          <a:xfrm>
            <a:off x="8147304" y="1920240"/>
            <a:ext cx="3547872" cy="347472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6" name="text-201"/>
          <p:cNvSpPr/>
          <p:nvPr/>
        </p:nvSpPr>
        <p:spPr>
          <a:xfrm>
            <a:off x="8348472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使用原则</a:t>
            </a:r>
            <a:endParaRPr lang="en-US" sz="1400" dirty="0"/>
          </a:p>
        </p:txBody>
      </p:sp>
      <p:sp>
        <p:nvSpPr>
          <p:cNvPr id="17" name="text-202"/>
          <p:cNvSpPr/>
          <p:nvPr/>
        </p:nvSpPr>
        <p:spPr>
          <a:xfrm>
            <a:off x="8348472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独立检查模型</a:t>
            </a:r>
            <a:endParaRPr lang="en-US" sz="2200" dirty="0"/>
          </a:p>
        </p:txBody>
      </p:sp>
      <p:sp>
        <p:nvSpPr>
          <p:cNvPr id="18" name="text-203"/>
          <p:cNvSpPr/>
          <p:nvPr/>
        </p:nvSpPr>
        <p:spPr>
          <a:xfrm>
            <a:off x="8348472" y="338328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先确认单位与约束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结合解析解校核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用于学习与教学辅助</a:t>
            </a:r>
            <a:endParaRPr lang="en-US" sz="1700" dirty="0"/>
          </a:p>
        </p:txBody>
      </p:sp>
      <p:sp>
        <p:nvSpPr>
          <p:cNvPr id="19" name="text-204"/>
          <p:cNvSpPr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正式工程设计仍需经过相应验证与专业流程。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05"/>
          <p:cNvSpPr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拉压弯扭大师  /  一起改进</a:t>
            </a:r>
            <a:endParaRPr lang="en-US" sz="1100" dirty="0"/>
          </a:p>
        </p:txBody>
      </p:sp>
      <p:sp>
        <p:nvSpPr>
          <p:cNvPr id="3" name="text-206"/>
          <p:cNvSpPr/>
          <p:nvPr/>
        </p:nvSpPr>
        <p:spPr>
          <a:xfrm>
            <a:off x="50292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带一道熟悉的题，来试试它</a:t>
            </a:r>
            <a:endParaRPr lang="en-US" sz="2900" dirty="0"/>
          </a:p>
        </p:txBody>
      </p:sp>
      <p:sp>
        <p:nvSpPr>
          <p:cNvPr id="4" name="line-207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7620">
            <a:solidFill>
              <a:srgbClr val="C7D7D7"/>
            </a:solidFill>
            <a:prstDash val="solid"/>
          </a:ln>
        </p:spPr>
      </p:sp>
      <p:sp>
        <p:nvSpPr>
          <p:cNvPr id="5" name="text-208"/>
          <p:cNvSpPr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材料力学学习辅助软件 · v2.0.2</a:t>
            </a:r>
            <a:endParaRPr lang="en-US" sz="900" dirty="0"/>
          </a:p>
        </p:txBody>
      </p:sp>
      <p:sp>
        <p:nvSpPr>
          <p:cNvPr id="6" name="text-209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panel-210"/>
          <p:cNvSpPr/>
          <p:nvPr/>
        </p:nvSpPr>
        <p:spPr>
          <a:xfrm>
            <a:off x="502920" y="1920240"/>
            <a:ext cx="3547872" cy="31546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8" name="text-211"/>
          <p:cNvSpPr/>
          <p:nvPr/>
        </p:nvSpPr>
        <p:spPr>
          <a:xfrm>
            <a:off x="704088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400" dirty="0"/>
          </a:p>
        </p:txBody>
      </p:sp>
      <p:sp>
        <p:nvSpPr>
          <p:cNvPr id="9" name="text-212"/>
          <p:cNvSpPr/>
          <p:nvPr/>
        </p:nvSpPr>
        <p:spPr>
          <a:xfrm>
            <a:off x="704088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打开默认案例</a:t>
            </a:r>
            <a:endParaRPr lang="en-US" sz="2200" dirty="0"/>
          </a:p>
        </p:txBody>
      </p:sp>
      <p:sp>
        <p:nvSpPr>
          <p:cNvPr id="10" name="text-213"/>
          <p:cNvSpPr/>
          <p:nvPr/>
        </p:nvSpPr>
        <p:spPr>
          <a:xfrm>
            <a:off x="704088" y="3383280"/>
            <a:ext cx="31455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从熟悉的简支梁开始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先看使用指导</a:t>
            </a:r>
            <a:endParaRPr lang="en-US" sz="1700" dirty="0"/>
          </a:p>
        </p:txBody>
      </p:sp>
      <p:sp>
        <p:nvSpPr>
          <p:cNvPr id="11" name="panel-214"/>
          <p:cNvSpPr/>
          <p:nvPr/>
        </p:nvSpPr>
        <p:spPr>
          <a:xfrm>
            <a:off x="4325112" y="1920240"/>
            <a:ext cx="3547872" cy="31546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2" name="text-215"/>
          <p:cNvSpPr/>
          <p:nvPr/>
        </p:nvSpPr>
        <p:spPr>
          <a:xfrm>
            <a:off x="4526280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400" dirty="0"/>
          </a:p>
        </p:txBody>
      </p:sp>
      <p:sp>
        <p:nvSpPr>
          <p:cNvPr id="13" name="text-216"/>
          <p:cNvSpPr/>
          <p:nvPr/>
        </p:nvSpPr>
        <p:spPr>
          <a:xfrm>
            <a:off x="4526280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只改一个条件</a:t>
            </a:r>
            <a:endParaRPr lang="en-US" sz="2200" dirty="0"/>
          </a:p>
        </p:txBody>
      </p:sp>
      <p:sp>
        <p:nvSpPr>
          <p:cNvPr id="14" name="text-217"/>
          <p:cNvSpPr/>
          <p:nvPr/>
        </p:nvSpPr>
        <p:spPr>
          <a:xfrm>
            <a:off x="4526280" y="3383280"/>
            <a:ext cx="31455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调整荷载大小或位置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预测结果如何变化</a:t>
            </a:r>
            <a:endParaRPr lang="en-US" sz="1700" dirty="0"/>
          </a:p>
        </p:txBody>
      </p:sp>
      <p:sp>
        <p:nvSpPr>
          <p:cNvPr id="15" name="panel-218"/>
          <p:cNvSpPr/>
          <p:nvPr/>
        </p:nvSpPr>
        <p:spPr>
          <a:xfrm>
            <a:off x="8147304" y="1920240"/>
            <a:ext cx="3547872" cy="3154680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6" name="text-219"/>
          <p:cNvSpPr/>
          <p:nvPr/>
        </p:nvSpPr>
        <p:spPr>
          <a:xfrm>
            <a:off x="8348472" y="2103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400" dirty="0"/>
          </a:p>
        </p:txBody>
      </p:sp>
      <p:sp>
        <p:nvSpPr>
          <p:cNvPr id="17" name="text-220"/>
          <p:cNvSpPr/>
          <p:nvPr/>
        </p:nvSpPr>
        <p:spPr>
          <a:xfrm>
            <a:off x="8348472" y="269748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E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把反馈带回来</a:t>
            </a:r>
            <a:endParaRPr lang="en-US" sz="2200" dirty="0"/>
          </a:p>
        </p:txBody>
      </p:sp>
      <p:sp>
        <p:nvSpPr>
          <p:cNvPr id="18" name="text-221"/>
          <p:cNvSpPr/>
          <p:nvPr/>
        </p:nvSpPr>
        <p:spPr>
          <a:xfrm>
            <a:off x="8348472" y="3383280"/>
            <a:ext cx="31455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哪一步不直观？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哪里与手算不一致？</a:t>
            </a:r>
            <a:endParaRPr lang="en-US" sz="1700" dirty="0"/>
          </a:p>
        </p:txBody>
      </p:sp>
      <p:sp>
        <p:nvSpPr>
          <p:cNvPr id="19" name="text-222"/>
          <p:cNvSpPr/>
          <p:nvPr/>
        </p:nvSpPr>
        <p:spPr>
          <a:xfrm>
            <a:off x="594360" y="55046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8B83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希望它成为大家理解材料力学的一件小工具。</a:t>
            </a:r>
            <a:endParaRPr lang="en-US" sz="2400" dirty="0"/>
          </a:p>
        </p:txBody>
      </p:sp>
      <p:sp>
        <p:nvSpPr>
          <p:cNvPr id="20" name="text-223"/>
          <p:cNvSpPr/>
          <p:nvPr/>
        </p:nvSpPr>
        <p:spPr>
          <a:xfrm>
            <a:off x="594360" y="60533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66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现场分享项目文件或已验证的安装包；不放置未经确认的下载链接。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拉压弯扭大师｜同学分享</dc:title>
  <dc:subject>材料力学软件分享</dc:subject>
  <dc:creator>拉压弯扭大师</dc:creator>
  <cp:lastModifiedBy>拉压弯扭大师</cp:lastModifiedBy>
  <cp:revision>1</cp:revision>
  <dcterms:created xsi:type="dcterms:W3CDTF">2026-10-10T07:50:54Z</dcterms:created>
  <dcterms:modified xsi:type="dcterms:W3CDTF">2026-10-10T07:50:54Z</dcterms:modified>
</cp:coreProperties>
</file>
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【25秒】今天分享我做的拉压弯扭大师。我们不先讲一串功能，而是从课堂里熟悉的一根梁开始，看看软件怎样帮助理解受力、内力和变形。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【45秒】请同学想一想：一道题得到答案后，能不能说清内力图形状？这里不是替大家定义共同痛点，而是用三个问题引出软件希望帮助的学习过程。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【45秒】软件把四类材料力学问题放在一起。建模是输入，内力和变形是观察对象，公式和推导帮助理解。不同分析模块的覆盖范围有所区别，不把它们说成所有工况都自动贯通。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50秒】这一页已替换为本地已有dist构建的真实运行截图。展示二维刚架而非默认简支梁。左模型树、中视图区、右属性栏均来自程序。当前截图环境的部分工具栏图标显示为方框，文字及结果可读，未修改截图伪装图标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【55秒】两个局部截图来自同一个已求解的6米简支梁。先看剪力图两段的幅值，再看弯矩图跨中极值。保留实际坐标、荷载与符号，不把负号改成正号。原始全图和裁剪范围均保存。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65秒】实际默认案例只有A、B两个节点和E1一个单元，集中力通过单元荷载施加在3米处。这纠正了之前采用跨中节点分段的通用演示说法。属性栏显示分量0、-1.800e4、0、3.000，说明负z分量18000N、位置3米。按程序坐标约定读方向，不通过截图外观擅自更改符号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65秒】本次确实运行了默认二维案例，状态为二维求解完成。图中两端反力幅值9和跨中弯矩-27清楚可读。解析弯矩幅值27与显示一致，负号按软件约定。单元结果表端弯矩为0并不矛盾，最大弯矩在单元内部。这里只完成该默认案例的界面数值对照，不宣称全软件计算验证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55秒】截图已点击教学助手的分步推导，显示整体平衡、局部轴与内力关系。通过界面读取还看到了A端Dx/Dz约束、Ry自由，B端Dz约束、Dx/Ry自由，以及内力摘要9kN和27kNm。助手中“位移约束”计数0与下方支座自由度表是不同字段口径，不将该计数解释为没有支座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60秒】从帮助载入默认3D空间悬臂刚架，点击本地求解，求解结果OK。节点4、构件3、总DOF24。截图显示位移图层、自动2.4倍变形，并保留节点结果和杆件轴力表。当前显示不是实体应力云图。界面明确本次使用Worker CPU，GPU只是能力检测可用。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45秒】技术上只介绍同学有感知的部分：模型输入后在本机求解，再展示结果。Worker帮助把部分计算放到后台。桌面版、PWA和离线静态分发是项目支持的使用形态，具体安装文件以实际提供的版本为准。不要宣称未经测试的性能提升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【55秒】这里主动讲清边界。实验模块不等于已经可用于成熟实体分析；检测到GPU不等于存在GPU求解内核。软件服务学习与教学，不能把课堂演示结果当作工程认证。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【45秒】已用真实引导弹窗替换文字卡片。可随时从帮助打开指导，二维载入后自动求解，三维载入后点击本地求解。实际操作都发生在独立本地浏览器会话，未修改用户已有项目。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选讲60秒】解析实验：集中力距左支座a，左反力为P乘(L-a)除以L，右反力为Pa除以L，荷载处峰值为Pa(L-a)/L。用18千牛和6米代入三组数据。柱条是可编辑形状，只表达反力，非实测。在线弹性、模型不变的条件下，荷载加倍后位移与内力成比例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【备查】这页功能地图用于回答同学的提问，按学习目标推荐入口。组合计算需满足材料模型与公式假设；空间桁架和空间刚架的结果覆盖不同，不把所有结果混为一谈。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3" name="panel-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C3448"/>
          </a:solidFill>
          <a:ln w="12700">
            <a:solidFill>
              <a:srgbClr val="1C3448"/>
            </a:solidFill>
            <a:prstDash val="solid"/>
          </a:ln>
        </p:spPr>
      </p:sp>
      <p:sp>
        <p:nvSpPr>
          <p:cNvPr id="4" name="line-3"/>
          <p:cNvSpPr/>
          <p:nvPr/>
        </p:nvSpPr>
        <p:spPr>
          <a:xfrm>
            <a:off x="800100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5" name="line-4"/>
          <p:cNvSpPr/>
          <p:nvPr/>
        </p:nvSpPr>
        <p:spPr>
          <a:xfrm>
            <a:off x="8257032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6" name="line-5"/>
          <p:cNvSpPr/>
          <p:nvPr/>
        </p:nvSpPr>
        <p:spPr>
          <a:xfrm>
            <a:off x="8513064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7" name="line-6"/>
          <p:cNvSpPr/>
          <p:nvPr/>
        </p:nvSpPr>
        <p:spPr>
          <a:xfrm>
            <a:off x="8769096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8" name="line-7"/>
          <p:cNvSpPr/>
          <p:nvPr/>
        </p:nvSpPr>
        <p:spPr>
          <a:xfrm>
            <a:off x="9025128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9" name="line-8"/>
          <p:cNvSpPr/>
          <p:nvPr/>
        </p:nvSpPr>
        <p:spPr>
          <a:xfrm>
            <a:off x="928116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0" name="line-9"/>
          <p:cNvSpPr/>
          <p:nvPr/>
        </p:nvSpPr>
        <p:spPr>
          <a:xfrm>
            <a:off x="9537192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1" name="line-10"/>
          <p:cNvSpPr/>
          <p:nvPr/>
        </p:nvSpPr>
        <p:spPr>
          <a:xfrm>
            <a:off x="9793224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2" name="line-11"/>
          <p:cNvSpPr/>
          <p:nvPr/>
        </p:nvSpPr>
        <p:spPr>
          <a:xfrm>
            <a:off x="10049256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3" name="line-12"/>
          <p:cNvSpPr/>
          <p:nvPr/>
        </p:nvSpPr>
        <p:spPr>
          <a:xfrm>
            <a:off x="10305288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4" name="line-13"/>
          <p:cNvSpPr/>
          <p:nvPr/>
        </p:nvSpPr>
        <p:spPr>
          <a:xfrm>
            <a:off x="1056132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5" name="line-14"/>
          <p:cNvSpPr/>
          <p:nvPr/>
        </p:nvSpPr>
        <p:spPr>
          <a:xfrm>
            <a:off x="10817352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6" name="line-15"/>
          <p:cNvSpPr/>
          <p:nvPr/>
        </p:nvSpPr>
        <p:spPr>
          <a:xfrm>
            <a:off x="11073384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7" name="line-16"/>
          <p:cNvSpPr/>
          <p:nvPr/>
        </p:nvSpPr>
        <p:spPr>
          <a:xfrm>
            <a:off x="11329416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8" name="line-17"/>
          <p:cNvSpPr/>
          <p:nvPr/>
        </p:nvSpPr>
        <p:spPr>
          <a:xfrm>
            <a:off x="11585448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9" name="line-18"/>
          <p:cNvSpPr/>
          <p:nvPr/>
        </p:nvSpPr>
        <p:spPr>
          <a:xfrm>
            <a:off x="1184148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0" name="line-19"/>
          <p:cNvSpPr/>
          <p:nvPr/>
        </p:nvSpPr>
        <p:spPr>
          <a:xfrm>
            <a:off x="7955280" y="6400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1" name="line-20"/>
          <p:cNvSpPr/>
          <p:nvPr/>
        </p:nvSpPr>
        <p:spPr>
          <a:xfrm>
            <a:off x="7955280" y="9144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2" name="line-21"/>
          <p:cNvSpPr/>
          <p:nvPr/>
        </p:nvSpPr>
        <p:spPr>
          <a:xfrm>
            <a:off x="7955280" y="11887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3" name="line-22"/>
          <p:cNvSpPr/>
          <p:nvPr/>
        </p:nvSpPr>
        <p:spPr>
          <a:xfrm>
            <a:off x="7955280" y="14630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4" name="line-23"/>
          <p:cNvSpPr/>
          <p:nvPr/>
        </p:nvSpPr>
        <p:spPr>
          <a:xfrm>
            <a:off x="7955280" y="17373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5" name="line-24"/>
          <p:cNvSpPr/>
          <p:nvPr/>
        </p:nvSpPr>
        <p:spPr>
          <a:xfrm>
            <a:off x="7955280" y="20116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6" name="line-25"/>
          <p:cNvSpPr/>
          <p:nvPr/>
        </p:nvSpPr>
        <p:spPr>
          <a:xfrm>
            <a:off x="7955280" y="22860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7" name="line-26"/>
          <p:cNvSpPr/>
          <p:nvPr/>
        </p:nvSpPr>
        <p:spPr>
          <a:xfrm>
            <a:off x="7955280" y="25603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8" name="line-27"/>
          <p:cNvSpPr/>
          <p:nvPr/>
        </p:nvSpPr>
        <p:spPr>
          <a:xfrm>
            <a:off x="7955280" y="28346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9" name="line-28"/>
          <p:cNvSpPr/>
          <p:nvPr/>
        </p:nvSpPr>
        <p:spPr>
          <a:xfrm>
            <a:off x="7955280" y="31089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0" name="line-29"/>
          <p:cNvSpPr/>
          <p:nvPr/>
        </p:nvSpPr>
        <p:spPr>
          <a:xfrm>
            <a:off x="7955280" y="33832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1" name="line-30"/>
          <p:cNvSpPr/>
          <p:nvPr/>
        </p:nvSpPr>
        <p:spPr>
          <a:xfrm>
            <a:off x="7955280" y="36576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2" name="line-31"/>
          <p:cNvSpPr/>
          <p:nvPr/>
        </p:nvSpPr>
        <p:spPr>
          <a:xfrm>
            <a:off x="7955280" y="39319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3" name="line-32"/>
          <p:cNvSpPr/>
          <p:nvPr/>
        </p:nvSpPr>
        <p:spPr>
          <a:xfrm>
            <a:off x="7955280" y="42062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4" name="line-33"/>
          <p:cNvSpPr/>
          <p:nvPr/>
        </p:nvSpPr>
        <p:spPr>
          <a:xfrm>
            <a:off x="7955280" y="44805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5" name="line-34"/>
          <p:cNvSpPr/>
          <p:nvPr/>
        </p:nvSpPr>
        <p:spPr>
          <a:xfrm>
            <a:off x="7955280" y="47548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6" name="line-35"/>
          <p:cNvSpPr/>
          <p:nvPr/>
        </p:nvSpPr>
        <p:spPr>
          <a:xfrm>
            <a:off x="7955280" y="50292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7" name="line-36"/>
          <p:cNvSpPr/>
          <p:nvPr/>
        </p:nvSpPr>
        <p:spPr>
          <a:xfrm>
            <a:off x="7955280" y="53035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8" name="line-37"/>
          <p:cNvSpPr/>
          <p:nvPr/>
        </p:nvSpPr>
        <p:spPr>
          <a:xfrm>
            <a:off x="7955280" y="55778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9" name="line-38"/>
          <p:cNvSpPr/>
          <p:nvPr/>
        </p:nvSpPr>
        <p:spPr>
          <a:xfrm>
            <a:off x="7955280" y="58521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40" name="cover-orbit-0"/>
          <p:cNvSpPr/>
          <p:nvPr/>
        </p:nvSpPr>
        <p:spPr>
          <a:xfrm rot="1680000">
            <a:off x="8321040" y="1947672"/>
            <a:ext cx="2999232" cy="2999232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48728A"/>
            </a:solidFill>
            <a:prstDash val="solid"/>
          </a:ln>
        </p:spPr>
      </p:sp>
      <p:sp>
        <p:nvSpPr>
          <p:cNvPr id="41" name="cover-orbit-1"/>
          <p:cNvSpPr/>
          <p:nvPr/>
        </p:nvSpPr>
        <p:spPr>
          <a:xfrm rot="1680000">
            <a:off x="8503920" y="2112264"/>
            <a:ext cx="2633472" cy="2670048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6F9D97"/>
            </a:solidFill>
            <a:prstDash val="solid"/>
          </a:ln>
        </p:spPr>
      </p:sp>
      <p:sp>
        <p:nvSpPr>
          <p:cNvPr id="42" name="cover-orbit-2"/>
          <p:cNvSpPr/>
          <p:nvPr/>
        </p:nvSpPr>
        <p:spPr>
          <a:xfrm rot="1680000">
            <a:off x="8686800" y="2276856"/>
            <a:ext cx="2267712" cy="2340864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48728A"/>
            </a:solidFill>
            <a:prstDash val="solid"/>
          </a:ln>
        </p:spPr>
      </p:sp>
      <p:sp>
        <p:nvSpPr>
          <p:cNvPr id="43" name="cover-orbit-3"/>
          <p:cNvSpPr/>
          <p:nvPr/>
        </p:nvSpPr>
        <p:spPr>
          <a:xfrm rot="1680000">
            <a:off x="8869680" y="2441448"/>
            <a:ext cx="1901952" cy="2011680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6F9D97"/>
            </a:solidFill>
            <a:prstDash val="solid"/>
          </a:ln>
        </p:spPr>
      </p:sp>
      <p:sp>
        <p:nvSpPr>
          <p:cNvPr id="44" name="line-39"/>
          <p:cNvSpPr/>
          <p:nvPr/>
        </p:nvSpPr>
        <p:spPr>
          <a:xfrm>
            <a:off x="8138160" y="3337560"/>
            <a:ext cx="0" cy="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45" name="line-40"/>
          <p:cNvSpPr/>
          <p:nvPr/>
        </p:nvSpPr>
        <p:spPr>
          <a:xfrm flipV="1">
            <a:off x="8243047" y="3142375"/>
            <a:ext cx="0" cy="39037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46" name="line-41"/>
          <p:cNvSpPr/>
          <p:nvPr/>
        </p:nvSpPr>
        <p:spPr>
          <a:xfrm>
            <a:off x="8138160" y="3337560"/>
            <a:ext cx="104887" cy="19518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47" name="line-42"/>
          <p:cNvSpPr/>
          <p:nvPr/>
        </p:nvSpPr>
        <p:spPr>
          <a:xfrm flipV="1">
            <a:off x="8138160" y="3142375"/>
            <a:ext cx="104887" cy="19518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48" name="line-43"/>
          <p:cNvSpPr/>
          <p:nvPr/>
        </p:nvSpPr>
        <p:spPr>
          <a:xfrm flipV="1">
            <a:off x="8347934" y="2962092"/>
            <a:ext cx="0" cy="75093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49" name="line-44"/>
          <p:cNvSpPr/>
          <p:nvPr/>
        </p:nvSpPr>
        <p:spPr>
          <a:xfrm>
            <a:off x="8243047" y="3532745"/>
            <a:ext cx="104887" cy="18028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0" name="line-45"/>
          <p:cNvSpPr/>
          <p:nvPr/>
        </p:nvSpPr>
        <p:spPr>
          <a:xfrm flipV="1">
            <a:off x="8243047" y="2962092"/>
            <a:ext cx="104887" cy="18028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51" name="line-46"/>
          <p:cNvSpPr/>
          <p:nvPr/>
        </p:nvSpPr>
        <p:spPr>
          <a:xfrm flipV="1">
            <a:off x="8452821" y="2810475"/>
            <a:ext cx="0" cy="105417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52" name="line-47"/>
          <p:cNvSpPr/>
          <p:nvPr/>
        </p:nvSpPr>
        <p:spPr>
          <a:xfrm>
            <a:off x="8347934" y="3713028"/>
            <a:ext cx="104887" cy="15161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3" name="line-48"/>
          <p:cNvSpPr/>
          <p:nvPr/>
        </p:nvSpPr>
        <p:spPr>
          <a:xfrm flipV="1">
            <a:off x="8347934" y="2810475"/>
            <a:ext cx="104887" cy="15161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54" name="line-49"/>
          <p:cNvSpPr/>
          <p:nvPr/>
        </p:nvSpPr>
        <p:spPr>
          <a:xfrm flipV="1">
            <a:off x="8557708" y="2699101"/>
            <a:ext cx="0" cy="1276918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55" name="line-50"/>
          <p:cNvSpPr/>
          <p:nvPr/>
        </p:nvSpPr>
        <p:spPr>
          <a:xfrm>
            <a:off x="8452821" y="3864645"/>
            <a:ext cx="104887" cy="111374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6" name="line-51"/>
          <p:cNvSpPr/>
          <p:nvPr/>
        </p:nvSpPr>
        <p:spPr>
          <a:xfrm flipV="1">
            <a:off x="8452821" y="2699101"/>
            <a:ext cx="104887" cy="111374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57" name="line-52"/>
          <p:cNvSpPr/>
          <p:nvPr/>
        </p:nvSpPr>
        <p:spPr>
          <a:xfrm flipV="1">
            <a:off x="8662595" y="2636472"/>
            <a:ext cx="0" cy="1402176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58" name="line-53"/>
          <p:cNvSpPr/>
          <p:nvPr/>
        </p:nvSpPr>
        <p:spPr>
          <a:xfrm>
            <a:off x="8557708" y="3976019"/>
            <a:ext cx="104887" cy="6262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9" name="line-54"/>
          <p:cNvSpPr/>
          <p:nvPr/>
        </p:nvSpPr>
        <p:spPr>
          <a:xfrm flipV="1">
            <a:off x="8557708" y="2636472"/>
            <a:ext cx="104887" cy="6262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0" name="line-55"/>
          <p:cNvSpPr/>
          <p:nvPr/>
        </p:nvSpPr>
        <p:spPr>
          <a:xfrm flipV="1">
            <a:off x="8767482" y="2627371"/>
            <a:ext cx="0" cy="1420379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61" name="line-56"/>
          <p:cNvSpPr/>
          <p:nvPr/>
        </p:nvSpPr>
        <p:spPr>
          <a:xfrm>
            <a:off x="8662595" y="4038648"/>
            <a:ext cx="104887" cy="9102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62" name="line-57"/>
          <p:cNvSpPr/>
          <p:nvPr/>
        </p:nvSpPr>
        <p:spPr>
          <a:xfrm flipV="1">
            <a:off x="8662595" y="2627371"/>
            <a:ext cx="104887" cy="9102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3" name="line-58"/>
          <p:cNvSpPr/>
          <p:nvPr/>
        </p:nvSpPr>
        <p:spPr>
          <a:xfrm flipV="1">
            <a:off x="8872369" y="2672491"/>
            <a:ext cx="0" cy="1330138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64" name="line-59"/>
          <p:cNvSpPr/>
          <p:nvPr/>
        </p:nvSpPr>
        <p:spPr>
          <a:xfrm flipV="1">
            <a:off x="8767482" y="4002629"/>
            <a:ext cx="104887" cy="4512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65" name="line-60"/>
          <p:cNvSpPr/>
          <p:nvPr/>
        </p:nvSpPr>
        <p:spPr>
          <a:xfrm>
            <a:off x="8767482" y="2627371"/>
            <a:ext cx="104887" cy="4512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6" name="line-61"/>
          <p:cNvSpPr/>
          <p:nvPr/>
        </p:nvSpPr>
        <p:spPr>
          <a:xfrm flipV="1">
            <a:off x="8977256" y="2768389"/>
            <a:ext cx="0" cy="113834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67" name="line-62"/>
          <p:cNvSpPr/>
          <p:nvPr/>
        </p:nvSpPr>
        <p:spPr>
          <a:xfrm flipV="1">
            <a:off x="8872369" y="3906731"/>
            <a:ext cx="104887" cy="95898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68" name="line-63"/>
          <p:cNvSpPr/>
          <p:nvPr/>
        </p:nvSpPr>
        <p:spPr>
          <a:xfrm>
            <a:off x="8872369" y="2672491"/>
            <a:ext cx="104887" cy="95898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9" name="line-64"/>
          <p:cNvSpPr/>
          <p:nvPr/>
        </p:nvSpPr>
        <p:spPr>
          <a:xfrm flipV="1">
            <a:off x="9082144" y="2907742"/>
            <a:ext cx="0" cy="859637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70" name="line-65"/>
          <p:cNvSpPr/>
          <p:nvPr/>
        </p:nvSpPr>
        <p:spPr>
          <a:xfrm flipV="1">
            <a:off x="8977256" y="3767378"/>
            <a:ext cx="104887" cy="13935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71" name="line-66"/>
          <p:cNvSpPr/>
          <p:nvPr/>
        </p:nvSpPr>
        <p:spPr>
          <a:xfrm>
            <a:off x="8977256" y="2768389"/>
            <a:ext cx="104887" cy="13935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72" name="line-67"/>
          <p:cNvSpPr/>
          <p:nvPr/>
        </p:nvSpPr>
        <p:spPr>
          <a:xfrm flipV="1">
            <a:off x="9187031" y="3079911"/>
            <a:ext cx="0" cy="515298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73" name="line-68"/>
          <p:cNvSpPr/>
          <p:nvPr/>
        </p:nvSpPr>
        <p:spPr>
          <a:xfrm flipV="1">
            <a:off x="9082144" y="3595209"/>
            <a:ext cx="104887" cy="17216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74" name="line-69"/>
          <p:cNvSpPr/>
          <p:nvPr/>
        </p:nvSpPr>
        <p:spPr>
          <a:xfrm>
            <a:off x="9082144" y="2907742"/>
            <a:ext cx="104887" cy="17216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75" name="line-70"/>
          <p:cNvSpPr/>
          <p:nvPr/>
        </p:nvSpPr>
        <p:spPr>
          <a:xfrm flipV="1">
            <a:off x="9291918" y="3271751"/>
            <a:ext cx="0" cy="13161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76" name="line-71"/>
          <p:cNvSpPr/>
          <p:nvPr/>
        </p:nvSpPr>
        <p:spPr>
          <a:xfrm flipV="1">
            <a:off x="9187031" y="3403369"/>
            <a:ext cx="104887" cy="19184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77" name="line-72"/>
          <p:cNvSpPr/>
          <p:nvPr/>
        </p:nvSpPr>
        <p:spPr>
          <a:xfrm>
            <a:off x="9187031" y="3079911"/>
            <a:ext cx="104887" cy="19184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78" name="line-73"/>
          <p:cNvSpPr/>
          <p:nvPr/>
        </p:nvSpPr>
        <p:spPr>
          <a:xfrm>
            <a:off x="9396805" y="3206504"/>
            <a:ext cx="0" cy="262112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79" name="line-74"/>
          <p:cNvSpPr/>
          <p:nvPr/>
        </p:nvSpPr>
        <p:spPr>
          <a:xfrm flipV="1">
            <a:off x="9291918" y="3206504"/>
            <a:ext cx="104887" cy="19686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0" name="line-75"/>
          <p:cNvSpPr/>
          <p:nvPr/>
        </p:nvSpPr>
        <p:spPr>
          <a:xfrm>
            <a:off x="9291918" y="3271751"/>
            <a:ext cx="104887" cy="19686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81" name="line-76"/>
          <p:cNvSpPr/>
          <p:nvPr/>
        </p:nvSpPr>
        <p:spPr>
          <a:xfrm>
            <a:off x="9501692" y="3019645"/>
            <a:ext cx="0" cy="63583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82" name="line-77"/>
          <p:cNvSpPr/>
          <p:nvPr/>
        </p:nvSpPr>
        <p:spPr>
          <a:xfrm flipV="1">
            <a:off x="9396805" y="3019645"/>
            <a:ext cx="104887" cy="18685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3" name="line-78"/>
          <p:cNvSpPr/>
          <p:nvPr/>
        </p:nvSpPr>
        <p:spPr>
          <a:xfrm>
            <a:off x="9396805" y="3468616"/>
            <a:ext cx="104887" cy="18685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84" name="line-79"/>
          <p:cNvSpPr/>
          <p:nvPr/>
        </p:nvSpPr>
        <p:spPr>
          <a:xfrm>
            <a:off x="9606579" y="2857059"/>
            <a:ext cx="0" cy="96100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85" name="line-80"/>
          <p:cNvSpPr/>
          <p:nvPr/>
        </p:nvSpPr>
        <p:spPr>
          <a:xfrm flipV="1">
            <a:off x="9501692" y="2857059"/>
            <a:ext cx="104887" cy="162586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6" name="line-81"/>
          <p:cNvSpPr/>
          <p:nvPr/>
        </p:nvSpPr>
        <p:spPr>
          <a:xfrm>
            <a:off x="9501692" y="3655475"/>
            <a:ext cx="104887" cy="162586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87" name="line-82"/>
          <p:cNvSpPr/>
          <p:nvPr/>
        </p:nvSpPr>
        <p:spPr>
          <a:xfrm>
            <a:off x="9711466" y="2731158"/>
            <a:ext cx="0" cy="1212804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88" name="line-83"/>
          <p:cNvSpPr/>
          <p:nvPr/>
        </p:nvSpPr>
        <p:spPr>
          <a:xfrm flipV="1">
            <a:off x="9606579" y="2731158"/>
            <a:ext cx="104887" cy="125901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9" name="line-84"/>
          <p:cNvSpPr/>
          <p:nvPr/>
        </p:nvSpPr>
        <p:spPr>
          <a:xfrm>
            <a:off x="9606579" y="3818061"/>
            <a:ext cx="104887" cy="125901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0" name="line-85"/>
          <p:cNvSpPr/>
          <p:nvPr/>
        </p:nvSpPr>
        <p:spPr>
          <a:xfrm>
            <a:off x="9816353" y="2651555"/>
            <a:ext cx="0" cy="137201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91" name="line-86"/>
          <p:cNvSpPr/>
          <p:nvPr/>
        </p:nvSpPr>
        <p:spPr>
          <a:xfrm flipV="1">
            <a:off x="9711466" y="2651555"/>
            <a:ext cx="104887" cy="7960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92" name="line-87"/>
          <p:cNvSpPr/>
          <p:nvPr/>
        </p:nvSpPr>
        <p:spPr>
          <a:xfrm>
            <a:off x="9711466" y="3943962"/>
            <a:ext cx="104887" cy="7960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3" name="line-88"/>
          <p:cNvSpPr/>
          <p:nvPr/>
        </p:nvSpPr>
        <p:spPr>
          <a:xfrm>
            <a:off x="9921240" y="2624328"/>
            <a:ext cx="0" cy="1426464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94" name="line-89"/>
          <p:cNvSpPr/>
          <p:nvPr/>
        </p:nvSpPr>
        <p:spPr>
          <a:xfrm flipV="1">
            <a:off x="9816353" y="2624328"/>
            <a:ext cx="104887" cy="2722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95" name="line-90"/>
          <p:cNvSpPr/>
          <p:nvPr/>
        </p:nvSpPr>
        <p:spPr>
          <a:xfrm>
            <a:off x="9816353" y="4023565"/>
            <a:ext cx="104887" cy="2722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6" name="line-91"/>
          <p:cNvSpPr/>
          <p:nvPr/>
        </p:nvSpPr>
        <p:spPr>
          <a:xfrm>
            <a:off x="10026127" y="2651555"/>
            <a:ext cx="0" cy="137201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97" name="line-92"/>
          <p:cNvSpPr/>
          <p:nvPr/>
        </p:nvSpPr>
        <p:spPr>
          <a:xfrm>
            <a:off x="9921240" y="2624328"/>
            <a:ext cx="104887" cy="2722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98" name="line-93"/>
          <p:cNvSpPr/>
          <p:nvPr/>
        </p:nvSpPr>
        <p:spPr>
          <a:xfrm flipV="1">
            <a:off x="9921240" y="4023565"/>
            <a:ext cx="104887" cy="2722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9" name="line-94"/>
          <p:cNvSpPr/>
          <p:nvPr/>
        </p:nvSpPr>
        <p:spPr>
          <a:xfrm>
            <a:off x="10131014" y="2731158"/>
            <a:ext cx="0" cy="1212804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00" name="line-95"/>
          <p:cNvSpPr/>
          <p:nvPr/>
        </p:nvSpPr>
        <p:spPr>
          <a:xfrm>
            <a:off x="10026127" y="2651555"/>
            <a:ext cx="104887" cy="7960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01" name="line-96"/>
          <p:cNvSpPr/>
          <p:nvPr/>
        </p:nvSpPr>
        <p:spPr>
          <a:xfrm flipV="1">
            <a:off x="10026127" y="3943962"/>
            <a:ext cx="104887" cy="7960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02" name="line-97"/>
          <p:cNvSpPr/>
          <p:nvPr/>
        </p:nvSpPr>
        <p:spPr>
          <a:xfrm>
            <a:off x="10235901" y="2857059"/>
            <a:ext cx="0" cy="96100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03" name="line-98"/>
          <p:cNvSpPr/>
          <p:nvPr/>
        </p:nvSpPr>
        <p:spPr>
          <a:xfrm>
            <a:off x="10131014" y="2731158"/>
            <a:ext cx="104887" cy="125901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04" name="line-99"/>
          <p:cNvSpPr/>
          <p:nvPr/>
        </p:nvSpPr>
        <p:spPr>
          <a:xfrm flipV="1">
            <a:off x="10131014" y="3818061"/>
            <a:ext cx="104887" cy="125901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05" name="line-100"/>
          <p:cNvSpPr/>
          <p:nvPr/>
        </p:nvSpPr>
        <p:spPr>
          <a:xfrm>
            <a:off x="10340788" y="3019645"/>
            <a:ext cx="0" cy="63583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06" name="line-101"/>
          <p:cNvSpPr/>
          <p:nvPr/>
        </p:nvSpPr>
        <p:spPr>
          <a:xfrm>
            <a:off x="10235901" y="2857059"/>
            <a:ext cx="104887" cy="162586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07" name="line-102"/>
          <p:cNvSpPr/>
          <p:nvPr/>
        </p:nvSpPr>
        <p:spPr>
          <a:xfrm flipV="1">
            <a:off x="10235901" y="3655475"/>
            <a:ext cx="104887" cy="162586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08" name="line-103"/>
          <p:cNvSpPr/>
          <p:nvPr/>
        </p:nvSpPr>
        <p:spPr>
          <a:xfrm>
            <a:off x="10445675" y="3206504"/>
            <a:ext cx="0" cy="262112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09" name="line-104"/>
          <p:cNvSpPr/>
          <p:nvPr/>
        </p:nvSpPr>
        <p:spPr>
          <a:xfrm>
            <a:off x="10340788" y="3019645"/>
            <a:ext cx="104887" cy="18685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0" name="line-105"/>
          <p:cNvSpPr/>
          <p:nvPr/>
        </p:nvSpPr>
        <p:spPr>
          <a:xfrm flipV="1">
            <a:off x="10340788" y="3468616"/>
            <a:ext cx="104887" cy="18685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11" name="line-106"/>
          <p:cNvSpPr/>
          <p:nvPr/>
        </p:nvSpPr>
        <p:spPr>
          <a:xfrm flipV="1">
            <a:off x="10550562" y="3271751"/>
            <a:ext cx="0" cy="13161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12" name="line-107"/>
          <p:cNvSpPr/>
          <p:nvPr/>
        </p:nvSpPr>
        <p:spPr>
          <a:xfrm>
            <a:off x="10445675" y="3206504"/>
            <a:ext cx="104887" cy="19686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3" name="line-108"/>
          <p:cNvSpPr/>
          <p:nvPr/>
        </p:nvSpPr>
        <p:spPr>
          <a:xfrm flipV="1">
            <a:off x="10445675" y="3271751"/>
            <a:ext cx="104887" cy="19686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14" name="line-109"/>
          <p:cNvSpPr/>
          <p:nvPr/>
        </p:nvSpPr>
        <p:spPr>
          <a:xfrm flipV="1">
            <a:off x="10655449" y="3079911"/>
            <a:ext cx="0" cy="515298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15" name="line-110"/>
          <p:cNvSpPr/>
          <p:nvPr/>
        </p:nvSpPr>
        <p:spPr>
          <a:xfrm>
            <a:off x="10550562" y="3403369"/>
            <a:ext cx="104887" cy="19184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6" name="line-111"/>
          <p:cNvSpPr/>
          <p:nvPr/>
        </p:nvSpPr>
        <p:spPr>
          <a:xfrm flipV="1">
            <a:off x="10550562" y="3079911"/>
            <a:ext cx="104887" cy="19184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17" name="line-112"/>
          <p:cNvSpPr/>
          <p:nvPr/>
        </p:nvSpPr>
        <p:spPr>
          <a:xfrm flipV="1">
            <a:off x="10760336" y="2907742"/>
            <a:ext cx="0" cy="85963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18" name="line-113"/>
          <p:cNvSpPr/>
          <p:nvPr/>
        </p:nvSpPr>
        <p:spPr>
          <a:xfrm>
            <a:off x="10655449" y="3595209"/>
            <a:ext cx="104887" cy="17216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9" name="line-114"/>
          <p:cNvSpPr/>
          <p:nvPr/>
        </p:nvSpPr>
        <p:spPr>
          <a:xfrm flipV="1">
            <a:off x="10655449" y="2907742"/>
            <a:ext cx="104887" cy="17216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0" name="line-115"/>
          <p:cNvSpPr/>
          <p:nvPr/>
        </p:nvSpPr>
        <p:spPr>
          <a:xfrm flipV="1">
            <a:off x="10865224" y="2768389"/>
            <a:ext cx="0" cy="113834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21" name="line-116"/>
          <p:cNvSpPr/>
          <p:nvPr/>
        </p:nvSpPr>
        <p:spPr>
          <a:xfrm>
            <a:off x="10760336" y="3767378"/>
            <a:ext cx="104887" cy="13935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22" name="line-117"/>
          <p:cNvSpPr/>
          <p:nvPr/>
        </p:nvSpPr>
        <p:spPr>
          <a:xfrm flipV="1">
            <a:off x="10760336" y="2768389"/>
            <a:ext cx="104887" cy="13935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3" name="line-118"/>
          <p:cNvSpPr/>
          <p:nvPr/>
        </p:nvSpPr>
        <p:spPr>
          <a:xfrm flipV="1">
            <a:off x="10970111" y="2672491"/>
            <a:ext cx="0" cy="1330138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24" name="line-119"/>
          <p:cNvSpPr/>
          <p:nvPr/>
        </p:nvSpPr>
        <p:spPr>
          <a:xfrm>
            <a:off x="10865224" y="3906731"/>
            <a:ext cx="104887" cy="95898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25" name="line-120"/>
          <p:cNvSpPr/>
          <p:nvPr/>
        </p:nvSpPr>
        <p:spPr>
          <a:xfrm flipV="1">
            <a:off x="10865224" y="2672491"/>
            <a:ext cx="104887" cy="95898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6" name="line-121"/>
          <p:cNvSpPr/>
          <p:nvPr/>
        </p:nvSpPr>
        <p:spPr>
          <a:xfrm flipV="1">
            <a:off x="11074998" y="2627371"/>
            <a:ext cx="0" cy="1420379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27" name="line-122"/>
          <p:cNvSpPr/>
          <p:nvPr/>
        </p:nvSpPr>
        <p:spPr>
          <a:xfrm>
            <a:off x="10970111" y="4002629"/>
            <a:ext cx="104887" cy="4512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28" name="line-123"/>
          <p:cNvSpPr/>
          <p:nvPr/>
        </p:nvSpPr>
        <p:spPr>
          <a:xfrm flipV="1">
            <a:off x="10970111" y="2627371"/>
            <a:ext cx="104887" cy="4512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9" name="line-124"/>
          <p:cNvSpPr/>
          <p:nvPr/>
        </p:nvSpPr>
        <p:spPr>
          <a:xfrm flipV="1">
            <a:off x="11179885" y="2636472"/>
            <a:ext cx="0" cy="1402176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30" name="line-125"/>
          <p:cNvSpPr/>
          <p:nvPr/>
        </p:nvSpPr>
        <p:spPr>
          <a:xfrm flipV="1">
            <a:off x="11074998" y="4038648"/>
            <a:ext cx="104887" cy="9102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31" name="line-126"/>
          <p:cNvSpPr/>
          <p:nvPr/>
        </p:nvSpPr>
        <p:spPr>
          <a:xfrm>
            <a:off x="11074998" y="2627371"/>
            <a:ext cx="104887" cy="9102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32" name="line-127"/>
          <p:cNvSpPr/>
          <p:nvPr/>
        </p:nvSpPr>
        <p:spPr>
          <a:xfrm flipV="1">
            <a:off x="11284772" y="2699101"/>
            <a:ext cx="0" cy="1276918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33" name="line-128"/>
          <p:cNvSpPr/>
          <p:nvPr/>
        </p:nvSpPr>
        <p:spPr>
          <a:xfrm flipV="1">
            <a:off x="11179885" y="3976019"/>
            <a:ext cx="104887" cy="6262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34" name="line-129"/>
          <p:cNvSpPr/>
          <p:nvPr/>
        </p:nvSpPr>
        <p:spPr>
          <a:xfrm>
            <a:off x="11179885" y="2636472"/>
            <a:ext cx="104887" cy="6262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35" name="line-130"/>
          <p:cNvSpPr/>
          <p:nvPr/>
        </p:nvSpPr>
        <p:spPr>
          <a:xfrm flipV="1">
            <a:off x="11389659" y="2810475"/>
            <a:ext cx="0" cy="105417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36" name="line-131"/>
          <p:cNvSpPr/>
          <p:nvPr/>
        </p:nvSpPr>
        <p:spPr>
          <a:xfrm flipV="1">
            <a:off x="11284772" y="3864645"/>
            <a:ext cx="104887" cy="111374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37" name="line-132"/>
          <p:cNvSpPr/>
          <p:nvPr/>
        </p:nvSpPr>
        <p:spPr>
          <a:xfrm>
            <a:off x="11284772" y="2699101"/>
            <a:ext cx="104887" cy="111374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38" name="line-133"/>
          <p:cNvSpPr/>
          <p:nvPr/>
        </p:nvSpPr>
        <p:spPr>
          <a:xfrm flipV="1">
            <a:off x="11494546" y="2962092"/>
            <a:ext cx="0" cy="75093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39" name="line-134"/>
          <p:cNvSpPr/>
          <p:nvPr/>
        </p:nvSpPr>
        <p:spPr>
          <a:xfrm flipV="1">
            <a:off x="11389659" y="3713028"/>
            <a:ext cx="104887" cy="15161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40" name="line-135"/>
          <p:cNvSpPr/>
          <p:nvPr/>
        </p:nvSpPr>
        <p:spPr>
          <a:xfrm>
            <a:off x="11389659" y="2810475"/>
            <a:ext cx="104887" cy="15161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41" name="line-136"/>
          <p:cNvSpPr/>
          <p:nvPr/>
        </p:nvSpPr>
        <p:spPr>
          <a:xfrm flipV="1">
            <a:off x="11599433" y="3142375"/>
            <a:ext cx="0" cy="39037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42" name="line-137"/>
          <p:cNvSpPr/>
          <p:nvPr/>
        </p:nvSpPr>
        <p:spPr>
          <a:xfrm flipV="1">
            <a:off x="11494546" y="3532745"/>
            <a:ext cx="104887" cy="18028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43" name="line-138"/>
          <p:cNvSpPr/>
          <p:nvPr/>
        </p:nvSpPr>
        <p:spPr>
          <a:xfrm>
            <a:off x="11494546" y="2962092"/>
            <a:ext cx="104887" cy="18028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44" name="line-139"/>
          <p:cNvSpPr/>
          <p:nvPr/>
        </p:nvSpPr>
        <p:spPr>
          <a:xfrm flipV="1">
            <a:off x="11704320" y="3337560"/>
            <a:ext cx="0" cy="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45" name="line-140"/>
          <p:cNvSpPr/>
          <p:nvPr/>
        </p:nvSpPr>
        <p:spPr>
          <a:xfrm flipV="1">
            <a:off x="11599433" y="3337560"/>
            <a:ext cx="104887" cy="19518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46" name="line-141"/>
          <p:cNvSpPr/>
          <p:nvPr/>
        </p:nvSpPr>
        <p:spPr>
          <a:xfrm>
            <a:off x="11599433" y="3142375"/>
            <a:ext cx="104887" cy="19518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47" name="text-142"/>
          <p:cNvSpPr/>
          <p:nvPr/>
        </p:nvSpPr>
        <p:spPr>
          <a:xfrm>
            <a:off x="8339328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C6C6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受力 / 形变 / 解释</a:t>
            </a:r>
            <a:endParaRPr lang="en-US" sz="1700" dirty="0"/>
          </a:p>
        </p:txBody>
      </p:sp>
      <p:pic>
        <p:nvPicPr>
          <p:cNvPr id="148" name="product-icon" descr="D:\MACHANICS-OF-MATERIALS-main\public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30352" cy="530352"/>
          </a:xfrm>
          <a:prstGeom prst="rect">
            <a:avLst/>
          </a:prstGeom>
        </p:spPr>
      </p:pic>
      <p:sp>
        <p:nvSpPr>
          <p:cNvPr id="149" name="text-143"/>
          <p:cNvSpPr/>
          <p:nvPr/>
        </p:nvSpPr>
        <p:spPr>
          <a:xfrm>
            <a:off x="1371600" y="68580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BABE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MATERIAL MECHANICS  /  SOFTWARE</a:t>
            </a:r>
            <a:endParaRPr lang="en-US" sz="1300" dirty="0"/>
          </a:p>
        </p:txBody>
      </p:sp>
      <p:sp>
        <p:nvSpPr>
          <p:cNvPr id="150" name="text-144"/>
          <p:cNvSpPr/>
          <p:nvPr/>
        </p:nvSpPr>
        <p:spPr>
          <a:xfrm>
            <a:off x="685800" y="190195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拉压弯扭大师</a:t>
            </a:r>
            <a:endParaRPr lang="en-US" sz="4200" dirty="0"/>
          </a:p>
        </p:txBody>
      </p:sp>
      <p:sp>
        <p:nvSpPr>
          <p:cNvPr id="151" name="text-145"/>
          <p:cNvSpPr/>
          <p:nvPr/>
        </p:nvSpPr>
        <p:spPr>
          <a:xfrm>
            <a:off x="713232" y="293522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4DFD0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让材料力学看得见</a:t>
            </a:r>
            <a:endParaRPr lang="en-US" sz="3100" dirty="0"/>
          </a:p>
        </p:txBody>
      </p:sp>
      <p:sp>
        <p:nvSpPr>
          <p:cNvPr id="152" name="text-146"/>
          <p:cNvSpPr/>
          <p:nvPr/>
        </p:nvSpPr>
        <p:spPr>
          <a:xfrm>
            <a:off x="731520" y="3886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从题目到模型，从计算到理解</a:t>
            </a:r>
            <a:endParaRPr lang="en-US" sz="2300" dirty="0"/>
          </a:p>
        </p:txBody>
      </p:sp>
      <p:sp>
        <p:nvSpPr>
          <p:cNvPr id="153" name="panel-147"/>
          <p:cNvSpPr/>
          <p:nvPr/>
        </p:nvSpPr>
        <p:spPr>
          <a:xfrm>
            <a:off x="731520" y="4956048"/>
            <a:ext cx="1965960" cy="502920"/>
          </a:xfrm>
          <a:prstGeom prst="rect">
            <a:avLst/>
          </a:prstGeom>
          <a:solidFill>
            <a:srgbClr val="284354"/>
          </a:solidFill>
          <a:ln w="12700">
            <a:solidFill>
              <a:srgbClr val="284354"/>
            </a:solidFill>
            <a:prstDash val="solid"/>
          </a:ln>
        </p:spPr>
      </p:sp>
      <p:sp>
        <p:nvSpPr>
          <p:cNvPr id="154" name="text-148"/>
          <p:cNvSpPr/>
          <p:nvPr/>
        </p:nvSpPr>
        <p:spPr>
          <a:xfrm>
            <a:off x="932688" y="5084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DAD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二维杆系</a:t>
            </a:r>
            <a:endParaRPr lang="en-US" sz="1500" dirty="0"/>
          </a:p>
        </p:txBody>
      </p:sp>
      <p:sp>
        <p:nvSpPr>
          <p:cNvPr id="155" name="panel-149"/>
          <p:cNvSpPr/>
          <p:nvPr/>
        </p:nvSpPr>
        <p:spPr>
          <a:xfrm>
            <a:off x="2944368" y="4956048"/>
            <a:ext cx="1965960" cy="502920"/>
          </a:xfrm>
          <a:prstGeom prst="rect">
            <a:avLst/>
          </a:prstGeom>
          <a:solidFill>
            <a:srgbClr val="284354"/>
          </a:solidFill>
          <a:ln w="12700">
            <a:solidFill>
              <a:srgbClr val="284354"/>
            </a:solidFill>
            <a:prstDash val="solid"/>
          </a:ln>
        </p:spPr>
      </p:sp>
      <p:sp>
        <p:nvSpPr>
          <p:cNvPr id="156" name="text-150"/>
          <p:cNvSpPr/>
          <p:nvPr/>
        </p:nvSpPr>
        <p:spPr>
          <a:xfrm>
            <a:off x="3145536" y="5084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DAD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空间分析</a:t>
            </a:r>
            <a:endParaRPr lang="en-US" sz="1500" dirty="0"/>
          </a:p>
        </p:txBody>
      </p:sp>
      <p:sp>
        <p:nvSpPr>
          <p:cNvPr id="157" name="panel-151"/>
          <p:cNvSpPr/>
          <p:nvPr/>
        </p:nvSpPr>
        <p:spPr>
          <a:xfrm>
            <a:off x="5157216" y="4956048"/>
            <a:ext cx="1965960" cy="502920"/>
          </a:xfrm>
          <a:prstGeom prst="rect">
            <a:avLst/>
          </a:prstGeom>
          <a:solidFill>
            <a:srgbClr val="284354"/>
          </a:solidFill>
          <a:ln w="12700">
            <a:solidFill>
              <a:srgbClr val="284354"/>
            </a:solidFill>
            <a:prstDash val="solid"/>
          </a:ln>
        </p:spPr>
      </p:sp>
      <p:sp>
        <p:nvSpPr>
          <p:cNvPr id="158" name="text-152"/>
          <p:cNvSpPr/>
          <p:nvPr/>
        </p:nvSpPr>
        <p:spPr>
          <a:xfrm>
            <a:off x="5358384" y="5084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DAD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公式推导</a:t>
            </a:r>
            <a:endParaRPr lang="en-US" sz="1500" dirty="0"/>
          </a:p>
        </p:txBody>
      </p:sp>
      <p:sp>
        <p:nvSpPr>
          <p:cNvPr id="159" name="text-153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C6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同学软件分享  ·  v2.0.2  ·  本地离线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54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55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56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从课堂问题出发</a:t>
            </a:r>
            <a:endParaRPr lang="en-US" sz="1000" dirty="0"/>
          </a:p>
        </p:txBody>
      </p:sp>
      <p:sp>
        <p:nvSpPr>
          <p:cNvPr id="5" name="panel-157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58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做完题之后，你能解释图为什么这样画吗？</a:t>
            </a:r>
            <a:endParaRPr lang="en-US" sz="2800" dirty="0"/>
          </a:p>
        </p:txBody>
      </p:sp>
      <p:sp>
        <p:nvSpPr>
          <p:cNvPr id="7" name="line-159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60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61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62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63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64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65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66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67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68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69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70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71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72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73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74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75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76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77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78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79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80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81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82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83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84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85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86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87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88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89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90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91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92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93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94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95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96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97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98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99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200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201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202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203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204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205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206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207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208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209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210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211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212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213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214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215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216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217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218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219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220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221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222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223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224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225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226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227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228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229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230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231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232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233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234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235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236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237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238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239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40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41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42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43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44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45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46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47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48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49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50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51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52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53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54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55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56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57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58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59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60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61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62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63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64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65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66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67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68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69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70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71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72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73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74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75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76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77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78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79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80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81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82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83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84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85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86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87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88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89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90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91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92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93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94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95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96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97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98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99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300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301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302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303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304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305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306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155" name="panel-307"/>
          <p:cNvSpPr/>
          <p:nvPr/>
        </p:nvSpPr>
        <p:spPr>
          <a:xfrm>
            <a:off x="502920" y="1920240"/>
            <a:ext cx="3547872" cy="320040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308"/>
          <p:cNvSpPr/>
          <p:nvPr/>
        </p:nvSpPr>
        <p:spPr>
          <a:xfrm>
            <a:off x="502920" y="1920240"/>
            <a:ext cx="41148" cy="320040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309"/>
          <p:cNvSpPr/>
          <p:nvPr/>
        </p:nvSpPr>
        <p:spPr>
          <a:xfrm>
            <a:off x="704088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line-310"/>
          <p:cNvSpPr/>
          <p:nvPr/>
        </p:nvSpPr>
        <p:spPr>
          <a:xfrm>
            <a:off x="704088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311"/>
          <p:cNvSpPr/>
          <p:nvPr/>
        </p:nvSpPr>
        <p:spPr>
          <a:xfrm>
            <a:off x="704088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模型怎么建？</a:t>
            </a:r>
            <a:endParaRPr lang="en-US" sz="2200" dirty="0"/>
          </a:p>
        </p:txBody>
      </p:sp>
      <p:sp>
        <p:nvSpPr>
          <p:cNvPr id="160" name="text-312"/>
          <p:cNvSpPr/>
          <p:nvPr/>
        </p:nvSpPr>
        <p:spPr>
          <a:xfrm>
            <a:off x="704088" y="3355848"/>
            <a:ext cx="3145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支座限制了哪些自由度？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荷载方向、单位是否正确？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先辨认边界条件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再把题目转为结构模型</a:t>
            </a:r>
            <a:endParaRPr lang="en-US" sz="1600" dirty="0"/>
          </a:p>
        </p:txBody>
      </p:sp>
      <p:sp>
        <p:nvSpPr>
          <p:cNvPr id="161" name="panel-313"/>
          <p:cNvSpPr/>
          <p:nvPr/>
        </p:nvSpPr>
        <p:spPr>
          <a:xfrm>
            <a:off x="4325112" y="1920240"/>
            <a:ext cx="3547872" cy="320040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2" name="panel-314"/>
          <p:cNvSpPr/>
          <p:nvPr/>
        </p:nvSpPr>
        <p:spPr>
          <a:xfrm>
            <a:off x="4325112" y="1920240"/>
            <a:ext cx="41148" cy="320040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3" name="text-315"/>
          <p:cNvSpPr/>
          <p:nvPr/>
        </p:nvSpPr>
        <p:spPr>
          <a:xfrm>
            <a:off x="4526280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02</a:t>
            </a:r>
            <a:endParaRPr lang="en-US" sz="1200" dirty="0"/>
          </a:p>
        </p:txBody>
      </p:sp>
      <p:sp>
        <p:nvSpPr>
          <p:cNvPr id="164" name="line-316"/>
          <p:cNvSpPr/>
          <p:nvPr/>
        </p:nvSpPr>
        <p:spPr>
          <a:xfrm>
            <a:off x="4526280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5" name="text-317"/>
          <p:cNvSpPr/>
          <p:nvPr/>
        </p:nvSpPr>
        <p:spPr>
          <a:xfrm>
            <a:off x="4526280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内力怎么变？</a:t>
            </a:r>
            <a:endParaRPr lang="en-US" sz="2200" dirty="0"/>
          </a:p>
        </p:txBody>
      </p:sp>
      <p:sp>
        <p:nvSpPr>
          <p:cNvPr id="166" name="text-318"/>
          <p:cNvSpPr/>
          <p:nvPr/>
        </p:nvSpPr>
        <p:spPr>
          <a:xfrm>
            <a:off x="4526280" y="3355848"/>
            <a:ext cx="3145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剪力为什么出现跳变？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弯矩最大值在哪里？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沿构件观察内力分布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把图形与受力关系对应</a:t>
            </a:r>
            <a:endParaRPr lang="en-US" sz="1600" dirty="0"/>
          </a:p>
        </p:txBody>
      </p:sp>
      <p:sp>
        <p:nvSpPr>
          <p:cNvPr id="167" name="panel-319"/>
          <p:cNvSpPr/>
          <p:nvPr/>
        </p:nvSpPr>
        <p:spPr>
          <a:xfrm>
            <a:off x="8147304" y="1920240"/>
            <a:ext cx="3547872" cy="320040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68" name="panel-320"/>
          <p:cNvSpPr/>
          <p:nvPr/>
        </p:nvSpPr>
        <p:spPr>
          <a:xfrm>
            <a:off x="8147304" y="1920240"/>
            <a:ext cx="41148" cy="320040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69" name="text-321"/>
          <p:cNvSpPr/>
          <p:nvPr/>
        </p:nvSpPr>
        <p:spPr>
          <a:xfrm>
            <a:off x="8348472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03</a:t>
            </a:r>
            <a:endParaRPr lang="en-US" sz="1200" dirty="0"/>
          </a:p>
        </p:txBody>
      </p:sp>
      <p:sp>
        <p:nvSpPr>
          <p:cNvPr id="170" name="line-322"/>
          <p:cNvSpPr/>
          <p:nvPr/>
        </p:nvSpPr>
        <p:spPr>
          <a:xfrm>
            <a:off x="8348472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1" name="text-323"/>
          <p:cNvSpPr/>
          <p:nvPr/>
        </p:nvSpPr>
        <p:spPr>
          <a:xfrm>
            <a:off x="8348472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答案怎么验？</a:t>
            </a:r>
            <a:endParaRPr lang="en-US" sz="2200" dirty="0"/>
          </a:p>
        </p:txBody>
      </p:sp>
      <p:sp>
        <p:nvSpPr>
          <p:cNvPr id="172" name="text-324"/>
          <p:cNvSpPr/>
          <p:nvPr/>
        </p:nvSpPr>
        <p:spPr>
          <a:xfrm>
            <a:off x="8348472" y="3355848"/>
            <a:ext cx="3145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数值是否满足平衡？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能否和手算相互印证？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检查反力、峰值与单位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定位模型或理解上的偏差</a:t>
            </a:r>
            <a:endParaRPr lang="en-US" sz="1600" dirty="0"/>
          </a:p>
        </p:txBody>
      </p:sp>
      <p:sp>
        <p:nvSpPr>
          <p:cNvPr id="173" name="text-325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我的目标：把“算出数值”进一步变成“理解结构”。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326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327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328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软件分享</a:t>
            </a:r>
            <a:endParaRPr lang="en-US" sz="1000" dirty="0"/>
          </a:p>
        </p:txBody>
      </p:sp>
      <p:sp>
        <p:nvSpPr>
          <p:cNvPr id="5" name="panel-329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330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把分散的知识点，放进同一个学习过程</a:t>
            </a:r>
            <a:endParaRPr lang="en-US" sz="2800" dirty="0"/>
          </a:p>
        </p:txBody>
      </p:sp>
      <p:sp>
        <p:nvSpPr>
          <p:cNvPr id="7" name="line-331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332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333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334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335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336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337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338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339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340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341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342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343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344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345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346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347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348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349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350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351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352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353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354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355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356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357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358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359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360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361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362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363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364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365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366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367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368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369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370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371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372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373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374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375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376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377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378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379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380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381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382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383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384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385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386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387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388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389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390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391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392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393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394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395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396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397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398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399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400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401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402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403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404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405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406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407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408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409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410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411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412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413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414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415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416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417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418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419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420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421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422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423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424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425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426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427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428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429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430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431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432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433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434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435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436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437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438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439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440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441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442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443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444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445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446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447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448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449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450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451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452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453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454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455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456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457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458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459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460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461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462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463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464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465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466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467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468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469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470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471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472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473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474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475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47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477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478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155" name="panel-479"/>
          <p:cNvSpPr/>
          <p:nvPr/>
        </p:nvSpPr>
        <p:spPr>
          <a:xfrm>
            <a:off x="502920" y="1874520"/>
            <a:ext cx="2670048" cy="6400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56" name="text-480"/>
          <p:cNvSpPr/>
          <p:nvPr/>
        </p:nvSpPr>
        <p:spPr>
          <a:xfrm>
            <a:off x="65836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拉伸与压缩</a:t>
            </a:r>
            <a:endParaRPr lang="en-US" sz="1900" dirty="0"/>
          </a:p>
        </p:txBody>
      </p:sp>
      <p:sp>
        <p:nvSpPr>
          <p:cNvPr id="157" name="panel-481"/>
          <p:cNvSpPr/>
          <p:nvPr/>
        </p:nvSpPr>
        <p:spPr>
          <a:xfrm>
            <a:off x="3337560" y="1874520"/>
            <a:ext cx="2670048" cy="6400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58" name="text-482"/>
          <p:cNvSpPr/>
          <p:nvPr/>
        </p:nvSpPr>
        <p:spPr>
          <a:xfrm>
            <a:off x="349300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弯曲</a:t>
            </a:r>
            <a:endParaRPr lang="en-US" sz="1900" dirty="0"/>
          </a:p>
        </p:txBody>
      </p:sp>
      <p:sp>
        <p:nvSpPr>
          <p:cNvPr id="159" name="panel-483"/>
          <p:cNvSpPr/>
          <p:nvPr/>
        </p:nvSpPr>
        <p:spPr>
          <a:xfrm>
            <a:off x="6172200" y="1874520"/>
            <a:ext cx="2670048" cy="6400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60" name="text-484"/>
          <p:cNvSpPr/>
          <p:nvPr/>
        </p:nvSpPr>
        <p:spPr>
          <a:xfrm>
            <a:off x="632764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扭转</a:t>
            </a:r>
            <a:endParaRPr lang="en-US" sz="1900" dirty="0"/>
          </a:p>
        </p:txBody>
      </p:sp>
      <p:sp>
        <p:nvSpPr>
          <p:cNvPr id="161" name="panel-485"/>
          <p:cNvSpPr/>
          <p:nvPr/>
        </p:nvSpPr>
        <p:spPr>
          <a:xfrm>
            <a:off x="9006840" y="1874520"/>
            <a:ext cx="2670048" cy="6400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62" name="text-486"/>
          <p:cNvSpPr/>
          <p:nvPr/>
        </p:nvSpPr>
        <p:spPr>
          <a:xfrm>
            <a:off x="916228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组合变形</a:t>
            </a:r>
            <a:endParaRPr lang="en-US" sz="1900" dirty="0"/>
          </a:p>
        </p:txBody>
      </p:sp>
      <p:sp>
        <p:nvSpPr>
          <p:cNvPr id="163" name="panel-487"/>
          <p:cNvSpPr/>
          <p:nvPr/>
        </p:nvSpPr>
        <p:spPr>
          <a:xfrm>
            <a:off x="502920" y="2907792"/>
            <a:ext cx="3547872" cy="269748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64" name="panel-488"/>
          <p:cNvSpPr/>
          <p:nvPr/>
        </p:nvSpPr>
        <p:spPr>
          <a:xfrm>
            <a:off x="502920" y="2907792"/>
            <a:ext cx="41148" cy="269748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65" name="text-489"/>
          <p:cNvSpPr/>
          <p:nvPr/>
        </p:nvSpPr>
        <p:spPr>
          <a:xfrm>
            <a:off x="704088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输入</a:t>
            </a:r>
            <a:endParaRPr lang="en-US" sz="1200" dirty="0"/>
          </a:p>
        </p:txBody>
      </p:sp>
      <p:sp>
        <p:nvSpPr>
          <p:cNvPr id="166" name="line-490"/>
          <p:cNvSpPr/>
          <p:nvPr/>
        </p:nvSpPr>
        <p:spPr>
          <a:xfrm>
            <a:off x="704088" y="3529584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7" name="text-491"/>
          <p:cNvSpPr/>
          <p:nvPr/>
        </p:nvSpPr>
        <p:spPr>
          <a:xfrm>
            <a:off x="704088" y="36941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建立力学模型</a:t>
            </a:r>
            <a:endParaRPr lang="en-US" sz="2200" dirty="0"/>
          </a:p>
        </p:txBody>
      </p:sp>
      <p:sp>
        <p:nvSpPr>
          <p:cNvPr id="168" name="text-492"/>
          <p:cNvSpPr/>
          <p:nvPr/>
        </p:nvSpPr>
        <p:spPr>
          <a:xfrm>
            <a:off x="704088" y="434340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节点、杆件、材料、截面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支座、节点与单元荷载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集中力矩 / 梯形 / 温度</a:t>
            </a:r>
            <a:endParaRPr lang="en-US" sz="1600" dirty="0"/>
          </a:p>
        </p:txBody>
      </p:sp>
      <p:sp>
        <p:nvSpPr>
          <p:cNvPr id="169" name="panel-493"/>
          <p:cNvSpPr/>
          <p:nvPr/>
        </p:nvSpPr>
        <p:spPr>
          <a:xfrm>
            <a:off x="4325112" y="2907792"/>
            <a:ext cx="3547872" cy="269748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70" name="panel-494"/>
          <p:cNvSpPr/>
          <p:nvPr/>
        </p:nvSpPr>
        <p:spPr>
          <a:xfrm>
            <a:off x="4325112" y="2907792"/>
            <a:ext cx="41148" cy="269748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71" name="text-495"/>
          <p:cNvSpPr/>
          <p:nvPr/>
        </p:nvSpPr>
        <p:spPr>
          <a:xfrm>
            <a:off x="4526280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观察</a:t>
            </a:r>
            <a:endParaRPr lang="en-US" sz="1200" dirty="0"/>
          </a:p>
        </p:txBody>
      </p:sp>
      <p:sp>
        <p:nvSpPr>
          <p:cNvPr id="172" name="line-496"/>
          <p:cNvSpPr/>
          <p:nvPr/>
        </p:nvSpPr>
        <p:spPr>
          <a:xfrm>
            <a:off x="4526280" y="3529584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3" name="text-497"/>
          <p:cNvSpPr/>
          <p:nvPr/>
        </p:nvSpPr>
        <p:spPr>
          <a:xfrm>
            <a:off x="4526280" y="36941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查看结构响应</a:t>
            </a:r>
            <a:endParaRPr lang="en-US" sz="2200" dirty="0"/>
          </a:p>
        </p:txBody>
      </p:sp>
      <p:sp>
        <p:nvSpPr>
          <p:cNvPr id="174" name="text-498"/>
          <p:cNvSpPr/>
          <p:nvPr/>
        </p:nvSpPr>
        <p:spPr>
          <a:xfrm>
            <a:off x="4526280" y="434340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支反力、N / V / M 与变形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杆端力与结果数据表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从整体响应定位危险位置</a:t>
            </a:r>
            <a:endParaRPr lang="en-US" sz="1600" dirty="0"/>
          </a:p>
        </p:txBody>
      </p:sp>
      <p:sp>
        <p:nvSpPr>
          <p:cNvPr id="175" name="panel-499"/>
          <p:cNvSpPr/>
          <p:nvPr/>
        </p:nvSpPr>
        <p:spPr>
          <a:xfrm>
            <a:off x="8147304" y="2907792"/>
            <a:ext cx="3547872" cy="269748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76" name="panel-500"/>
          <p:cNvSpPr/>
          <p:nvPr/>
        </p:nvSpPr>
        <p:spPr>
          <a:xfrm>
            <a:off x="8147304" y="2907792"/>
            <a:ext cx="41148" cy="269748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77" name="text-501"/>
          <p:cNvSpPr/>
          <p:nvPr/>
        </p:nvSpPr>
        <p:spPr>
          <a:xfrm>
            <a:off x="8348472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理解</a:t>
            </a:r>
            <a:endParaRPr lang="en-US" sz="1200" dirty="0"/>
          </a:p>
        </p:txBody>
      </p:sp>
      <p:sp>
        <p:nvSpPr>
          <p:cNvPr id="178" name="line-502"/>
          <p:cNvSpPr/>
          <p:nvPr/>
        </p:nvSpPr>
        <p:spPr>
          <a:xfrm>
            <a:off x="8348472" y="3529584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9" name="text-503"/>
          <p:cNvSpPr/>
          <p:nvPr/>
        </p:nvSpPr>
        <p:spPr>
          <a:xfrm>
            <a:off x="8348472" y="36941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回到计算依据</a:t>
            </a:r>
            <a:endParaRPr lang="en-US" sz="2200" dirty="0"/>
          </a:p>
        </p:txBody>
      </p:sp>
      <p:sp>
        <p:nvSpPr>
          <p:cNvPr id="180" name="text-504"/>
          <p:cNvSpPr/>
          <p:nvPr/>
        </p:nvSpPr>
        <p:spPr>
          <a:xfrm>
            <a:off x="8348472" y="434340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公式库、字母表达式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分步推导与典型题模板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用解析解检验数值结果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505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506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507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界面导航</a:t>
            </a:r>
            <a:endParaRPr lang="en-US" sz="1000" dirty="0"/>
          </a:p>
        </p:txBody>
      </p:sp>
      <p:sp>
        <p:nvSpPr>
          <p:cNvPr id="5" name="panel-508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509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真实工作区：模型、视图、属性并排联动</a:t>
            </a:r>
            <a:endParaRPr lang="en-US" sz="2800" dirty="0"/>
          </a:p>
        </p:txBody>
      </p:sp>
      <p:sp>
        <p:nvSpPr>
          <p:cNvPr id="7" name="line-510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511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512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513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514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515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516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517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518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519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520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521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522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523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524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525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526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527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528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529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530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531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532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533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534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535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536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537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538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539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540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541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542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543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544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545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546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547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548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549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550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551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552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553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554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555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556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557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558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559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560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561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562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563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564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565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566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567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568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569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570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571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572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573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574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575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576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577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578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579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580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581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582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583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584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585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586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587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588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589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590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591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592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593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594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595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596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597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598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599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600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601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602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603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604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605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606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607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608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609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610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611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612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613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614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615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616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617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618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619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620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621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622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623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624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625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626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627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628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629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630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631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632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633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634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635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636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637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638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639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640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641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642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643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644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645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646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647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648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649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650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651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652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653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654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655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656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65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155" name="panel-658"/>
          <p:cNvSpPr/>
          <p:nvPr/>
        </p:nvSpPr>
        <p:spPr>
          <a:xfrm>
            <a:off x="534924" y="1778508"/>
            <a:ext cx="7927848" cy="4489704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01-workspace.jpg" descr="本地程序运行截图：二维刚架工作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0512"/>
            <a:ext cx="7863840" cy="4425696"/>
          </a:xfrm>
          <a:prstGeom prst="rect">
            <a:avLst/>
          </a:prstGeom>
        </p:spPr>
      </p:pic>
      <p:sp>
        <p:nvSpPr>
          <p:cNvPr id="157" name="panel-659"/>
          <p:cNvSpPr/>
          <p:nvPr/>
        </p:nvSpPr>
        <p:spPr>
          <a:xfrm>
            <a:off x="8732520" y="1865376"/>
            <a:ext cx="2880360" cy="310896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158" name="text-660"/>
          <p:cNvSpPr/>
          <p:nvPr/>
        </p:nvSpPr>
        <p:spPr>
          <a:xfrm>
            <a:off x="8842248" y="1929384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E9E4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01 / WORKSPACE</a:t>
            </a:r>
            <a:endParaRPr lang="en-US" sz="1000" dirty="0"/>
          </a:p>
        </p:txBody>
      </p:sp>
      <p:sp>
        <p:nvSpPr>
          <p:cNvPr id="159" name="text-661"/>
          <p:cNvSpPr/>
          <p:nvPr/>
        </p:nvSpPr>
        <p:spPr>
          <a:xfrm>
            <a:off x="8732520" y="23682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按对象组织操作</a:t>
            </a:r>
            <a:endParaRPr lang="en-US" sz="2200" dirty="0"/>
          </a:p>
        </p:txBody>
      </p:sp>
      <p:sp>
        <p:nvSpPr>
          <p:cNvPr id="160" name="text-662"/>
          <p:cNvSpPr/>
          <p:nvPr/>
        </p:nvSpPr>
        <p:spPr>
          <a:xfrm>
            <a:off x="8732520" y="2999232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左侧：节点、构件与条件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中部：受力与结果视图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右侧：属性和显示开关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先选对象，再检查参数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底部状态栏反馈求解状态</a:t>
            </a:r>
            <a:endParaRPr lang="en-US" sz="1700" dirty="0"/>
          </a:p>
        </p:txBody>
      </p:sp>
      <p:sp>
        <p:nvSpPr>
          <p:cNvPr id="161" name="text-663"/>
          <p:cNvSpPr/>
          <p:nvPr/>
        </p:nvSpPr>
        <p:spPr>
          <a:xfrm>
            <a:off x="8732520" y="55321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本地已有离线构建的实际运行画面；界面标识2.0，项目包版本2.0.2。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664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665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666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后处理</a:t>
            </a:r>
            <a:endParaRPr lang="en-US" sz="1000" dirty="0"/>
          </a:p>
        </p:txBody>
      </p:sp>
      <p:sp>
        <p:nvSpPr>
          <p:cNvPr id="5" name="panel-667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668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同一根梁，切换剪力图与弯矩图</a:t>
            </a:r>
            <a:endParaRPr lang="en-US" sz="2800" dirty="0"/>
          </a:p>
        </p:txBody>
      </p:sp>
      <p:sp>
        <p:nvSpPr>
          <p:cNvPr id="7" name="line-669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670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671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672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673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674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675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676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677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678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679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680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681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682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683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684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685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686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687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688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689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690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691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692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693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694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695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696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697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698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699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700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701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702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703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704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705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706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707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708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709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710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711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712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713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714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715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716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717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718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719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720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721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722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723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724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725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726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727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728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729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730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731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732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733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734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735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736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737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738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739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740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741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742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743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744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745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746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747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748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749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750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751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752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753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754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755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756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757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758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759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760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761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762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763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764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765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766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767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768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769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770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771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772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773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774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775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776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777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778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779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780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781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782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783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784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785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786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787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788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789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790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791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792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793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794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795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796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797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798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799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800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801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802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803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804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805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806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807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808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809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810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811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812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813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814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815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816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155" name="panel-817"/>
          <p:cNvSpPr/>
          <p:nvPr/>
        </p:nvSpPr>
        <p:spPr>
          <a:xfrm>
            <a:off x="562356" y="1933956"/>
            <a:ext cx="5440680" cy="3090672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shear-detail.png" descr="本地程序运行截图：简支梁剪力图局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65960"/>
            <a:ext cx="5376672" cy="3026664"/>
          </a:xfrm>
          <a:prstGeom prst="rect">
            <a:avLst/>
          </a:prstGeom>
        </p:spPr>
      </p:pic>
      <p:sp>
        <p:nvSpPr>
          <p:cNvPr id="157" name="panel-818"/>
          <p:cNvSpPr/>
          <p:nvPr/>
        </p:nvSpPr>
        <p:spPr>
          <a:xfrm>
            <a:off x="6213348" y="1933956"/>
            <a:ext cx="5440680" cy="3090672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8" name="live-moment-detail.png" descr="本地程序运行截图：简支梁弯矩图局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965960"/>
            <a:ext cx="5376672" cy="3026664"/>
          </a:xfrm>
          <a:prstGeom prst="rect">
            <a:avLst/>
          </a:prstGeom>
        </p:spPr>
      </p:pic>
      <p:sp>
        <p:nvSpPr>
          <p:cNvPr id="159" name="text-819"/>
          <p:cNvSpPr/>
          <p:nvPr/>
        </p:nvSpPr>
        <p:spPr>
          <a:xfrm>
            <a:off x="621792" y="51572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剪力 V / 左右段幅值 9 kN</a:t>
            </a:r>
            <a:endParaRPr lang="en-US" sz="2100" dirty="0"/>
          </a:p>
        </p:txBody>
      </p:sp>
      <p:sp>
        <p:nvSpPr>
          <p:cNvPr id="160" name="text-820"/>
          <p:cNvSpPr/>
          <p:nvPr/>
        </p:nvSpPr>
        <p:spPr>
          <a:xfrm>
            <a:off x="6272784" y="51572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弯矩 M / 跨中标注 −27 kN·m</a:t>
            </a:r>
            <a:endParaRPr lang="en-US" sz="2100" dirty="0"/>
          </a:p>
        </p:txBody>
      </p:sp>
      <p:sp>
        <p:nvSpPr>
          <p:cNvPr id="161" name="panel-821"/>
          <p:cNvSpPr/>
          <p:nvPr/>
        </p:nvSpPr>
        <p:spPr>
          <a:xfrm>
            <a:off x="594360" y="5715000"/>
            <a:ext cx="11027664" cy="429768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62" name="text-822"/>
          <p:cNvSpPr/>
          <p:nvPr/>
        </p:nvSpPr>
        <p:spPr>
          <a:xfrm>
            <a:off x="777240" y="5815584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观察顺序：集中力位置 → 剪力跳变 → 弯矩峰值 → 对照解析解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82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824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825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建模检查</a:t>
            </a:r>
            <a:endParaRPr lang="en-US" sz="1000" dirty="0"/>
          </a:p>
        </p:txBody>
      </p:sp>
      <p:sp>
        <p:nvSpPr>
          <p:cNvPr id="5" name="panel-826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827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默认案例如何组织：一个单元、跨中集中力</a:t>
            </a:r>
            <a:endParaRPr lang="en-US" sz="2800" dirty="0"/>
          </a:p>
        </p:txBody>
      </p:sp>
      <p:sp>
        <p:nvSpPr>
          <p:cNvPr id="7" name="line-828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829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830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831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832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833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834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835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836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837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838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839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840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841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842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843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844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845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846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847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848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849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850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851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852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853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854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855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856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857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858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859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860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861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862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863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864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865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866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867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868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869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870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871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872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873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874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875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876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877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878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879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880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881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882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883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884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885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886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887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888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889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890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891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892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893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894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895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896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897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898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899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900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901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902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903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904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905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906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907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908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909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910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911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912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913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914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915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916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917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918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919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920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921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922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923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924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925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926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927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928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929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930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931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932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933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934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935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936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937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938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939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940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941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942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943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944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945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946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947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948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949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950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951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952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953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954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955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956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957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958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959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960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961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962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963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964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965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966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967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968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969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970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971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972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973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974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975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06</a:t>
            </a:r>
            <a:endParaRPr lang="en-US" sz="1100" dirty="0"/>
          </a:p>
        </p:txBody>
      </p:sp>
      <p:sp>
        <p:nvSpPr>
          <p:cNvPr id="155" name="panel-976"/>
          <p:cNvSpPr/>
          <p:nvPr/>
        </p:nvSpPr>
        <p:spPr>
          <a:xfrm>
            <a:off x="562356" y="1842516"/>
            <a:ext cx="6007608" cy="4297680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beam-model.png" descr="本地程序运行截图：模型和剪力结果视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4520"/>
            <a:ext cx="5943600" cy="4233672"/>
          </a:xfrm>
          <a:prstGeom prst="rect">
            <a:avLst/>
          </a:prstGeom>
        </p:spPr>
      </p:pic>
      <p:sp>
        <p:nvSpPr>
          <p:cNvPr id="157" name="panel-977"/>
          <p:cNvSpPr/>
          <p:nvPr/>
        </p:nvSpPr>
        <p:spPr>
          <a:xfrm>
            <a:off x="6798564" y="1842516"/>
            <a:ext cx="2606040" cy="2167128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8" name="live-load-detail.png" descr="本地程序运行截图：单元荷载属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874520"/>
            <a:ext cx="2542032" cy="2103120"/>
          </a:xfrm>
          <a:prstGeom prst="rect">
            <a:avLst/>
          </a:prstGeom>
        </p:spPr>
      </p:pic>
      <p:sp>
        <p:nvSpPr>
          <p:cNvPr id="159" name="text-978"/>
          <p:cNvSpPr/>
          <p:nvPr/>
        </p:nvSpPr>
        <p:spPr>
          <a:xfrm>
            <a:off x="9646920" y="1965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模型结构</a:t>
            </a:r>
            <a:endParaRPr lang="en-US" sz="2000" dirty="0"/>
          </a:p>
        </p:txBody>
      </p:sp>
      <p:sp>
        <p:nvSpPr>
          <p:cNvPr id="160" name="text-979"/>
          <p:cNvSpPr/>
          <p:nvPr/>
        </p:nvSpPr>
        <p:spPr>
          <a:xfrm>
            <a:off x="9646920" y="26974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节点 A /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跨度 6 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单元 E1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集中力位置 3 m</a:t>
            </a:r>
            <a:endParaRPr lang="en-US" sz="1700" dirty="0"/>
          </a:p>
        </p:txBody>
      </p:sp>
      <p:sp>
        <p:nvSpPr>
          <p:cNvPr id="161" name="panel-980"/>
          <p:cNvSpPr/>
          <p:nvPr/>
        </p:nvSpPr>
        <p:spPr>
          <a:xfrm>
            <a:off x="6830568" y="4315968"/>
            <a:ext cx="4855464" cy="1773936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62" name="text-981"/>
          <p:cNvSpPr/>
          <p:nvPr/>
        </p:nvSpPr>
        <p:spPr>
          <a:xfrm>
            <a:off x="7031736" y="4507992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读题与读模型相互对应</a:t>
            </a:r>
            <a:endParaRPr lang="en-US" sz="2100" dirty="0"/>
          </a:p>
        </p:txBody>
      </p:sp>
      <p:sp>
        <p:nvSpPr>
          <p:cNvPr id="163" name="text-982"/>
          <p:cNvSpPr/>
          <p:nvPr/>
        </p:nvSpPr>
        <p:spPr>
          <a:xfrm>
            <a:off x="7031736" y="5084064"/>
            <a:ext cx="4453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A端约束2个自由度，B端约束1个自由度。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本案例采用单元内集中力，无需增设跨中节点。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荷载分量、单位和方向以程序属性栏为准。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98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984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985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结果校核</a:t>
            </a:r>
            <a:endParaRPr lang="en-US" sz="1000" dirty="0"/>
          </a:p>
        </p:txBody>
      </p:sp>
      <p:sp>
        <p:nvSpPr>
          <p:cNvPr id="5" name="panel-986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987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实机结果与解析解：先核对幅值，再核对符号</a:t>
            </a:r>
            <a:endParaRPr lang="en-US" sz="2800" dirty="0"/>
          </a:p>
        </p:txBody>
      </p:sp>
      <p:sp>
        <p:nvSpPr>
          <p:cNvPr id="7" name="line-988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989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990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991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992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993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994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995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996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997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998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999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000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001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002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003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004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005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006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007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008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009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010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011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012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013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014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015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016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017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018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019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020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021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022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023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024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025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026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027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028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029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030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031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032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033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034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035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036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037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038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039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040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041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042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043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044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045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046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047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048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049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050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051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052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053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054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055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056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057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058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059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060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061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062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063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064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065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066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067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068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069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070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071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072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073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074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075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076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077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078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079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080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081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082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083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084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085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086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087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088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089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090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091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092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093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094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095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096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097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098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099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100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101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102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103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104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105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106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107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108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109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110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111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112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113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114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115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116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117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118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119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120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121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122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123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124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125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126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127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128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129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130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131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132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133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134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135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07</a:t>
            </a:r>
            <a:endParaRPr lang="en-US" sz="1100" dirty="0"/>
          </a:p>
        </p:txBody>
      </p:sp>
      <p:sp>
        <p:nvSpPr>
          <p:cNvPr id="155" name="panel-1136"/>
          <p:cNvSpPr/>
          <p:nvPr/>
        </p:nvSpPr>
        <p:spPr>
          <a:xfrm>
            <a:off x="562356" y="1888236"/>
            <a:ext cx="6693408" cy="3794760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moment-detail.png" descr="本地程序运行截图：含反力和弯矩峰值的局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6629400" cy="3730752"/>
          </a:xfrm>
          <a:prstGeom prst="rect">
            <a:avLst/>
          </a:prstGeom>
        </p:spPr>
      </p:pic>
      <p:sp>
        <p:nvSpPr>
          <p:cNvPr id="157" name="panel-1137"/>
          <p:cNvSpPr/>
          <p:nvPr/>
        </p:nvSpPr>
        <p:spPr>
          <a:xfrm>
            <a:off x="7589520" y="1920240"/>
            <a:ext cx="4050792" cy="3730752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58" name="text-1138"/>
          <p:cNvSpPr/>
          <p:nvPr/>
        </p:nvSpPr>
        <p:spPr>
          <a:xfrm>
            <a:off x="7845552" y="219456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本次界面读数</a:t>
            </a:r>
            <a:endParaRPr lang="en-US" sz="2400" dirty="0"/>
          </a:p>
        </p:txBody>
      </p:sp>
      <p:sp>
        <p:nvSpPr>
          <p:cNvPr id="159" name="text-1139"/>
          <p:cNvSpPr/>
          <p:nvPr/>
        </p:nvSpPr>
        <p:spPr>
          <a:xfrm>
            <a:off x="7845552" y="2926080"/>
            <a:ext cx="3547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两端反力幅值各 9 kN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弯矩图跨中标注 −27 kN·m</a:t>
            </a:r>
            <a:endParaRPr lang="en-US" sz="2200" dirty="0"/>
          </a:p>
        </p:txBody>
      </p:sp>
      <p:sp>
        <p:nvSpPr>
          <p:cNvPr id="160" name="text-1140"/>
          <p:cNvSpPr/>
          <p:nvPr/>
        </p:nvSpPr>
        <p:spPr>
          <a:xfrm>
            <a:off x="7845552" y="4279392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解析幅值：18 × 6 ÷ 4 = 27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与本次显示幅值一致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弯矩符号遵循软件局部坐标约定</a:t>
            </a:r>
            <a:endParaRPr lang="en-US" sz="1600" dirty="0"/>
          </a:p>
        </p:txBody>
      </p:sp>
      <p:sp>
        <p:nvSpPr>
          <p:cNvPr id="161" name="text-1141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校核范围：此默认案例的显示幅值对照；不代表全部工况或整体精度认证。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14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143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144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分步推导</a:t>
            </a:r>
            <a:endParaRPr lang="en-US" sz="1000" dirty="0"/>
          </a:p>
        </p:txBody>
      </p:sp>
      <p:sp>
        <p:nvSpPr>
          <p:cNvPr id="5" name="panel-1145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146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教学助手：把图形、平衡关系与边界条件连接起来</a:t>
            </a:r>
            <a:endParaRPr lang="en-US" sz="2800" dirty="0"/>
          </a:p>
        </p:txBody>
      </p:sp>
      <p:sp>
        <p:nvSpPr>
          <p:cNvPr id="7" name="line-1147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148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149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150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151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152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153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154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155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156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157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158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159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160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161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162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163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164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165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166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167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168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169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170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171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172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173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174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175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176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177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178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179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180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181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182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183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184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185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186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187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188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189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190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191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192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193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194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195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196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197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198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199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200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201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202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203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204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205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206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207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208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209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210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211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212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213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214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215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216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217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218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219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220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221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222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223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224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225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226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227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228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229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230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231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232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233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234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235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236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237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238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239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240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241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242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243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244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245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246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247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248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249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250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251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252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253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254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255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256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257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258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259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260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261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262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263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264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265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266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267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268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269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270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271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272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273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274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275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276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277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278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279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280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281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282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283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284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285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286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287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288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289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290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291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29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293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29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08</a:t>
            </a:r>
            <a:endParaRPr lang="en-US" sz="1100" dirty="0"/>
          </a:p>
        </p:txBody>
      </p:sp>
      <p:sp>
        <p:nvSpPr>
          <p:cNvPr id="155" name="panel-1295"/>
          <p:cNvSpPr/>
          <p:nvPr/>
        </p:nvSpPr>
        <p:spPr>
          <a:xfrm>
            <a:off x="562356" y="1842516"/>
            <a:ext cx="6876288" cy="3895344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04-derivation.jpg" descr="本地程序运行截图：教学助手分步推导全界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4520"/>
            <a:ext cx="6812280" cy="3831336"/>
          </a:xfrm>
          <a:prstGeom prst="rect">
            <a:avLst/>
          </a:prstGeom>
        </p:spPr>
      </p:pic>
      <p:sp>
        <p:nvSpPr>
          <p:cNvPr id="157" name="panel-1296"/>
          <p:cNvSpPr/>
          <p:nvPr/>
        </p:nvSpPr>
        <p:spPr>
          <a:xfrm>
            <a:off x="7754112" y="1874520"/>
            <a:ext cx="3840480" cy="310896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158" name="text-1297"/>
          <p:cNvSpPr/>
          <p:nvPr/>
        </p:nvSpPr>
        <p:spPr>
          <a:xfrm>
            <a:off x="7863840" y="1938528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E9E4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02 / EXPLAIN</a:t>
            </a:r>
            <a:endParaRPr lang="en-US" sz="1000" dirty="0"/>
          </a:p>
        </p:txBody>
      </p:sp>
      <p:sp>
        <p:nvSpPr>
          <p:cNvPr id="159" name="text-1298"/>
          <p:cNvSpPr/>
          <p:nvPr/>
        </p:nvSpPr>
        <p:spPr>
          <a:xfrm>
            <a:off x="7754112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推导入口就在结果旁</a:t>
            </a:r>
            <a:endParaRPr lang="en-US" sz="2200" dirty="0"/>
          </a:p>
        </p:txBody>
      </p:sp>
      <p:sp>
        <p:nvSpPr>
          <p:cNvPr id="160" name="text-1299"/>
          <p:cNvSpPr/>
          <p:nvPr/>
        </p:nvSpPr>
        <p:spPr>
          <a:xfrm>
            <a:off x="7754112" y="3008376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① 选择“教学助手”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② 切换“分步推导”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③ 查看平衡关系和符号约定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④ 下滚检查边界与内力摘要</a:t>
            </a:r>
            <a:endParaRPr lang="en-US" sz="1700" dirty="0"/>
          </a:p>
        </p:txBody>
      </p:sp>
      <p:sp>
        <p:nvSpPr>
          <p:cNvPr id="161" name="text-1300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演示时让同学先说明受力与约束，再借助助手核对。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30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302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303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三维求解</a:t>
            </a:r>
            <a:endParaRPr lang="en-US" sz="1000" dirty="0"/>
          </a:p>
        </p:txBody>
      </p:sp>
      <p:sp>
        <p:nvSpPr>
          <p:cNvPr id="5" name="panel-1304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305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空间刚架：真实三维变形与节点结果</a:t>
            </a:r>
            <a:endParaRPr lang="en-US" sz="2800" dirty="0"/>
          </a:p>
        </p:txBody>
      </p:sp>
      <p:sp>
        <p:nvSpPr>
          <p:cNvPr id="7" name="line-1306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307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308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309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310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311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312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313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314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315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316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317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318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319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320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321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322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323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324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325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326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327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328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329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330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331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332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333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334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335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336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337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338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339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340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341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342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343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344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345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346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347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348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349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350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351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352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353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354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355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356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357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358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359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360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361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362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363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364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365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366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367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368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369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370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371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372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373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374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375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376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377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378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379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380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381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382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383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384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385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386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387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388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389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390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391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392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393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394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395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396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397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398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399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400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401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402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403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404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405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406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407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408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409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410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411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412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413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414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415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416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417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418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419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420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421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422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423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424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425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426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427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428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429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430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431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432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433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434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435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436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437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438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439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440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441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442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443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444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445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446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447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448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449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450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45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452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45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09</a:t>
            </a:r>
            <a:endParaRPr lang="en-US" sz="1100" dirty="0"/>
          </a:p>
        </p:txBody>
      </p:sp>
      <p:sp>
        <p:nvSpPr>
          <p:cNvPr id="155" name="panel-1454"/>
          <p:cNvSpPr/>
          <p:nvPr/>
        </p:nvSpPr>
        <p:spPr>
          <a:xfrm>
            <a:off x="562356" y="1815084"/>
            <a:ext cx="4727448" cy="4160520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space-detail.png" descr="本地程序运行截图：空间刚架位移图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47088"/>
            <a:ext cx="4663440" cy="4096512"/>
          </a:xfrm>
          <a:prstGeom prst="rect">
            <a:avLst/>
          </a:prstGeom>
        </p:spPr>
      </p:pic>
      <p:sp>
        <p:nvSpPr>
          <p:cNvPr id="157" name="panel-1455"/>
          <p:cNvSpPr/>
          <p:nvPr/>
        </p:nvSpPr>
        <p:spPr>
          <a:xfrm>
            <a:off x="5472684" y="1815084"/>
            <a:ext cx="3227832" cy="4133088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8" name="live-space-table.png" descr="本地程序运行截图：节点位移与杆件轴力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847088"/>
            <a:ext cx="3163824" cy="4069080"/>
          </a:xfrm>
          <a:prstGeom prst="rect">
            <a:avLst/>
          </a:prstGeom>
        </p:spPr>
      </p:pic>
      <p:sp>
        <p:nvSpPr>
          <p:cNvPr id="159" name="panel-1456"/>
          <p:cNvSpPr/>
          <p:nvPr/>
        </p:nvSpPr>
        <p:spPr>
          <a:xfrm>
            <a:off x="8961120" y="1874520"/>
            <a:ext cx="2724912" cy="310896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160" name="text-1457"/>
          <p:cNvSpPr/>
          <p:nvPr/>
        </p:nvSpPr>
        <p:spPr>
          <a:xfrm>
            <a:off x="9070848" y="193852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E9E4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03 / SPACE</a:t>
            </a:r>
            <a:endParaRPr lang="en-US" sz="1000" dirty="0"/>
          </a:p>
        </p:txBody>
      </p:sp>
      <p:sp>
        <p:nvSpPr>
          <p:cNvPr id="161" name="text-1458"/>
          <p:cNvSpPr/>
          <p:nvPr/>
        </p:nvSpPr>
        <p:spPr>
          <a:xfrm>
            <a:off x="8961120" y="23774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已执行本地求解</a:t>
            </a:r>
            <a:endParaRPr lang="en-US" sz="2200" dirty="0"/>
          </a:p>
        </p:txBody>
      </p:sp>
      <p:sp>
        <p:nvSpPr>
          <p:cNvPr id="162" name="text-1459"/>
          <p:cNvSpPr/>
          <p:nvPr/>
        </p:nvSpPr>
        <p:spPr>
          <a:xfrm>
            <a:off x="8961120" y="3008376"/>
            <a:ext cx="272491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4个节点、3个空间构件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Q235 / 箱形截面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节点六自由度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位移图层：放大2.4倍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结果属于空间杆系</a:t>
            </a:r>
            <a:endParaRPr lang="en-US" sz="1700" dirty="0"/>
          </a:p>
        </p:txBody>
      </p:sp>
      <p:sp>
        <p:nvSpPr>
          <p:cNvPr id="163" name="text-1460"/>
          <p:cNvSpPr/>
          <p:nvPr/>
        </p:nvSpPr>
        <p:spPr>
          <a:xfrm>
            <a:off x="640080" y="60624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变形为放大显示，不能按截图像素读取真实位移；并非实体连续应力云图。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46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462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463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实现思路</a:t>
            </a:r>
            <a:endParaRPr lang="en-US" sz="1000" dirty="0"/>
          </a:p>
        </p:txBody>
      </p:sp>
      <p:sp>
        <p:nvSpPr>
          <p:cNvPr id="5" name="panel-1464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465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计算在本地，课堂演示更容易准备</a:t>
            </a:r>
            <a:endParaRPr lang="en-US" sz="2800" dirty="0"/>
          </a:p>
        </p:txBody>
      </p:sp>
      <p:sp>
        <p:nvSpPr>
          <p:cNvPr id="7" name="line-1466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467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468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469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470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471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472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473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474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475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476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477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478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479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480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481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482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483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484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485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486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487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488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489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490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491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492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493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494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495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496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497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498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499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500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501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502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503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504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505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506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507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508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509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510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511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512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513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514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515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516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517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518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519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520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521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522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523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524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525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526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527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528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529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530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531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532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533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534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535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536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537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538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539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540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541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542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543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544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545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546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547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548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549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550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551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552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553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554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555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556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557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558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559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560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561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562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563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564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565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566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567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568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569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570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571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572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573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574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575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576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577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578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579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580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581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582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583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584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585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586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587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588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589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590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591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592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593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594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595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596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597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598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599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600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601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602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603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604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605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606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607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608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609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610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61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612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61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155" name="panel-1614"/>
          <p:cNvSpPr/>
          <p:nvPr/>
        </p:nvSpPr>
        <p:spPr>
          <a:xfrm>
            <a:off x="502920" y="2011680"/>
            <a:ext cx="3547872" cy="292608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1615"/>
          <p:cNvSpPr/>
          <p:nvPr/>
        </p:nvSpPr>
        <p:spPr>
          <a:xfrm>
            <a:off x="502920" y="2011680"/>
            <a:ext cx="41148" cy="292608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1616"/>
          <p:cNvSpPr/>
          <p:nvPr/>
        </p:nvSpPr>
        <p:spPr>
          <a:xfrm>
            <a:off x="704088" y="21945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line-1617"/>
          <p:cNvSpPr/>
          <p:nvPr/>
        </p:nvSpPr>
        <p:spPr>
          <a:xfrm>
            <a:off x="704088" y="263347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1618"/>
          <p:cNvSpPr/>
          <p:nvPr/>
        </p:nvSpPr>
        <p:spPr>
          <a:xfrm>
            <a:off x="704088" y="2798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交互建模</a:t>
            </a:r>
            <a:endParaRPr lang="en-US" sz="2200" dirty="0"/>
          </a:p>
        </p:txBody>
      </p:sp>
      <p:sp>
        <p:nvSpPr>
          <p:cNvPr id="160" name="text-1619"/>
          <p:cNvSpPr/>
          <p:nvPr/>
        </p:nvSpPr>
        <p:spPr>
          <a:xfrm>
            <a:off x="704088" y="3447288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Vue 3 / TypeScript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节点、构件、材料与约束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统一二维 / 三维工作区</a:t>
            </a:r>
            <a:endParaRPr lang="en-US" sz="1600" dirty="0"/>
          </a:p>
        </p:txBody>
      </p:sp>
      <p:sp>
        <p:nvSpPr>
          <p:cNvPr id="161" name="line-1620"/>
          <p:cNvSpPr/>
          <p:nvPr/>
        </p:nvSpPr>
        <p:spPr>
          <a:xfrm>
            <a:off x="4078224" y="3474720"/>
            <a:ext cx="201168" cy="0"/>
          </a:xfrm>
          <a:prstGeom prst="line">
            <a:avLst/>
          </a:prstGeom>
          <a:noFill/>
          <a:ln w="25400">
            <a:solidFill>
              <a:srgbClr val="285C75"/>
            </a:solidFill>
            <a:prstDash val="solid"/>
            <a:tailEnd type="triangle"/>
          </a:ln>
        </p:spPr>
      </p:sp>
      <p:sp>
        <p:nvSpPr>
          <p:cNvPr id="162" name="panel-1621"/>
          <p:cNvSpPr/>
          <p:nvPr/>
        </p:nvSpPr>
        <p:spPr>
          <a:xfrm>
            <a:off x="4325112" y="2011680"/>
            <a:ext cx="3547872" cy="292608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3" name="panel-1622"/>
          <p:cNvSpPr/>
          <p:nvPr/>
        </p:nvSpPr>
        <p:spPr>
          <a:xfrm>
            <a:off x="4325112" y="2011680"/>
            <a:ext cx="41148" cy="292608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4" name="text-1623"/>
          <p:cNvSpPr/>
          <p:nvPr/>
        </p:nvSpPr>
        <p:spPr>
          <a:xfrm>
            <a:off x="4526280" y="21945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02</a:t>
            </a:r>
            <a:endParaRPr lang="en-US" sz="1200" dirty="0"/>
          </a:p>
        </p:txBody>
      </p:sp>
      <p:sp>
        <p:nvSpPr>
          <p:cNvPr id="165" name="line-1624"/>
          <p:cNvSpPr/>
          <p:nvPr/>
        </p:nvSpPr>
        <p:spPr>
          <a:xfrm>
            <a:off x="4526280" y="263347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6" name="text-1625"/>
          <p:cNvSpPr/>
          <p:nvPr/>
        </p:nvSpPr>
        <p:spPr>
          <a:xfrm>
            <a:off x="4526280" y="2798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数值求解</a:t>
            </a:r>
            <a:endParaRPr lang="en-US" sz="2200" dirty="0"/>
          </a:p>
        </p:txBody>
      </p:sp>
      <p:sp>
        <p:nvSpPr>
          <p:cNvPr id="167" name="text-1626"/>
          <p:cNvSpPr/>
          <p:nvPr/>
        </p:nvSpPr>
        <p:spPr>
          <a:xfrm>
            <a:off x="4526280" y="3447288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本地 CPU / Worker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空间杆系后台计算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不可用时回退主线程 CPU</a:t>
            </a:r>
            <a:endParaRPr lang="en-US" sz="1600" dirty="0"/>
          </a:p>
        </p:txBody>
      </p:sp>
      <p:sp>
        <p:nvSpPr>
          <p:cNvPr id="168" name="line-1627"/>
          <p:cNvSpPr/>
          <p:nvPr/>
        </p:nvSpPr>
        <p:spPr>
          <a:xfrm>
            <a:off x="7900416" y="3474720"/>
            <a:ext cx="201168" cy="0"/>
          </a:xfrm>
          <a:prstGeom prst="line">
            <a:avLst/>
          </a:prstGeom>
          <a:noFill/>
          <a:ln w="25400">
            <a:solidFill>
              <a:srgbClr val="285C75"/>
            </a:solidFill>
            <a:prstDash val="solid"/>
            <a:tailEnd type="triangle"/>
          </a:ln>
        </p:spPr>
      </p:sp>
      <p:sp>
        <p:nvSpPr>
          <p:cNvPr id="169" name="panel-1628"/>
          <p:cNvSpPr/>
          <p:nvPr/>
        </p:nvSpPr>
        <p:spPr>
          <a:xfrm>
            <a:off x="8147304" y="2011680"/>
            <a:ext cx="3547872" cy="292608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70" name="panel-1629"/>
          <p:cNvSpPr/>
          <p:nvPr/>
        </p:nvSpPr>
        <p:spPr>
          <a:xfrm>
            <a:off x="8147304" y="2011680"/>
            <a:ext cx="41148" cy="292608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71" name="text-1630"/>
          <p:cNvSpPr/>
          <p:nvPr/>
        </p:nvSpPr>
        <p:spPr>
          <a:xfrm>
            <a:off x="8348472" y="21945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03</a:t>
            </a:r>
            <a:endParaRPr lang="en-US" sz="1200" dirty="0"/>
          </a:p>
        </p:txBody>
      </p:sp>
      <p:sp>
        <p:nvSpPr>
          <p:cNvPr id="172" name="line-1631"/>
          <p:cNvSpPr/>
          <p:nvPr/>
        </p:nvSpPr>
        <p:spPr>
          <a:xfrm>
            <a:off x="8348472" y="263347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3" name="text-1632"/>
          <p:cNvSpPr/>
          <p:nvPr/>
        </p:nvSpPr>
        <p:spPr>
          <a:xfrm>
            <a:off x="8348472" y="2798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结果展示</a:t>
            </a:r>
            <a:endParaRPr lang="en-US" sz="2200" dirty="0"/>
          </a:p>
        </p:txBody>
      </p:sp>
      <p:sp>
        <p:nvSpPr>
          <p:cNvPr id="174" name="text-1633"/>
          <p:cNvSpPr/>
          <p:nvPr/>
        </p:nvSpPr>
        <p:spPr>
          <a:xfrm>
            <a:off x="8348472" y="3447288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内力、变形与数据表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Three.js 空间显示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结果与教学解释对应</a:t>
            </a:r>
            <a:endParaRPr lang="en-US" sz="1600" dirty="0"/>
          </a:p>
        </p:txBody>
      </p:sp>
      <p:sp>
        <p:nvSpPr>
          <p:cNvPr id="175" name="panel-1634"/>
          <p:cNvSpPr/>
          <p:nvPr/>
        </p:nvSpPr>
        <p:spPr>
          <a:xfrm>
            <a:off x="502920" y="5376672"/>
            <a:ext cx="11183112" cy="59436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76" name="text-1635"/>
          <p:cNvSpPr/>
          <p:nvPr/>
        </p:nvSpPr>
        <p:spPr>
          <a:xfrm>
            <a:off x="731520" y="55138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使用形态：Windows 桌面版  /  PWA 与离线静态版本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636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637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638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当前状态</a:t>
            </a:r>
            <a:endParaRPr lang="en-US" sz="1000" dirty="0"/>
          </a:p>
        </p:txBody>
      </p:sp>
      <p:sp>
        <p:nvSpPr>
          <p:cNvPr id="5" name="panel-1639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640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介绍功能，也说明适用边界</a:t>
            </a:r>
            <a:endParaRPr lang="en-US" sz="2800" dirty="0"/>
          </a:p>
        </p:txBody>
      </p:sp>
      <p:sp>
        <p:nvSpPr>
          <p:cNvPr id="7" name="line-1641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642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643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644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645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646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647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648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649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650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651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652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653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654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655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656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657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658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659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660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661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662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663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664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665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666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667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668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669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670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671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672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673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674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675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676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677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678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679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680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681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682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683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684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685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686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687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688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689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690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691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692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693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694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695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696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697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698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699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700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701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702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703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704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705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706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707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708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709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710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711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712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713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714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715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716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717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718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719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720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721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722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723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724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725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726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727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728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729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730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731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732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733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734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735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736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737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738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739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740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741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742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743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744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745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746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747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748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749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750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751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752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753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754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755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756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757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758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759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760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761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762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763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764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765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766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767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768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769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770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771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772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773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774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775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776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777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778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779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780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781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782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783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784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785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78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787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788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155" name="panel-1789"/>
          <p:cNvSpPr/>
          <p:nvPr/>
        </p:nvSpPr>
        <p:spPr>
          <a:xfrm>
            <a:off x="502920" y="1920240"/>
            <a:ext cx="3547872" cy="347472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1790"/>
          <p:cNvSpPr/>
          <p:nvPr/>
        </p:nvSpPr>
        <p:spPr>
          <a:xfrm>
            <a:off x="502920" y="1920240"/>
            <a:ext cx="41148" cy="347472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1791"/>
          <p:cNvSpPr/>
          <p:nvPr/>
        </p:nvSpPr>
        <p:spPr>
          <a:xfrm>
            <a:off x="704088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可用于学习</a:t>
            </a:r>
            <a:endParaRPr lang="en-US" sz="1200" dirty="0"/>
          </a:p>
        </p:txBody>
      </p:sp>
      <p:sp>
        <p:nvSpPr>
          <p:cNvPr id="158" name="line-1792"/>
          <p:cNvSpPr/>
          <p:nvPr/>
        </p:nvSpPr>
        <p:spPr>
          <a:xfrm>
            <a:off x="704088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1793"/>
          <p:cNvSpPr/>
          <p:nvPr/>
        </p:nvSpPr>
        <p:spPr>
          <a:xfrm>
            <a:off x="704088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已经有的能力</a:t>
            </a:r>
            <a:endParaRPr lang="en-US" sz="2200" dirty="0"/>
          </a:p>
        </p:txBody>
      </p:sp>
      <p:sp>
        <p:nvSpPr>
          <p:cNvPr id="160" name="text-1794"/>
          <p:cNvSpPr/>
          <p:nvPr/>
        </p:nvSpPr>
        <p:spPr>
          <a:xfrm>
            <a:off x="704088" y="3355848"/>
            <a:ext cx="3145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二维梁 / 刚架与内力图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空间桁架 / 刚架与杆端力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公式库、字母计算与推导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Windows / PWA 离线使用</a:t>
            </a:r>
            <a:endParaRPr lang="en-US" sz="1600" dirty="0"/>
          </a:p>
        </p:txBody>
      </p:sp>
      <p:sp>
        <p:nvSpPr>
          <p:cNvPr id="161" name="panel-1795"/>
          <p:cNvSpPr/>
          <p:nvPr/>
        </p:nvSpPr>
        <p:spPr>
          <a:xfrm>
            <a:off x="4325112" y="1920240"/>
            <a:ext cx="3547872" cy="347472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2" name="panel-1796"/>
          <p:cNvSpPr/>
          <p:nvPr/>
        </p:nvSpPr>
        <p:spPr>
          <a:xfrm>
            <a:off x="4325112" y="1920240"/>
            <a:ext cx="41148" cy="347472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3" name="text-1797"/>
          <p:cNvSpPr/>
          <p:nvPr/>
        </p:nvSpPr>
        <p:spPr>
          <a:xfrm>
            <a:off x="4526280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仍在探索</a:t>
            </a:r>
            <a:endParaRPr lang="en-US" sz="1200" dirty="0"/>
          </a:p>
        </p:txBody>
      </p:sp>
      <p:sp>
        <p:nvSpPr>
          <p:cNvPr id="164" name="line-1798"/>
          <p:cNvSpPr/>
          <p:nvPr/>
        </p:nvSpPr>
        <p:spPr>
          <a:xfrm>
            <a:off x="4526280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5" name="text-1799"/>
          <p:cNvSpPr/>
          <p:nvPr/>
        </p:nvSpPr>
        <p:spPr>
          <a:xfrm>
            <a:off x="4526280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实验与未接入</a:t>
            </a:r>
            <a:endParaRPr lang="en-US" sz="2200" dirty="0"/>
          </a:p>
        </p:txBody>
      </p:sp>
      <p:sp>
        <p:nvSpPr>
          <p:cNvPr id="166" name="text-1800"/>
          <p:cNvSpPr/>
          <p:nvPr/>
        </p:nvSpPr>
        <p:spPr>
          <a:xfrm>
            <a:off x="4526280" y="3355848"/>
            <a:ext cx="3145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Tet4 为实验模块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WebGPU 仅设备检测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实体连续应力云图未接入</a:t>
            </a:r>
            <a:endParaRPr lang="en-US" sz="1600" dirty="0"/>
          </a:p>
        </p:txBody>
      </p:sp>
      <p:sp>
        <p:nvSpPr>
          <p:cNvPr id="167" name="panel-1801"/>
          <p:cNvSpPr/>
          <p:nvPr/>
        </p:nvSpPr>
        <p:spPr>
          <a:xfrm>
            <a:off x="8147304" y="1920240"/>
            <a:ext cx="3547872" cy="347472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68" name="panel-1802"/>
          <p:cNvSpPr/>
          <p:nvPr/>
        </p:nvSpPr>
        <p:spPr>
          <a:xfrm>
            <a:off x="8147304" y="1920240"/>
            <a:ext cx="41148" cy="347472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69" name="text-1803"/>
          <p:cNvSpPr/>
          <p:nvPr/>
        </p:nvSpPr>
        <p:spPr>
          <a:xfrm>
            <a:off x="8348472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使用原则</a:t>
            </a:r>
            <a:endParaRPr lang="en-US" sz="1200" dirty="0"/>
          </a:p>
        </p:txBody>
      </p:sp>
      <p:sp>
        <p:nvSpPr>
          <p:cNvPr id="170" name="line-1804"/>
          <p:cNvSpPr/>
          <p:nvPr/>
        </p:nvSpPr>
        <p:spPr>
          <a:xfrm>
            <a:off x="8348472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1" name="text-1805"/>
          <p:cNvSpPr/>
          <p:nvPr/>
        </p:nvSpPr>
        <p:spPr>
          <a:xfrm>
            <a:off x="8348472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独立检查模型</a:t>
            </a:r>
            <a:endParaRPr lang="en-US" sz="2200" dirty="0"/>
          </a:p>
        </p:txBody>
      </p:sp>
      <p:sp>
        <p:nvSpPr>
          <p:cNvPr id="172" name="text-1806"/>
          <p:cNvSpPr/>
          <p:nvPr/>
        </p:nvSpPr>
        <p:spPr>
          <a:xfrm>
            <a:off x="8348472" y="3355848"/>
            <a:ext cx="3145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先确认单位、方向与约束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用平衡关系和解析解校核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仅用于学习、教学与训练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不用于工程鉴定或商业用途</a:t>
            </a:r>
            <a:endParaRPr lang="en-US" sz="1600" dirty="0"/>
          </a:p>
        </p:txBody>
      </p:sp>
      <p:sp>
        <p:nvSpPr>
          <p:cNvPr id="173" name="text-1807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正式工程设计仍需经过相应验证与专业流程。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808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809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810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实机 · 一起改进</a:t>
            </a:r>
            <a:endParaRPr lang="en-US" sz="1000" dirty="0"/>
          </a:p>
        </p:txBody>
      </p:sp>
      <p:sp>
        <p:nvSpPr>
          <p:cNvPr id="5" name="panel-1811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812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从默认案例开始，带着一个问题体验</a:t>
            </a:r>
            <a:endParaRPr lang="en-US" sz="2800" dirty="0"/>
          </a:p>
        </p:txBody>
      </p:sp>
      <p:sp>
        <p:nvSpPr>
          <p:cNvPr id="7" name="line-1813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814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815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816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817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818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819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820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821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822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823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824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825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826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827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828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829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830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831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832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833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834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835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836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837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838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839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840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841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842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843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844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845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846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847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848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849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850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851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852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853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854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855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856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857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858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859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860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861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862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863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864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865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866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867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868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869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870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871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872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873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874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875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876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877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878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879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880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881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882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883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884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885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886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887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888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889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890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891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892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893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894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895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896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897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898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899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900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901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902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903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904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905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906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907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908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909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910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911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912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913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914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915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916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917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918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919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920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921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922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923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924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925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926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927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928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929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930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931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932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933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934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935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936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937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938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939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940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941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942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943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944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945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946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947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948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949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950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951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952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953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954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955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956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957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958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959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96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155" name="panel-1961"/>
          <p:cNvSpPr/>
          <p:nvPr/>
        </p:nvSpPr>
        <p:spPr>
          <a:xfrm>
            <a:off x="562356" y="1851660"/>
            <a:ext cx="7242048" cy="4105656"/>
          </a:xfrm>
          <a:prstGeom prst="rect">
            <a:avLst/>
          </a:prstGeom>
          <a:solidFill>
            <a:srgbClr val="BCCBD4"/>
          </a:solidFill>
          <a:ln w="12700">
            <a:solidFill>
              <a:srgbClr val="BCCBD4"/>
            </a:solidFill>
            <a:prstDash val="solid"/>
          </a:ln>
        </p:spPr>
      </p:sp>
      <p:pic>
        <p:nvPicPr>
          <p:cNvPr id="156" name="live-02-guide.jpg" descr="本地程序运行截图：使用指导与默认案例弹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83664"/>
            <a:ext cx="7178040" cy="4041648"/>
          </a:xfrm>
          <a:prstGeom prst="rect">
            <a:avLst/>
          </a:prstGeom>
        </p:spPr>
      </p:pic>
      <p:sp>
        <p:nvSpPr>
          <p:cNvPr id="157" name="panel-1962"/>
          <p:cNvSpPr/>
          <p:nvPr/>
        </p:nvSpPr>
        <p:spPr>
          <a:xfrm>
            <a:off x="8110728" y="1883664"/>
            <a:ext cx="3520440" cy="310896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158" name="text-1963"/>
          <p:cNvSpPr/>
          <p:nvPr/>
        </p:nvSpPr>
        <p:spPr>
          <a:xfrm>
            <a:off x="8220456" y="19476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E9E4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START / FEEDBACK</a:t>
            </a:r>
            <a:endParaRPr lang="en-US" sz="1000" dirty="0"/>
          </a:p>
        </p:txBody>
      </p:sp>
      <p:sp>
        <p:nvSpPr>
          <p:cNvPr id="159" name="text-1964"/>
          <p:cNvSpPr/>
          <p:nvPr/>
        </p:nvSpPr>
        <p:spPr>
          <a:xfrm>
            <a:off x="8110728" y="23865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推荐上手顺序</a:t>
            </a:r>
            <a:endParaRPr lang="en-US" sz="2200" dirty="0"/>
          </a:p>
        </p:txBody>
      </p:sp>
      <p:sp>
        <p:nvSpPr>
          <p:cNvPr id="160" name="text-1965"/>
          <p:cNvSpPr/>
          <p:nvPr/>
        </p:nvSpPr>
        <p:spPr>
          <a:xfrm>
            <a:off x="8110728" y="301752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帮助 → 使用指导与默认案例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2D简支梁 / 3D空间刚架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确认条件 → 求解 → 校核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反馈附上：模型、单位、截图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说清哪一步不直观或不一致</a:t>
            </a:r>
            <a:endParaRPr lang="en-US" sz="1700" dirty="0"/>
          </a:p>
        </p:txBody>
      </p:sp>
      <p:sp>
        <p:nvSpPr>
          <p:cNvPr id="161" name="text-1966"/>
          <p:cNvSpPr/>
          <p:nvPr/>
        </p:nvSpPr>
        <p:spPr>
          <a:xfrm>
            <a:off x="640080" y="60624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先预测，再操作，最后解释你看到的变化。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967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968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969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拓展讨论 · 解析实验</a:t>
            </a:r>
            <a:endParaRPr lang="en-US" sz="1000" dirty="0"/>
          </a:p>
        </p:txBody>
      </p:sp>
      <p:sp>
        <p:nvSpPr>
          <p:cNvPr id="5" name="panel-1970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971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只改一个参数，观察结构响应如何变化</a:t>
            </a:r>
            <a:endParaRPr lang="en-US" sz="2800" dirty="0"/>
          </a:p>
        </p:txBody>
      </p:sp>
      <p:sp>
        <p:nvSpPr>
          <p:cNvPr id="7" name="line-1972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973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974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975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976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977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978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979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980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981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982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983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984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985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986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987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988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989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990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991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992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993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994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995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996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997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998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999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2000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2001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2002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2003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2004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2005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2006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2007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2008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2009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2010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2011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2012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2013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2014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2015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2016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2017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2018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2019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2020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2021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2022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2023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2024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2025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2026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2027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2028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2029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2030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2031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2032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2033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2034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2035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2036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2037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2038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2039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2040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2041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2042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2043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2044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2045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2046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2047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2048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2049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2050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2051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2052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053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054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055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056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057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058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059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060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061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062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063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064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065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066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067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068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069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070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071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072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073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074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075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076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077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078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079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080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081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082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083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084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085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086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087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088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089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090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091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092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093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094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095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096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097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098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099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100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101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102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103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104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105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106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107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108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109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110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111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112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2113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2114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2115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2116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211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211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211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155" name="text-2120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实验 A / 改变集中力位置</a:t>
            </a:r>
            <a:endParaRPr lang="en-US" sz="2100" dirty="0"/>
          </a:p>
        </p:txBody>
      </p:sp>
      <p:sp>
        <p:nvSpPr>
          <p:cNvPr id="156" name="text-2121"/>
          <p:cNvSpPr/>
          <p:nvPr/>
        </p:nvSpPr>
        <p:spPr>
          <a:xfrm>
            <a:off x="685800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= 1 m</a:t>
            </a:r>
            <a:endParaRPr lang="en-US" sz="1600" dirty="0"/>
          </a:p>
        </p:txBody>
      </p:sp>
      <p:sp>
        <p:nvSpPr>
          <p:cNvPr id="157" name="panel-2122"/>
          <p:cNvSpPr/>
          <p:nvPr/>
        </p:nvSpPr>
        <p:spPr>
          <a:xfrm>
            <a:off x="2148840" y="2423160"/>
            <a:ext cx="3291840" cy="210312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58" name="panel-2123"/>
          <p:cNvSpPr/>
          <p:nvPr/>
        </p:nvSpPr>
        <p:spPr>
          <a:xfrm>
            <a:off x="2148840" y="2697480"/>
            <a:ext cx="658368" cy="210312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159" name="text-2124"/>
          <p:cNvSpPr/>
          <p:nvPr/>
        </p:nvSpPr>
        <p:spPr>
          <a:xfrm>
            <a:off x="5596128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15 / B 3 kN</a:t>
            </a:r>
            <a:endParaRPr lang="en-US" sz="1600" dirty="0"/>
          </a:p>
        </p:txBody>
      </p:sp>
      <p:sp>
        <p:nvSpPr>
          <p:cNvPr id="160" name="text-2125"/>
          <p:cNvSpPr/>
          <p:nvPr/>
        </p:nvSpPr>
        <p:spPr>
          <a:xfrm>
            <a:off x="685800" y="3364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= 2 m</a:t>
            </a:r>
            <a:endParaRPr lang="en-US" sz="1600" dirty="0"/>
          </a:p>
        </p:txBody>
      </p:sp>
      <p:sp>
        <p:nvSpPr>
          <p:cNvPr id="161" name="panel-2126"/>
          <p:cNvSpPr/>
          <p:nvPr/>
        </p:nvSpPr>
        <p:spPr>
          <a:xfrm>
            <a:off x="2148840" y="3364992"/>
            <a:ext cx="2633472" cy="210312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2" name="panel-2127"/>
          <p:cNvSpPr/>
          <p:nvPr/>
        </p:nvSpPr>
        <p:spPr>
          <a:xfrm>
            <a:off x="2148840" y="3639312"/>
            <a:ext cx="1316736" cy="210312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163" name="text-2128"/>
          <p:cNvSpPr/>
          <p:nvPr/>
        </p:nvSpPr>
        <p:spPr>
          <a:xfrm>
            <a:off x="5596128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12 / B 6 kN</a:t>
            </a:r>
            <a:endParaRPr lang="en-US" sz="1600" dirty="0"/>
          </a:p>
        </p:txBody>
      </p:sp>
      <p:sp>
        <p:nvSpPr>
          <p:cNvPr id="164" name="text-2129"/>
          <p:cNvSpPr/>
          <p:nvPr/>
        </p:nvSpPr>
        <p:spPr>
          <a:xfrm>
            <a:off x="685800" y="43068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= 3 m</a:t>
            </a:r>
            <a:endParaRPr lang="en-US" sz="1600" dirty="0"/>
          </a:p>
        </p:txBody>
      </p:sp>
      <p:sp>
        <p:nvSpPr>
          <p:cNvPr id="165" name="panel-2130"/>
          <p:cNvSpPr/>
          <p:nvPr/>
        </p:nvSpPr>
        <p:spPr>
          <a:xfrm>
            <a:off x="2148840" y="4306824"/>
            <a:ext cx="1975104" cy="210312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6" name="panel-2131"/>
          <p:cNvSpPr/>
          <p:nvPr/>
        </p:nvSpPr>
        <p:spPr>
          <a:xfrm>
            <a:off x="2148840" y="4581144"/>
            <a:ext cx="1975104" cy="210312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167" name="text-2132"/>
          <p:cNvSpPr/>
          <p:nvPr/>
        </p:nvSpPr>
        <p:spPr>
          <a:xfrm>
            <a:off x="5596128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9 / B 9 kN</a:t>
            </a:r>
            <a:endParaRPr lang="en-US" sz="1600" dirty="0"/>
          </a:p>
        </p:txBody>
      </p:sp>
      <p:sp>
        <p:nvSpPr>
          <p:cNvPr id="168" name="text-2133"/>
          <p:cNvSpPr/>
          <p:nvPr/>
        </p:nvSpPr>
        <p:spPr>
          <a:xfrm>
            <a:off x="214884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A 支反力</a:t>
            </a:r>
            <a:endParaRPr lang="en-US" sz="1400" dirty="0"/>
          </a:p>
        </p:txBody>
      </p:sp>
      <p:sp>
        <p:nvSpPr>
          <p:cNvPr id="169" name="text-2134"/>
          <p:cNvSpPr/>
          <p:nvPr/>
        </p:nvSpPr>
        <p:spPr>
          <a:xfrm>
            <a:off x="402336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A3E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B 支反力</a:t>
            </a:r>
            <a:endParaRPr lang="en-US" sz="1400" dirty="0"/>
          </a:p>
        </p:txBody>
      </p:sp>
      <p:sp>
        <p:nvSpPr>
          <p:cNvPr id="170" name="panel-2135"/>
          <p:cNvSpPr/>
          <p:nvPr/>
        </p:nvSpPr>
        <p:spPr>
          <a:xfrm>
            <a:off x="8046720" y="1874520"/>
            <a:ext cx="3657600" cy="40690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71" name="text-2136"/>
          <p:cNvSpPr/>
          <p:nvPr/>
        </p:nvSpPr>
        <p:spPr>
          <a:xfrm>
            <a:off x="8275320" y="2130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同一个模型，两种观察</a:t>
            </a:r>
            <a:endParaRPr lang="en-US" sz="2200" dirty="0"/>
          </a:p>
        </p:txBody>
      </p:sp>
      <p:sp>
        <p:nvSpPr>
          <p:cNvPr id="172" name="text-2137"/>
          <p:cNvSpPr/>
          <p:nvPr/>
        </p:nvSpPr>
        <p:spPr>
          <a:xfrm>
            <a:off x="8275320" y="283464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位置 a：1 → 2 → 3 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弯矩峰值：15 → 24 → 27 kN·m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实验 B / 保持位置不变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将集中力从18增至36 kN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在线弹性假设下响应成比例</a:t>
            </a:r>
            <a:endParaRPr lang="en-US" sz="1700" dirty="0"/>
          </a:p>
        </p:txBody>
      </p:sp>
      <p:sp>
        <p:nvSpPr>
          <p:cNvPr id="173" name="text-2138"/>
          <p:cNvSpPr/>
          <p:nvPr/>
        </p:nvSpPr>
        <p:spPr>
          <a:xfrm>
            <a:off x="640080" y="607161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以上为6m简支梁解析预测，未代替软件实际验证。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2139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2140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2141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附录 · 快速查找</a:t>
            </a:r>
            <a:endParaRPr lang="en-US" sz="1000" dirty="0"/>
          </a:p>
        </p:txBody>
      </p:sp>
      <p:sp>
        <p:nvSpPr>
          <p:cNvPr id="5" name="panel-2142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2143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功能地图：按学习目标选择入口</a:t>
            </a:r>
            <a:endParaRPr lang="en-US" sz="2800" dirty="0"/>
          </a:p>
        </p:txBody>
      </p:sp>
      <p:sp>
        <p:nvSpPr>
          <p:cNvPr id="7" name="line-2144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2145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2146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2147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2148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2149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2150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2151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2152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2153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2154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2155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2156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2157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2158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2159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2160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2161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2162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2163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2164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2165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2166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2167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2168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2169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2170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2171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2172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2173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2174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2175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2176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2177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2178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2179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2180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2181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2182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2183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2184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2185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2186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2187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2188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2189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2190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2191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2192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2193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2194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2195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2196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2197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2198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2199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2200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2201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2202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2203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2204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2205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2206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2207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2208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2209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2210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2211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2212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2213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2214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2215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2216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2217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2218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2219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2220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2221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2222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2223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2224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225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226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227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228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229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230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231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232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233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234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235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236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237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238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239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240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241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242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243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244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245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246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247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248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249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250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251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252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253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254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255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256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257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258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259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260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261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262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263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264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265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266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267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268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269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270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271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272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273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274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275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276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277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278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279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280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281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282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283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284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2285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2286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2287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2288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2289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2290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2291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8" name="capability-m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109960" cy="3383280"/>
        </p:xfrm>
        <a:graphic>
          <a:graphicData uri="http://schemas.openxmlformats.org/drawingml/2006/table">
            <a:tbl>
              <a:tblPr/>
              <a:tblGrid>
                <a:gridCol w="2103120"/>
                <a:gridCol w="2788920"/>
                <a:gridCol w="3246120"/>
                <a:gridCol w="2971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学习目标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软件入口 / 能力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重点观察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先检查什么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理解受力与内力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二维梁 / 刚架分析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反力、N / V / M、变形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单位、约束、构件连接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回顾材料力学公式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公式库 / 字母计算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应力、挠度、扭转角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参数含义与模型假设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分析多种作用组合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组合变形计算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正应力、剪应力与安全系数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强度准则与材料参数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认识空间结构响应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空间桁架 / 刚架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位移、反力、轴力 / 杆端力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分析维度与局部坐标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理解解题过程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教学助手 / 典型题模板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分步推导与危险位置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Times New Roman" pitchFamily="34" charset="-120"/>
                        </a:rPr>
                        <a:t>推导适用范围和符号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Times New Roman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56" name="panel-2292"/>
          <p:cNvSpPr/>
          <p:nvPr/>
        </p:nvSpPr>
        <p:spPr>
          <a:xfrm>
            <a:off x="548640" y="5559552"/>
            <a:ext cx="11109960" cy="502920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157" name="text-2293"/>
          <p:cNvSpPr/>
          <p:nvPr/>
        </p:nvSpPr>
        <p:spPr>
          <a:xfrm>
            <a:off x="777240" y="56875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EAE2"/>
                </a:solidFill>
                <a:latin typeface="Times New Roman" pitchFamily="34" charset="0"/>
                <a:ea typeface="Microsoft YaHei" pitchFamily="34" charset="-122"/>
                <a:cs typeface="Times New Roman" pitchFamily="34" charset="-120"/>
              </a:rPr>
              <a:t>推荐学习路径：熟悉的题 → 预测 → 建模 → 求解 → 校核 → 改一个参数再观察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拉压弯扭大师｜同学分享</dc:title>
  <dc:subject>材料力学软件分享</dc:subject>
  <dc:creator>拉压弯扭大师</dc:creator>
  <cp:lastModifiedBy>拉压弯扭大师</cp:lastModifiedBy>
  <cp:revision>1</cp:revision>
  <dcterms:created xsi:type="dcterms:W3CDTF">2026-10-10T14:46:08Z</dcterms:created>
  <dcterms:modified xsi:type="dcterms:W3CDTF">2026-10-10T14:46:08Z</dcterms:modified>
</cp:coreProperties>
</file>
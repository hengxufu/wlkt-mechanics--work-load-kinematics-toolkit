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【25秒】今天分享我做的拉压弯扭大师。我们不先讲一串功能，而是从课堂里熟悉的一根梁开始，看看软件怎样帮助理解受力、内力和变形。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【45秒】请同学想一想：一道题得到答案后，能不能说清内力图形状？这里不是替大家定义共同痛点，而是用三个问题引出软件希望帮助的学习过程。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【45秒】软件把四类材料力学问题放在一起。建模是输入，内力和变形是观察对象，公式和推导帮助理解。不同分析模块的覆盖范围有所区别，不把它们说成所有工况都自动贯通。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【50秒】这一页是可编辑的界面区域示意，不是实际截图。现场切到软件后，依次指出左侧模型树、中间视图区、右侧属性面板。选择对象后修改属性，再回到视图区确认。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【45秒】这是真实仓库文档图，展示均布荷载下的简支梁与变形曲线。它是历史界面示例，不代表当前界面外观，也不是后面18千牛集中力算例的运行结果。用它说明把受力和变形放在一起观察的价值。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75秒】现场打开默认教学案例或建立6米简支梁，检查支座自由度和18千牛集中力方向。若采用跨中节点分成两段，确认构件连接和截面一致。先让同学预测，再求解。材料和截面影响变形，但这个静定结构的反力和弯矩可先由平衡求出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65秒】对称性与竖向平衡给出两端各9千牛。跨中弯矩等于9乘3，即27千牛米。请对照实际软件结果，检查单位、正负号和最大值位置。图只表达幅值，不能据此强行认定软件的正弯矩绘图方向。本次制稿没有完成该算例的端到端运行验收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【50秒】公式库和分步推导适合复习计算依据。不是只复制最终答案：先说清模型假设、材料参数和截面参数，再看推导。现场可选一个简单轴向问题演示，避免临时切换到没有准备的复杂工况。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50秒】空间分析适合展示三维杆系，示意图不是软件截图。强调视图模式和分析维度是两件事：旋转到三维视图不意味着二维模型自动获得三维自由度。当前空间刚架主要支持节点荷载和杆端结果，不夸大为完整实体分析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秒】技术上只介绍同学有感知的部分：模型输入后在本机求解，再展示结果。Worker帮助把部分计算放到后台。桌面版、PWA和离线静态分发是项目支持的使用形态，具体安装文件以实际提供的版本为准。不要宣称未经测试的性能提升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【55秒】这里主动讲清边界。实验模块不等于已经可用于成熟实体分析；检测到GPU不等于存在GPU求解内核。软件服务学习与教学，不能把课堂演示结果当作工程认证。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【50秒】演示时请同学只改变一个条件，比如集中力位置，先预测反力比例和弯矩峰值变化，再求解。邀请同学反馈不清楚的操作或手算不一致的案例，最好附模型、单位和截图。最后留出提问时间。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选讲60秒】解析实验：集中力距左支座a，左反力为P乘(L-a)除以L，右反力为Pa除以L，荷载处峰值为Pa(L-a)/L。用18千牛和6米代入三组数据。柱条是可编辑形状，只表达反力，非实测。在线弹性、模型不变的条件下，荷载加倍后位移与内力成比例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【备查】这页功能地图用于回答同学的提问，按学习目标推荐入口。组合计算需满足材料模型与公式假设；空间桁架和空间刚架的结果覆盖不同，不把所有结果混为一谈。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Microsoft YaHei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/>
          <a:ea typeface="Microsoft YaHei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/>
          <a:ea typeface="Microsoft YaHei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/>
          <a:ea typeface="Microsoft YaHei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/>
          <a:ea typeface="Microsoft YaHei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/>
          <a:ea typeface="Microsoft YaHei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6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3" name="panel-2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C3448"/>
          </a:solidFill>
          <a:ln w="12700">
            <a:solidFill>
              <a:srgbClr val="1C3448"/>
            </a:solidFill>
            <a:prstDash val="solid"/>
          </a:ln>
        </p:spPr>
      </p:sp>
      <p:sp>
        <p:nvSpPr>
          <p:cNvPr id="4" name="line-3"/>
          <p:cNvSpPr/>
          <p:nvPr/>
        </p:nvSpPr>
        <p:spPr>
          <a:xfrm>
            <a:off x="8001000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5" name="line-4"/>
          <p:cNvSpPr/>
          <p:nvPr/>
        </p:nvSpPr>
        <p:spPr>
          <a:xfrm>
            <a:off x="8257032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6" name="line-5"/>
          <p:cNvSpPr/>
          <p:nvPr/>
        </p:nvSpPr>
        <p:spPr>
          <a:xfrm>
            <a:off x="8513064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7" name="line-6"/>
          <p:cNvSpPr/>
          <p:nvPr/>
        </p:nvSpPr>
        <p:spPr>
          <a:xfrm>
            <a:off x="8769096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8" name="line-7"/>
          <p:cNvSpPr/>
          <p:nvPr/>
        </p:nvSpPr>
        <p:spPr>
          <a:xfrm>
            <a:off x="9025128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9" name="line-8"/>
          <p:cNvSpPr/>
          <p:nvPr/>
        </p:nvSpPr>
        <p:spPr>
          <a:xfrm>
            <a:off x="9281160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0" name="line-9"/>
          <p:cNvSpPr/>
          <p:nvPr/>
        </p:nvSpPr>
        <p:spPr>
          <a:xfrm>
            <a:off x="9537192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1" name="line-10"/>
          <p:cNvSpPr/>
          <p:nvPr/>
        </p:nvSpPr>
        <p:spPr>
          <a:xfrm>
            <a:off x="9793224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2" name="line-11"/>
          <p:cNvSpPr/>
          <p:nvPr/>
        </p:nvSpPr>
        <p:spPr>
          <a:xfrm>
            <a:off x="10049256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3" name="line-12"/>
          <p:cNvSpPr/>
          <p:nvPr/>
        </p:nvSpPr>
        <p:spPr>
          <a:xfrm>
            <a:off x="10305288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4" name="line-13"/>
          <p:cNvSpPr/>
          <p:nvPr/>
        </p:nvSpPr>
        <p:spPr>
          <a:xfrm>
            <a:off x="10561320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5" name="line-14"/>
          <p:cNvSpPr/>
          <p:nvPr/>
        </p:nvSpPr>
        <p:spPr>
          <a:xfrm>
            <a:off x="10817352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6" name="line-15"/>
          <p:cNvSpPr/>
          <p:nvPr/>
        </p:nvSpPr>
        <p:spPr>
          <a:xfrm>
            <a:off x="11073384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7" name="line-16"/>
          <p:cNvSpPr/>
          <p:nvPr/>
        </p:nvSpPr>
        <p:spPr>
          <a:xfrm>
            <a:off x="11329416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8" name="line-17"/>
          <p:cNvSpPr/>
          <p:nvPr/>
        </p:nvSpPr>
        <p:spPr>
          <a:xfrm>
            <a:off x="11585448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19" name="line-18"/>
          <p:cNvSpPr/>
          <p:nvPr/>
        </p:nvSpPr>
        <p:spPr>
          <a:xfrm>
            <a:off x="11841480" y="640080"/>
            <a:ext cx="0" cy="548640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0" name="line-19"/>
          <p:cNvSpPr/>
          <p:nvPr/>
        </p:nvSpPr>
        <p:spPr>
          <a:xfrm>
            <a:off x="7955280" y="64008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1" name="line-20"/>
          <p:cNvSpPr/>
          <p:nvPr/>
        </p:nvSpPr>
        <p:spPr>
          <a:xfrm>
            <a:off x="7955280" y="91440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2" name="line-21"/>
          <p:cNvSpPr/>
          <p:nvPr/>
        </p:nvSpPr>
        <p:spPr>
          <a:xfrm>
            <a:off x="7955280" y="118872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3" name="line-22"/>
          <p:cNvSpPr/>
          <p:nvPr/>
        </p:nvSpPr>
        <p:spPr>
          <a:xfrm>
            <a:off x="7955280" y="146304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4" name="line-23"/>
          <p:cNvSpPr/>
          <p:nvPr/>
        </p:nvSpPr>
        <p:spPr>
          <a:xfrm>
            <a:off x="7955280" y="173736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5" name="line-24"/>
          <p:cNvSpPr/>
          <p:nvPr/>
        </p:nvSpPr>
        <p:spPr>
          <a:xfrm>
            <a:off x="7955280" y="201168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6" name="line-25"/>
          <p:cNvSpPr/>
          <p:nvPr/>
        </p:nvSpPr>
        <p:spPr>
          <a:xfrm>
            <a:off x="7955280" y="228600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7" name="line-26"/>
          <p:cNvSpPr/>
          <p:nvPr/>
        </p:nvSpPr>
        <p:spPr>
          <a:xfrm>
            <a:off x="7955280" y="256032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8" name="line-27"/>
          <p:cNvSpPr/>
          <p:nvPr/>
        </p:nvSpPr>
        <p:spPr>
          <a:xfrm>
            <a:off x="7955280" y="283464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29" name="line-28"/>
          <p:cNvSpPr/>
          <p:nvPr/>
        </p:nvSpPr>
        <p:spPr>
          <a:xfrm>
            <a:off x="7955280" y="310896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0" name="line-29"/>
          <p:cNvSpPr/>
          <p:nvPr/>
        </p:nvSpPr>
        <p:spPr>
          <a:xfrm>
            <a:off x="7955280" y="338328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1" name="line-30"/>
          <p:cNvSpPr/>
          <p:nvPr/>
        </p:nvSpPr>
        <p:spPr>
          <a:xfrm>
            <a:off x="7955280" y="365760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2" name="line-31"/>
          <p:cNvSpPr/>
          <p:nvPr/>
        </p:nvSpPr>
        <p:spPr>
          <a:xfrm>
            <a:off x="7955280" y="393192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3" name="line-32"/>
          <p:cNvSpPr/>
          <p:nvPr/>
        </p:nvSpPr>
        <p:spPr>
          <a:xfrm>
            <a:off x="7955280" y="420624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4" name="line-33"/>
          <p:cNvSpPr/>
          <p:nvPr/>
        </p:nvSpPr>
        <p:spPr>
          <a:xfrm>
            <a:off x="7955280" y="448056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5" name="line-34"/>
          <p:cNvSpPr/>
          <p:nvPr/>
        </p:nvSpPr>
        <p:spPr>
          <a:xfrm>
            <a:off x="7955280" y="475488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6" name="line-35"/>
          <p:cNvSpPr/>
          <p:nvPr/>
        </p:nvSpPr>
        <p:spPr>
          <a:xfrm>
            <a:off x="7955280" y="502920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7" name="line-36"/>
          <p:cNvSpPr/>
          <p:nvPr/>
        </p:nvSpPr>
        <p:spPr>
          <a:xfrm>
            <a:off x="7955280" y="530352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8" name="line-37"/>
          <p:cNvSpPr/>
          <p:nvPr/>
        </p:nvSpPr>
        <p:spPr>
          <a:xfrm>
            <a:off x="7955280" y="557784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39" name="line-38"/>
          <p:cNvSpPr/>
          <p:nvPr/>
        </p:nvSpPr>
        <p:spPr>
          <a:xfrm>
            <a:off x="7955280" y="5852160"/>
            <a:ext cx="3931920" cy="0"/>
          </a:xfrm>
          <a:prstGeom prst="line">
            <a:avLst/>
          </a:prstGeom>
          <a:noFill/>
          <a:ln w="6350">
            <a:solidFill>
              <a:srgbClr val="2B465B"/>
            </a:solidFill>
            <a:prstDash val="solid"/>
          </a:ln>
        </p:spPr>
      </p:sp>
      <p:sp>
        <p:nvSpPr>
          <p:cNvPr id="40" name="cover-orbit-0"/>
          <p:cNvSpPr/>
          <p:nvPr/>
        </p:nvSpPr>
        <p:spPr>
          <a:xfrm rot="1680000">
            <a:off x="8321040" y="1947672"/>
            <a:ext cx="2999232" cy="2999232"/>
          </a:xfrm>
          <a:prstGeom prst="ellipse">
            <a:avLst/>
          </a:prstGeom>
          <a:solidFill>
            <a:srgbClr val="1C3448">
              <a:alpha val="0"/>
            </a:srgbClr>
          </a:solidFill>
          <a:ln w="8890">
            <a:solidFill>
              <a:srgbClr val="48728A"/>
            </a:solidFill>
            <a:prstDash val="solid"/>
          </a:ln>
        </p:spPr>
      </p:sp>
      <p:sp>
        <p:nvSpPr>
          <p:cNvPr id="41" name="cover-orbit-1"/>
          <p:cNvSpPr/>
          <p:nvPr/>
        </p:nvSpPr>
        <p:spPr>
          <a:xfrm rot="1680000">
            <a:off x="8503920" y="2112264"/>
            <a:ext cx="2633472" cy="2670048"/>
          </a:xfrm>
          <a:prstGeom prst="ellipse">
            <a:avLst/>
          </a:prstGeom>
          <a:solidFill>
            <a:srgbClr val="1C3448">
              <a:alpha val="0"/>
            </a:srgbClr>
          </a:solidFill>
          <a:ln w="8890">
            <a:solidFill>
              <a:srgbClr val="6F9D97"/>
            </a:solidFill>
            <a:prstDash val="solid"/>
          </a:ln>
        </p:spPr>
      </p:sp>
      <p:sp>
        <p:nvSpPr>
          <p:cNvPr id="42" name="cover-orbit-2"/>
          <p:cNvSpPr/>
          <p:nvPr/>
        </p:nvSpPr>
        <p:spPr>
          <a:xfrm rot="1680000">
            <a:off x="8686800" y="2276856"/>
            <a:ext cx="2267712" cy="2340864"/>
          </a:xfrm>
          <a:prstGeom prst="ellipse">
            <a:avLst/>
          </a:prstGeom>
          <a:solidFill>
            <a:srgbClr val="1C3448">
              <a:alpha val="0"/>
            </a:srgbClr>
          </a:solidFill>
          <a:ln w="8890">
            <a:solidFill>
              <a:srgbClr val="48728A"/>
            </a:solidFill>
            <a:prstDash val="solid"/>
          </a:ln>
        </p:spPr>
      </p:sp>
      <p:sp>
        <p:nvSpPr>
          <p:cNvPr id="43" name="cover-orbit-3"/>
          <p:cNvSpPr/>
          <p:nvPr/>
        </p:nvSpPr>
        <p:spPr>
          <a:xfrm rot="1680000">
            <a:off x="8869680" y="2441448"/>
            <a:ext cx="1901952" cy="2011680"/>
          </a:xfrm>
          <a:prstGeom prst="ellipse">
            <a:avLst/>
          </a:prstGeom>
          <a:solidFill>
            <a:srgbClr val="1C3448">
              <a:alpha val="0"/>
            </a:srgbClr>
          </a:solidFill>
          <a:ln w="8890">
            <a:solidFill>
              <a:srgbClr val="6F9D97"/>
            </a:solidFill>
            <a:prstDash val="solid"/>
          </a:ln>
        </p:spPr>
      </p:sp>
      <p:sp>
        <p:nvSpPr>
          <p:cNvPr id="44" name="line-39"/>
          <p:cNvSpPr/>
          <p:nvPr/>
        </p:nvSpPr>
        <p:spPr>
          <a:xfrm>
            <a:off x="8138160" y="3337560"/>
            <a:ext cx="0" cy="0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45" name="line-40"/>
          <p:cNvSpPr/>
          <p:nvPr/>
        </p:nvSpPr>
        <p:spPr>
          <a:xfrm flipV="1">
            <a:off x="8243047" y="3142375"/>
            <a:ext cx="0" cy="390370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46" name="line-41"/>
          <p:cNvSpPr/>
          <p:nvPr/>
        </p:nvSpPr>
        <p:spPr>
          <a:xfrm>
            <a:off x="8138160" y="3337560"/>
            <a:ext cx="104887" cy="195185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47" name="line-42"/>
          <p:cNvSpPr/>
          <p:nvPr/>
        </p:nvSpPr>
        <p:spPr>
          <a:xfrm flipV="1">
            <a:off x="8138160" y="3142375"/>
            <a:ext cx="104887" cy="195185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48" name="line-43"/>
          <p:cNvSpPr/>
          <p:nvPr/>
        </p:nvSpPr>
        <p:spPr>
          <a:xfrm flipV="1">
            <a:off x="8347934" y="2962092"/>
            <a:ext cx="0" cy="750937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49" name="line-44"/>
          <p:cNvSpPr/>
          <p:nvPr/>
        </p:nvSpPr>
        <p:spPr>
          <a:xfrm>
            <a:off x="8243047" y="3532745"/>
            <a:ext cx="104887" cy="180283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50" name="line-45"/>
          <p:cNvSpPr/>
          <p:nvPr/>
        </p:nvSpPr>
        <p:spPr>
          <a:xfrm flipV="1">
            <a:off x="8243047" y="2962092"/>
            <a:ext cx="104887" cy="180283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51" name="line-46"/>
          <p:cNvSpPr/>
          <p:nvPr/>
        </p:nvSpPr>
        <p:spPr>
          <a:xfrm flipV="1">
            <a:off x="8452821" y="2810475"/>
            <a:ext cx="0" cy="1054170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52" name="line-47"/>
          <p:cNvSpPr/>
          <p:nvPr/>
        </p:nvSpPr>
        <p:spPr>
          <a:xfrm>
            <a:off x="8347934" y="3713028"/>
            <a:ext cx="104887" cy="151617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53" name="line-48"/>
          <p:cNvSpPr/>
          <p:nvPr/>
        </p:nvSpPr>
        <p:spPr>
          <a:xfrm flipV="1">
            <a:off x="8347934" y="2810475"/>
            <a:ext cx="104887" cy="151617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54" name="line-49"/>
          <p:cNvSpPr/>
          <p:nvPr/>
        </p:nvSpPr>
        <p:spPr>
          <a:xfrm flipV="1">
            <a:off x="8557708" y="2699101"/>
            <a:ext cx="0" cy="1276918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55" name="line-50"/>
          <p:cNvSpPr/>
          <p:nvPr/>
        </p:nvSpPr>
        <p:spPr>
          <a:xfrm>
            <a:off x="8452821" y="3864645"/>
            <a:ext cx="104887" cy="111374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56" name="line-51"/>
          <p:cNvSpPr/>
          <p:nvPr/>
        </p:nvSpPr>
        <p:spPr>
          <a:xfrm flipV="1">
            <a:off x="8452821" y="2699101"/>
            <a:ext cx="104887" cy="111374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57" name="line-52"/>
          <p:cNvSpPr/>
          <p:nvPr/>
        </p:nvSpPr>
        <p:spPr>
          <a:xfrm flipV="1">
            <a:off x="8662595" y="2636472"/>
            <a:ext cx="0" cy="1402176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58" name="line-53"/>
          <p:cNvSpPr/>
          <p:nvPr/>
        </p:nvSpPr>
        <p:spPr>
          <a:xfrm>
            <a:off x="8557708" y="3976019"/>
            <a:ext cx="104887" cy="62629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59" name="line-54"/>
          <p:cNvSpPr/>
          <p:nvPr/>
        </p:nvSpPr>
        <p:spPr>
          <a:xfrm flipV="1">
            <a:off x="8557708" y="2636472"/>
            <a:ext cx="104887" cy="62629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60" name="line-55"/>
          <p:cNvSpPr/>
          <p:nvPr/>
        </p:nvSpPr>
        <p:spPr>
          <a:xfrm flipV="1">
            <a:off x="8767482" y="2627371"/>
            <a:ext cx="0" cy="1420379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61" name="line-56"/>
          <p:cNvSpPr/>
          <p:nvPr/>
        </p:nvSpPr>
        <p:spPr>
          <a:xfrm>
            <a:off x="8662595" y="4038648"/>
            <a:ext cx="104887" cy="9102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62" name="line-57"/>
          <p:cNvSpPr/>
          <p:nvPr/>
        </p:nvSpPr>
        <p:spPr>
          <a:xfrm flipV="1">
            <a:off x="8662595" y="2627371"/>
            <a:ext cx="104887" cy="9102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63" name="line-58"/>
          <p:cNvSpPr/>
          <p:nvPr/>
        </p:nvSpPr>
        <p:spPr>
          <a:xfrm flipV="1">
            <a:off x="8872369" y="2672491"/>
            <a:ext cx="0" cy="1330138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64" name="line-59"/>
          <p:cNvSpPr/>
          <p:nvPr/>
        </p:nvSpPr>
        <p:spPr>
          <a:xfrm flipV="1">
            <a:off x="8767482" y="4002629"/>
            <a:ext cx="104887" cy="45120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65" name="line-60"/>
          <p:cNvSpPr/>
          <p:nvPr/>
        </p:nvSpPr>
        <p:spPr>
          <a:xfrm>
            <a:off x="8767482" y="2627371"/>
            <a:ext cx="104887" cy="45120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66" name="line-61"/>
          <p:cNvSpPr/>
          <p:nvPr/>
        </p:nvSpPr>
        <p:spPr>
          <a:xfrm flipV="1">
            <a:off x="8977256" y="2768389"/>
            <a:ext cx="0" cy="1138343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67" name="line-62"/>
          <p:cNvSpPr/>
          <p:nvPr/>
        </p:nvSpPr>
        <p:spPr>
          <a:xfrm flipV="1">
            <a:off x="8872369" y="3906731"/>
            <a:ext cx="104887" cy="95898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68" name="line-63"/>
          <p:cNvSpPr/>
          <p:nvPr/>
        </p:nvSpPr>
        <p:spPr>
          <a:xfrm>
            <a:off x="8872369" y="2672491"/>
            <a:ext cx="104887" cy="95898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69" name="line-64"/>
          <p:cNvSpPr/>
          <p:nvPr/>
        </p:nvSpPr>
        <p:spPr>
          <a:xfrm flipV="1">
            <a:off x="9082144" y="2907742"/>
            <a:ext cx="0" cy="859637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70" name="line-65"/>
          <p:cNvSpPr/>
          <p:nvPr/>
        </p:nvSpPr>
        <p:spPr>
          <a:xfrm flipV="1">
            <a:off x="8977256" y="3767378"/>
            <a:ext cx="104887" cy="139353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71" name="line-66"/>
          <p:cNvSpPr/>
          <p:nvPr/>
        </p:nvSpPr>
        <p:spPr>
          <a:xfrm>
            <a:off x="8977256" y="2768389"/>
            <a:ext cx="104887" cy="139353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72" name="line-67"/>
          <p:cNvSpPr/>
          <p:nvPr/>
        </p:nvSpPr>
        <p:spPr>
          <a:xfrm flipV="1">
            <a:off x="9187031" y="3079911"/>
            <a:ext cx="0" cy="515298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73" name="line-68"/>
          <p:cNvSpPr/>
          <p:nvPr/>
        </p:nvSpPr>
        <p:spPr>
          <a:xfrm flipV="1">
            <a:off x="9082144" y="3595209"/>
            <a:ext cx="104887" cy="172169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74" name="line-69"/>
          <p:cNvSpPr/>
          <p:nvPr/>
        </p:nvSpPr>
        <p:spPr>
          <a:xfrm>
            <a:off x="9082144" y="2907742"/>
            <a:ext cx="104887" cy="172169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75" name="line-70"/>
          <p:cNvSpPr/>
          <p:nvPr/>
        </p:nvSpPr>
        <p:spPr>
          <a:xfrm flipV="1">
            <a:off x="9291918" y="3271751"/>
            <a:ext cx="0" cy="131617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76" name="line-71"/>
          <p:cNvSpPr/>
          <p:nvPr/>
        </p:nvSpPr>
        <p:spPr>
          <a:xfrm flipV="1">
            <a:off x="9187031" y="3403369"/>
            <a:ext cx="104887" cy="191840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77" name="line-72"/>
          <p:cNvSpPr/>
          <p:nvPr/>
        </p:nvSpPr>
        <p:spPr>
          <a:xfrm>
            <a:off x="9187031" y="3079911"/>
            <a:ext cx="104887" cy="191840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78" name="line-73"/>
          <p:cNvSpPr/>
          <p:nvPr/>
        </p:nvSpPr>
        <p:spPr>
          <a:xfrm>
            <a:off x="9396805" y="3206504"/>
            <a:ext cx="0" cy="262112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79" name="line-74"/>
          <p:cNvSpPr/>
          <p:nvPr/>
        </p:nvSpPr>
        <p:spPr>
          <a:xfrm flipV="1">
            <a:off x="9291918" y="3206504"/>
            <a:ext cx="104887" cy="196865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80" name="line-75"/>
          <p:cNvSpPr/>
          <p:nvPr/>
        </p:nvSpPr>
        <p:spPr>
          <a:xfrm>
            <a:off x="9291918" y="3271751"/>
            <a:ext cx="104887" cy="196865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81" name="line-76"/>
          <p:cNvSpPr/>
          <p:nvPr/>
        </p:nvSpPr>
        <p:spPr>
          <a:xfrm>
            <a:off x="9501692" y="3019645"/>
            <a:ext cx="0" cy="635830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82" name="line-77"/>
          <p:cNvSpPr/>
          <p:nvPr/>
        </p:nvSpPr>
        <p:spPr>
          <a:xfrm flipV="1">
            <a:off x="9396805" y="3019645"/>
            <a:ext cx="104887" cy="186859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83" name="line-78"/>
          <p:cNvSpPr/>
          <p:nvPr/>
        </p:nvSpPr>
        <p:spPr>
          <a:xfrm>
            <a:off x="9396805" y="3468616"/>
            <a:ext cx="104887" cy="186859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84" name="line-79"/>
          <p:cNvSpPr/>
          <p:nvPr/>
        </p:nvSpPr>
        <p:spPr>
          <a:xfrm>
            <a:off x="9606579" y="2857059"/>
            <a:ext cx="0" cy="961003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85" name="line-80"/>
          <p:cNvSpPr/>
          <p:nvPr/>
        </p:nvSpPr>
        <p:spPr>
          <a:xfrm flipV="1">
            <a:off x="9501692" y="2857059"/>
            <a:ext cx="104887" cy="162586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86" name="line-81"/>
          <p:cNvSpPr/>
          <p:nvPr/>
        </p:nvSpPr>
        <p:spPr>
          <a:xfrm>
            <a:off x="9501692" y="3655475"/>
            <a:ext cx="104887" cy="162586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87" name="line-82"/>
          <p:cNvSpPr/>
          <p:nvPr/>
        </p:nvSpPr>
        <p:spPr>
          <a:xfrm>
            <a:off x="9711466" y="2731158"/>
            <a:ext cx="0" cy="1212804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88" name="line-83"/>
          <p:cNvSpPr/>
          <p:nvPr/>
        </p:nvSpPr>
        <p:spPr>
          <a:xfrm flipV="1">
            <a:off x="9606579" y="2731158"/>
            <a:ext cx="104887" cy="125901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89" name="line-84"/>
          <p:cNvSpPr/>
          <p:nvPr/>
        </p:nvSpPr>
        <p:spPr>
          <a:xfrm>
            <a:off x="9606579" y="3818061"/>
            <a:ext cx="104887" cy="125901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90" name="line-85"/>
          <p:cNvSpPr/>
          <p:nvPr/>
        </p:nvSpPr>
        <p:spPr>
          <a:xfrm>
            <a:off x="9816353" y="2651555"/>
            <a:ext cx="0" cy="1372010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91" name="line-86"/>
          <p:cNvSpPr/>
          <p:nvPr/>
        </p:nvSpPr>
        <p:spPr>
          <a:xfrm flipV="1">
            <a:off x="9711466" y="2651555"/>
            <a:ext cx="104887" cy="79603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92" name="line-87"/>
          <p:cNvSpPr/>
          <p:nvPr/>
        </p:nvSpPr>
        <p:spPr>
          <a:xfrm>
            <a:off x="9711466" y="3943962"/>
            <a:ext cx="104887" cy="79603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93" name="line-88"/>
          <p:cNvSpPr/>
          <p:nvPr/>
        </p:nvSpPr>
        <p:spPr>
          <a:xfrm>
            <a:off x="9921240" y="2624328"/>
            <a:ext cx="0" cy="1426464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94" name="line-89"/>
          <p:cNvSpPr/>
          <p:nvPr/>
        </p:nvSpPr>
        <p:spPr>
          <a:xfrm flipV="1">
            <a:off x="9816353" y="2624328"/>
            <a:ext cx="104887" cy="27227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95" name="line-90"/>
          <p:cNvSpPr/>
          <p:nvPr/>
        </p:nvSpPr>
        <p:spPr>
          <a:xfrm>
            <a:off x="9816353" y="4023565"/>
            <a:ext cx="104887" cy="27227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96" name="line-91"/>
          <p:cNvSpPr/>
          <p:nvPr/>
        </p:nvSpPr>
        <p:spPr>
          <a:xfrm>
            <a:off x="10026127" y="2651555"/>
            <a:ext cx="0" cy="1372010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97" name="line-92"/>
          <p:cNvSpPr/>
          <p:nvPr/>
        </p:nvSpPr>
        <p:spPr>
          <a:xfrm>
            <a:off x="9921240" y="2624328"/>
            <a:ext cx="104887" cy="27227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98" name="line-93"/>
          <p:cNvSpPr/>
          <p:nvPr/>
        </p:nvSpPr>
        <p:spPr>
          <a:xfrm flipV="1">
            <a:off x="9921240" y="4023565"/>
            <a:ext cx="104887" cy="27227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99" name="line-94"/>
          <p:cNvSpPr/>
          <p:nvPr/>
        </p:nvSpPr>
        <p:spPr>
          <a:xfrm>
            <a:off x="10131014" y="2731158"/>
            <a:ext cx="0" cy="1212804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00" name="line-95"/>
          <p:cNvSpPr/>
          <p:nvPr/>
        </p:nvSpPr>
        <p:spPr>
          <a:xfrm>
            <a:off x="10026127" y="2651555"/>
            <a:ext cx="104887" cy="79603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01" name="line-96"/>
          <p:cNvSpPr/>
          <p:nvPr/>
        </p:nvSpPr>
        <p:spPr>
          <a:xfrm flipV="1">
            <a:off x="10026127" y="3943962"/>
            <a:ext cx="104887" cy="79603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02" name="line-97"/>
          <p:cNvSpPr/>
          <p:nvPr/>
        </p:nvSpPr>
        <p:spPr>
          <a:xfrm>
            <a:off x="10235901" y="2857059"/>
            <a:ext cx="0" cy="961003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03" name="line-98"/>
          <p:cNvSpPr/>
          <p:nvPr/>
        </p:nvSpPr>
        <p:spPr>
          <a:xfrm>
            <a:off x="10131014" y="2731158"/>
            <a:ext cx="104887" cy="125901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04" name="line-99"/>
          <p:cNvSpPr/>
          <p:nvPr/>
        </p:nvSpPr>
        <p:spPr>
          <a:xfrm flipV="1">
            <a:off x="10131014" y="3818061"/>
            <a:ext cx="104887" cy="125901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05" name="line-100"/>
          <p:cNvSpPr/>
          <p:nvPr/>
        </p:nvSpPr>
        <p:spPr>
          <a:xfrm>
            <a:off x="10340788" y="3019645"/>
            <a:ext cx="0" cy="635830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106" name="line-101"/>
          <p:cNvSpPr/>
          <p:nvPr/>
        </p:nvSpPr>
        <p:spPr>
          <a:xfrm>
            <a:off x="10235901" y="2857059"/>
            <a:ext cx="104887" cy="162586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07" name="line-102"/>
          <p:cNvSpPr/>
          <p:nvPr/>
        </p:nvSpPr>
        <p:spPr>
          <a:xfrm flipV="1">
            <a:off x="10235901" y="3655475"/>
            <a:ext cx="104887" cy="162586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08" name="line-103"/>
          <p:cNvSpPr/>
          <p:nvPr/>
        </p:nvSpPr>
        <p:spPr>
          <a:xfrm>
            <a:off x="10445675" y="3206504"/>
            <a:ext cx="0" cy="262112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09" name="line-104"/>
          <p:cNvSpPr/>
          <p:nvPr/>
        </p:nvSpPr>
        <p:spPr>
          <a:xfrm>
            <a:off x="10340788" y="3019645"/>
            <a:ext cx="104887" cy="186859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10" name="line-105"/>
          <p:cNvSpPr/>
          <p:nvPr/>
        </p:nvSpPr>
        <p:spPr>
          <a:xfrm flipV="1">
            <a:off x="10340788" y="3468616"/>
            <a:ext cx="104887" cy="186859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11" name="line-106"/>
          <p:cNvSpPr/>
          <p:nvPr/>
        </p:nvSpPr>
        <p:spPr>
          <a:xfrm flipV="1">
            <a:off x="10550562" y="3271751"/>
            <a:ext cx="0" cy="131617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12" name="line-107"/>
          <p:cNvSpPr/>
          <p:nvPr/>
        </p:nvSpPr>
        <p:spPr>
          <a:xfrm>
            <a:off x="10445675" y="3206504"/>
            <a:ext cx="104887" cy="196865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13" name="line-108"/>
          <p:cNvSpPr/>
          <p:nvPr/>
        </p:nvSpPr>
        <p:spPr>
          <a:xfrm flipV="1">
            <a:off x="10445675" y="3271751"/>
            <a:ext cx="104887" cy="196865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14" name="line-109"/>
          <p:cNvSpPr/>
          <p:nvPr/>
        </p:nvSpPr>
        <p:spPr>
          <a:xfrm flipV="1">
            <a:off x="10655449" y="3079911"/>
            <a:ext cx="0" cy="515298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115" name="line-110"/>
          <p:cNvSpPr/>
          <p:nvPr/>
        </p:nvSpPr>
        <p:spPr>
          <a:xfrm>
            <a:off x="10550562" y="3403369"/>
            <a:ext cx="104887" cy="191840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16" name="line-111"/>
          <p:cNvSpPr/>
          <p:nvPr/>
        </p:nvSpPr>
        <p:spPr>
          <a:xfrm flipV="1">
            <a:off x="10550562" y="3079911"/>
            <a:ext cx="104887" cy="191840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17" name="line-112"/>
          <p:cNvSpPr/>
          <p:nvPr/>
        </p:nvSpPr>
        <p:spPr>
          <a:xfrm flipV="1">
            <a:off x="10760336" y="2907742"/>
            <a:ext cx="0" cy="859637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18" name="line-113"/>
          <p:cNvSpPr/>
          <p:nvPr/>
        </p:nvSpPr>
        <p:spPr>
          <a:xfrm>
            <a:off x="10655449" y="3595209"/>
            <a:ext cx="104887" cy="172169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19" name="line-114"/>
          <p:cNvSpPr/>
          <p:nvPr/>
        </p:nvSpPr>
        <p:spPr>
          <a:xfrm flipV="1">
            <a:off x="10655449" y="2907742"/>
            <a:ext cx="104887" cy="172169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20" name="line-115"/>
          <p:cNvSpPr/>
          <p:nvPr/>
        </p:nvSpPr>
        <p:spPr>
          <a:xfrm flipV="1">
            <a:off x="10865224" y="2768389"/>
            <a:ext cx="0" cy="1138343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21" name="line-116"/>
          <p:cNvSpPr/>
          <p:nvPr/>
        </p:nvSpPr>
        <p:spPr>
          <a:xfrm>
            <a:off x="10760336" y="3767378"/>
            <a:ext cx="104887" cy="139353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22" name="line-117"/>
          <p:cNvSpPr/>
          <p:nvPr/>
        </p:nvSpPr>
        <p:spPr>
          <a:xfrm flipV="1">
            <a:off x="10760336" y="2768389"/>
            <a:ext cx="104887" cy="139353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23" name="line-118"/>
          <p:cNvSpPr/>
          <p:nvPr/>
        </p:nvSpPr>
        <p:spPr>
          <a:xfrm flipV="1">
            <a:off x="10970111" y="2672491"/>
            <a:ext cx="0" cy="1330138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124" name="line-119"/>
          <p:cNvSpPr/>
          <p:nvPr/>
        </p:nvSpPr>
        <p:spPr>
          <a:xfrm>
            <a:off x="10865224" y="3906731"/>
            <a:ext cx="104887" cy="95898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25" name="line-120"/>
          <p:cNvSpPr/>
          <p:nvPr/>
        </p:nvSpPr>
        <p:spPr>
          <a:xfrm flipV="1">
            <a:off x="10865224" y="2672491"/>
            <a:ext cx="104887" cy="95898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26" name="line-121"/>
          <p:cNvSpPr/>
          <p:nvPr/>
        </p:nvSpPr>
        <p:spPr>
          <a:xfrm flipV="1">
            <a:off x="11074998" y="2627371"/>
            <a:ext cx="0" cy="1420379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27" name="line-122"/>
          <p:cNvSpPr/>
          <p:nvPr/>
        </p:nvSpPr>
        <p:spPr>
          <a:xfrm>
            <a:off x="10970111" y="4002629"/>
            <a:ext cx="104887" cy="45120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28" name="line-123"/>
          <p:cNvSpPr/>
          <p:nvPr/>
        </p:nvSpPr>
        <p:spPr>
          <a:xfrm flipV="1">
            <a:off x="10970111" y="2627371"/>
            <a:ext cx="104887" cy="45120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29" name="line-124"/>
          <p:cNvSpPr/>
          <p:nvPr/>
        </p:nvSpPr>
        <p:spPr>
          <a:xfrm flipV="1">
            <a:off x="11179885" y="2636472"/>
            <a:ext cx="0" cy="1402176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30" name="line-125"/>
          <p:cNvSpPr/>
          <p:nvPr/>
        </p:nvSpPr>
        <p:spPr>
          <a:xfrm flipV="1">
            <a:off x="11074998" y="4038648"/>
            <a:ext cx="104887" cy="9102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31" name="line-126"/>
          <p:cNvSpPr/>
          <p:nvPr/>
        </p:nvSpPr>
        <p:spPr>
          <a:xfrm>
            <a:off x="11074998" y="2627371"/>
            <a:ext cx="104887" cy="9102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32" name="line-127"/>
          <p:cNvSpPr/>
          <p:nvPr/>
        </p:nvSpPr>
        <p:spPr>
          <a:xfrm flipV="1">
            <a:off x="11284772" y="2699101"/>
            <a:ext cx="0" cy="1276918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133" name="line-128"/>
          <p:cNvSpPr/>
          <p:nvPr/>
        </p:nvSpPr>
        <p:spPr>
          <a:xfrm flipV="1">
            <a:off x="11179885" y="3976019"/>
            <a:ext cx="104887" cy="62629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34" name="line-129"/>
          <p:cNvSpPr/>
          <p:nvPr/>
        </p:nvSpPr>
        <p:spPr>
          <a:xfrm>
            <a:off x="11179885" y="2636472"/>
            <a:ext cx="104887" cy="62629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35" name="line-130"/>
          <p:cNvSpPr/>
          <p:nvPr/>
        </p:nvSpPr>
        <p:spPr>
          <a:xfrm flipV="1">
            <a:off x="11389659" y="2810475"/>
            <a:ext cx="0" cy="1054170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36" name="line-131"/>
          <p:cNvSpPr/>
          <p:nvPr/>
        </p:nvSpPr>
        <p:spPr>
          <a:xfrm flipV="1">
            <a:off x="11284772" y="3864645"/>
            <a:ext cx="104887" cy="111374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37" name="line-132"/>
          <p:cNvSpPr/>
          <p:nvPr/>
        </p:nvSpPr>
        <p:spPr>
          <a:xfrm>
            <a:off x="11284772" y="2699101"/>
            <a:ext cx="104887" cy="111374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38" name="line-133"/>
          <p:cNvSpPr/>
          <p:nvPr/>
        </p:nvSpPr>
        <p:spPr>
          <a:xfrm flipV="1">
            <a:off x="11494546" y="2962092"/>
            <a:ext cx="0" cy="750937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39" name="line-134"/>
          <p:cNvSpPr/>
          <p:nvPr/>
        </p:nvSpPr>
        <p:spPr>
          <a:xfrm flipV="1">
            <a:off x="11389659" y="3713028"/>
            <a:ext cx="104887" cy="151617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40" name="line-135"/>
          <p:cNvSpPr/>
          <p:nvPr/>
        </p:nvSpPr>
        <p:spPr>
          <a:xfrm>
            <a:off x="11389659" y="2810475"/>
            <a:ext cx="104887" cy="151617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41" name="line-136"/>
          <p:cNvSpPr/>
          <p:nvPr/>
        </p:nvSpPr>
        <p:spPr>
          <a:xfrm flipV="1">
            <a:off x="11599433" y="3142375"/>
            <a:ext cx="0" cy="390370"/>
          </a:xfrm>
          <a:prstGeom prst="line">
            <a:avLst/>
          </a:prstGeom>
          <a:noFill/>
          <a:ln w="8890">
            <a:solidFill>
              <a:srgbClr val="DCA36C"/>
            </a:solidFill>
            <a:prstDash val="solid"/>
          </a:ln>
        </p:spPr>
      </p:sp>
      <p:sp>
        <p:nvSpPr>
          <p:cNvPr id="142" name="line-137"/>
          <p:cNvSpPr/>
          <p:nvPr/>
        </p:nvSpPr>
        <p:spPr>
          <a:xfrm flipV="1">
            <a:off x="11494546" y="3532745"/>
            <a:ext cx="104887" cy="180283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43" name="line-138"/>
          <p:cNvSpPr/>
          <p:nvPr/>
        </p:nvSpPr>
        <p:spPr>
          <a:xfrm>
            <a:off x="11494546" y="2962092"/>
            <a:ext cx="104887" cy="180283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44" name="line-139"/>
          <p:cNvSpPr/>
          <p:nvPr/>
        </p:nvSpPr>
        <p:spPr>
          <a:xfrm flipV="1">
            <a:off x="11704320" y="3337560"/>
            <a:ext cx="0" cy="0"/>
          </a:xfrm>
          <a:prstGeom prst="line">
            <a:avLst/>
          </a:prstGeom>
          <a:noFill/>
          <a:ln w="8890">
            <a:solidFill>
              <a:srgbClr val="619D98"/>
            </a:solidFill>
            <a:prstDash val="solid"/>
          </a:ln>
        </p:spPr>
      </p:sp>
      <p:sp>
        <p:nvSpPr>
          <p:cNvPr id="145" name="line-140"/>
          <p:cNvSpPr/>
          <p:nvPr/>
        </p:nvSpPr>
        <p:spPr>
          <a:xfrm flipV="1">
            <a:off x="11599433" y="3337560"/>
            <a:ext cx="104887" cy="195185"/>
          </a:xfrm>
          <a:prstGeom prst="line">
            <a:avLst/>
          </a:prstGeom>
          <a:noFill/>
          <a:ln w="25400">
            <a:solidFill>
              <a:srgbClr val="B1DED0"/>
            </a:solidFill>
            <a:prstDash val="solid"/>
          </a:ln>
        </p:spPr>
      </p:sp>
      <p:sp>
        <p:nvSpPr>
          <p:cNvPr id="146" name="line-141"/>
          <p:cNvSpPr/>
          <p:nvPr/>
        </p:nvSpPr>
        <p:spPr>
          <a:xfrm>
            <a:off x="11599433" y="3142375"/>
            <a:ext cx="104887" cy="195185"/>
          </a:xfrm>
          <a:prstGeom prst="line">
            <a:avLst/>
          </a:prstGeom>
          <a:noFill/>
          <a:ln w="17780">
            <a:solidFill>
              <a:srgbClr val="DCA36C"/>
            </a:solidFill>
            <a:prstDash val="solid"/>
          </a:ln>
        </p:spPr>
      </p:sp>
      <p:sp>
        <p:nvSpPr>
          <p:cNvPr id="147" name="text-142"/>
          <p:cNvSpPr/>
          <p:nvPr/>
        </p:nvSpPr>
        <p:spPr>
          <a:xfrm>
            <a:off x="8339328" y="5394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3C6C6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受力 / 形变 / 解释</a:t>
            </a:r>
            <a:endParaRPr lang="en-US" sz="1700" dirty="0"/>
          </a:p>
        </p:txBody>
      </p:sp>
      <p:pic>
        <p:nvPicPr>
          <p:cNvPr id="148" name="product-icon" descr="D:\MACHANICS-OF-MATERIALS-main\public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30352" cy="530352"/>
          </a:xfrm>
          <a:prstGeom prst="rect">
            <a:avLst/>
          </a:prstGeom>
        </p:spPr>
      </p:pic>
      <p:sp>
        <p:nvSpPr>
          <p:cNvPr id="149" name="text-143"/>
          <p:cNvSpPr/>
          <p:nvPr/>
        </p:nvSpPr>
        <p:spPr>
          <a:xfrm>
            <a:off x="1371600" y="68580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BABE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MATERIAL MECHANICS  /  SOFTWARE</a:t>
            </a:r>
            <a:endParaRPr lang="en-US" sz="1300" dirty="0"/>
          </a:p>
        </p:txBody>
      </p:sp>
      <p:sp>
        <p:nvSpPr>
          <p:cNvPr id="150" name="text-144"/>
          <p:cNvSpPr/>
          <p:nvPr/>
        </p:nvSpPr>
        <p:spPr>
          <a:xfrm>
            <a:off x="685800" y="1901952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4200" dirty="0"/>
          </a:p>
        </p:txBody>
      </p:sp>
      <p:sp>
        <p:nvSpPr>
          <p:cNvPr id="151" name="text-145"/>
          <p:cNvSpPr/>
          <p:nvPr/>
        </p:nvSpPr>
        <p:spPr>
          <a:xfrm>
            <a:off x="713232" y="2935224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C4DFD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让材料力学看得见</a:t>
            </a:r>
            <a:endParaRPr lang="en-US" sz="3100" dirty="0"/>
          </a:p>
        </p:txBody>
      </p:sp>
      <p:sp>
        <p:nvSpPr>
          <p:cNvPr id="152" name="text-146"/>
          <p:cNvSpPr/>
          <p:nvPr/>
        </p:nvSpPr>
        <p:spPr>
          <a:xfrm>
            <a:off x="731520" y="3886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从题目到模型，从计算到理解</a:t>
            </a:r>
            <a:endParaRPr lang="en-US" sz="2300" dirty="0"/>
          </a:p>
        </p:txBody>
      </p:sp>
      <p:sp>
        <p:nvSpPr>
          <p:cNvPr id="153" name="panel-147"/>
          <p:cNvSpPr/>
          <p:nvPr/>
        </p:nvSpPr>
        <p:spPr>
          <a:xfrm>
            <a:off x="731520" y="4956048"/>
            <a:ext cx="1965960" cy="502920"/>
          </a:xfrm>
          <a:prstGeom prst="rect">
            <a:avLst/>
          </a:prstGeom>
          <a:solidFill>
            <a:srgbClr val="284354"/>
          </a:solidFill>
          <a:ln w="12700">
            <a:solidFill>
              <a:srgbClr val="284354"/>
            </a:solidFill>
            <a:prstDash val="solid"/>
          </a:ln>
        </p:spPr>
      </p:sp>
      <p:sp>
        <p:nvSpPr>
          <p:cNvPr id="154" name="text-148"/>
          <p:cNvSpPr/>
          <p:nvPr/>
        </p:nvSpPr>
        <p:spPr>
          <a:xfrm>
            <a:off x="932688" y="50840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DAD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二维杆系</a:t>
            </a:r>
            <a:endParaRPr lang="en-US" sz="1500" dirty="0"/>
          </a:p>
        </p:txBody>
      </p:sp>
      <p:sp>
        <p:nvSpPr>
          <p:cNvPr id="155" name="panel-149"/>
          <p:cNvSpPr/>
          <p:nvPr/>
        </p:nvSpPr>
        <p:spPr>
          <a:xfrm>
            <a:off x="2944368" y="4956048"/>
            <a:ext cx="1965960" cy="502920"/>
          </a:xfrm>
          <a:prstGeom prst="rect">
            <a:avLst/>
          </a:prstGeom>
          <a:solidFill>
            <a:srgbClr val="284354"/>
          </a:solidFill>
          <a:ln w="12700">
            <a:solidFill>
              <a:srgbClr val="284354"/>
            </a:solidFill>
            <a:prstDash val="solid"/>
          </a:ln>
        </p:spPr>
      </p:sp>
      <p:sp>
        <p:nvSpPr>
          <p:cNvPr id="156" name="text-150"/>
          <p:cNvSpPr/>
          <p:nvPr/>
        </p:nvSpPr>
        <p:spPr>
          <a:xfrm>
            <a:off x="3145536" y="50840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DAD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空间分析</a:t>
            </a:r>
            <a:endParaRPr lang="en-US" sz="1500" dirty="0"/>
          </a:p>
        </p:txBody>
      </p:sp>
      <p:sp>
        <p:nvSpPr>
          <p:cNvPr id="157" name="panel-151"/>
          <p:cNvSpPr/>
          <p:nvPr/>
        </p:nvSpPr>
        <p:spPr>
          <a:xfrm>
            <a:off x="5157216" y="4956048"/>
            <a:ext cx="1965960" cy="502920"/>
          </a:xfrm>
          <a:prstGeom prst="rect">
            <a:avLst/>
          </a:prstGeom>
          <a:solidFill>
            <a:srgbClr val="284354"/>
          </a:solidFill>
          <a:ln w="12700">
            <a:solidFill>
              <a:srgbClr val="284354"/>
            </a:solidFill>
            <a:prstDash val="solid"/>
          </a:ln>
        </p:spPr>
      </p:sp>
      <p:sp>
        <p:nvSpPr>
          <p:cNvPr id="158" name="text-152"/>
          <p:cNvSpPr/>
          <p:nvPr/>
        </p:nvSpPr>
        <p:spPr>
          <a:xfrm>
            <a:off x="5358384" y="50840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DAD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公式推导</a:t>
            </a:r>
            <a:endParaRPr lang="en-US" sz="1500" dirty="0"/>
          </a:p>
        </p:txBody>
      </p:sp>
      <p:sp>
        <p:nvSpPr>
          <p:cNvPr id="159" name="text-153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7C6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同学软件分享  ·  v2.0.2  ·  本地离线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154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155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156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从课堂问题出发</a:t>
            </a:r>
            <a:endParaRPr lang="en-US" sz="1000" dirty="0"/>
          </a:p>
        </p:txBody>
      </p:sp>
      <p:sp>
        <p:nvSpPr>
          <p:cNvPr id="5" name="panel-157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158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做完题之后，你能解释图为什么这样画吗？</a:t>
            </a:r>
            <a:endParaRPr lang="en-US" sz="2800" dirty="0"/>
          </a:p>
        </p:txBody>
      </p:sp>
      <p:sp>
        <p:nvSpPr>
          <p:cNvPr id="7" name="line-159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160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161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162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163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164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165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166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167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168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169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170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171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172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173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174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175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176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177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178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179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180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181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182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183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184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185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186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187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188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189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190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191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192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193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194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195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196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197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198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199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200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201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202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203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204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205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206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207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208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209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210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211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212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213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214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215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216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217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218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219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220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221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222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223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224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225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226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227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228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229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230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231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232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233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234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235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236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237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238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239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240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241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242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243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244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245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246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247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248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249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250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251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252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253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254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255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256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257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258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259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260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261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262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263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264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265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266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267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268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269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270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271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272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273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274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275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276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277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278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279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280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281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282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283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284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285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286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287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288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289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290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291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292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293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294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295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296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297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298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299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300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301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302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303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304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305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306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55" name="panel-307"/>
          <p:cNvSpPr/>
          <p:nvPr/>
        </p:nvSpPr>
        <p:spPr>
          <a:xfrm>
            <a:off x="502920" y="1920240"/>
            <a:ext cx="3547872" cy="3200400"/>
          </a:xfrm>
          <a:prstGeom prst="rect">
            <a:avLst/>
          </a:prstGeom>
          <a:solidFill>
            <a:srgbClr val="E7EDF2"/>
          </a:solidFill>
          <a:ln w="12700">
            <a:solidFill>
              <a:srgbClr val="E7EDF2"/>
            </a:solidFill>
            <a:prstDash val="solid"/>
          </a:ln>
        </p:spPr>
      </p:sp>
      <p:sp>
        <p:nvSpPr>
          <p:cNvPr id="156" name="panel-308"/>
          <p:cNvSpPr/>
          <p:nvPr/>
        </p:nvSpPr>
        <p:spPr>
          <a:xfrm>
            <a:off x="502920" y="1920240"/>
            <a:ext cx="41148" cy="3200400"/>
          </a:xfrm>
          <a:prstGeom prst="rect">
            <a:avLst/>
          </a:prstGeom>
          <a:solidFill>
            <a:srgbClr val="285C75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57" name="text-309"/>
          <p:cNvSpPr/>
          <p:nvPr/>
        </p:nvSpPr>
        <p:spPr>
          <a:xfrm>
            <a:off x="704088" y="21031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58" name="line-310"/>
          <p:cNvSpPr/>
          <p:nvPr/>
        </p:nvSpPr>
        <p:spPr>
          <a:xfrm>
            <a:off x="704088" y="254203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59" name="text-311"/>
          <p:cNvSpPr/>
          <p:nvPr/>
        </p:nvSpPr>
        <p:spPr>
          <a:xfrm>
            <a:off x="704088" y="27066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模型怎么建？</a:t>
            </a:r>
            <a:endParaRPr lang="en-US" sz="2200" dirty="0"/>
          </a:p>
        </p:txBody>
      </p:sp>
      <p:sp>
        <p:nvSpPr>
          <p:cNvPr id="160" name="text-312"/>
          <p:cNvSpPr/>
          <p:nvPr/>
        </p:nvSpPr>
        <p:spPr>
          <a:xfrm>
            <a:off x="704088" y="3355848"/>
            <a:ext cx="31455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支座限制了哪些自由度？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荷载方向、单位是否正确？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先辨认边界条件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再把题目转为结构模型</a:t>
            </a:r>
            <a:endParaRPr lang="en-US" sz="1600" dirty="0"/>
          </a:p>
        </p:txBody>
      </p:sp>
      <p:sp>
        <p:nvSpPr>
          <p:cNvPr id="161" name="panel-313"/>
          <p:cNvSpPr/>
          <p:nvPr/>
        </p:nvSpPr>
        <p:spPr>
          <a:xfrm>
            <a:off x="4325112" y="1920240"/>
            <a:ext cx="3547872" cy="3200400"/>
          </a:xfrm>
          <a:prstGeom prst="rect">
            <a:avLst/>
          </a:prstGeom>
          <a:solidFill>
            <a:srgbClr val="E4ECE5"/>
          </a:solidFill>
          <a:ln w="12700">
            <a:solidFill>
              <a:srgbClr val="E4ECE5"/>
            </a:solidFill>
            <a:prstDash val="solid"/>
          </a:ln>
        </p:spPr>
      </p:sp>
      <p:sp>
        <p:nvSpPr>
          <p:cNvPr id="162" name="panel-314"/>
          <p:cNvSpPr/>
          <p:nvPr/>
        </p:nvSpPr>
        <p:spPr>
          <a:xfrm>
            <a:off x="4325112" y="1920240"/>
            <a:ext cx="41148" cy="3200400"/>
          </a:xfrm>
          <a:prstGeom prst="rect">
            <a:avLst/>
          </a:prstGeom>
          <a:solidFill>
            <a:srgbClr val="557969"/>
          </a:solidFill>
          <a:ln w="12700">
            <a:solidFill>
              <a:srgbClr val="557969"/>
            </a:solidFill>
            <a:prstDash val="solid"/>
          </a:ln>
        </p:spPr>
      </p:sp>
      <p:sp>
        <p:nvSpPr>
          <p:cNvPr id="163" name="text-315"/>
          <p:cNvSpPr/>
          <p:nvPr/>
        </p:nvSpPr>
        <p:spPr>
          <a:xfrm>
            <a:off x="4526280" y="21031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796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64" name="line-316"/>
          <p:cNvSpPr/>
          <p:nvPr/>
        </p:nvSpPr>
        <p:spPr>
          <a:xfrm>
            <a:off x="4526280" y="254203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65" name="text-317"/>
          <p:cNvSpPr/>
          <p:nvPr/>
        </p:nvSpPr>
        <p:spPr>
          <a:xfrm>
            <a:off x="4526280" y="27066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内力怎么变？</a:t>
            </a:r>
            <a:endParaRPr lang="en-US" sz="2200" dirty="0"/>
          </a:p>
        </p:txBody>
      </p:sp>
      <p:sp>
        <p:nvSpPr>
          <p:cNvPr id="166" name="text-318"/>
          <p:cNvSpPr/>
          <p:nvPr/>
        </p:nvSpPr>
        <p:spPr>
          <a:xfrm>
            <a:off x="4526280" y="3355848"/>
            <a:ext cx="31455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剪力为什么出现跳变？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弯矩最大值在哪里？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沿构件观察内力分布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把图形与受力关系对应</a:t>
            </a:r>
            <a:endParaRPr lang="en-US" sz="1600" dirty="0"/>
          </a:p>
        </p:txBody>
      </p:sp>
      <p:sp>
        <p:nvSpPr>
          <p:cNvPr id="167" name="panel-319"/>
          <p:cNvSpPr/>
          <p:nvPr/>
        </p:nvSpPr>
        <p:spPr>
          <a:xfrm>
            <a:off x="8147304" y="1920240"/>
            <a:ext cx="3547872" cy="3200400"/>
          </a:xfrm>
          <a:prstGeom prst="rect">
            <a:avLst/>
          </a:prstGeom>
          <a:solidFill>
            <a:srgbClr val="EDE6ED"/>
          </a:solidFill>
          <a:ln w="12700">
            <a:solidFill>
              <a:srgbClr val="EDE6ED"/>
            </a:solidFill>
            <a:prstDash val="solid"/>
          </a:ln>
        </p:spPr>
      </p:sp>
      <p:sp>
        <p:nvSpPr>
          <p:cNvPr id="168" name="panel-320"/>
          <p:cNvSpPr/>
          <p:nvPr/>
        </p:nvSpPr>
        <p:spPr>
          <a:xfrm>
            <a:off x="8147304" y="1920240"/>
            <a:ext cx="41148" cy="3200400"/>
          </a:xfrm>
          <a:prstGeom prst="rect">
            <a:avLst/>
          </a:prstGeom>
          <a:solidFill>
            <a:srgbClr val="8B6381"/>
          </a:solidFill>
          <a:ln w="12700">
            <a:solidFill>
              <a:srgbClr val="8B6381"/>
            </a:solidFill>
            <a:prstDash val="solid"/>
          </a:ln>
        </p:spPr>
      </p:sp>
      <p:sp>
        <p:nvSpPr>
          <p:cNvPr id="169" name="text-321"/>
          <p:cNvSpPr/>
          <p:nvPr/>
        </p:nvSpPr>
        <p:spPr>
          <a:xfrm>
            <a:off x="8348472" y="21031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381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70" name="line-322"/>
          <p:cNvSpPr/>
          <p:nvPr/>
        </p:nvSpPr>
        <p:spPr>
          <a:xfrm>
            <a:off x="8348472" y="254203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71" name="text-323"/>
          <p:cNvSpPr/>
          <p:nvPr/>
        </p:nvSpPr>
        <p:spPr>
          <a:xfrm>
            <a:off x="8348472" y="27066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答案怎么验？</a:t>
            </a:r>
            <a:endParaRPr lang="en-US" sz="2200" dirty="0"/>
          </a:p>
        </p:txBody>
      </p:sp>
      <p:sp>
        <p:nvSpPr>
          <p:cNvPr id="172" name="text-324"/>
          <p:cNvSpPr/>
          <p:nvPr/>
        </p:nvSpPr>
        <p:spPr>
          <a:xfrm>
            <a:off x="8348472" y="3355848"/>
            <a:ext cx="31455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数值是否满足平衡？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能否和手算相互印证？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检查反力、峰值与单位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定位模型或理解上的偏差</a:t>
            </a:r>
            <a:endParaRPr lang="en-US" sz="1600" dirty="0"/>
          </a:p>
        </p:txBody>
      </p:sp>
      <p:sp>
        <p:nvSpPr>
          <p:cNvPr id="173" name="text-325"/>
          <p:cNvSpPr/>
          <p:nvPr/>
        </p:nvSpPr>
        <p:spPr>
          <a:xfrm>
            <a:off x="594360" y="5623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我的目标：把“算出数值”进一步变成“理解结构”。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326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327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328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软件分享</a:t>
            </a:r>
            <a:endParaRPr lang="en-US" sz="1000" dirty="0"/>
          </a:p>
        </p:txBody>
      </p:sp>
      <p:sp>
        <p:nvSpPr>
          <p:cNvPr id="5" name="panel-329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330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把分散的知识点，放进同一个学习过程</a:t>
            </a:r>
            <a:endParaRPr lang="en-US" sz="2800" dirty="0"/>
          </a:p>
        </p:txBody>
      </p:sp>
      <p:sp>
        <p:nvSpPr>
          <p:cNvPr id="7" name="line-331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332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333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334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335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336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337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338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339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340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341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342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343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344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345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346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347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348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349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350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351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352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353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354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355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356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357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358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359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360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361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362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363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364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365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366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367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368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369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370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371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372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373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374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375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376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377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378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379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380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381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382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383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384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385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386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387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388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389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390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391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392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393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394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395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396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397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398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399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400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401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402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403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404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405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406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407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408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409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410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411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412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413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414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415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416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417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418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419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420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421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422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423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424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425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426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427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428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429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430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431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432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433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434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435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436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437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438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439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440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441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442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443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444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445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446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447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448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449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450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451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452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453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454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455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456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457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458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459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460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461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462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463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464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465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466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467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468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469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470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471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472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473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474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475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476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477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478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55" name="panel-479"/>
          <p:cNvSpPr/>
          <p:nvPr/>
        </p:nvSpPr>
        <p:spPr>
          <a:xfrm>
            <a:off x="502920" y="1874520"/>
            <a:ext cx="2670048" cy="640080"/>
          </a:xfrm>
          <a:prstGeom prst="rect">
            <a:avLst/>
          </a:prstGeom>
          <a:solidFill>
            <a:srgbClr val="ECEEF5"/>
          </a:solidFill>
          <a:ln w="12700">
            <a:solidFill>
              <a:srgbClr val="ECEEF5"/>
            </a:solidFill>
            <a:prstDash val="solid"/>
          </a:ln>
        </p:spPr>
      </p:sp>
      <p:sp>
        <p:nvSpPr>
          <p:cNvPr id="156" name="text-480"/>
          <p:cNvSpPr/>
          <p:nvPr/>
        </p:nvSpPr>
        <p:spPr>
          <a:xfrm>
            <a:off x="658368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拉伸与压缩</a:t>
            </a:r>
            <a:endParaRPr lang="en-US" sz="1900" dirty="0"/>
          </a:p>
        </p:txBody>
      </p:sp>
      <p:sp>
        <p:nvSpPr>
          <p:cNvPr id="157" name="panel-481"/>
          <p:cNvSpPr/>
          <p:nvPr/>
        </p:nvSpPr>
        <p:spPr>
          <a:xfrm>
            <a:off x="3337560" y="1874520"/>
            <a:ext cx="2670048" cy="640080"/>
          </a:xfrm>
          <a:prstGeom prst="rect">
            <a:avLst/>
          </a:prstGeom>
          <a:solidFill>
            <a:srgbClr val="DDEAE2"/>
          </a:solidFill>
          <a:ln w="12700">
            <a:solidFill>
              <a:srgbClr val="DDEAE2"/>
            </a:solidFill>
            <a:prstDash val="solid"/>
          </a:ln>
        </p:spPr>
      </p:sp>
      <p:sp>
        <p:nvSpPr>
          <p:cNvPr id="158" name="text-482"/>
          <p:cNvSpPr/>
          <p:nvPr/>
        </p:nvSpPr>
        <p:spPr>
          <a:xfrm>
            <a:off x="3493008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1900" dirty="0"/>
          </a:p>
        </p:txBody>
      </p:sp>
      <p:sp>
        <p:nvSpPr>
          <p:cNvPr id="159" name="panel-483"/>
          <p:cNvSpPr/>
          <p:nvPr/>
        </p:nvSpPr>
        <p:spPr>
          <a:xfrm>
            <a:off x="6172200" y="1874520"/>
            <a:ext cx="2670048" cy="640080"/>
          </a:xfrm>
          <a:prstGeom prst="rect">
            <a:avLst/>
          </a:prstGeom>
          <a:solidFill>
            <a:srgbClr val="ECEEF5"/>
          </a:solidFill>
          <a:ln w="12700">
            <a:solidFill>
              <a:srgbClr val="ECEEF5"/>
            </a:solidFill>
            <a:prstDash val="solid"/>
          </a:ln>
        </p:spPr>
      </p:sp>
      <p:sp>
        <p:nvSpPr>
          <p:cNvPr id="160" name="text-484"/>
          <p:cNvSpPr/>
          <p:nvPr/>
        </p:nvSpPr>
        <p:spPr>
          <a:xfrm>
            <a:off x="6327648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1900" dirty="0"/>
          </a:p>
        </p:txBody>
      </p:sp>
      <p:sp>
        <p:nvSpPr>
          <p:cNvPr id="161" name="panel-485"/>
          <p:cNvSpPr/>
          <p:nvPr/>
        </p:nvSpPr>
        <p:spPr>
          <a:xfrm>
            <a:off x="9006840" y="1874520"/>
            <a:ext cx="2670048" cy="640080"/>
          </a:xfrm>
          <a:prstGeom prst="rect">
            <a:avLst/>
          </a:prstGeom>
          <a:solidFill>
            <a:srgbClr val="DDEAE2"/>
          </a:solidFill>
          <a:ln w="12700">
            <a:solidFill>
              <a:srgbClr val="DDEAE2"/>
            </a:solidFill>
            <a:prstDash val="solid"/>
          </a:ln>
        </p:spPr>
      </p:sp>
      <p:sp>
        <p:nvSpPr>
          <p:cNvPr id="162" name="text-486"/>
          <p:cNvSpPr/>
          <p:nvPr/>
        </p:nvSpPr>
        <p:spPr>
          <a:xfrm>
            <a:off x="9162288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组合变形</a:t>
            </a:r>
            <a:endParaRPr lang="en-US" sz="1900" dirty="0"/>
          </a:p>
        </p:txBody>
      </p:sp>
      <p:sp>
        <p:nvSpPr>
          <p:cNvPr id="163" name="panel-487"/>
          <p:cNvSpPr/>
          <p:nvPr/>
        </p:nvSpPr>
        <p:spPr>
          <a:xfrm>
            <a:off x="502920" y="2907792"/>
            <a:ext cx="3547872" cy="2697480"/>
          </a:xfrm>
          <a:prstGeom prst="rect">
            <a:avLst/>
          </a:prstGeom>
          <a:solidFill>
            <a:srgbClr val="E7EDF2"/>
          </a:solidFill>
          <a:ln w="12700">
            <a:solidFill>
              <a:srgbClr val="E7EDF2"/>
            </a:solidFill>
            <a:prstDash val="solid"/>
          </a:ln>
        </p:spPr>
      </p:sp>
      <p:sp>
        <p:nvSpPr>
          <p:cNvPr id="164" name="panel-488"/>
          <p:cNvSpPr/>
          <p:nvPr/>
        </p:nvSpPr>
        <p:spPr>
          <a:xfrm>
            <a:off x="502920" y="2907792"/>
            <a:ext cx="41148" cy="2697480"/>
          </a:xfrm>
          <a:prstGeom prst="rect">
            <a:avLst/>
          </a:prstGeom>
          <a:solidFill>
            <a:srgbClr val="285C75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65" name="text-489"/>
          <p:cNvSpPr/>
          <p:nvPr/>
        </p:nvSpPr>
        <p:spPr>
          <a:xfrm>
            <a:off x="704088" y="309067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200" dirty="0"/>
          </a:p>
        </p:txBody>
      </p:sp>
      <p:sp>
        <p:nvSpPr>
          <p:cNvPr id="166" name="line-490"/>
          <p:cNvSpPr/>
          <p:nvPr/>
        </p:nvSpPr>
        <p:spPr>
          <a:xfrm>
            <a:off x="704088" y="3529584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67" name="text-491"/>
          <p:cNvSpPr/>
          <p:nvPr/>
        </p:nvSpPr>
        <p:spPr>
          <a:xfrm>
            <a:off x="704088" y="369417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建立力学模型</a:t>
            </a:r>
            <a:endParaRPr lang="en-US" sz="2200" dirty="0"/>
          </a:p>
        </p:txBody>
      </p:sp>
      <p:sp>
        <p:nvSpPr>
          <p:cNvPr id="168" name="text-492"/>
          <p:cNvSpPr/>
          <p:nvPr/>
        </p:nvSpPr>
        <p:spPr>
          <a:xfrm>
            <a:off x="704088" y="4343400"/>
            <a:ext cx="3145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节点、杆件、材料、截面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支座、节点与单元荷载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集中力矩 / 梯形 / 温度</a:t>
            </a:r>
            <a:endParaRPr lang="en-US" sz="1600" dirty="0"/>
          </a:p>
        </p:txBody>
      </p:sp>
      <p:sp>
        <p:nvSpPr>
          <p:cNvPr id="169" name="panel-493"/>
          <p:cNvSpPr/>
          <p:nvPr/>
        </p:nvSpPr>
        <p:spPr>
          <a:xfrm>
            <a:off x="4325112" y="2907792"/>
            <a:ext cx="3547872" cy="2697480"/>
          </a:xfrm>
          <a:prstGeom prst="rect">
            <a:avLst/>
          </a:prstGeom>
          <a:solidFill>
            <a:srgbClr val="E4ECE5"/>
          </a:solidFill>
          <a:ln w="12700">
            <a:solidFill>
              <a:srgbClr val="E4ECE5"/>
            </a:solidFill>
            <a:prstDash val="solid"/>
          </a:ln>
        </p:spPr>
      </p:sp>
      <p:sp>
        <p:nvSpPr>
          <p:cNvPr id="170" name="panel-494"/>
          <p:cNvSpPr/>
          <p:nvPr/>
        </p:nvSpPr>
        <p:spPr>
          <a:xfrm>
            <a:off x="4325112" y="2907792"/>
            <a:ext cx="41148" cy="2697480"/>
          </a:xfrm>
          <a:prstGeom prst="rect">
            <a:avLst/>
          </a:prstGeom>
          <a:solidFill>
            <a:srgbClr val="557969"/>
          </a:solidFill>
          <a:ln w="12700">
            <a:solidFill>
              <a:srgbClr val="557969"/>
            </a:solidFill>
            <a:prstDash val="solid"/>
          </a:ln>
        </p:spPr>
      </p:sp>
      <p:sp>
        <p:nvSpPr>
          <p:cNvPr id="171" name="text-495"/>
          <p:cNvSpPr/>
          <p:nvPr/>
        </p:nvSpPr>
        <p:spPr>
          <a:xfrm>
            <a:off x="4526280" y="309067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796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观察</a:t>
            </a:r>
            <a:endParaRPr lang="en-US" sz="1200" dirty="0"/>
          </a:p>
        </p:txBody>
      </p:sp>
      <p:sp>
        <p:nvSpPr>
          <p:cNvPr id="172" name="line-496"/>
          <p:cNvSpPr/>
          <p:nvPr/>
        </p:nvSpPr>
        <p:spPr>
          <a:xfrm>
            <a:off x="4526280" y="3529584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73" name="text-497"/>
          <p:cNvSpPr/>
          <p:nvPr/>
        </p:nvSpPr>
        <p:spPr>
          <a:xfrm>
            <a:off x="4526280" y="369417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查看结构响应</a:t>
            </a:r>
            <a:endParaRPr lang="en-US" sz="2200" dirty="0"/>
          </a:p>
        </p:txBody>
      </p:sp>
      <p:sp>
        <p:nvSpPr>
          <p:cNvPr id="174" name="text-498"/>
          <p:cNvSpPr/>
          <p:nvPr/>
        </p:nvSpPr>
        <p:spPr>
          <a:xfrm>
            <a:off x="4526280" y="4343400"/>
            <a:ext cx="3145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支反力、N / V / M 与变形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杆端力与结果数据表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从整体响应定位危险位置</a:t>
            </a:r>
            <a:endParaRPr lang="en-US" sz="1600" dirty="0"/>
          </a:p>
        </p:txBody>
      </p:sp>
      <p:sp>
        <p:nvSpPr>
          <p:cNvPr id="175" name="panel-499"/>
          <p:cNvSpPr/>
          <p:nvPr/>
        </p:nvSpPr>
        <p:spPr>
          <a:xfrm>
            <a:off x="8147304" y="2907792"/>
            <a:ext cx="3547872" cy="2697480"/>
          </a:xfrm>
          <a:prstGeom prst="rect">
            <a:avLst/>
          </a:prstGeom>
          <a:solidFill>
            <a:srgbClr val="EDE6ED"/>
          </a:solidFill>
          <a:ln w="12700">
            <a:solidFill>
              <a:srgbClr val="EDE6ED"/>
            </a:solidFill>
            <a:prstDash val="solid"/>
          </a:ln>
        </p:spPr>
      </p:sp>
      <p:sp>
        <p:nvSpPr>
          <p:cNvPr id="176" name="panel-500"/>
          <p:cNvSpPr/>
          <p:nvPr/>
        </p:nvSpPr>
        <p:spPr>
          <a:xfrm>
            <a:off x="8147304" y="2907792"/>
            <a:ext cx="41148" cy="2697480"/>
          </a:xfrm>
          <a:prstGeom prst="rect">
            <a:avLst/>
          </a:prstGeom>
          <a:solidFill>
            <a:srgbClr val="8B6381"/>
          </a:solidFill>
          <a:ln w="12700">
            <a:solidFill>
              <a:srgbClr val="8B6381"/>
            </a:solidFill>
            <a:prstDash val="solid"/>
          </a:ln>
        </p:spPr>
      </p:sp>
      <p:sp>
        <p:nvSpPr>
          <p:cNvPr id="177" name="text-501"/>
          <p:cNvSpPr/>
          <p:nvPr/>
        </p:nvSpPr>
        <p:spPr>
          <a:xfrm>
            <a:off x="8348472" y="309067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381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1200" dirty="0"/>
          </a:p>
        </p:txBody>
      </p:sp>
      <p:sp>
        <p:nvSpPr>
          <p:cNvPr id="178" name="line-502"/>
          <p:cNvSpPr/>
          <p:nvPr/>
        </p:nvSpPr>
        <p:spPr>
          <a:xfrm>
            <a:off x="8348472" y="3529584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79" name="text-503"/>
          <p:cNvSpPr/>
          <p:nvPr/>
        </p:nvSpPr>
        <p:spPr>
          <a:xfrm>
            <a:off x="8348472" y="369417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回到计算依据</a:t>
            </a:r>
            <a:endParaRPr lang="en-US" sz="2200" dirty="0"/>
          </a:p>
        </p:txBody>
      </p:sp>
      <p:sp>
        <p:nvSpPr>
          <p:cNvPr id="180" name="text-504"/>
          <p:cNvSpPr/>
          <p:nvPr/>
        </p:nvSpPr>
        <p:spPr>
          <a:xfrm>
            <a:off x="8348472" y="4343400"/>
            <a:ext cx="3145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公式库、字母表达式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分步推导与典型题模板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用解析解检验数值结果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505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506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507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界面导航</a:t>
            </a:r>
            <a:endParaRPr lang="en-US" sz="1000" dirty="0"/>
          </a:p>
        </p:txBody>
      </p:sp>
      <p:sp>
        <p:nvSpPr>
          <p:cNvPr id="5" name="panel-508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509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先记住三个区域，上手就有方向</a:t>
            </a:r>
            <a:endParaRPr lang="en-US" sz="2800" dirty="0"/>
          </a:p>
        </p:txBody>
      </p:sp>
      <p:sp>
        <p:nvSpPr>
          <p:cNvPr id="7" name="line-510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511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512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513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514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515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516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517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518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519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520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521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522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523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524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525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526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527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528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529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530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531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532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533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534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535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536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537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538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539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540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541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542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543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544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545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546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547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548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549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550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551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552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553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554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555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556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557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558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559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560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561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562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563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564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565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566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567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568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569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570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571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572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573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574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575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576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577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578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579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580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581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582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583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584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585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586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587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588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589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590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591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592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593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594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595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596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597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598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599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600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601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602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603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604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605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606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607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608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609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610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611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612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613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614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615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616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617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618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619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620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621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622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623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624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625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626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627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628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629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630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631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632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633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634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635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636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637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638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639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640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641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642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643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644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645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646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647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648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649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650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651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652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653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654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655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656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657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155" name="panel-658"/>
          <p:cNvSpPr/>
          <p:nvPr/>
        </p:nvSpPr>
        <p:spPr>
          <a:xfrm>
            <a:off x="502920" y="1874520"/>
            <a:ext cx="2331720" cy="3383280"/>
          </a:xfrm>
          <a:prstGeom prst="rect">
            <a:avLst/>
          </a:prstGeom>
          <a:solidFill>
            <a:srgbClr val="ECEEF5"/>
          </a:solidFill>
          <a:ln w="12700">
            <a:solidFill>
              <a:srgbClr val="ECEEF5"/>
            </a:solidFill>
            <a:prstDash val="solid"/>
          </a:ln>
        </p:spPr>
      </p:sp>
      <p:sp>
        <p:nvSpPr>
          <p:cNvPr id="156" name="panel-659"/>
          <p:cNvSpPr/>
          <p:nvPr/>
        </p:nvSpPr>
        <p:spPr>
          <a:xfrm>
            <a:off x="3017520" y="1874520"/>
            <a:ext cx="6217920" cy="3383280"/>
          </a:xfrm>
          <a:prstGeom prst="rect">
            <a:avLst/>
          </a:prstGeom>
          <a:solidFill>
            <a:srgbClr val="DDEAE2"/>
          </a:solidFill>
          <a:ln w="12700">
            <a:solidFill>
              <a:srgbClr val="DDEAE2"/>
            </a:solidFill>
            <a:prstDash val="solid"/>
          </a:ln>
        </p:spPr>
      </p:sp>
      <p:sp>
        <p:nvSpPr>
          <p:cNvPr id="157" name="panel-660"/>
          <p:cNvSpPr/>
          <p:nvPr/>
        </p:nvSpPr>
        <p:spPr>
          <a:xfrm>
            <a:off x="9418320" y="1874520"/>
            <a:ext cx="2267712" cy="3383280"/>
          </a:xfrm>
          <a:prstGeom prst="rect">
            <a:avLst/>
          </a:prstGeom>
          <a:solidFill>
            <a:srgbClr val="ECEEF5"/>
          </a:solidFill>
          <a:ln w="12700">
            <a:solidFill>
              <a:srgbClr val="ECEEF5"/>
            </a:solidFill>
            <a:prstDash val="solid"/>
          </a:ln>
        </p:spPr>
      </p:sp>
      <p:sp>
        <p:nvSpPr>
          <p:cNvPr id="158" name="line-661"/>
          <p:cNvSpPr/>
          <p:nvPr/>
        </p:nvSpPr>
        <p:spPr>
          <a:xfrm>
            <a:off x="3291840" y="2697480"/>
            <a:ext cx="0" cy="1947672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59" name="line-662"/>
          <p:cNvSpPr/>
          <p:nvPr/>
        </p:nvSpPr>
        <p:spPr>
          <a:xfrm>
            <a:off x="3675888" y="2697480"/>
            <a:ext cx="0" cy="1947672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60" name="line-663"/>
          <p:cNvSpPr/>
          <p:nvPr/>
        </p:nvSpPr>
        <p:spPr>
          <a:xfrm>
            <a:off x="4059936" y="2697480"/>
            <a:ext cx="0" cy="1947672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61" name="line-664"/>
          <p:cNvSpPr/>
          <p:nvPr/>
        </p:nvSpPr>
        <p:spPr>
          <a:xfrm>
            <a:off x="4443984" y="2697480"/>
            <a:ext cx="0" cy="1947672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62" name="line-665"/>
          <p:cNvSpPr/>
          <p:nvPr/>
        </p:nvSpPr>
        <p:spPr>
          <a:xfrm>
            <a:off x="4828032" y="2697480"/>
            <a:ext cx="0" cy="1947672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63" name="line-666"/>
          <p:cNvSpPr/>
          <p:nvPr/>
        </p:nvSpPr>
        <p:spPr>
          <a:xfrm>
            <a:off x="5212080" y="2697480"/>
            <a:ext cx="0" cy="1947672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64" name="line-667"/>
          <p:cNvSpPr/>
          <p:nvPr/>
        </p:nvSpPr>
        <p:spPr>
          <a:xfrm>
            <a:off x="5596128" y="2697480"/>
            <a:ext cx="0" cy="1947672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65" name="line-668"/>
          <p:cNvSpPr/>
          <p:nvPr/>
        </p:nvSpPr>
        <p:spPr>
          <a:xfrm>
            <a:off x="5980176" y="2697480"/>
            <a:ext cx="0" cy="1947672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66" name="line-669"/>
          <p:cNvSpPr/>
          <p:nvPr/>
        </p:nvSpPr>
        <p:spPr>
          <a:xfrm>
            <a:off x="6364224" y="2697480"/>
            <a:ext cx="0" cy="1947672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67" name="line-670"/>
          <p:cNvSpPr/>
          <p:nvPr/>
        </p:nvSpPr>
        <p:spPr>
          <a:xfrm>
            <a:off x="6748272" y="2697480"/>
            <a:ext cx="0" cy="1947672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68" name="line-671"/>
          <p:cNvSpPr/>
          <p:nvPr/>
        </p:nvSpPr>
        <p:spPr>
          <a:xfrm>
            <a:off x="7132320" y="2697480"/>
            <a:ext cx="0" cy="1947672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69" name="line-672"/>
          <p:cNvSpPr/>
          <p:nvPr/>
        </p:nvSpPr>
        <p:spPr>
          <a:xfrm>
            <a:off x="7516368" y="2697480"/>
            <a:ext cx="0" cy="1947672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70" name="line-673"/>
          <p:cNvSpPr/>
          <p:nvPr/>
        </p:nvSpPr>
        <p:spPr>
          <a:xfrm>
            <a:off x="7900416" y="2697480"/>
            <a:ext cx="0" cy="1947672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71" name="line-674"/>
          <p:cNvSpPr/>
          <p:nvPr/>
        </p:nvSpPr>
        <p:spPr>
          <a:xfrm>
            <a:off x="8284464" y="2697480"/>
            <a:ext cx="0" cy="1947672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72" name="line-675"/>
          <p:cNvSpPr/>
          <p:nvPr/>
        </p:nvSpPr>
        <p:spPr>
          <a:xfrm>
            <a:off x="8668512" y="2697480"/>
            <a:ext cx="0" cy="1947672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73" name="line-676"/>
          <p:cNvSpPr/>
          <p:nvPr/>
        </p:nvSpPr>
        <p:spPr>
          <a:xfrm>
            <a:off x="3291840" y="2743200"/>
            <a:ext cx="5760720" cy="0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74" name="line-677"/>
          <p:cNvSpPr/>
          <p:nvPr/>
        </p:nvSpPr>
        <p:spPr>
          <a:xfrm>
            <a:off x="3291840" y="3072384"/>
            <a:ext cx="5760720" cy="0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75" name="line-678"/>
          <p:cNvSpPr/>
          <p:nvPr/>
        </p:nvSpPr>
        <p:spPr>
          <a:xfrm>
            <a:off x="3291840" y="3401568"/>
            <a:ext cx="5760720" cy="0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76" name="line-679"/>
          <p:cNvSpPr/>
          <p:nvPr/>
        </p:nvSpPr>
        <p:spPr>
          <a:xfrm>
            <a:off x="3291840" y="3730752"/>
            <a:ext cx="5760720" cy="0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77" name="line-680"/>
          <p:cNvSpPr/>
          <p:nvPr/>
        </p:nvSpPr>
        <p:spPr>
          <a:xfrm>
            <a:off x="3291840" y="4059936"/>
            <a:ext cx="5760720" cy="0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78" name="line-681"/>
          <p:cNvSpPr/>
          <p:nvPr/>
        </p:nvSpPr>
        <p:spPr>
          <a:xfrm>
            <a:off x="3291840" y="4389120"/>
            <a:ext cx="5760720" cy="0"/>
          </a:xfrm>
          <a:prstGeom prst="line">
            <a:avLst/>
          </a:prstGeom>
          <a:noFill/>
          <a:ln w="5715">
            <a:solidFill>
              <a:srgbClr val="C5D8CD"/>
            </a:solidFill>
            <a:prstDash val="solid"/>
          </a:ln>
        </p:spPr>
      </p:sp>
      <p:sp>
        <p:nvSpPr>
          <p:cNvPr id="179" name="text-682"/>
          <p:cNvSpPr/>
          <p:nvPr/>
        </p:nvSpPr>
        <p:spPr>
          <a:xfrm>
            <a:off x="713232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模型树</a:t>
            </a:r>
            <a:endParaRPr lang="en-US" sz="2100" dirty="0"/>
          </a:p>
        </p:txBody>
      </p:sp>
      <p:sp>
        <p:nvSpPr>
          <p:cNvPr id="180" name="text-683"/>
          <p:cNvSpPr/>
          <p:nvPr/>
        </p:nvSpPr>
        <p:spPr>
          <a:xfrm>
            <a:off x="713232" y="2834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杆件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 / 截面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约束 / 荷载</a:t>
            </a:r>
            <a:endParaRPr lang="en-US" sz="1800" dirty="0"/>
          </a:p>
        </p:txBody>
      </p:sp>
      <p:sp>
        <p:nvSpPr>
          <p:cNvPr id="181" name="text-684"/>
          <p:cNvSpPr/>
          <p:nvPr/>
        </p:nvSpPr>
        <p:spPr>
          <a:xfrm>
            <a:off x="3246120" y="2103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视图区</a:t>
            </a:r>
            <a:endParaRPr lang="en-US" sz="2100" dirty="0"/>
          </a:p>
        </p:txBody>
      </p:sp>
      <p:sp>
        <p:nvSpPr>
          <p:cNvPr id="182" name="line-685"/>
          <p:cNvSpPr/>
          <p:nvPr/>
        </p:nvSpPr>
        <p:spPr>
          <a:xfrm>
            <a:off x="3703320" y="3794760"/>
            <a:ext cx="4754880" cy="0"/>
          </a:xfrm>
          <a:prstGeom prst="line">
            <a:avLst/>
          </a:prstGeom>
          <a:noFill/>
          <a:ln w="76200">
            <a:solidFill>
              <a:srgbClr val="202C47"/>
            </a:solidFill>
            <a:prstDash val="solid"/>
          </a:ln>
        </p:spPr>
      </p:sp>
      <p:sp>
        <p:nvSpPr>
          <p:cNvPr id="183" name="support-686"/>
          <p:cNvSpPr/>
          <p:nvPr/>
        </p:nvSpPr>
        <p:spPr>
          <a:xfrm>
            <a:off x="3538728" y="3849624"/>
            <a:ext cx="329184" cy="274320"/>
          </a:xfrm>
          <a:prstGeom prst="triangle">
            <a:avLst/>
          </a:prstGeom>
          <a:solidFill>
            <a:srgbClr val="DDEAE2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84" name="support-687"/>
          <p:cNvSpPr/>
          <p:nvPr/>
        </p:nvSpPr>
        <p:spPr>
          <a:xfrm>
            <a:off x="8293608" y="3849624"/>
            <a:ext cx="329184" cy="274320"/>
          </a:xfrm>
          <a:prstGeom prst="triangle">
            <a:avLst/>
          </a:prstGeom>
          <a:solidFill>
            <a:srgbClr val="DDEAE2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85" name="line-688"/>
          <p:cNvSpPr/>
          <p:nvPr/>
        </p:nvSpPr>
        <p:spPr>
          <a:xfrm>
            <a:off x="6080760" y="2880360"/>
            <a:ext cx="0" cy="868680"/>
          </a:xfrm>
          <a:prstGeom prst="line">
            <a:avLst/>
          </a:prstGeom>
          <a:noFill/>
          <a:ln w="38100">
            <a:solidFill>
              <a:srgbClr val="C6834D"/>
            </a:solidFill>
            <a:prstDash val="solid"/>
            <a:tailEnd type="triangle"/>
          </a:ln>
        </p:spPr>
      </p:sp>
      <p:sp>
        <p:nvSpPr>
          <p:cNvPr id="186" name="text-689"/>
          <p:cNvSpPr/>
          <p:nvPr/>
        </p:nvSpPr>
        <p:spPr>
          <a:xfrm>
            <a:off x="62179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18 kN</a:t>
            </a:r>
            <a:endParaRPr lang="en-US" sz="1900" dirty="0"/>
          </a:p>
        </p:txBody>
      </p:sp>
      <p:sp>
        <p:nvSpPr>
          <p:cNvPr id="187" name="text-690"/>
          <p:cNvSpPr/>
          <p:nvPr/>
        </p:nvSpPr>
        <p:spPr>
          <a:xfrm>
            <a:off x="3566160" y="4251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600" dirty="0"/>
          </a:p>
        </p:txBody>
      </p:sp>
      <p:sp>
        <p:nvSpPr>
          <p:cNvPr id="188" name="text-691"/>
          <p:cNvSpPr/>
          <p:nvPr/>
        </p:nvSpPr>
        <p:spPr>
          <a:xfrm>
            <a:off x="8321040" y="4251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600" dirty="0"/>
          </a:p>
        </p:txBody>
      </p:sp>
      <p:sp>
        <p:nvSpPr>
          <p:cNvPr id="189" name="text-692"/>
          <p:cNvSpPr/>
          <p:nvPr/>
        </p:nvSpPr>
        <p:spPr>
          <a:xfrm>
            <a:off x="3337560" y="46908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选择对象 · 查看受力 · 观察结果</a:t>
            </a:r>
            <a:endParaRPr lang="en-US" sz="1600" dirty="0"/>
          </a:p>
        </p:txBody>
      </p:sp>
      <p:sp>
        <p:nvSpPr>
          <p:cNvPr id="190" name="text-693"/>
          <p:cNvSpPr/>
          <p:nvPr/>
        </p:nvSpPr>
        <p:spPr>
          <a:xfrm>
            <a:off x="9619488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属性面板</a:t>
            </a:r>
            <a:endParaRPr lang="en-US" sz="2100" dirty="0"/>
          </a:p>
        </p:txBody>
      </p:sp>
      <p:sp>
        <p:nvSpPr>
          <p:cNvPr id="191" name="text-694"/>
          <p:cNvSpPr/>
          <p:nvPr/>
        </p:nvSpPr>
        <p:spPr>
          <a:xfrm>
            <a:off x="9619488" y="2834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坐标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材料参数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截面尺寸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荷载大小</a:t>
            </a:r>
            <a:endParaRPr lang="en-US" sz="1800" dirty="0"/>
          </a:p>
        </p:txBody>
      </p:sp>
      <p:sp>
        <p:nvSpPr>
          <p:cNvPr id="192" name="text-695"/>
          <p:cNvSpPr/>
          <p:nvPr/>
        </p:nvSpPr>
        <p:spPr>
          <a:xfrm>
            <a:off x="713232" y="537667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先检查：单位制  /  自由度约束  /  载荷方向  /  截面与材料</a:t>
            </a:r>
            <a:endParaRPr lang="en-US" sz="1400" dirty="0"/>
          </a:p>
        </p:txBody>
      </p:sp>
      <p:sp>
        <p:nvSpPr>
          <p:cNvPr id="193" name="text-696"/>
          <p:cNvSpPr/>
          <p:nvPr/>
        </p:nvSpPr>
        <p:spPr>
          <a:xfrm>
            <a:off x="594360" y="5650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操作顺序：左边找对象 → 中间看位置 → 右边改参数</a:t>
            </a:r>
            <a:endParaRPr lang="en-US" sz="2100" dirty="0"/>
          </a:p>
        </p:txBody>
      </p:sp>
      <p:sp>
        <p:nvSpPr>
          <p:cNvPr id="194" name="text-697"/>
          <p:cNvSpPr/>
          <p:nvPr/>
        </p:nvSpPr>
        <p:spPr>
          <a:xfrm>
            <a:off x="8641080" y="61081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界面区域示意，非软件截图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698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699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700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二维分析</a:t>
            </a:r>
            <a:endParaRPr lang="en-US" sz="1000" dirty="0"/>
          </a:p>
        </p:txBody>
      </p:sp>
      <p:sp>
        <p:nvSpPr>
          <p:cNvPr id="5" name="panel-701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702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一眼看受力，也能看到变形</a:t>
            </a:r>
            <a:endParaRPr lang="en-US" sz="2800" dirty="0"/>
          </a:p>
        </p:txBody>
      </p:sp>
      <p:sp>
        <p:nvSpPr>
          <p:cNvPr id="7" name="line-703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704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705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706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707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708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709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710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711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712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713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714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715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716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717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718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719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720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721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722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723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724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725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726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727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728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729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730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731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732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733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734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735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736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737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738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739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740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741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742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743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744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745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746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747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748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749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750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751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752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753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754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755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756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757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758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759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760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761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762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763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764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765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766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767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768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769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770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771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772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773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774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775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776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777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778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779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780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781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782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783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784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785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786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787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788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789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790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791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792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793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794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795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796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797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798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799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800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801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802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803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804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805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806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807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808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809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810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811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812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813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814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815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816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817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818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819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820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821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822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823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824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825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826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827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828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829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830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831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832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833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834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835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836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837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838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839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840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841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842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843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844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845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846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847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848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849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850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pic>
        <p:nvPicPr>
          <p:cNvPr id="155" name="repository-doc-evidence" descr="D:\MACHANICS-OF-MATERIALS-main\docs\public\simply_suppor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65960"/>
            <a:ext cx="7406640" cy="3493008"/>
          </a:xfrm>
          <a:prstGeom prst="rect">
            <a:avLst/>
          </a:prstGeom>
        </p:spPr>
      </p:pic>
      <p:sp>
        <p:nvSpPr>
          <p:cNvPr id="156" name="text-851"/>
          <p:cNvSpPr/>
          <p:nvPr/>
        </p:nvSpPr>
        <p:spPr>
          <a:xfrm>
            <a:off x="822960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受力</a:t>
            </a:r>
            <a:endParaRPr lang="en-US" sz="2200" dirty="0"/>
          </a:p>
        </p:txBody>
      </p:sp>
      <p:sp>
        <p:nvSpPr>
          <p:cNvPr id="157" name="text-852"/>
          <p:cNvSpPr/>
          <p:nvPr/>
        </p:nvSpPr>
        <p:spPr>
          <a:xfrm>
            <a:off x="82296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荷载与支座关系</a:t>
            </a:r>
            <a:endParaRPr lang="en-US" sz="1700" dirty="0"/>
          </a:p>
        </p:txBody>
      </p:sp>
      <p:sp>
        <p:nvSpPr>
          <p:cNvPr id="158" name="text-853"/>
          <p:cNvSpPr/>
          <p:nvPr/>
        </p:nvSpPr>
        <p:spPr>
          <a:xfrm>
            <a:off x="822960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变形</a:t>
            </a:r>
            <a:endParaRPr lang="en-US" sz="2200" dirty="0"/>
          </a:p>
        </p:txBody>
      </p:sp>
      <p:sp>
        <p:nvSpPr>
          <p:cNvPr id="159" name="text-854"/>
          <p:cNvSpPr/>
          <p:nvPr/>
        </p:nvSpPr>
        <p:spPr>
          <a:xfrm>
            <a:off x="822960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结构响应更直观</a:t>
            </a:r>
            <a:endParaRPr lang="en-US" sz="1700" dirty="0"/>
          </a:p>
        </p:txBody>
      </p:sp>
      <p:sp>
        <p:nvSpPr>
          <p:cNvPr id="160" name="text-855"/>
          <p:cNvSpPr/>
          <p:nvPr/>
        </p:nvSpPr>
        <p:spPr>
          <a:xfrm>
            <a:off x="594360" y="550468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看图顺序：外荷载 → 支反力 → 变形趋势 → 内力与危险位置</a:t>
            </a:r>
            <a:endParaRPr lang="en-US" sz="1700" dirty="0"/>
          </a:p>
        </p:txBody>
      </p:sp>
      <p:sp>
        <p:nvSpPr>
          <p:cNvPr id="161" name="text-856"/>
          <p:cNvSpPr/>
          <p:nvPr/>
        </p:nvSpPr>
        <p:spPr>
          <a:xfrm>
            <a:off x="548640" y="5806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仓库文档中的历史界面示例：均布荷载简支梁；与下一页集中力案例不同。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857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858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859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案例 · 建模</a:t>
            </a:r>
            <a:endParaRPr lang="en-US" sz="1000" dirty="0"/>
          </a:p>
        </p:txBody>
      </p:sp>
      <p:sp>
        <p:nvSpPr>
          <p:cNvPr id="5" name="panel-860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861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现场演示：先预测，再点击求解</a:t>
            </a:r>
            <a:endParaRPr lang="en-US" sz="2800" dirty="0"/>
          </a:p>
        </p:txBody>
      </p:sp>
      <p:sp>
        <p:nvSpPr>
          <p:cNvPr id="7" name="line-862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863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864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865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866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867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868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869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870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871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872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873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874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875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876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877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878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879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880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881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882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883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884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885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886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887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888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889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890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891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892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893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894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895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896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897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898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899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900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901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902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903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904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905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906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907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908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909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910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911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912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913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914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915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916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917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918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919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920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921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922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923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924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925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926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927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928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929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930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931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932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933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934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935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936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937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938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939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940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941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942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943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944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945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946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947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948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949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950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951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952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953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954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955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956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957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958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959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960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961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962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963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964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965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966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967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968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969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970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971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972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973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974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975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976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977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978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979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980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981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982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983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984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985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986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987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988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989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990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991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992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993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994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995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996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997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998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999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1000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1001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1002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1003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1004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1005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1006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1007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1008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1009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155" name="line-1010"/>
          <p:cNvSpPr/>
          <p:nvPr/>
        </p:nvSpPr>
        <p:spPr>
          <a:xfrm>
            <a:off x="1005840" y="3291840"/>
            <a:ext cx="6492240" cy="0"/>
          </a:xfrm>
          <a:prstGeom prst="line">
            <a:avLst/>
          </a:prstGeom>
          <a:noFill/>
          <a:ln w="76200">
            <a:solidFill>
              <a:srgbClr val="202C47"/>
            </a:solidFill>
            <a:prstDash val="solid"/>
          </a:ln>
        </p:spPr>
      </p:sp>
      <p:sp>
        <p:nvSpPr>
          <p:cNvPr id="156" name="support-1011"/>
          <p:cNvSpPr/>
          <p:nvPr/>
        </p:nvSpPr>
        <p:spPr>
          <a:xfrm>
            <a:off x="841248" y="3346704"/>
            <a:ext cx="329184" cy="274320"/>
          </a:xfrm>
          <a:prstGeom prst="triangle">
            <a:avLst/>
          </a:prstGeom>
          <a:solidFill>
            <a:srgbClr val="DDEAE2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57" name="support-1012"/>
          <p:cNvSpPr/>
          <p:nvPr/>
        </p:nvSpPr>
        <p:spPr>
          <a:xfrm>
            <a:off x="7333488" y="3346704"/>
            <a:ext cx="329184" cy="274320"/>
          </a:xfrm>
          <a:prstGeom prst="triangle">
            <a:avLst/>
          </a:prstGeom>
          <a:solidFill>
            <a:srgbClr val="DDEAE2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58" name="line-1013"/>
          <p:cNvSpPr/>
          <p:nvPr/>
        </p:nvSpPr>
        <p:spPr>
          <a:xfrm>
            <a:off x="4251960" y="2377440"/>
            <a:ext cx="0" cy="868680"/>
          </a:xfrm>
          <a:prstGeom prst="line">
            <a:avLst/>
          </a:prstGeom>
          <a:noFill/>
          <a:ln w="38100">
            <a:solidFill>
              <a:srgbClr val="C6834D"/>
            </a:solidFill>
            <a:prstDash val="solid"/>
            <a:tailEnd type="triangle"/>
          </a:ln>
        </p:spPr>
      </p:sp>
      <p:sp>
        <p:nvSpPr>
          <p:cNvPr id="159" name="text-1014"/>
          <p:cNvSpPr/>
          <p:nvPr/>
        </p:nvSpPr>
        <p:spPr>
          <a:xfrm>
            <a:off x="438912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18 kN</a:t>
            </a:r>
            <a:endParaRPr lang="en-US" sz="1900" dirty="0"/>
          </a:p>
        </p:txBody>
      </p:sp>
      <p:sp>
        <p:nvSpPr>
          <p:cNvPr id="160" name="text-1015"/>
          <p:cNvSpPr/>
          <p:nvPr/>
        </p:nvSpPr>
        <p:spPr>
          <a:xfrm>
            <a:off x="868680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600" dirty="0"/>
          </a:p>
        </p:txBody>
      </p:sp>
      <p:sp>
        <p:nvSpPr>
          <p:cNvPr id="161" name="text-1016"/>
          <p:cNvSpPr/>
          <p:nvPr/>
        </p:nvSpPr>
        <p:spPr>
          <a:xfrm>
            <a:off x="7360920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600" dirty="0"/>
          </a:p>
        </p:txBody>
      </p:sp>
      <p:sp>
        <p:nvSpPr>
          <p:cNvPr id="162" name="line-1017"/>
          <p:cNvSpPr/>
          <p:nvPr/>
        </p:nvSpPr>
        <p:spPr>
          <a:xfrm>
            <a:off x="1005840" y="4297680"/>
            <a:ext cx="6492240" cy="0"/>
          </a:xfrm>
          <a:prstGeom prst="line">
            <a:avLst/>
          </a:prstGeom>
          <a:noFill/>
          <a:ln w="12700">
            <a:solidFill>
              <a:srgbClr val="B8C5D0"/>
            </a:solidFill>
            <a:prstDash val="solid"/>
          </a:ln>
        </p:spPr>
      </p:sp>
      <p:sp>
        <p:nvSpPr>
          <p:cNvPr id="163" name="text-1018"/>
          <p:cNvSpPr/>
          <p:nvPr/>
        </p:nvSpPr>
        <p:spPr>
          <a:xfrm>
            <a:off x="205740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3 m</a:t>
            </a:r>
            <a:endParaRPr lang="en-US" sz="1900" dirty="0"/>
          </a:p>
        </p:txBody>
      </p:sp>
      <p:sp>
        <p:nvSpPr>
          <p:cNvPr id="164" name="text-1019"/>
          <p:cNvSpPr/>
          <p:nvPr/>
        </p:nvSpPr>
        <p:spPr>
          <a:xfrm>
            <a:off x="534924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3 m</a:t>
            </a:r>
            <a:endParaRPr lang="en-US" sz="1900" dirty="0"/>
          </a:p>
        </p:txBody>
      </p:sp>
      <p:sp>
        <p:nvSpPr>
          <p:cNvPr id="165" name="panel-1020"/>
          <p:cNvSpPr/>
          <p:nvPr/>
        </p:nvSpPr>
        <p:spPr>
          <a:xfrm>
            <a:off x="8229600" y="1920240"/>
            <a:ext cx="3456432" cy="3611880"/>
          </a:xfrm>
          <a:prstGeom prst="rect">
            <a:avLst/>
          </a:prstGeom>
          <a:solidFill>
            <a:srgbClr val="ECEEF5"/>
          </a:solidFill>
          <a:ln w="12700">
            <a:solidFill>
              <a:srgbClr val="ECEEF5"/>
            </a:solidFill>
            <a:prstDash val="solid"/>
          </a:ln>
        </p:spPr>
      </p:sp>
      <p:sp>
        <p:nvSpPr>
          <p:cNvPr id="166" name="text-1021"/>
          <p:cNvSpPr/>
          <p:nvPr/>
        </p:nvSpPr>
        <p:spPr>
          <a:xfrm>
            <a:off x="845820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输入检查</a:t>
            </a:r>
            <a:endParaRPr lang="en-US" sz="2300" dirty="0"/>
          </a:p>
        </p:txBody>
      </p:sp>
      <p:sp>
        <p:nvSpPr>
          <p:cNvPr id="167" name="text-1022"/>
          <p:cNvSpPr/>
          <p:nvPr/>
        </p:nvSpPr>
        <p:spPr>
          <a:xfrm>
            <a:off x="8458200" y="2926080"/>
            <a:ext cx="2926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① 跨长 6 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② 两端简支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③ 跨中向下 18 kN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④ 材料、截面与单位</a:t>
            </a:r>
            <a:endParaRPr lang="en-US" sz="1800" dirty="0"/>
          </a:p>
        </p:txBody>
      </p:sp>
      <p:sp>
        <p:nvSpPr>
          <p:cNvPr id="168" name="panel-1023"/>
          <p:cNvSpPr/>
          <p:nvPr/>
        </p:nvSpPr>
        <p:spPr>
          <a:xfrm>
            <a:off x="731520" y="5102352"/>
            <a:ext cx="7040880" cy="384048"/>
          </a:xfrm>
          <a:prstGeom prst="rect">
            <a:avLst/>
          </a:prstGeom>
          <a:solidFill>
            <a:srgbClr val="DDEAE2"/>
          </a:solidFill>
          <a:ln w="12700">
            <a:solidFill>
              <a:srgbClr val="DDEAE2"/>
            </a:solidFill>
            <a:prstDash val="solid"/>
          </a:ln>
        </p:spPr>
      </p:sp>
      <p:sp>
        <p:nvSpPr>
          <p:cNvPr id="169" name="text-1024"/>
          <p:cNvSpPr/>
          <p:nvPr/>
        </p:nvSpPr>
        <p:spPr>
          <a:xfrm>
            <a:off x="914400" y="5184648"/>
            <a:ext cx="6675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节点 A：0 m    /    跨中：3 m    /    节点 B：6 m</a:t>
            </a:r>
            <a:endParaRPr lang="en-US" sz="1500" dirty="0"/>
          </a:p>
        </p:txBody>
      </p:sp>
      <p:sp>
        <p:nvSpPr>
          <p:cNvPr id="170" name="text-1025"/>
          <p:cNvSpPr/>
          <p:nvPr/>
        </p:nvSpPr>
        <p:spPr>
          <a:xfrm>
            <a:off x="594360" y="5669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先问同学：两端支反力各是多少？最大弯矩在哪里？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1026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1027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1028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案例 · 解析对照</a:t>
            </a:r>
            <a:endParaRPr lang="en-US" sz="1000" dirty="0"/>
          </a:p>
        </p:txBody>
      </p:sp>
      <p:sp>
        <p:nvSpPr>
          <p:cNvPr id="5" name="panel-1029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1030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结果要能解释，更要能验算</a:t>
            </a:r>
            <a:endParaRPr lang="en-US" sz="2800" dirty="0"/>
          </a:p>
        </p:txBody>
      </p:sp>
      <p:sp>
        <p:nvSpPr>
          <p:cNvPr id="7" name="line-1031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1032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1033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1034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1035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1036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1037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1038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1039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1040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1041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1042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1043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1044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1045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1046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1047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1048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1049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1050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1051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1052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1053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1054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1055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1056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1057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1058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1059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1060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1061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1062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1063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1064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1065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1066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1067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1068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1069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1070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1071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1072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1073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1074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1075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1076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1077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1078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1079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1080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1081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1082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1083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1084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1085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1086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1087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1088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1089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1090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1091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1092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1093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1094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1095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1096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1097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1098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1099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1100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1101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1102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1103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1104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1105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1106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1107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1108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1109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1110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1111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1112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1113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1114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1115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1116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1117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1118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1119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1120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1121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1122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1123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1124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1125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1126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1127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1128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1129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1130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1131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1132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1133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1134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1135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1136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1137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1138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1139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1140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1141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1142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1143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1144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1145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1146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1147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1148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1149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1150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1151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1152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1153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1154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1155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1156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1157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1158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1159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1160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1161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1162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1163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1164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1165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1166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1167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1168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1169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1170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1171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1172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1173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1174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1175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1176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1177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1178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155" name="line-1179"/>
          <p:cNvSpPr/>
          <p:nvPr/>
        </p:nvSpPr>
        <p:spPr>
          <a:xfrm>
            <a:off x="1005840" y="2606040"/>
            <a:ext cx="5669280" cy="0"/>
          </a:xfrm>
          <a:prstGeom prst="line">
            <a:avLst/>
          </a:prstGeom>
          <a:noFill/>
          <a:ln w="76200">
            <a:solidFill>
              <a:srgbClr val="202C47"/>
            </a:solidFill>
            <a:prstDash val="solid"/>
          </a:ln>
        </p:spPr>
      </p:sp>
      <p:sp>
        <p:nvSpPr>
          <p:cNvPr id="156" name="support-1180"/>
          <p:cNvSpPr/>
          <p:nvPr/>
        </p:nvSpPr>
        <p:spPr>
          <a:xfrm>
            <a:off x="841248" y="2660904"/>
            <a:ext cx="329184" cy="274320"/>
          </a:xfrm>
          <a:prstGeom prst="triangle">
            <a:avLst/>
          </a:prstGeom>
          <a:solidFill>
            <a:srgbClr val="DDEAE2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57" name="support-1181"/>
          <p:cNvSpPr/>
          <p:nvPr/>
        </p:nvSpPr>
        <p:spPr>
          <a:xfrm>
            <a:off x="6510528" y="2660904"/>
            <a:ext cx="329184" cy="274320"/>
          </a:xfrm>
          <a:prstGeom prst="triangle">
            <a:avLst/>
          </a:prstGeom>
          <a:solidFill>
            <a:srgbClr val="DDEAE2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58" name="line-1182"/>
          <p:cNvSpPr/>
          <p:nvPr/>
        </p:nvSpPr>
        <p:spPr>
          <a:xfrm>
            <a:off x="3840480" y="1691640"/>
            <a:ext cx="0" cy="868680"/>
          </a:xfrm>
          <a:prstGeom prst="line">
            <a:avLst/>
          </a:prstGeom>
          <a:noFill/>
          <a:ln w="38100">
            <a:solidFill>
              <a:srgbClr val="C6834D"/>
            </a:solidFill>
            <a:prstDash val="solid"/>
            <a:tailEnd type="triangle"/>
          </a:ln>
        </p:spPr>
      </p:sp>
      <p:sp>
        <p:nvSpPr>
          <p:cNvPr id="159" name="text-1183"/>
          <p:cNvSpPr/>
          <p:nvPr/>
        </p:nvSpPr>
        <p:spPr>
          <a:xfrm>
            <a:off x="397764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18 kN</a:t>
            </a:r>
            <a:endParaRPr lang="en-US" sz="1900" dirty="0"/>
          </a:p>
        </p:txBody>
      </p:sp>
      <p:sp>
        <p:nvSpPr>
          <p:cNvPr id="160" name="text-1184"/>
          <p:cNvSpPr/>
          <p:nvPr/>
        </p:nvSpPr>
        <p:spPr>
          <a:xfrm>
            <a:off x="86868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600" dirty="0"/>
          </a:p>
        </p:txBody>
      </p:sp>
      <p:sp>
        <p:nvSpPr>
          <p:cNvPr id="161" name="text-1185"/>
          <p:cNvSpPr/>
          <p:nvPr/>
        </p:nvSpPr>
        <p:spPr>
          <a:xfrm>
            <a:off x="653796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600" dirty="0"/>
          </a:p>
        </p:txBody>
      </p:sp>
      <p:sp>
        <p:nvSpPr>
          <p:cNvPr id="162" name="line-1186"/>
          <p:cNvSpPr/>
          <p:nvPr/>
        </p:nvSpPr>
        <p:spPr>
          <a:xfrm flipV="1">
            <a:off x="1005840" y="2788920"/>
            <a:ext cx="0" cy="777240"/>
          </a:xfrm>
          <a:prstGeom prst="line">
            <a:avLst/>
          </a:prstGeom>
          <a:noFill/>
          <a:ln w="25400">
            <a:solidFill>
              <a:srgbClr val="285C75"/>
            </a:solidFill>
            <a:prstDash val="solid"/>
            <a:tailEnd type="triangle"/>
          </a:ln>
        </p:spPr>
      </p:sp>
      <p:sp>
        <p:nvSpPr>
          <p:cNvPr id="163" name="line-1187"/>
          <p:cNvSpPr/>
          <p:nvPr/>
        </p:nvSpPr>
        <p:spPr>
          <a:xfrm flipV="1">
            <a:off x="6675120" y="2788920"/>
            <a:ext cx="0" cy="777240"/>
          </a:xfrm>
          <a:prstGeom prst="line">
            <a:avLst/>
          </a:prstGeom>
          <a:noFill/>
          <a:ln w="25400">
            <a:solidFill>
              <a:srgbClr val="285C75"/>
            </a:solidFill>
            <a:prstDash val="solid"/>
            <a:tailEnd type="triangle"/>
          </a:ln>
        </p:spPr>
      </p:sp>
      <p:sp>
        <p:nvSpPr>
          <p:cNvPr id="164" name="text-1188"/>
          <p:cNvSpPr/>
          <p:nvPr/>
        </p:nvSpPr>
        <p:spPr>
          <a:xfrm>
            <a:off x="123444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9 kN</a:t>
            </a:r>
            <a:endParaRPr lang="en-US" sz="1800" dirty="0"/>
          </a:p>
        </p:txBody>
      </p:sp>
      <p:sp>
        <p:nvSpPr>
          <p:cNvPr id="165" name="text-1189"/>
          <p:cNvSpPr/>
          <p:nvPr/>
        </p:nvSpPr>
        <p:spPr>
          <a:xfrm>
            <a:off x="525780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9 kN</a:t>
            </a:r>
            <a:endParaRPr lang="en-US" sz="1800" dirty="0"/>
          </a:p>
        </p:txBody>
      </p:sp>
      <p:sp>
        <p:nvSpPr>
          <p:cNvPr id="166" name="text-1190"/>
          <p:cNvSpPr/>
          <p:nvPr/>
        </p:nvSpPr>
        <p:spPr>
          <a:xfrm>
            <a:off x="777240" y="3703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剪力示意</a:t>
            </a:r>
            <a:endParaRPr lang="en-US" sz="1300" dirty="0"/>
          </a:p>
        </p:txBody>
      </p:sp>
      <p:sp>
        <p:nvSpPr>
          <p:cNvPr id="167" name="line-1191"/>
          <p:cNvSpPr/>
          <p:nvPr/>
        </p:nvSpPr>
        <p:spPr>
          <a:xfrm>
            <a:off x="2286000" y="3886200"/>
            <a:ext cx="4389120" cy="0"/>
          </a:xfrm>
          <a:prstGeom prst="line">
            <a:avLst/>
          </a:prstGeom>
          <a:noFill/>
          <a:ln w="8890">
            <a:solidFill>
              <a:srgbClr val="BAC6CE"/>
            </a:solidFill>
            <a:prstDash val="solid"/>
          </a:ln>
        </p:spPr>
      </p:sp>
      <p:sp>
        <p:nvSpPr>
          <p:cNvPr id="168" name="line-1192"/>
          <p:cNvSpPr/>
          <p:nvPr/>
        </p:nvSpPr>
        <p:spPr>
          <a:xfrm>
            <a:off x="2286000" y="3685032"/>
            <a:ext cx="2194560" cy="0"/>
          </a:xfrm>
          <a:prstGeom prst="line">
            <a:avLst/>
          </a:prstGeom>
          <a:noFill/>
          <a:ln w="25400">
            <a:solidFill>
              <a:srgbClr val="557969"/>
            </a:solidFill>
            <a:prstDash val="solid"/>
          </a:ln>
        </p:spPr>
      </p:sp>
      <p:sp>
        <p:nvSpPr>
          <p:cNvPr id="169" name="line-1193"/>
          <p:cNvSpPr/>
          <p:nvPr/>
        </p:nvSpPr>
        <p:spPr>
          <a:xfrm>
            <a:off x="4480560" y="3685032"/>
            <a:ext cx="0" cy="411480"/>
          </a:xfrm>
          <a:prstGeom prst="line">
            <a:avLst/>
          </a:prstGeom>
          <a:noFill/>
          <a:ln w="25400">
            <a:solidFill>
              <a:srgbClr val="557969"/>
            </a:solidFill>
            <a:prstDash val="solid"/>
          </a:ln>
        </p:spPr>
      </p:sp>
      <p:sp>
        <p:nvSpPr>
          <p:cNvPr id="170" name="line-1194"/>
          <p:cNvSpPr/>
          <p:nvPr/>
        </p:nvSpPr>
        <p:spPr>
          <a:xfrm>
            <a:off x="4480560" y="4096512"/>
            <a:ext cx="2194560" cy="0"/>
          </a:xfrm>
          <a:prstGeom prst="line">
            <a:avLst/>
          </a:prstGeom>
          <a:noFill/>
          <a:ln w="25400">
            <a:solidFill>
              <a:srgbClr val="557969"/>
            </a:solidFill>
            <a:prstDash val="solid"/>
          </a:ln>
        </p:spPr>
      </p:sp>
      <p:sp>
        <p:nvSpPr>
          <p:cNvPr id="171" name="text-1195"/>
          <p:cNvSpPr/>
          <p:nvPr/>
        </p:nvSpPr>
        <p:spPr>
          <a:xfrm>
            <a:off x="3063240" y="33558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96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+9</a:t>
            </a:r>
            <a:endParaRPr lang="en-US" sz="1200" dirty="0"/>
          </a:p>
        </p:txBody>
      </p:sp>
      <p:sp>
        <p:nvSpPr>
          <p:cNvPr id="172" name="text-1196"/>
          <p:cNvSpPr/>
          <p:nvPr/>
        </p:nvSpPr>
        <p:spPr>
          <a:xfrm>
            <a:off x="5486400" y="4096512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96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−9 kN</a:t>
            </a:r>
            <a:endParaRPr lang="en-US" sz="1200" dirty="0"/>
          </a:p>
        </p:txBody>
      </p:sp>
      <p:sp>
        <p:nvSpPr>
          <p:cNvPr id="173" name="text-1197"/>
          <p:cNvSpPr/>
          <p:nvPr/>
        </p:nvSpPr>
        <p:spPr>
          <a:xfrm>
            <a:off x="77724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弯矩幅值示意</a:t>
            </a:r>
            <a:endParaRPr lang="en-US" sz="1500" dirty="0"/>
          </a:p>
        </p:txBody>
      </p:sp>
      <p:sp>
        <p:nvSpPr>
          <p:cNvPr id="174" name="line-1198"/>
          <p:cNvSpPr/>
          <p:nvPr/>
        </p:nvSpPr>
        <p:spPr>
          <a:xfrm>
            <a:off x="1005840" y="4800600"/>
            <a:ext cx="5669280" cy="0"/>
          </a:xfrm>
          <a:prstGeom prst="line">
            <a:avLst/>
          </a:prstGeom>
          <a:noFill/>
          <a:ln w="12700">
            <a:solidFill>
              <a:srgbClr val="B8C5D0"/>
            </a:solidFill>
            <a:prstDash val="solid"/>
          </a:ln>
        </p:spPr>
      </p:sp>
      <p:sp>
        <p:nvSpPr>
          <p:cNvPr id="175" name="line-1199"/>
          <p:cNvSpPr/>
          <p:nvPr/>
        </p:nvSpPr>
        <p:spPr>
          <a:xfrm>
            <a:off x="1005840" y="4800600"/>
            <a:ext cx="2834640" cy="868680"/>
          </a:xfrm>
          <a:prstGeom prst="line">
            <a:avLst/>
          </a:prstGeom>
          <a:noFill/>
          <a:ln w="38100">
            <a:solidFill>
              <a:srgbClr val="285C75"/>
            </a:solidFill>
            <a:prstDash val="solid"/>
          </a:ln>
        </p:spPr>
      </p:sp>
      <p:sp>
        <p:nvSpPr>
          <p:cNvPr id="176" name="line-1200"/>
          <p:cNvSpPr/>
          <p:nvPr/>
        </p:nvSpPr>
        <p:spPr>
          <a:xfrm flipV="1">
            <a:off x="3840480" y="4800600"/>
            <a:ext cx="2834640" cy="868680"/>
          </a:xfrm>
          <a:prstGeom prst="line">
            <a:avLst/>
          </a:prstGeom>
          <a:noFill/>
          <a:ln w="38100">
            <a:solidFill>
              <a:srgbClr val="285C75"/>
            </a:solidFill>
            <a:prstDash val="solid"/>
          </a:ln>
        </p:spPr>
      </p:sp>
      <p:sp>
        <p:nvSpPr>
          <p:cNvPr id="177" name="text-1201"/>
          <p:cNvSpPr/>
          <p:nvPr/>
        </p:nvSpPr>
        <p:spPr>
          <a:xfrm>
            <a:off x="4069080" y="5532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跨中最大</a:t>
            </a:r>
            <a:endParaRPr lang="en-US" sz="1500" dirty="0"/>
          </a:p>
        </p:txBody>
      </p:sp>
      <p:sp>
        <p:nvSpPr>
          <p:cNvPr id="178" name="panel-1202"/>
          <p:cNvSpPr/>
          <p:nvPr/>
        </p:nvSpPr>
        <p:spPr>
          <a:xfrm>
            <a:off x="7955280" y="1920240"/>
            <a:ext cx="3730752" cy="3931920"/>
          </a:xfrm>
          <a:prstGeom prst="rect">
            <a:avLst/>
          </a:prstGeom>
          <a:solidFill>
            <a:srgbClr val="ECEEF5"/>
          </a:solidFill>
          <a:ln w="12700">
            <a:solidFill>
              <a:srgbClr val="ECEEF5"/>
            </a:solidFill>
            <a:prstDash val="solid"/>
          </a:ln>
        </p:spPr>
      </p:sp>
      <p:sp>
        <p:nvSpPr>
          <p:cNvPr id="179" name="text-1203"/>
          <p:cNvSpPr/>
          <p:nvPr/>
        </p:nvSpPr>
        <p:spPr>
          <a:xfrm>
            <a:off x="8211312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解析期望值</a:t>
            </a:r>
            <a:endParaRPr lang="en-US" sz="2400" dirty="0"/>
          </a:p>
        </p:txBody>
      </p:sp>
      <p:sp>
        <p:nvSpPr>
          <p:cNvPr id="180" name="text-1204"/>
          <p:cNvSpPr/>
          <p:nvPr/>
        </p:nvSpPr>
        <p:spPr>
          <a:xfrm>
            <a:off x="8211312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左右反力各 9 kN</a:t>
            </a:r>
            <a:endParaRPr lang="en-US" sz="2200" dirty="0"/>
          </a:p>
        </p:txBody>
      </p:sp>
      <p:sp>
        <p:nvSpPr>
          <p:cNvPr id="181" name="text-1205"/>
          <p:cNvSpPr/>
          <p:nvPr/>
        </p:nvSpPr>
        <p:spPr>
          <a:xfrm>
            <a:off x="8211312" y="3840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最大弯矩 27 kN·m</a:t>
            </a:r>
            <a:endParaRPr lang="en-US" sz="2200" dirty="0"/>
          </a:p>
        </p:txBody>
      </p:sp>
      <p:sp>
        <p:nvSpPr>
          <p:cNvPr id="182" name="text-1206"/>
          <p:cNvSpPr/>
          <p:nvPr/>
        </p:nvSpPr>
        <p:spPr>
          <a:xfrm>
            <a:off x="8211312" y="4709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18 × 6 ÷ 4 = 27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用软件输出与手算对照</a:t>
            </a:r>
            <a:endParaRPr lang="en-US" sz="1700" dirty="0"/>
          </a:p>
        </p:txBody>
      </p:sp>
      <p:sp>
        <p:nvSpPr>
          <p:cNvPr id="183" name="text-1207"/>
          <p:cNvSpPr/>
          <p:nvPr/>
        </p:nvSpPr>
        <p:spPr>
          <a:xfrm>
            <a:off x="548640" y="605332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本页为解析校核值，非本次软件运行实测；弯矩正负按软件约定。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1208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1209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1210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教学辅助</a:t>
            </a:r>
            <a:endParaRPr lang="en-US" sz="1000" dirty="0"/>
          </a:p>
        </p:txBody>
      </p:sp>
      <p:sp>
        <p:nvSpPr>
          <p:cNvPr id="5" name="panel-1211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1212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公式助手：从结果回到“为什么”</a:t>
            </a:r>
            <a:endParaRPr lang="en-US" sz="2800" dirty="0"/>
          </a:p>
        </p:txBody>
      </p:sp>
      <p:sp>
        <p:nvSpPr>
          <p:cNvPr id="7" name="line-1213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1214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1215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1216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1217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1218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1219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1220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1221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1222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1223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1224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1225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1226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1227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1228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1229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1230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1231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1232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1233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1234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1235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1236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1237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1238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1239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1240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1241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1242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1243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1244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1245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1246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1247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1248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1249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1250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1251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1252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1253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1254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1255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1256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1257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1258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1259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1260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1261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1262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1263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1264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1265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1266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1267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1268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1269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1270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1271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1272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1273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1274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1275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1276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1277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1278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1279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1280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1281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1282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1283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1284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1285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1286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1287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1288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1289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1290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1291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1292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1293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1294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1295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1296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1297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1298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1299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1300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1301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1302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1303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1304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1305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1306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1307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1308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1309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1310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1311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1312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1313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1314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1315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1316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1317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1318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1319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1320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1321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1322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1323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1324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1325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1326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1327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1328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1329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1330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1331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1332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1333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1334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1335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1336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1337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1338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1339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1340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1341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1342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1343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1344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1345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1346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1347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1348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1349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1350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1351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1352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1353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1354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1355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1356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1357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1358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1359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1360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55" name="panel-1361"/>
          <p:cNvSpPr/>
          <p:nvPr/>
        </p:nvSpPr>
        <p:spPr>
          <a:xfrm>
            <a:off x="502920" y="1920240"/>
            <a:ext cx="3547872" cy="3520440"/>
          </a:xfrm>
          <a:prstGeom prst="rect">
            <a:avLst/>
          </a:prstGeom>
          <a:solidFill>
            <a:srgbClr val="E7EDF2"/>
          </a:solidFill>
          <a:ln w="12700">
            <a:solidFill>
              <a:srgbClr val="E7EDF2"/>
            </a:solidFill>
            <a:prstDash val="solid"/>
          </a:ln>
        </p:spPr>
      </p:sp>
      <p:sp>
        <p:nvSpPr>
          <p:cNvPr id="156" name="panel-1362"/>
          <p:cNvSpPr/>
          <p:nvPr/>
        </p:nvSpPr>
        <p:spPr>
          <a:xfrm>
            <a:off x="502920" y="1920240"/>
            <a:ext cx="41148" cy="3520440"/>
          </a:xfrm>
          <a:prstGeom prst="rect">
            <a:avLst/>
          </a:prstGeom>
          <a:solidFill>
            <a:srgbClr val="285C75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57" name="text-1363"/>
          <p:cNvSpPr/>
          <p:nvPr/>
        </p:nvSpPr>
        <p:spPr>
          <a:xfrm>
            <a:off x="704088" y="21031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58" name="line-1364"/>
          <p:cNvSpPr/>
          <p:nvPr/>
        </p:nvSpPr>
        <p:spPr>
          <a:xfrm>
            <a:off x="704088" y="254203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59" name="text-1365"/>
          <p:cNvSpPr/>
          <p:nvPr/>
        </p:nvSpPr>
        <p:spPr>
          <a:xfrm>
            <a:off x="704088" y="27066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先选问题</a:t>
            </a:r>
            <a:endParaRPr lang="en-US" sz="2200" dirty="0"/>
          </a:p>
        </p:txBody>
      </p:sp>
      <p:sp>
        <p:nvSpPr>
          <p:cNvPr id="160" name="text-1366"/>
          <p:cNvSpPr/>
          <p:nvPr/>
        </p:nvSpPr>
        <p:spPr>
          <a:xfrm>
            <a:off x="704088" y="3355848"/>
            <a:ext cx="31455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轴向应力、弯曲应力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扭转剪应力、组合变形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明确已知量与目标量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再选择对应的公式模板</a:t>
            </a:r>
            <a:endParaRPr lang="en-US" sz="1600" dirty="0"/>
          </a:p>
        </p:txBody>
      </p:sp>
      <p:sp>
        <p:nvSpPr>
          <p:cNvPr id="161" name="panel-1367"/>
          <p:cNvSpPr/>
          <p:nvPr/>
        </p:nvSpPr>
        <p:spPr>
          <a:xfrm>
            <a:off x="4325112" y="1920240"/>
            <a:ext cx="3547872" cy="3520440"/>
          </a:xfrm>
          <a:prstGeom prst="rect">
            <a:avLst/>
          </a:prstGeom>
          <a:solidFill>
            <a:srgbClr val="E4ECE5"/>
          </a:solidFill>
          <a:ln w="12700">
            <a:solidFill>
              <a:srgbClr val="E4ECE5"/>
            </a:solidFill>
            <a:prstDash val="solid"/>
          </a:ln>
        </p:spPr>
      </p:sp>
      <p:sp>
        <p:nvSpPr>
          <p:cNvPr id="162" name="panel-1368"/>
          <p:cNvSpPr/>
          <p:nvPr/>
        </p:nvSpPr>
        <p:spPr>
          <a:xfrm>
            <a:off x="4325112" y="1920240"/>
            <a:ext cx="41148" cy="3520440"/>
          </a:xfrm>
          <a:prstGeom prst="rect">
            <a:avLst/>
          </a:prstGeom>
          <a:solidFill>
            <a:srgbClr val="557969"/>
          </a:solidFill>
          <a:ln w="12700">
            <a:solidFill>
              <a:srgbClr val="557969"/>
            </a:solidFill>
            <a:prstDash val="solid"/>
          </a:ln>
        </p:spPr>
      </p:sp>
      <p:sp>
        <p:nvSpPr>
          <p:cNvPr id="163" name="text-1369"/>
          <p:cNvSpPr/>
          <p:nvPr/>
        </p:nvSpPr>
        <p:spPr>
          <a:xfrm>
            <a:off x="4526280" y="21031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796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64" name="line-1370"/>
          <p:cNvSpPr/>
          <p:nvPr/>
        </p:nvSpPr>
        <p:spPr>
          <a:xfrm>
            <a:off x="4526280" y="254203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65" name="text-1371"/>
          <p:cNvSpPr/>
          <p:nvPr/>
        </p:nvSpPr>
        <p:spPr>
          <a:xfrm>
            <a:off x="4526280" y="27066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再检查参数</a:t>
            </a:r>
            <a:endParaRPr lang="en-US" sz="2200" dirty="0"/>
          </a:p>
        </p:txBody>
      </p:sp>
      <p:sp>
        <p:nvSpPr>
          <p:cNvPr id="166" name="text-1372"/>
          <p:cNvSpPr/>
          <p:nvPr/>
        </p:nvSpPr>
        <p:spPr>
          <a:xfrm>
            <a:off x="4526280" y="3355848"/>
            <a:ext cx="31455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E / G：材料刚度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 / I / J：截面参数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逐项核对单位与符号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确认公式的模型假设</a:t>
            </a:r>
            <a:endParaRPr lang="en-US" sz="1600" dirty="0"/>
          </a:p>
        </p:txBody>
      </p:sp>
      <p:sp>
        <p:nvSpPr>
          <p:cNvPr id="167" name="panel-1373"/>
          <p:cNvSpPr/>
          <p:nvPr/>
        </p:nvSpPr>
        <p:spPr>
          <a:xfrm>
            <a:off x="8147304" y="1920240"/>
            <a:ext cx="3547872" cy="3520440"/>
          </a:xfrm>
          <a:prstGeom prst="rect">
            <a:avLst/>
          </a:prstGeom>
          <a:solidFill>
            <a:srgbClr val="EDE6ED"/>
          </a:solidFill>
          <a:ln w="12700">
            <a:solidFill>
              <a:srgbClr val="EDE6ED"/>
            </a:solidFill>
            <a:prstDash val="solid"/>
          </a:ln>
        </p:spPr>
      </p:sp>
      <p:sp>
        <p:nvSpPr>
          <p:cNvPr id="168" name="panel-1374"/>
          <p:cNvSpPr/>
          <p:nvPr/>
        </p:nvSpPr>
        <p:spPr>
          <a:xfrm>
            <a:off x="8147304" y="1920240"/>
            <a:ext cx="41148" cy="3520440"/>
          </a:xfrm>
          <a:prstGeom prst="rect">
            <a:avLst/>
          </a:prstGeom>
          <a:solidFill>
            <a:srgbClr val="8B6381"/>
          </a:solidFill>
          <a:ln w="12700">
            <a:solidFill>
              <a:srgbClr val="8B6381"/>
            </a:solidFill>
            <a:prstDash val="solid"/>
          </a:ln>
        </p:spPr>
      </p:sp>
      <p:sp>
        <p:nvSpPr>
          <p:cNvPr id="169" name="text-1375"/>
          <p:cNvSpPr/>
          <p:nvPr/>
        </p:nvSpPr>
        <p:spPr>
          <a:xfrm>
            <a:off x="8348472" y="21031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381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70" name="line-1376"/>
          <p:cNvSpPr/>
          <p:nvPr/>
        </p:nvSpPr>
        <p:spPr>
          <a:xfrm>
            <a:off x="8348472" y="254203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71" name="text-1377"/>
          <p:cNvSpPr/>
          <p:nvPr/>
        </p:nvSpPr>
        <p:spPr>
          <a:xfrm>
            <a:off x="8348472" y="27066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跟着推导理解</a:t>
            </a:r>
            <a:endParaRPr lang="en-US" sz="2200" dirty="0"/>
          </a:p>
        </p:txBody>
      </p:sp>
      <p:sp>
        <p:nvSpPr>
          <p:cNvPr id="172" name="text-1378"/>
          <p:cNvSpPr/>
          <p:nvPr/>
        </p:nvSpPr>
        <p:spPr>
          <a:xfrm>
            <a:off x="8348472" y="3355848"/>
            <a:ext cx="31455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字母表达式 → 参数代入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分步推导 → 结果解释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结合变形与危险截面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比较手算与软件的口径</a:t>
            </a:r>
            <a:endParaRPr lang="en-US" sz="1600" dirty="0"/>
          </a:p>
        </p:txBody>
      </p:sp>
      <p:sp>
        <p:nvSpPr>
          <p:cNvPr id="173" name="text-1379"/>
          <p:cNvSpPr/>
          <p:nvPr/>
        </p:nvSpPr>
        <p:spPr>
          <a:xfrm>
            <a:off x="594360" y="5742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使用建议：先手算思路，再用助手检查参数与推导。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138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1381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1382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三维能力</a:t>
            </a:r>
            <a:endParaRPr lang="en-US" sz="1000" dirty="0"/>
          </a:p>
        </p:txBody>
      </p:sp>
      <p:sp>
        <p:nvSpPr>
          <p:cNvPr id="5" name="panel-1383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1384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从平面走向空间：观察角度也变了</a:t>
            </a:r>
            <a:endParaRPr lang="en-US" sz="2800" dirty="0"/>
          </a:p>
        </p:txBody>
      </p:sp>
      <p:sp>
        <p:nvSpPr>
          <p:cNvPr id="7" name="line-1385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1386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1387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1388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1389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1390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1391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1392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1393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1394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1395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1396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1397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1398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1399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1400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1401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1402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1403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1404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1405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1406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1407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1408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1409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1410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1411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1412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1413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1414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1415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1416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1417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1418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1419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1420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1421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1422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1423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1424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1425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1426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1427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1428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1429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1430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1431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1432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1433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1434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1435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1436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1437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1438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1439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1440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1441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1442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1443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1444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1445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1446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1447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1448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1449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1450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1451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1452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1453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1454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1455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1456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1457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1458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1459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1460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1461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1462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1463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1464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1465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1466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1467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1468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1469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1470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1471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1472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1473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1474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1475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1476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1477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1478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1479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1480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1481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1482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1483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1484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1485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1486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1487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1488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1489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1490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1491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1492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1493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1494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1495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1496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1497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1498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1499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1500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1501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1502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1503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1504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1505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1506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1507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1508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1509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1510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1511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1512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1513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1514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1515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1516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1517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1518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1519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1520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1521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1522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1523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1524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1525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1526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1527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1528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1529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1530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1531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1532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155" name="line-1533"/>
          <p:cNvSpPr/>
          <p:nvPr/>
        </p:nvSpPr>
        <p:spPr>
          <a:xfrm>
            <a:off x="1097280" y="5257800"/>
            <a:ext cx="4160520" cy="640080"/>
          </a:xfrm>
          <a:prstGeom prst="line">
            <a:avLst/>
          </a:prstGeom>
          <a:noFill/>
          <a:ln w="8890">
            <a:solidFill>
              <a:srgbClr val="CBD5DE"/>
            </a:solidFill>
            <a:prstDash val="solid"/>
          </a:ln>
        </p:spPr>
      </p:sp>
      <p:sp>
        <p:nvSpPr>
          <p:cNvPr id="156" name="line-1534"/>
          <p:cNvSpPr/>
          <p:nvPr/>
        </p:nvSpPr>
        <p:spPr>
          <a:xfrm flipV="1">
            <a:off x="1097280" y="4041648"/>
            <a:ext cx="3657600" cy="1216152"/>
          </a:xfrm>
          <a:prstGeom prst="line">
            <a:avLst/>
          </a:prstGeom>
          <a:noFill/>
          <a:ln w="8890">
            <a:solidFill>
              <a:srgbClr val="CBD5DE"/>
            </a:solidFill>
            <a:prstDash val="solid"/>
          </a:ln>
        </p:spPr>
      </p:sp>
      <p:sp>
        <p:nvSpPr>
          <p:cNvPr id="157" name="line-1535"/>
          <p:cNvSpPr/>
          <p:nvPr/>
        </p:nvSpPr>
        <p:spPr>
          <a:xfrm>
            <a:off x="1353312" y="5175870"/>
            <a:ext cx="4160520" cy="640080"/>
          </a:xfrm>
          <a:prstGeom prst="line">
            <a:avLst/>
          </a:prstGeom>
          <a:noFill/>
          <a:ln w="8890">
            <a:solidFill>
              <a:srgbClr val="CBD5DE"/>
            </a:solidFill>
            <a:prstDash val="solid"/>
          </a:ln>
        </p:spPr>
      </p:sp>
      <p:sp>
        <p:nvSpPr>
          <p:cNvPr id="158" name="line-1536"/>
          <p:cNvSpPr/>
          <p:nvPr/>
        </p:nvSpPr>
        <p:spPr>
          <a:xfrm flipV="1">
            <a:off x="1250899" y="4085173"/>
            <a:ext cx="3657600" cy="1216152"/>
          </a:xfrm>
          <a:prstGeom prst="line">
            <a:avLst/>
          </a:prstGeom>
          <a:noFill/>
          <a:ln w="8890">
            <a:solidFill>
              <a:srgbClr val="CBD5DE"/>
            </a:solidFill>
            <a:prstDash val="solid"/>
          </a:ln>
        </p:spPr>
      </p:sp>
      <p:sp>
        <p:nvSpPr>
          <p:cNvPr id="159" name="line-1537"/>
          <p:cNvSpPr/>
          <p:nvPr/>
        </p:nvSpPr>
        <p:spPr>
          <a:xfrm>
            <a:off x="1609344" y="5093940"/>
            <a:ext cx="4160520" cy="640080"/>
          </a:xfrm>
          <a:prstGeom prst="line">
            <a:avLst/>
          </a:prstGeom>
          <a:noFill/>
          <a:ln w="8890">
            <a:solidFill>
              <a:srgbClr val="CBD5DE"/>
            </a:solidFill>
            <a:prstDash val="solid"/>
          </a:ln>
        </p:spPr>
      </p:sp>
      <p:sp>
        <p:nvSpPr>
          <p:cNvPr id="160" name="line-1538"/>
          <p:cNvSpPr/>
          <p:nvPr/>
        </p:nvSpPr>
        <p:spPr>
          <a:xfrm flipV="1">
            <a:off x="1404518" y="4128699"/>
            <a:ext cx="3657600" cy="1216152"/>
          </a:xfrm>
          <a:prstGeom prst="line">
            <a:avLst/>
          </a:prstGeom>
          <a:noFill/>
          <a:ln w="8890">
            <a:solidFill>
              <a:srgbClr val="CBD5DE"/>
            </a:solidFill>
            <a:prstDash val="solid"/>
          </a:ln>
        </p:spPr>
      </p:sp>
      <p:sp>
        <p:nvSpPr>
          <p:cNvPr id="161" name="line-1539"/>
          <p:cNvSpPr/>
          <p:nvPr/>
        </p:nvSpPr>
        <p:spPr>
          <a:xfrm>
            <a:off x="1865376" y="5012009"/>
            <a:ext cx="4160520" cy="640080"/>
          </a:xfrm>
          <a:prstGeom prst="line">
            <a:avLst/>
          </a:prstGeom>
          <a:noFill/>
          <a:ln w="8890">
            <a:solidFill>
              <a:srgbClr val="CBD5DE"/>
            </a:solidFill>
            <a:prstDash val="solid"/>
          </a:ln>
        </p:spPr>
      </p:sp>
      <p:sp>
        <p:nvSpPr>
          <p:cNvPr id="162" name="line-1540"/>
          <p:cNvSpPr/>
          <p:nvPr/>
        </p:nvSpPr>
        <p:spPr>
          <a:xfrm flipV="1">
            <a:off x="1558138" y="4172224"/>
            <a:ext cx="3657600" cy="1216152"/>
          </a:xfrm>
          <a:prstGeom prst="line">
            <a:avLst/>
          </a:prstGeom>
          <a:noFill/>
          <a:ln w="8890">
            <a:solidFill>
              <a:srgbClr val="CBD5DE"/>
            </a:solidFill>
            <a:prstDash val="solid"/>
          </a:ln>
        </p:spPr>
      </p:sp>
      <p:sp>
        <p:nvSpPr>
          <p:cNvPr id="163" name="line-1541"/>
          <p:cNvSpPr/>
          <p:nvPr/>
        </p:nvSpPr>
        <p:spPr>
          <a:xfrm>
            <a:off x="2121408" y="4930079"/>
            <a:ext cx="4160520" cy="640080"/>
          </a:xfrm>
          <a:prstGeom prst="line">
            <a:avLst/>
          </a:prstGeom>
          <a:noFill/>
          <a:ln w="8890">
            <a:solidFill>
              <a:srgbClr val="CBD5DE"/>
            </a:solidFill>
            <a:prstDash val="solid"/>
          </a:ln>
        </p:spPr>
      </p:sp>
      <p:sp>
        <p:nvSpPr>
          <p:cNvPr id="164" name="line-1542"/>
          <p:cNvSpPr/>
          <p:nvPr/>
        </p:nvSpPr>
        <p:spPr>
          <a:xfrm flipV="1">
            <a:off x="1711757" y="4215750"/>
            <a:ext cx="3657600" cy="1216152"/>
          </a:xfrm>
          <a:prstGeom prst="line">
            <a:avLst/>
          </a:prstGeom>
          <a:noFill/>
          <a:ln w="8890">
            <a:solidFill>
              <a:srgbClr val="CBD5DE"/>
            </a:solidFill>
            <a:prstDash val="solid"/>
          </a:ln>
        </p:spPr>
      </p:sp>
      <p:sp>
        <p:nvSpPr>
          <p:cNvPr id="165" name="line-1543"/>
          <p:cNvSpPr/>
          <p:nvPr/>
        </p:nvSpPr>
        <p:spPr>
          <a:xfrm>
            <a:off x="2377440" y="4848149"/>
            <a:ext cx="4160520" cy="640080"/>
          </a:xfrm>
          <a:prstGeom prst="line">
            <a:avLst/>
          </a:prstGeom>
          <a:noFill/>
          <a:ln w="8890">
            <a:solidFill>
              <a:srgbClr val="CBD5DE"/>
            </a:solidFill>
            <a:prstDash val="solid"/>
          </a:ln>
        </p:spPr>
      </p:sp>
      <p:sp>
        <p:nvSpPr>
          <p:cNvPr id="166" name="line-1544"/>
          <p:cNvSpPr/>
          <p:nvPr/>
        </p:nvSpPr>
        <p:spPr>
          <a:xfrm flipV="1">
            <a:off x="1865376" y="4259275"/>
            <a:ext cx="3657600" cy="1216152"/>
          </a:xfrm>
          <a:prstGeom prst="line">
            <a:avLst/>
          </a:prstGeom>
          <a:noFill/>
          <a:ln w="8890">
            <a:solidFill>
              <a:srgbClr val="CBD5DE"/>
            </a:solidFill>
            <a:prstDash val="solid"/>
          </a:ln>
        </p:spPr>
      </p:sp>
      <p:sp>
        <p:nvSpPr>
          <p:cNvPr id="167" name="line-1545"/>
          <p:cNvSpPr/>
          <p:nvPr/>
        </p:nvSpPr>
        <p:spPr>
          <a:xfrm>
            <a:off x="2633472" y="4766219"/>
            <a:ext cx="4160520" cy="640080"/>
          </a:xfrm>
          <a:prstGeom prst="line">
            <a:avLst/>
          </a:prstGeom>
          <a:noFill/>
          <a:ln w="8890">
            <a:solidFill>
              <a:srgbClr val="CBD5DE"/>
            </a:solidFill>
            <a:prstDash val="solid"/>
          </a:ln>
        </p:spPr>
      </p:sp>
      <p:sp>
        <p:nvSpPr>
          <p:cNvPr id="168" name="line-1546"/>
          <p:cNvSpPr/>
          <p:nvPr/>
        </p:nvSpPr>
        <p:spPr>
          <a:xfrm flipV="1">
            <a:off x="2018995" y="4302801"/>
            <a:ext cx="3657600" cy="1216152"/>
          </a:xfrm>
          <a:prstGeom prst="line">
            <a:avLst/>
          </a:prstGeom>
          <a:noFill/>
          <a:ln w="8890">
            <a:solidFill>
              <a:srgbClr val="CBD5DE"/>
            </a:solidFill>
            <a:prstDash val="solid"/>
          </a:ln>
        </p:spPr>
      </p:sp>
      <p:sp>
        <p:nvSpPr>
          <p:cNvPr id="169" name="line-1547"/>
          <p:cNvSpPr/>
          <p:nvPr/>
        </p:nvSpPr>
        <p:spPr>
          <a:xfrm>
            <a:off x="2889504" y="4684288"/>
            <a:ext cx="4160520" cy="640080"/>
          </a:xfrm>
          <a:prstGeom prst="line">
            <a:avLst/>
          </a:prstGeom>
          <a:noFill/>
          <a:ln w="8890">
            <a:solidFill>
              <a:srgbClr val="CBD5DE"/>
            </a:solidFill>
            <a:prstDash val="solid"/>
          </a:ln>
        </p:spPr>
      </p:sp>
      <p:sp>
        <p:nvSpPr>
          <p:cNvPr id="170" name="line-1548"/>
          <p:cNvSpPr/>
          <p:nvPr/>
        </p:nvSpPr>
        <p:spPr>
          <a:xfrm flipV="1">
            <a:off x="2172614" y="4346326"/>
            <a:ext cx="3657600" cy="1216152"/>
          </a:xfrm>
          <a:prstGeom prst="line">
            <a:avLst/>
          </a:prstGeom>
          <a:noFill/>
          <a:ln w="8890">
            <a:solidFill>
              <a:srgbClr val="CBD5DE"/>
            </a:solidFill>
            <a:prstDash val="solid"/>
          </a:ln>
        </p:spPr>
      </p:sp>
      <p:sp>
        <p:nvSpPr>
          <p:cNvPr id="171" name="line-1549"/>
          <p:cNvSpPr/>
          <p:nvPr/>
        </p:nvSpPr>
        <p:spPr>
          <a:xfrm>
            <a:off x="4937760" y="4206240"/>
            <a:ext cx="2148840" cy="0"/>
          </a:xfrm>
          <a:prstGeom prst="line">
            <a:avLst/>
          </a:prstGeom>
          <a:noFill/>
          <a:ln w="15240">
            <a:solidFill>
              <a:srgbClr val="9A7390"/>
            </a:solidFill>
            <a:prstDash val="solid"/>
            <a:tailEnd type="triangle"/>
          </a:ln>
        </p:spPr>
      </p:sp>
      <p:sp>
        <p:nvSpPr>
          <p:cNvPr id="172" name="line-1550"/>
          <p:cNvSpPr/>
          <p:nvPr/>
        </p:nvSpPr>
        <p:spPr>
          <a:xfrm flipH="1">
            <a:off x="3977640" y="4206240"/>
            <a:ext cx="960120" cy="640080"/>
          </a:xfrm>
          <a:prstGeom prst="line">
            <a:avLst/>
          </a:prstGeom>
          <a:noFill/>
          <a:ln w="15240">
            <a:solidFill>
              <a:srgbClr val="557969"/>
            </a:solidFill>
            <a:prstDash val="solid"/>
            <a:tailEnd type="triangle"/>
          </a:ln>
        </p:spPr>
      </p:sp>
      <p:sp>
        <p:nvSpPr>
          <p:cNvPr id="173" name="text-1551"/>
          <p:cNvSpPr/>
          <p:nvPr/>
        </p:nvSpPr>
        <p:spPr>
          <a:xfrm>
            <a:off x="704088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739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200" dirty="0"/>
          </a:p>
        </p:txBody>
      </p:sp>
      <p:sp>
        <p:nvSpPr>
          <p:cNvPr id="174" name="text-1552"/>
          <p:cNvSpPr/>
          <p:nvPr/>
        </p:nvSpPr>
        <p:spPr>
          <a:xfrm>
            <a:off x="3685032" y="4727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796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Y</a:t>
            </a:r>
            <a:endParaRPr lang="en-US" sz="1200" dirty="0"/>
          </a:p>
        </p:txBody>
      </p:sp>
      <p:sp>
        <p:nvSpPr>
          <p:cNvPr id="175" name="text-1553"/>
          <p:cNvSpPr/>
          <p:nvPr/>
        </p:nvSpPr>
        <p:spPr>
          <a:xfrm>
            <a:off x="507492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200" dirty="0"/>
          </a:p>
        </p:txBody>
      </p:sp>
      <p:sp>
        <p:nvSpPr>
          <p:cNvPr id="176" name="line-1554"/>
          <p:cNvSpPr/>
          <p:nvPr/>
        </p:nvSpPr>
        <p:spPr>
          <a:xfrm flipV="1">
            <a:off x="2011680" y="4206240"/>
            <a:ext cx="2926080" cy="1005840"/>
          </a:xfrm>
          <a:prstGeom prst="line">
            <a:avLst/>
          </a:prstGeom>
          <a:noFill/>
          <a:ln w="76200">
            <a:solidFill>
              <a:srgbClr val="202C47"/>
            </a:solidFill>
            <a:prstDash val="solid"/>
          </a:ln>
        </p:spPr>
      </p:sp>
      <p:sp>
        <p:nvSpPr>
          <p:cNvPr id="177" name="line-1555"/>
          <p:cNvSpPr/>
          <p:nvPr/>
        </p:nvSpPr>
        <p:spPr>
          <a:xfrm>
            <a:off x="4937760" y="4206240"/>
            <a:ext cx="1463040" cy="914400"/>
          </a:xfrm>
          <a:prstGeom prst="line">
            <a:avLst/>
          </a:prstGeom>
          <a:noFill/>
          <a:ln w="76200">
            <a:solidFill>
              <a:srgbClr val="202C47"/>
            </a:solidFill>
            <a:prstDash val="solid"/>
          </a:ln>
        </p:spPr>
      </p:sp>
      <p:sp>
        <p:nvSpPr>
          <p:cNvPr id="178" name="line-1556"/>
          <p:cNvSpPr/>
          <p:nvPr/>
        </p:nvSpPr>
        <p:spPr>
          <a:xfrm flipV="1">
            <a:off x="4937760" y="2377440"/>
            <a:ext cx="0" cy="1828800"/>
          </a:xfrm>
          <a:prstGeom prst="line">
            <a:avLst/>
          </a:prstGeom>
          <a:noFill/>
          <a:ln w="76200">
            <a:solidFill>
              <a:srgbClr val="202C47"/>
            </a:solidFill>
            <a:prstDash val="solid"/>
          </a:ln>
        </p:spPr>
      </p:sp>
      <p:sp>
        <p:nvSpPr>
          <p:cNvPr id="179" name="line-1557"/>
          <p:cNvSpPr/>
          <p:nvPr/>
        </p:nvSpPr>
        <p:spPr>
          <a:xfrm>
            <a:off x="4937760" y="2377440"/>
            <a:ext cx="1097280" cy="0"/>
          </a:xfrm>
          <a:prstGeom prst="line">
            <a:avLst/>
          </a:prstGeom>
          <a:noFill/>
          <a:ln w="38100">
            <a:solidFill>
              <a:srgbClr val="C6834D"/>
            </a:solidFill>
            <a:prstDash val="solid"/>
            <a:tailEnd type="triangle"/>
          </a:ln>
        </p:spPr>
      </p:sp>
      <p:sp>
        <p:nvSpPr>
          <p:cNvPr id="180" name="node-1558"/>
          <p:cNvSpPr/>
          <p:nvPr/>
        </p:nvSpPr>
        <p:spPr>
          <a:xfrm>
            <a:off x="1929384" y="5129784"/>
            <a:ext cx="164592" cy="164592"/>
          </a:xfrm>
          <a:prstGeom prst="ellipse">
            <a:avLst/>
          </a:prstGeom>
          <a:solidFill>
            <a:srgbClr val="285C75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81" name="node-1559"/>
          <p:cNvSpPr/>
          <p:nvPr/>
        </p:nvSpPr>
        <p:spPr>
          <a:xfrm>
            <a:off x="4855464" y="4123944"/>
            <a:ext cx="164592" cy="164592"/>
          </a:xfrm>
          <a:prstGeom prst="ellipse">
            <a:avLst/>
          </a:prstGeom>
          <a:solidFill>
            <a:srgbClr val="285C75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82" name="node-1560"/>
          <p:cNvSpPr/>
          <p:nvPr/>
        </p:nvSpPr>
        <p:spPr>
          <a:xfrm>
            <a:off x="6318504" y="5038344"/>
            <a:ext cx="164592" cy="164592"/>
          </a:xfrm>
          <a:prstGeom prst="ellipse">
            <a:avLst/>
          </a:prstGeom>
          <a:solidFill>
            <a:srgbClr val="285C75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83" name="node-1561"/>
          <p:cNvSpPr/>
          <p:nvPr/>
        </p:nvSpPr>
        <p:spPr>
          <a:xfrm>
            <a:off x="4855464" y="2295144"/>
            <a:ext cx="164592" cy="164592"/>
          </a:xfrm>
          <a:prstGeom prst="ellipse">
            <a:avLst/>
          </a:prstGeom>
          <a:solidFill>
            <a:srgbClr val="285C75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84" name="text-1562"/>
          <p:cNvSpPr/>
          <p:nvPr/>
        </p:nvSpPr>
        <p:spPr>
          <a:xfrm>
            <a:off x="731520" y="566928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默认案例：三段正交 Q235 空间悬臂刚架</a:t>
            </a:r>
            <a:endParaRPr lang="en-US" sz="1600" dirty="0"/>
          </a:p>
        </p:txBody>
      </p:sp>
      <p:sp>
        <p:nvSpPr>
          <p:cNvPr id="185" name="text-1563"/>
          <p:cNvSpPr/>
          <p:nvPr/>
        </p:nvSpPr>
        <p:spPr>
          <a:xfrm>
            <a:off x="731520" y="603504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节点六自由度  ·  三向力与扭矩  ·  空间杆系示意</a:t>
            </a:r>
            <a:endParaRPr lang="en-US" sz="1200" dirty="0"/>
          </a:p>
        </p:txBody>
      </p:sp>
      <p:sp>
        <p:nvSpPr>
          <p:cNvPr id="186" name="text-1564"/>
          <p:cNvSpPr/>
          <p:nvPr/>
        </p:nvSpPr>
        <p:spPr>
          <a:xfrm>
            <a:off x="790956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空间桁架 / 刚架</a:t>
            </a:r>
            <a:endParaRPr lang="en-US" sz="2500" dirty="0"/>
          </a:p>
        </p:txBody>
      </p:sp>
      <p:sp>
        <p:nvSpPr>
          <p:cNvPr id="187" name="text-1565"/>
          <p:cNvSpPr/>
          <p:nvPr/>
        </p:nvSpPr>
        <p:spPr>
          <a:xfrm>
            <a:off x="7909560" y="30175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三维建模：空间桁架 / 刚架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响应结果：位移、反力与杆端力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自由度：空间刚架节点六自由度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视图模式：2D / 3D / 同步分屏</a:t>
            </a:r>
            <a:endParaRPr lang="en-US" sz="2000" dirty="0"/>
          </a:p>
        </p:txBody>
      </p:sp>
      <p:sp>
        <p:nvSpPr>
          <p:cNvPr id="188" name="text-1566"/>
          <p:cNvSpPr/>
          <p:nvPr/>
        </p:nvSpPr>
        <p:spPr>
          <a:xfrm>
            <a:off x="7909560" y="5212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显示为三维 ≠ 使用三维分析模型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1567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1568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1569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实现思路</a:t>
            </a:r>
            <a:endParaRPr lang="en-US" sz="1000" dirty="0"/>
          </a:p>
        </p:txBody>
      </p:sp>
      <p:sp>
        <p:nvSpPr>
          <p:cNvPr id="5" name="panel-1570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1571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计算在本地，课堂演示更容易准备</a:t>
            </a:r>
            <a:endParaRPr lang="en-US" sz="2800" dirty="0"/>
          </a:p>
        </p:txBody>
      </p:sp>
      <p:sp>
        <p:nvSpPr>
          <p:cNvPr id="7" name="line-1572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1573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1574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1575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1576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1577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1578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1579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1580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1581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1582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1583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1584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1585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1586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1587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1588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1589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1590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1591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1592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1593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1594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1595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1596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1597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1598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1599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1600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1601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1602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1603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1604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1605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1606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1607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1608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1609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1610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1611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1612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1613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1614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1615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1616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1617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1618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1619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1620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1621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1622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1623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1624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1625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1626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1627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1628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1629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1630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1631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1632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1633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1634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1635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1636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1637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1638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1639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1640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1641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1642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1643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1644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1645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1646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1647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1648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1649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1650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1651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1652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1653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1654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1655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1656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1657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1658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1659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1660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1661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1662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1663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1664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1665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1666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1667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1668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1669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1670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1671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1672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1673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1674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1675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1676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1677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1678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1679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1680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1681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1682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1683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1684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1685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1686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1687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1688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1689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1690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1691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1692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1693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1694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1695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1696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1697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1698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1699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1700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1701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1702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1703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1704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1705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1706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1707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1708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1709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1710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1711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1712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1713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1714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1715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1716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1717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1718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1719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55" name="panel-1720"/>
          <p:cNvSpPr/>
          <p:nvPr/>
        </p:nvSpPr>
        <p:spPr>
          <a:xfrm>
            <a:off x="502920" y="2011680"/>
            <a:ext cx="3547872" cy="2926080"/>
          </a:xfrm>
          <a:prstGeom prst="rect">
            <a:avLst/>
          </a:prstGeom>
          <a:solidFill>
            <a:srgbClr val="E7EDF2"/>
          </a:solidFill>
          <a:ln w="12700">
            <a:solidFill>
              <a:srgbClr val="E7EDF2"/>
            </a:solidFill>
            <a:prstDash val="solid"/>
          </a:ln>
        </p:spPr>
      </p:sp>
      <p:sp>
        <p:nvSpPr>
          <p:cNvPr id="156" name="panel-1721"/>
          <p:cNvSpPr/>
          <p:nvPr/>
        </p:nvSpPr>
        <p:spPr>
          <a:xfrm>
            <a:off x="502920" y="2011680"/>
            <a:ext cx="41148" cy="2926080"/>
          </a:xfrm>
          <a:prstGeom prst="rect">
            <a:avLst/>
          </a:prstGeom>
          <a:solidFill>
            <a:srgbClr val="285C75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57" name="text-1722"/>
          <p:cNvSpPr/>
          <p:nvPr/>
        </p:nvSpPr>
        <p:spPr>
          <a:xfrm>
            <a:off x="704088" y="219456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58" name="line-1723"/>
          <p:cNvSpPr/>
          <p:nvPr/>
        </p:nvSpPr>
        <p:spPr>
          <a:xfrm>
            <a:off x="704088" y="263347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59" name="text-1724"/>
          <p:cNvSpPr/>
          <p:nvPr/>
        </p:nvSpPr>
        <p:spPr>
          <a:xfrm>
            <a:off x="704088" y="279806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交互建模</a:t>
            </a:r>
            <a:endParaRPr lang="en-US" sz="2200" dirty="0"/>
          </a:p>
        </p:txBody>
      </p:sp>
      <p:sp>
        <p:nvSpPr>
          <p:cNvPr id="160" name="text-1725"/>
          <p:cNvSpPr/>
          <p:nvPr/>
        </p:nvSpPr>
        <p:spPr>
          <a:xfrm>
            <a:off x="704088" y="3447288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Vue 3 / TypeScript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节点、构件、材料与约束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统一二维 / 三维工作区</a:t>
            </a:r>
            <a:endParaRPr lang="en-US" sz="1600" dirty="0"/>
          </a:p>
        </p:txBody>
      </p:sp>
      <p:sp>
        <p:nvSpPr>
          <p:cNvPr id="161" name="line-1726"/>
          <p:cNvSpPr/>
          <p:nvPr/>
        </p:nvSpPr>
        <p:spPr>
          <a:xfrm>
            <a:off x="4078224" y="3474720"/>
            <a:ext cx="201168" cy="0"/>
          </a:xfrm>
          <a:prstGeom prst="line">
            <a:avLst/>
          </a:prstGeom>
          <a:noFill/>
          <a:ln w="25400">
            <a:solidFill>
              <a:srgbClr val="285C75"/>
            </a:solidFill>
            <a:prstDash val="solid"/>
            <a:tailEnd type="triangle"/>
          </a:ln>
        </p:spPr>
      </p:sp>
      <p:sp>
        <p:nvSpPr>
          <p:cNvPr id="162" name="panel-1727"/>
          <p:cNvSpPr/>
          <p:nvPr/>
        </p:nvSpPr>
        <p:spPr>
          <a:xfrm>
            <a:off x="4325112" y="2011680"/>
            <a:ext cx="3547872" cy="2926080"/>
          </a:xfrm>
          <a:prstGeom prst="rect">
            <a:avLst/>
          </a:prstGeom>
          <a:solidFill>
            <a:srgbClr val="E4ECE5"/>
          </a:solidFill>
          <a:ln w="12700">
            <a:solidFill>
              <a:srgbClr val="E4ECE5"/>
            </a:solidFill>
            <a:prstDash val="solid"/>
          </a:ln>
        </p:spPr>
      </p:sp>
      <p:sp>
        <p:nvSpPr>
          <p:cNvPr id="163" name="panel-1728"/>
          <p:cNvSpPr/>
          <p:nvPr/>
        </p:nvSpPr>
        <p:spPr>
          <a:xfrm>
            <a:off x="4325112" y="2011680"/>
            <a:ext cx="41148" cy="2926080"/>
          </a:xfrm>
          <a:prstGeom prst="rect">
            <a:avLst/>
          </a:prstGeom>
          <a:solidFill>
            <a:srgbClr val="557969"/>
          </a:solidFill>
          <a:ln w="12700">
            <a:solidFill>
              <a:srgbClr val="557969"/>
            </a:solidFill>
            <a:prstDash val="solid"/>
          </a:ln>
        </p:spPr>
      </p:sp>
      <p:sp>
        <p:nvSpPr>
          <p:cNvPr id="164" name="text-1729"/>
          <p:cNvSpPr/>
          <p:nvPr/>
        </p:nvSpPr>
        <p:spPr>
          <a:xfrm>
            <a:off x="4526280" y="219456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796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65" name="line-1730"/>
          <p:cNvSpPr/>
          <p:nvPr/>
        </p:nvSpPr>
        <p:spPr>
          <a:xfrm>
            <a:off x="4526280" y="263347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66" name="text-1731"/>
          <p:cNvSpPr/>
          <p:nvPr/>
        </p:nvSpPr>
        <p:spPr>
          <a:xfrm>
            <a:off x="4526280" y="279806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数值求解</a:t>
            </a:r>
            <a:endParaRPr lang="en-US" sz="2200" dirty="0"/>
          </a:p>
        </p:txBody>
      </p:sp>
      <p:sp>
        <p:nvSpPr>
          <p:cNvPr id="167" name="text-1732"/>
          <p:cNvSpPr/>
          <p:nvPr/>
        </p:nvSpPr>
        <p:spPr>
          <a:xfrm>
            <a:off x="4526280" y="3447288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本地 CPU / Worker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空间杆系后台计算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不可用时回退主线程 CPU</a:t>
            </a:r>
            <a:endParaRPr lang="en-US" sz="1600" dirty="0"/>
          </a:p>
        </p:txBody>
      </p:sp>
      <p:sp>
        <p:nvSpPr>
          <p:cNvPr id="168" name="line-1733"/>
          <p:cNvSpPr/>
          <p:nvPr/>
        </p:nvSpPr>
        <p:spPr>
          <a:xfrm>
            <a:off x="7900416" y="3474720"/>
            <a:ext cx="201168" cy="0"/>
          </a:xfrm>
          <a:prstGeom prst="line">
            <a:avLst/>
          </a:prstGeom>
          <a:noFill/>
          <a:ln w="25400">
            <a:solidFill>
              <a:srgbClr val="285C75"/>
            </a:solidFill>
            <a:prstDash val="solid"/>
            <a:tailEnd type="triangle"/>
          </a:ln>
        </p:spPr>
      </p:sp>
      <p:sp>
        <p:nvSpPr>
          <p:cNvPr id="169" name="panel-1734"/>
          <p:cNvSpPr/>
          <p:nvPr/>
        </p:nvSpPr>
        <p:spPr>
          <a:xfrm>
            <a:off x="8147304" y="2011680"/>
            <a:ext cx="3547872" cy="2926080"/>
          </a:xfrm>
          <a:prstGeom prst="rect">
            <a:avLst/>
          </a:prstGeom>
          <a:solidFill>
            <a:srgbClr val="EDE6ED"/>
          </a:solidFill>
          <a:ln w="12700">
            <a:solidFill>
              <a:srgbClr val="EDE6ED"/>
            </a:solidFill>
            <a:prstDash val="solid"/>
          </a:ln>
        </p:spPr>
      </p:sp>
      <p:sp>
        <p:nvSpPr>
          <p:cNvPr id="170" name="panel-1735"/>
          <p:cNvSpPr/>
          <p:nvPr/>
        </p:nvSpPr>
        <p:spPr>
          <a:xfrm>
            <a:off x="8147304" y="2011680"/>
            <a:ext cx="41148" cy="2926080"/>
          </a:xfrm>
          <a:prstGeom prst="rect">
            <a:avLst/>
          </a:prstGeom>
          <a:solidFill>
            <a:srgbClr val="8B6381"/>
          </a:solidFill>
          <a:ln w="12700">
            <a:solidFill>
              <a:srgbClr val="8B6381"/>
            </a:solidFill>
            <a:prstDash val="solid"/>
          </a:ln>
        </p:spPr>
      </p:sp>
      <p:sp>
        <p:nvSpPr>
          <p:cNvPr id="171" name="text-1736"/>
          <p:cNvSpPr/>
          <p:nvPr/>
        </p:nvSpPr>
        <p:spPr>
          <a:xfrm>
            <a:off x="8348472" y="219456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381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72" name="line-1737"/>
          <p:cNvSpPr/>
          <p:nvPr/>
        </p:nvSpPr>
        <p:spPr>
          <a:xfrm>
            <a:off x="8348472" y="263347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73" name="text-1738"/>
          <p:cNvSpPr/>
          <p:nvPr/>
        </p:nvSpPr>
        <p:spPr>
          <a:xfrm>
            <a:off x="8348472" y="279806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结果展示</a:t>
            </a:r>
            <a:endParaRPr lang="en-US" sz="2200" dirty="0"/>
          </a:p>
        </p:txBody>
      </p:sp>
      <p:sp>
        <p:nvSpPr>
          <p:cNvPr id="174" name="text-1739"/>
          <p:cNvSpPr/>
          <p:nvPr/>
        </p:nvSpPr>
        <p:spPr>
          <a:xfrm>
            <a:off x="8348472" y="3447288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内力、变形与数据表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Three.js 空间显示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结果与教学解释对应</a:t>
            </a:r>
            <a:endParaRPr lang="en-US" sz="1600" dirty="0"/>
          </a:p>
        </p:txBody>
      </p:sp>
      <p:sp>
        <p:nvSpPr>
          <p:cNvPr id="175" name="panel-1740"/>
          <p:cNvSpPr/>
          <p:nvPr/>
        </p:nvSpPr>
        <p:spPr>
          <a:xfrm>
            <a:off x="502920" y="5376672"/>
            <a:ext cx="11183112" cy="594360"/>
          </a:xfrm>
          <a:prstGeom prst="rect">
            <a:avLst/>
          </a:prstGeom>
          <a:solidFill>
            <a:srgbClr val="DDEAE2"/>
          </a:solidFill>
          <a:ln w="12700">
            <a:solidFill>
              <a:srgbClr val="DDEAE2"/>
            </a:solidFill>
            <a:prstDash val="solid"/>
          </a:ln>
        </p:spPr>
      </p:sp>
      <p:sp>
        <p:nvSpPr>
          <p:cNvPr id="176" name="text-1741"/>
          <p:cNvSpPr/>
          <p:nvPr/>
        </p:nvSpPr>
        <p:spPr>
          <a:xfrm>
            <a:off x="731520" y="55138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使用形态：Windows 桌面版  /  PWA 与离线静态版本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174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1743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1744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当前状态</a:t>
            </a:r>
            <a:endParaRPr lang="en-US" sz="1000" dirty="0"/>
          </a:p>
        </p:txBody>
      </p:sp>
      <p:sp>
        <p:nvSpPr>
          <p:cNvPr id="5" name="panel-1745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1746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介绍功能，也说明适用边界</a:t>
            </a:r>
            <a:endParaRPr lang="en-US" sz="2800" dirty="0"/>
          </a:p>
        </p:txBody>
      </p:sp>
      <p:sp>
        <p:nvSpPr>
          <p:cNvPr id="7" name="line-1747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1748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1749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1750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1751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1752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1753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1754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1755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1756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1757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1758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1759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1760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1761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1762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1763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1764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1765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1766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1767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1768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1769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1770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1771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1772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1773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1774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1775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1776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1777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1778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1779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1780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1781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1782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1783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1784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1785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1786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1787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1788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1789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1790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1791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1792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1793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1794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1795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1796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1797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1798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1799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1800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1801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1802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1803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1804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1805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1806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1807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1808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1809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1810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1811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1812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1813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1814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1815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1816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1817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1818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1819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1820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1821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1822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1823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1824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1825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1826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1827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1828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1829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1830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1831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1832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1833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1834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1835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1836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1837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1838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1839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1840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1841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1842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1843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1844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1845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1846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1847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1848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1849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1850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1851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1852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1853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1854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1855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1856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1857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1858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1859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1860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1861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1862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1863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1864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1865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1866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1867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1868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1869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1870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1871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1872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1873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1874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1875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1876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1877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1878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1879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1880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1881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1882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1883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1884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1885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1886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1887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1888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1889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1890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1891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1892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1893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1894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155" name="panel-1895"/>
          <p:cNvSpPr/>
          <p:nvPr/>
        </p:nvSpPr>
        <p:spPr>
          <a:xfrm>
            <a:off x="502920" y="1920240"/>
            <a:ext cx="3547872" cy="3474720"/>
          </a:xfrm>
          <a:prstGeom prst="rect">
            <a:avLst/>
          </a:prstGeom>
          <a:solidFill>
            <a:srgbClr val="E7EDF2"/>
          </a:solidFill>
          <a:ln w="12700">
            <a:solidFill>
              <a:srgbClr val="E7EDF2"/>
            </a:solidFill>
            <a:prstDash val="solid"/>
          </a:ln>
        </p:spPr>
      </p:sp>
      <p:sp>
        <p:nvSpPr>
          <p:cNvPr id="156" name="panel-1896"/>
          <p:cNvSpPr/>
          <p:nvPr/>
        </p:nvSpPr>
        <p:spPr>
          <a:xfrm>
            <a:off x="502920" y="1920240"/>
            <a:ext cx="41148" cy="3474720"/>
          </a:xfrm>
          <a:prstGeom prst="rect">
            <a:avLst/>
          </a:prstGeom>
          <a:solidFill>
            <a:srgbClr val="285C75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57" name="text-1897"/>
          <p:cNvSpPr/>
          <p:nvPr/>
        </p:nvSpPr>
        <p:spPr>
          <a:xfrm>
            <a:off x="704088" y="21031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可用于学习</a:t>
            </a:r>
            <a:endParaRPr lang="en-US" sz="1200" dirty="0"/>
          </a:p>
        </p:txBody>
      </p:sp>
      <p:sp>
        <p:nvSpPr>
          <p:cNvPr id="158" name="line-1898"/>
          <p:cNvSpPr/>
          <p:nvPr/>
        </p:nvSpPr>
        <p:spPr>
          <a:xfrm>
            <a:off x="704088" y="254203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59" name="text-1899"/>
          <p:cNvSpPr/>
          <p:nvPr/>
        </p:nvSpPr>
        <p:spPr>
          <a:xfrm>
            <a:off x="704088" y="27066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已经有的能力</a:t>
            </a:r>
            <a:endParaRPr lang="en-US" sz="2200" dirty="0"/>
          </a:p>
        </p:txBody>
      </p:sp>
      <p:sp>
        <p:nvSpPr>
          <p:cNvPr id="160" name="text-1900"/>
          <p:cNvSpPr/>
          <p:nvPr/>
        </p:nvSpPr>
        <p:spPr>
          <a:xfrm>
            <a:off x="704088" y="3355848"/>
            <a:ext cx="3145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二维梁 / 刚架与内力图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空间桁架 / 刚架与杆端力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公式库、字母计算与推导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Windows / PWA 离线使用</a:t>
            </a:r>
            <a:endParaRPr lang="en-US" sz="1600" dirty="0"/>
          </a:p>
        </p:txBody>
      </p:sp>
      <p:sp>
        <p:nvSpPr>
          <p:cNvPr id="161" name="panel-1901"/>
          <p:cNvSpPr/>
          <p:nvPr/>
        </p:nvSpPr>
        <p:spPr>
          <a:xfrm>
            <a:off x="4325112" y="1920240"/>
            <a:ext cx="3547872" cy="3474720"/>
          </a:xfrm>
          <a:prstGeom prst="rect">
            <a:avLst/>
          </a:prstGeom>
          <a:solidFill>
            <a:srgbClr val="E4ECE5"/>
          </a:solidFill>
          <a:ln w="12700">
            <a:solidFill>
              <a:srgbClr val="E4ECE5"/>
            </a:solidFill>
            <a:prstDash val="solid"/>
          </a:ln>
        </p:spPr>
      </p:sp>
      <p:sp>
        <p:nvSpPr>
          <p:cNvPr id="162" name="panel-1902"/>
          <p:cNvSpPr/>
          <p:nvPr/>
        </p:nvSpPr>
        <p:spPr>
          <a:xfrm>
            <a:off x="4325112" y="1920240"/>
            <a:ext cx="41148" cy="3474720"/>
          </a:xfrm>
          <a:prstGeom prst="rect">
            <a:avLst/>
          </a:prstGeom>
          <a:solidFill>
            <a:srgbClr val="557969"/>
          </a:solidFill>
          <a:ln w="12700">
            <a:solidFill>
              <a:srgbClr val="557969"/>
            </a:solidFill>
            <a:prstDash val="solid"/>
          </a:ln>
        </p:spPr>
      </p:sp>
      <p:sp>
        <p:nvSpPr>
          <p:cNvPr id="163" name="text-1903"/>
          <p:cNvSpPr/>
          <p:nvPr/>
        </p:nvSpPr>
        <p:spPr>
          <a:xfrm>
            <a:off x="4526280" y="21031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796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仍在探索</a:t>
            </a:r>
            <a:endParaRPr lang="en-US" sz="1200" dirty="0"/>
          </a:p>
        </p:txBody>
      </p:sp>
      <p:sp>
        <p:nvSpPr>
          <p:cNvPr id="164" name="line-1904"/>
          <p:cNvSpPr/>
          <p:nvPr/>
        </p:nvSpPr>
        <p:spPr>
          <a:xfrm>
            <a:off x="4526280" y="254203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65" name="text-1905"/>
          <p:cNvSpPr/>
          <p:nvPr/>
        </p:nvSpPr>
        <p:spPr>
          <a:xfrm>
            <a:off x="4526280" y="27066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实验与未接入</a:t>
            </a:r>
            <a:endParaRPr lang="en-US" sz="2200" dirty="0"/>
          </a:p>
        </p:txBody>
      </p:sp>
      <p:sp>
        <p:nvSpPr>
          <p:cNvPr id="166" name="text-1906"/>
          <p:cNvSpPr/>
          <p:nvPr/>
        </p:nvSpPr>
        <p:spPr>
          <a:xfrm>
            <a:off x="4526280" y="3355848"/>
            <a:ext cx="3145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Tet4 为实验模块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WebGPU 仅设备检测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实体连续应力云图未接入</a:t>
            </a:r>
            <a:endParaRPr lang="en-US" sz="1600" dirty="0"/>
          </a:p>
        </p:txBody>
      </p:sp>
      <p:sp>
        <p:nvSpPr>
          <p:cNvPr id="167" name="panel-1907"/>
          <p:cNvSpPr/>
          <p:nvPr/>
        </p:nvSpPr>
        <p:spPr>
          <a:xfrm>
            <a:off x="8147304" y="1920240"/>
            <a:ext cx="3547872" cy="3474720"/>
          </a:xfrm>
          <a:prstGeom prst="rect">
            <a:avLst/>
          </a:prstGeom>
          <a:solidFill>
            <a:srgbClr val="EDE6ED"/>
          </a:solidFill>
          <a:ln w="12700">
            <a:solidFill>
              <a:srgbClr val="EDE6ED"/>
            </a:solidFill>
            <a:prstDash val="solid"/>
          </a:ln>
        </p:spPr>
      </p:sp>
      <p:sp>
        <p:nvSpPr>
          <p:cNvPr id="168" name="panel-1908"/>
          <p:cNvSpPr/>
          <p:nvPr/>
        </p:nvSpPr>
        <p:spPr>
          <a:xfrm>
            <a:off x="8147304" y="1920240"/>
            <a:ext cx="41148" cy="3474720"/>
          </a:xfrm>
          <a:prstGeom prst="rect">
            <a:avLst/>
          </a:prstGeom>
          <a:solidFill>
            <a:srgbClr val="8B6381"/>
          </a:solidFill>
          <a:ln w="12700">
            <a:solidFill>
              <a:srgbClr val="8B6381"/>
            </a:solidFill>
            <a:prstDash val="solid"/>
          </a:ln>
        </p:spPr>
      </p:sp>
      <p:sp>
        <p:nvSpPr>
          <p:cNvPr id="169" name="text-1909"/>
          <p:cNvSpPr/>
          <p:nvPr/>
        </p:nvSpPr>
        <p:spPr>
          <a:xfrm>
            <a:off x="8348472" y="21031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381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使用原则</a:t>
            </a:r>
            <a:endParaRPr lang="en-US" sz="1200" dirty="0"/>
          </a:p>
        </p:txBody>
      </p:sp>
      <p:sp>
        <p:nvSpPr>
          <p:cNvPr id="170" name="line-1910"/>
          <p:cNvSpPr/>
          <p:nvPr/>
        </p:nvSpPr>
        <p:spPr>
          <a:xfrm>
            <a:off x="8348472" y="254203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71" name="text-1911"/>
          <p:cNvSpPr/>
          <p:nvPr/>
        </p:nvSpPr>
        <p:spPr>
          <a:xfrm>
            <a:off x="8348472" y="27066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独立检查模型</a:t>
            </a:r>
            <a:endParaRPr lang="en-US" sz="2200" dirty="0"/>
          </a:p>
        </p:txBody>
      </p:sp>
      <p:sp>
        <p:nvSpPr>
          <p:cNvPr id="172" name="text-1912"/>
          <p:cNvSpPr/>
          <p:nvPr/>
        </p:nvSpPr>
        <p:spPr>
          <a:xfrm>
            <a:off x="8348472" y="3355848"/>
            <a:ext cx="3145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先确认单位、方向与约束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用平衡关系和解析解校核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仅用于学习、教学与训练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不用于工程鉴定或商业用途</a:t>
            </a:r>
            <a:endParaRPr lang="en-US" sz="1600" dirty="0"/>
          </a:p>
        </p:txBody>
      </p:sp>
      <p:sp>
        <p:nvSpPr>
          <p:cNvPr id="173" name="text-1913"/>
          <p:cNvSpPr/>
          <p:nvPr/>
        </p:nvSpPr>
        <p:spPr>
          <a:xfrm>
            <a:off x="59436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正式工程设计仍需经过相应验证与专业流程。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1914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1915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1916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一起改进</a:t>
            </a:r>
            <a:endParaRPr lang="en-US" sz="1000" dirty="0"/>
          </a:p>
        </p:txBody>
      </p:sp>
      <p:sp>
        <p:nvSpPr>
          <p:cNvPr id="5" name="panel-1917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1918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带一道熟悉的题，来试试它</a:t>
            </a:r>
            <a:endParaRPr lang="en-US" sz="2800" dirty="0"/>
          </a:p>
        </p:txBody>
      </p:sp>
      <p:sp>
        <p:nvSpPr>
          <p:cNvPr id="7" name="line-1919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1920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1921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1922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1923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1924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1925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1926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1927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1928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1929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1930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1931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1932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1933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1934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1935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1936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1937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1938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1939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1940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1941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1942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1943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1944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1945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1946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1947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1948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1949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1950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1951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1952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1953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1954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1955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1956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1957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1958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1959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1960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1961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1962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1963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1964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1965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1966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1967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1968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1969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1970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1971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1972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1973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1974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1975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1976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1977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1978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1979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1980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1981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1982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1983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1984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1985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1986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1987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1988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1989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1990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1991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1992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1993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1994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1995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1996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1997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1998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1999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2000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2001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2002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2003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2004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2005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2006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2007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2008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2009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2010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2011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2012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2013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2014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2015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2016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2017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2018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2019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2020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2021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2022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2023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2024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2025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2026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2027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2028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2029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2030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2031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2032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2033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2034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2035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2036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2037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2038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2039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2040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2041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2042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2043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2044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2045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2046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2047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2048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2049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2050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2051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2052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2053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2054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2055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2056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2057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2058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2059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2060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2061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2062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2063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2064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2065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2066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155" name="panel-2067"/>
          <p:cNvSpPr/>
          <p:nvPr/>
        </p:nvSpPr>
        <p:spPr>
          <a:xfrm>
            <a:off x="502920" y="1920240"/>
            <a:ext cx="3547872" cy="3154680"/>
          </a:xfrm>
          <a:prstGeom prst="rect">
            <a:avLst/>
          </a:prstGeom>
          <a:solidFill>
            <a:srgbClr val="E7EDF2"/>
          </a:solidFill>
          <a:ln w="12700">
            <a:solidFill>
              <a:srgbClr val="E7EDF2"/>
            </a:solidFill>
            <a:prstDash val="solid"/>
          </a:ln>
        </p:spPr>
      </p:sp>
      <p:sp>
        <p:nvSpPr>
          <p:cNvPr id="156" name="panel-2068"/>
          <p:cNvSpPr/>
          <p:nvPr/>
        </p:nvSpPr>
        <p:spPr>
          <a:xfrm>
            <a:off x="502920" y="1920240"/>
            <a:ext cx="41148" cy="3154680"/>
          </a:xfrm>
          <a:prstGeom prst="rect">
            <a:avLst/>
          </a:prstGeom>
          <a:solidFill>
            <a:srgbClr val="285C75"/>
          </a:solidFill>
          <a:ln w="12700">
            <a:solidFill>
              <a:srgbClr val="285C75"/>
            </a:solidFill>
            <a:prstDash val="solid"/>
          </a:ln>
        </p:spPr>
      </p:sp>
      <p:sp>
        <p:nvSpPr>
          <p:cNvPr id="157" name="text-2069"/>
          <p:cNvSpPr/>
          <p:nvPr/>
        </p:nvSpPr>
        <p:spPr>
          <a:xfrm>
            <a:off x="704088" y="21031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第一步</a:t>
            </a:r>
            <a:endParaRPr lang="en-US" sz="1200" dirty="0"/>
          </a:p>
        </p:txBody>
      </p:sp>
      <p:sp>
        <p:nvSpPr>
          <p:cNvPr id="158" name="line-2070"/>
          <p:cNvSpPr/>
          <p:nvPr/>
        </p:nvSpPr>
        <p:spPr>
          <a:xfrm>
            <a:off x="704088" y="254203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59" name="text-2071"/>
          <p:cNvSpPr/>
          <p:nvPr/>
        </p:nvSpPr>
        <p:spPr>
          <a:xfrm>
            <a:off x="704088" y="27066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打开默认案例</a:t>
            </a:r>
            <a:endParaRPr lang="en-US" sz="2200" dirty="0"/>
          </a:p>
        </p:txBody>
      </p:sp>
      <p:sp>
        <p:nvSpPr>
          <p:cNvPr id="160" name="text-2072"/>
          <p:cNvSpPr/>
          <p:nvPr/>
        </p:nvSpPr>
        <p:spPr>
          <a:xfrm>
            <a:off x="704088" y="3355848"/>
            <a:ext cx="31455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帮助 → 使用指导与默认案例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选择 2D 简支梁或 3D 刚架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确认单位、材料、截面与荷载</a:t>
            </a:r>
            <a:endParaRPr lang="en-US" sz="1600" dirty="0"/>
          </a:p>
        </p:txBody>
      </p:sp>
      <p:sp>
        <p:nvSpPr>
          <p:cNvPr id="161" name="panel-2073"/>
          <p:cNvSpPr/>
          <p:nvPr/>
        </p:nvSpPr>
        <p:spPr>
          <a:xfrm>
            <a:off x="4325112" y="1920240"/>
            <a:ext cx="3547872" cy="3154680"/>
          </a:xfrm>
          <a:prstGeom prst="rect">
            <a:avLst/>
          </a:prstGeom>
          <a:solidFill>
            <a:srgbClr val="E4ECE5"/>
          </a:solidFill>
          <a:ln w="12700">
            <a:solidFill>
              <a:srgbClr val="E4ECE5"/>
            </a:solidFill>
            <a:prstDash val="solid"/>
          </a:ln>
        </p:spPr>
      </p:sp>
      <p:sp>
        <p:nvSpPr>
          <p:cNvPr id="162" name="panel-2074"/>
          <p:cNvSpPr/>
          <p:nvPr/>
        </p:nvSpPr>
        <p:spPr>
          <a:xfrm>
            <a:off x="4325112" y="1920240"/>
            <a:ext cx="41148" cy="3154680"/>
          </a:xfrm>
          <a:prstGeom prst="rect">
            <a:avLst/>
          </a:prstGeom>
          <a:solidFill>
            <a:srgbClr val="557969"/>
          </a:solidFill>
          <a:ln w="12700">
            <a:solidFill>
              <a:srgbClr val="557969"/>
            </a:solidFill>
            <a:prstDash val="solid"/>
          </a:ln>
        </p:spPr>
      </p:sp>
      <p:sp>
        <p:nvSpPr>
          <p:cNvPr id="163" name="text-2075"/>
          <p:cNvSpPr/>
          <p:nvPr/>
        </p:nvSpPr>
        <p:spPr>
          <a:xfrm>
            <a:off x="4526280" y="21031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796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第二步</a:t>
            </a:r>
            <a:endParaRPr lang="en-US" sz="1200" dirty="0"/>
          </a:p>
        </p:txBody>
      </p:sp>
      <p:sp>
        <p:nvSpPr>
          <p:cNvPr id="164" name="line-2076"/>
          <p:cNvSpPr/>
          <p:nvPr/>
        </p:nvSpPr>
        <p:spPr>
          <a:xfrm>
            <a:off x="4526280" y="254203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65" name="text-2077"/>
          <p:cNvSpPr/>
          <p:nvPr/>
        </p:nvSpPr>
        <p:spPr>
          <a:xfrm>
            <a:off x="4526280" y="27066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只改一个条件</a:t>
            </a:r>
            <a:endParaRPr lang="en-US" sz="2200" dirty="0"/>
          </a:p>
        </p:txBody>
      </p:sp>
      <p:sp>
        <p:nvSpPr>
          <p:cNvPr id="166" name="text-2078"/>
          <p:cNvSpPr/>
          <p:nvPr/>
        </p:nvSpPr>
        <p:spPr>
          <a:xfrm>
            <a:off x="4526280" y="3355848"/>
            <a:ext cx="31455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只改荷载大小、位置或截面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先预测反力与变形变化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再求解并与预测对照</a:t>
            </a:r>
            <a:endParaRPr lang="en-US" sz="1600" dirty="0"/>
          </a:p>
        </p:txBody>
      </p:sp>
      <p:sp>
        <p:nvSpPr>
          <p:cNvPr id="167" name="panel-2079"/>
          <p:cNvSpPr/>
          <p:nvPr/>
        </p:nvSpPr>
        <p:spPr>
          <a:xfrm>
            <a:off x="8147304" y="1920240"/>
            <a:ext cx="3547872" cy="3154680"/>
          </a:xfrm>
          <a:prstGeom prst="rect">
            <a:avLst/>
          </a:prstGeom>
          <a:solidFill>
            <a:srgbClr val="EDE6ED"/>
          </a:solidFill>
          <a:ln w="12700">
            <a:solidFill>
              <a:srgbClr val="EDE6ED"/>
            </a:solidFill>
            <a:prstDash val="solid"/>
          </a:ln>
        </p:spPr>
      </p:sp>
      <p:sp>
        <p:nvSpPr>
          <p:cNvPr id="168" name="panel-2080"/>
          <p:cNvSpPr/>
          <p:nvPr/>
        </p:nvSpPr>
        <p:spPr>
          <a:xfrm>
            <a:off x="8147304" y="1920240"/>
            <a:ext cx="41148" cy="3154680"/>
          </a:xfrm>
          <a:prstGeom prst="rect">
            <a:avLst/>
          </a:prstGeom>
          <a:solidFill>
            <a:srgbClr val="8B6381"/>
          </a:solidFill>
          <a:ln w="12700">
            <a:solidFill>
              <a:srgbClr val="8B6381"/>
            </a:solidFill>
            <a:prstDash val="solid"/>
          </a:ln>
        </p:spPr>
      </p:sp>
      <p:sp>
        <p:nvSpPr>
          <p:cNvPr id="169" name="text-2081"/>
          <p:cNvSpPr/>
          <p:nvPr/>
        </p:nvSpPr>
        <p:spPr>
          <a:xfrm>
            <a:off x="8348472" y="21031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381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第三步</a:t>
            </a:r>
            <a:endParaRPr lang="en-US" sz="1200" dirty="0"/>
          </a:p>
        </p:txBody>
      </p:sp>
      <p:sp>
        <p:nvSpPr>
          <p:cNvPr id="170" name="line-2082"/>
          <p:cNvSpPr/>
          <p:nvPr/>
        </p:nvSpPr>
        <p:spPr>
          <a:xfrm>
            <a:off x="8348472" y="2542032"/>
            <a:ext cx="3145536" cy="0"/>
          </a:xfrm>
          <a:prstGeom prst="line">
            <a:avLst/>
          </a:prstGeom>
          <a:noFill/>
          <a:ln w="8890">
            <a:solidFill>
              <a:srgbClr val="C0CDD2"/>
            </a:solidFill>
            <a:prstDash val="solid"/>
          </a:ln>
        </p:spPr>
      </p:sp>
      <p:sp>
        <p:nvSpPr>
          <p:cNvPr id="171" name="text-2083"/>
          <p:cNvSpPr/>
          <p:nvPr/>
        </p:nvSpPr>
        <p:spPr>
          <a:xfrm>
            <a:off x="8348472" y="27066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把反馈带回来</a:t>
            </a:r>
            <a:endParaRPr lang="en-US" sz="2200" dirty="0"/>
          </a:p>
        </p:txBody>
      </p:sp>
      <p:sp>
        <p:nvSpPr>
          <p:cNvPr id="172" name="text-2084"/>
          <p:cNvSpPr/>
          <p:nvPr/>
        </p:nvSpPr>
        <p:spPr>
          <a:xfrm>
            <a:off x="8348472" y="3355848"/>
            <a:ext cx="31455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描述不清楚的操作步骤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附模型、单位与结果截图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指出与手算不一致的位置</a:t>
            </a:r>
            <a:endParaRPr lang="en-US" sz="1600" dirty="0"/>
          </a:p>
        </p:txBody>
      </p:sp>
      <p:sp>
        <p:nvSpPr>
          <p:cNvPr id="173" name="text-2085"/>
          <p:cNvSpPr/>
          <p:nvPr/>
        </p:nvSpPr>
        <p:spPr>
          <a:xfrm>
            <a:off x="594360" y="55046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希望它成为大家理解材料力学的一件小工具。</a:t>
            </a:r>
            <a:endParaRPr lang="en-US" sz="2400" dirty="0"/>
          </a:p>
        </p:txBody>
      </p:sp>
      <p:sp>
        <p:nvSpPr>
          <p:cNvPr id="174" name="text-2086"/>
          <p:cNvSpPr/>
          <p:nvPr/>
        </p:nvSpPr>
        <p:spPr>
          <a:xfrm>
            <a:off x="594360" y="60533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现场分享项目文件或已验证的安装包；不放置未经确认的下载链接。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2087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2088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2089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拓展讨论 · 解析实验</a:t>
            </a:r>
            <a:endParaRPr lang="en-US" sz="1000" dirty="0"/>
          </a:p>
        </p:txBody>
      </p:sp>
      <p:sp>
        <p:nvSpPr>
          <p:cNvPr id="5" name="panel-2090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2091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只改一个参数，观察结构响应如何变化</a:t>
            </a:r>
            <a:endParaRPr lang="en-US" sz="2800" dirty="0"/>
          </a:p>
        </p:txBody>
      </p:sp>
      <p:sp>
        <p:nvSpPr>
          <p:cNvPr id="7" name="line-2092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2093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2094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2095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2096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2097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2098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2099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2100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2101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2102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2103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2104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2105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2106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2107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2108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2109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2110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2111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2112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2113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2114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2115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2116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2117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2118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2119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2120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2121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2122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2123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2124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2125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2126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2127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2128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2129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2130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2131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2132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2133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2134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2135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2136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2137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2138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2139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2140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2141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2142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2143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2144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2145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2146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2147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2148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2149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2150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2151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2152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2153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2154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2155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2156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2157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2158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2159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2160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2161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2162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2163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2164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2165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2166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2167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2168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2169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2170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2171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2172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2173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2174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2175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2176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2177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2178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2179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2180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2181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2182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2183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2184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2185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2186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2187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2188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2189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2190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2191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2192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2193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2194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2195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2196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2197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2198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2199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2200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2201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2202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2203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2204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2205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2206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2207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2208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2209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2210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2211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2212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2213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2214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2215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2216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2217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2218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2219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2220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2221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2222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2223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2224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2225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2226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2227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2228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2229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2230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2231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2232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2233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2234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2235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2236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2237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2238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2239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155" name="text-2240"/>
          <p:cNvSpPr/>
          <p:nvPr/>
        </p:nvSpPr>
        <p:spPr>
          <a:xfrm>
            <a:off x="64008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实验 A / 改变集中力位置</a:t>
            </a:r>
            <a:endParaRPr lang="en-US" sz="2100" dirty="0"/>
          </a:p>
        </p:txBody>
      </p:sp>
      <p:sp>
        <p:nvSpPr>
          <p:cNvPr id="156" name="text-2241"/>
          <p:cNvSpPr/>
          <p:nvPr/>
        </p:nvSpPr>
        <p:spPr>
          <a:xfrm>
            <a:off x="685800" y="24231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 = 1 m</a:t>
            </a:r>
            <a:endParaRPr lang="en-US" sz="1600" dirty="0"/>
          </a:p>
        </p:txBody>
      </p:sp>
      <p:sp>
        <p:nvSpPr>
          <p:cNvPr id="157" name="panel-2242"/>
          <p:cNvSpPr/>
          <p:nvPr/>
        </p:nvSpPr>
        <p:spPr>
          <a:xfrm>
            <a:off x="2148840" y="2423160"/>
            <a:ext cx="3291840" cy="210312"/>
          </a:xfrm>
          <a:prstGeom prst="rect">
            <a:avLst/>
          </a:prstGeom>
          <a:solidFill>
            <a:srgbClr val="557969"/>
          </a:solidFill>
          <a:ln w="12700">
            <a:solidFill>
              <a:srgbClr val="557969"/>
            </a:solidFill>
            <a:prstDash val="solid"/>
          </a:ln>
        </p:spPr>
      </p:sp>
      <p:sp>
        <p:nvSpPr>
          <p:cNvPr id="158" name="panel-2243"/>
          <p:cNvSpPr/>
          <p:nvPr/>
        </p:nvSpPr>
        <p:spPr>
          <a:xfrm>
            <a:off x="2148840" y="2697480"/>
            <a:ext cx="658368" cy="210312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159" name="text-2244"/>
          <p:cNvSpPr/>
          <p:nvPr/>
        </p:nvSpPr>
        <p:spPr>
          <a:xfrm>
            <a:off x="5596128" y="2487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 15 / B 3 kN</a:t>
            </a:r>
            <a:endParaRPr lang="en-US" sz="1600" dirty="0"/>
          </a:p>
        </p:txBody>
      </p:sp>
      <p:sp>
        <p:nvSpPr>
          <p:cNvPr id="160" name="text-2245"/>
          <p:cNvSpPr/>
          <p:nvPr/>
        </p:nvSpPr>
        <p:spPr>
          <a:xfrm>
            <a:off x="685800" y="33649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 = 2 m</a:t>
            </a:r>
            <a:endParaRPr lang="en-US" sz="1600" dirty="0"/>
          </a:p>
        </p:txBody>
      </p:sp>
      <p:sp>
        <p:nvSpPr>
          <p:cNvPr id="161" name="panel-2246"/>
          <p:cNvSpPr/>
          <p:nvPr/>
        </p:nvSpPr>
        <p:spPr>
          <a:xfrm>
            <a:off x="2148840" y="3364992"/>
            <a:ext cx="2633472" cy="210312"/>
          </a:xfrm>
          <a:prstGeom prst="rect">
            <a:avLst/>
          </a:prstGeom>
          <a:solidFill>
            <a:srgbClr val="557969"/>
          </a:solidFill>
          <a:ln w="12700">
            <a:solidFill>
              <a:srgbClr val="557969"/>
            </a:solidFill>
            <a:prstDash val="solid"/>
          </a:ln>
        </p:spPr>
      </p:sp>
      <p:sp>
        <p:nvSpPr>
          <p:cNvPr id="162" name="panel-2247"/>
          <p:cNvSpPr/>
          <p:nvPr/>
        </p:nvSpPr>
        <p:spPr>
          <a:xfrm>
            <a:off x="2148840" y="3639312"/>
            <a:ext cx="1316736" cy="210312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163" name="text-2248"/>
          <p:cNvSpPr/>
          <p:nvPr/>
        </p:nvSpPr>
        <p:spPr>
          <a:xfrm>
            <a:off x="5596128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 12 / B 6 kN</a:t>
            </a:r>
            <a:endParaRPr lang="en-US" sz="1600" dirty="0"/>
          </a:p>
        </p:txBody>
      </p:sp>
      <p:sp>
        <p:nvSpPr>
          <p:cNvPr id="164" name="text-2249"/>
          <p:cNvSpPr/>
          <p:nvPr/>
        </p:nvSpPr>
        <p:spPr>
          <a:xfrm>
            <a:off x="685800" y="430682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 = 3 m</a:t>
            </a:r>
            <a:endParaRPr lang="en-US" sz="1600" dirty="0"/>
          </a:p>
        </p:txBody>
      </p:sp>
      <p:sp>
        <p:nvSpPr>
          <p:cNvPr id="165" name="panel-2250"/>
          <p:cNvSpPr/>
          <p:nvPr/>
        </p:nvSpPr>
        <p:spPr>
          <a:xfrm>
            <a:off x="2148840" y="4306824"/>
            <a:ext cx="1975104" cy="210312"/>
          </a:xfrm>
          <a:prstGeom prst="rect">
            <a:avLst/>
          </a:prstGeom>
          <a:solidFill>
            <a:srgbClr val="557969"/>
          </a:solidFill>
          <a:ln w="12700">
            <a:solidFill>
              <a:srgbClr val="557969"/>
            </a:solidFill>
            <a:prstDash val="solid"/>
          </a:ln>
        </p:spPr>
      </p:sp>
      <p:sp>
        <p:nvSpPr>
          <p:cNvPr id="166" name="panel-2251"/>
          <p:cNvSpPr/>
          <p:nvPr/>
        </p:nvSpPr>
        <p:spPr>
          <a:xfrm>
            <a:off x="2148840" y="4581144"/>
            <a:ext cx="1975104" cy="210312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167" name="text-2252"/>
          <p:cNvSpPr/>
          <p:nvPr/>
        </p:nvSpPr>
        <p:spPr>
          <a:xfrm>
            <a:off x="5596128" y="4370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 9 / B 9 kN</a:t>
            </a:r>
            <a:endParaRPr lang="en-US" sz="1600" dirty="0"/>
          </a:p>
        </p:txBody>
      </p:sp>
      <p:sp>
        <p:nvSpPr>
          <p:cNvPr id="168" name="text-2253"/>
          <p:cNvSpPr/>
          <p:nvPr/>
        </p:nvSpPr>
        <p:spPr>
          <a:xfrm>
            <a:off x="214884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796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 支反力</a:t>
            </a:r>
            <a:endParaRPr lang="en-US" sz="1400" dirty="0"/>
          </a:p>
        </p:txBody>
      </p:sp>
      <p:sp>
        <p:nvSpPr>
          <p:cNvPr id="169" name="text-2254"/>
          <p:cNvSpPr/>
          <p:nvPr/>
        </p:nvSpPr>
        <p:spPr>
          <a:xfrm>
            <a:off x="402336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6A3E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B 支反力</a:t>
            </a:r>
            <a:endParaRPr lang="en-US" sz="1400" dirty="0"/>
          </a:p>
        </p:txBody>
      </p:sp>
      <p:sp>
        <p:nvSpPr>
          <p:cNvPr id="170" name="panel-2255"/>
          <p:cNvSpPr/>
          <p:nvPr/>
        </p:nvSpPr>
        <p:spPr>
          <a:xfrm>
            <a:off x="8046720" y="1874520"/>
            <a:ext cx="3657600" cy="4069080"/>
          </a:xfrm>
          <a:prstGeom prst="rect">
            <a:avLst/>
          </a:prstGeom>
          <a:solidFill>
            <a:srgbClr val="DDEAE2"/>
          </a:solidFill>
          <a:ln w="12700">
            <a:solidFill>
              <a:srgbClr val="DDEAE2"/>
            </a:solidFill>
            <a:prstDash val="solid"/>
          </a:ln>
        </p:spPr>
      </p:sp>
      <p:sp>
        <p:nvSpPr>
          <p:cNvPr id="171" name="text-2256"/>
          <p:cNvSpPr/>
          <p:nvPr/>
        </p:nvSpPr>
        <p:spPr>
          <a:xfrm>
            <a:off x="8275320" y="21305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同一个模型，两种观察</a:t>
            </a:r>
            <a:endParaRPr lang="en-US" sz="2200" dirty="0"/>
          </a:p>
        </p:txBody>
      </p:sp>
      <p:sp>
        <p:nvSpPr>
          <p:cNvPr id="172" name="text-2257"/>
          <p:cNvSpPr/>
          <p:nvPr/>
        </p:nvSpPr>
        <p:spPr>
          <a:xfrm>
            <a:off x="8275320" y="283464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位置 a：1 → 2 → 3 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弯矩峰值：15 → 24 → 27 kN·m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实验 B / 保持位置不变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将集中力从18增至36 kN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在线弹性假设下响应成比例</a:t>
            </a:r>
            <a:endParaRPr lang="en-US" sz="1700" dirty="0"/>
          </a:p>
        </p:txBody>
      </p:sp>
      <p:sp>
        <p:nvSpPr>
          <p:cNvPr id="173" name="text-2258"/>
          <p:cNvSpPr/>
          <p:nvPr/>
        </p:nvSpPr>
        <p:spPr>
          <a:xfrm>
            <a:off x="640080" y="6071616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以上为6m简支梁解析预测，未代替软件实际验证。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2259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3" name="text-2260"/>
          <p:cNvSpPr/>
          <p:nvPr/>
        </p:nvSpPr>
        <p:spPr>
          <a:xfrm>
            <a:off x="502920" y="146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E5E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MECHANICS  /  拉压弯扭大师</a:t>
            </a:r>
            <a:endParaRPr lang="en-US" sz="1000" dirty="0"/>
          </a:p>
        </p:txBody>
      </p:sp>
      <p:sp>
        <p:nvSpPr>
          <p:cNvPr id="4" name="text-2261"/>
          <p:cNvSpPr/>
          <p:nvPr/>
        </p:nvSpPr>
        <p:spPr>
          <a:xfrm>
            <a:off x="9189720" y="146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D2C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附录 · 快速查找</a:t>
            </a:r>
            <a:endParaRPr lang="en-US" sz="1000" dirty="0"/>
          </a:p>
        </p:txBody>
      </p:sp>
      <p:sp>
        <p:nvSpPr>
          <p:cNvPr id="5" name="panel-2262"/>
          <p:cNvSpPr/>
          <p:nvPr/>
        </p:nvSpPr>
        <p:spPr>
          <a:xfrm>
            <a:off x="502920" y="841248"/>
            <a:ext cx="68580" cy="557784"/>
          </a:xfrm>
          <a:prstGeom prst="rect">
            <a:avLst/>
          </a:prstGeom>
          <a:solidFill>
            <a:srgbClr val="C6834D"/>
          </a:solidFill>
          <a:ln w="12700">
            <a:solidFill>
              <a:srgbClr val="C6834D"/>
            </a:solidFill>
            <a:prstDash val="solid"/>
          </a:ln>
        </p:spPr>
      </p:sp>
      <p:sp>
        <p:nvSpPr>
          <p:cNvPr id="6" name="text-2263"/>
          <p:cNvSpPr/>
          <p:nvPr/>
        </p:nvSpPr>
        <p:spPr>
          <a:xfrm>
            <a:off x="731520" y="7955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C4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功能地图：按学习目标选择入口</a:t>
            </a:r>
            <a:endParaRPr lang="en-US" sz="2800" dirty="0"/>
          </a:p>
        </p:txBody>
      </p:sp>
      <p:sp>
        <p:nvSpPr>
          <p:cNvPr id="7" name="line-2264"/>
          <p:cNvSpPr/>
          <p:nvPr/>
        </p:nvSpPr>
        <p:spPr>
          <a:xfrm>
            <a:off x="9555480" y="1554480"/>
            <a:ext cx="108284" cy="85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" name="line-2265"/>
          <p:cNvSpPr/>
          <p:nvPr/>
        </p:nvSpPr>
        <p:spPr>
          <a:xfrm>
            <a:off x="9663764" y="1563043"/>
            <a:ext cx="108284" cy="79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" name="line-2266"/>
          <p:cNvSpPr/>
          <p:nvPr/>
        </p:nvSpPr>
        <p:spPr>
          <a:xfrm>
            <a:off x="9772048" y="1571017"/>
            <a:ext cx="108284" cy="68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" name="line-2267"/>
          <p:cNvSpPr/>
          <p:nvPr/>
        </p:nvSpPr>
        <p:spPr>
          <a:xfrm>
            <a:off x="9880333" y="1577851"/>
            <a:ext cx="108284" cy="52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" name="line-2268"/>
          <p:cNvSpPr/>
          <p:nvPr/>
        </p:nvSpPr>
        <p:spPr>
          <a:xfrm>
            <a:off x="9988617" y="1583077"/>
            <a:ext cx="108284" cy="32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" name="line-2269"/>
          <p:cNvSpPr/>
          <p:nvPr/>
        </p:nvSpPr>
        <p:spPr>
          <a:xfrm>
            <a:off x="10096901" y="1586334"/>
            <a:ext cx="108284" cy="10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" name="line-2270"/>
          <p:cNvSpPr/>
          <p:nvPr/>
        </p:nvSpPr>
        <p:spPr>
          <a:xfrm flipV="1">
            <a:off x="10205185" y="1586194"/>
            <a:ext cx="108284" cy="120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" name="line-2271"/>
          <p:cNvSpPr/>
          <p:nvPr/>
        </p:nvSpPr>
        <p:spPr>
          <a:xfrm flipV="1">
            <a:off x="10313469" y="1582808"/>
            <a:ext cx="108284" cy="33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5" name="line-2272"/>
          <p:cNvSpPr/>
          <p:nvPr/>
        </p:nvSpPr>
        <p:spPr>
          <a:xfrm flipV="1">
            <a:off x="10421754" y="1577470"/>
            <a:ext cx="108284" cy="5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6" name="line-2273"/>
          <p:cNvSpPr/>
          <p:nvPr/>
        </p:nvSpPr>
        <p:spPr>
          <a:xfrm flipV="1">
            <a:off x="10530038" y="1570550"/>
            <a:ext cx="108284" cy="69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7" name="line-2274"/>
          <p:cNvSpPr/>
          <p:nvPr/>
        </p:nvSpPr>
        <p:spPr>
          <a:xfrm flipV="1">
            <a:off x="10638322" y="1562524"/>
            <a:ext cx="108284" cy="80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8" name="line-2275"/>
          <p:cNvSpPr/>
          <p:nvPr/>
        </p:nvSpPr>
        <p:spPr>
          <a:xfrm flipV="1">
            <a:off x="10746606" y="1553943"/>
            <a:ext cx="108284" cy="85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9" name="line-2276"/>
          <p:cNvSpPr/>
          <p:nvPr/>
        </p:nvSpPr>
        <p:spPr>
          <a:xfrm flipV="1">
            <a:off x="10854891" y="1545400"/>
            <a:ext cx="108284" cy="8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0" name="line-2277"/>
          <p:cNvSpPr/>
          <p:nvPr/>
        </p:nvSpPr>
        <p:spPr>
          <a:xfrm flipV="1">
            <a:off x="10963175" y="1537482"/>
            <a:ext cx="108284" cy="791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1" name="line-2278"/>
          <p:cNvSpPr/>
          <p:nvPr/>
        </p:nvSpPr>
        <p:spPr>
          <a:xfrm flipV="1">
            <a:off x="11071459" y="1530734"/>
            <a:ext cx="108284" cy="67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2" name="line-2279"/>
          <p:cNvSpPr/>
          <p:nvPr/>
        </p:nvSpPr>
        <p:spPr>
          <a:xfrm flipV="1">
            <a:off x="11179743" y="1525621"/>
            <a:ext cx="108284" cy="511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3" name="line-2280"/>
          <p:cNvSpPr/>
          <p:nvPr/>
        </p:nvSpPr>
        <p:spPr>
          <a:xfrm flipV="1">
            <a:off x="11288027" y="1522495"/>
            <a:ext cx="108284" cy="312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4" name="line-2281"/>
          <p:cNvSpPr/>
          <p:nvPr/>
        </p:nvSpPr>
        <p:spPr>
          <a:xfrm flipV="1">
            <a:off x="11396312" y="1521571"/>
            <a:ext cx="108284" cy="9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5" name="line-2282"/>
          <p:cNvSpPr/>
          <p:nvPr/>
        </p:nvSpPr>
        <p:spPr>
          <a:xfrm>
            <a:off x="11504596" y="1521571"/>
            <a:ext cx="108284" cy="13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6" name="line-2283"/>
          <p:cNvSpPr/>
          <p:nvPr/>
        </p:nvSpPr>
        <p:spPr>
          <a:xfrm>
            <a:off x="9555480" y="1565239"/>
            <a:ext cx="108284" cy="110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7" name="line-2284"/>
          <p:cNvSpPr/>
          <p:nvPr/>
        </p:nvSpPr>
        <p:spPr>
          <a:xfrm>
            <a:off x="9663764" y="1576305"/>
            <a:ext cx="108284" cy="95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8" name="line-2285"/>
          <p:cNvSpPr/>
          <p:nvPr/>
        </p:nvSpPr>
        <p:spPr>
          <a:xfrm>
            <a:off x="9772048" y="1585869"/>
            <a:ext cx="108284" cy="7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29" name="line-2286"/>
          <p:cNvSpPr/>
          <p:nvPr/>
        </p:nvSpPr>
        <p:spPr>
          <a:xfrm>
            <a:off x="9880333" y="1593271"/>
            <a:ext cx="108284" cy="47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0" name="line-2287"/>
          <p:cNvSpPr/>
          <p:nvPr/>
        </p:nvSpPr>
        <p:spPr>
          <a:xfrm>
            <a:off x="9988617" y="1598003"/>
            <a:ext cx="108284" cy="173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1" name="line-2288"/>
          <p:cNvSpPr/>
          <p:nvPr/>
        </p:nvSpPr>
        <p:spPr>
          <a:xfrm flipV="1">
            <a:off x="10096901" y="1598356"/>
            <a:ext cx="108284" cy="138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2" name="line-2289"/>
          <p:cNvSpPr/>
          <p:nvPr/>
        </p:nvSpPr>
        <p:spPr>
          <a:xfrm flipV="1">
            <a:off x="10205185" y="1593954"/>
            <a:ext cx="108284" cy="44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3" name="line-2290"/>
          <p:cNvSpPr/>
          <p:nvPr/>
        </p:nvSpPr>
        <p:spPr>
          <a:xfrm flipV="1">
            <a:off x="10313469" y="1586834"/>
            <a:ext cx="108284" cy="712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4" name="line-2291"/>
          <p:cNvSpPr/>
          <p:nvPr/>
        </p:nvSpPr>
        <p:spPr>
          <a:xfrm flipV="1">
            <a:off x="10421754" y="1577486"/>
            <a:ext cx="108284" cy="93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5" name="line-2292"/>
          <p:cNvSpPr/>
          <p:nvPr/>
        </p:nvSpPr>
        <p:spPr>
          <a:xfrm flipV="1">
            <a:off x="10530038" y="1566554"/>
            <a:ext cx="108284" cy="109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6" name="line-2293"/>
          <p:cNvSpPr/>
          <p:nvPr/>
        </p:nvSpPr>
        <p:spPr>
          <a:xfrm flipV="1">
            <a:off x="10638322" y="1554790"/>
            <a:ext cx="108284" cy="117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7" name="line-2294"/>
          <p:cNvSpPr/>
          <p:nvPr/>
        </p:nvSpPr>
        <p:spPr>
          <a:xfrm flipV="1">
            <a:off x="10746606" y="1543006"/>
            <a:ext cx="108284" cy="117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8" name="line-2295"/>
          <p:cNvSpPr/>
          <p:nvPr/>
        </p:nvSpPr>
        <p:spPr>
          <a:xfrm flipV="1">
            <a:off x="10854891" y="1532011"/>
            <a:ext cx="108284" cy="109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39" name="line-2296"/>
          <p:cNvSpPr/>
          <p:nvPr/>
        </p:nvSpPr>
        <p:spPr>
          <a:xfrm flipV="1">
            <a:off x="10963175" y="1522563"/>
            <a:ext cx="108284" cy="944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0" name="line-2297"/>
          <p:cNvSpPr/>
          <p:nvPr/>
        </p:nvSpPr>
        <p:spPr>
          <a:xfrm flipV="1">
            <a:off x="11071459" y="1515313"/>
            <a:ext cx="108284" cy="725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1" name="line-2298"/>
          <p:cNvSpPr/>
          <p:nvPr/>
        </p:nvSpPr>
        <p:spPr>
          <a:xfrm flipV="1">
            <a:off x="11179743" y="1510760"/>
            <a:ext cx="108284" cy="455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2" name="line-2299"/>
          <p:cNvSpPr/>
          <p:nvPr/>
        </p:nvSpPr>
        <p:spPr>
          <a:xfrm flipV="1">
            <a:off x="11288027" y="1509217"/>
            <a:ext cx="108284" cy="15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3" name="line-2300"/>
          <p:cNvSpPr/>
          <p:nvPr/>
        </p:nvSpPr>
        <p:spPr>
          <a:xfrm>
            <a:off x="11396312" y="1509217"/>
            <a:ext cx="108284" cy="15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4" name="line-2301"/>
          <p:cNvSpPr/>
          <p:nvPr/>
        </p:nvSpPr>
        <p:spPr>
          <a:xfrm>
            <a:off x="11504596" y="1510791"/>
            <a:ext cx="108284" cy="45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5" name="line-2302"/>
          <p:cNvSpPr/>
          <p:nvPr/>
        </p:nvSpPr>
        <p:spPr>
          <a:xfrm>
            <a:off x="9555480" y="1581082"/>
            <a:ext cx="108284" cy="123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6" name="line-2303"/>
          <p:cNvSpPr/>
          <p:nvPr/>
        </p:nvSpPr>
        <p:spPr>
          <a:xfrm>
            <a:off x="9663764" y="1593458"/>
            <a:ext cx="108284" cy="96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7" name="line-2304"/>
          <p:cNvSpPr/>
          <p:nvPr/>
        </p:nvSpPr>
        <p:spPr>
          <a:xfrm>
            <a:off x="9772048" y="1603150"/>
            <a:ext cx="108284" cy="634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8" name="line-2305"/>
          <p:cNvSpPr/>
          <p:nvPr/>
        </p:nvSpPr>
        <p:spPr>
          <a:xfrm>
            <a:off x="9880333" y="1609492"/>
            <a:ext cx="108284" cy="255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49" name="line-2306"/>
          <p:cNvSpPr/>
          <p:nvPr/>
        </p:nvSpPr>
        <p:spPr>
          <a:xfrm flipV="1">
            <a:off x="9988617" y="1610635"/>
            <a:ext cx="108284" cy="14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0" name="line-2307"/>
          <p:cNvSpPr/>
          <p:nvPr/>
        </p:nvSpPr>
        <p:spPr>
          <a:xfrm flipV="1">
            <a:off x="10096901" y="1605359"/>
            <a:ext cx="108284" cy="527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1" name="line-2308"/>
          <p:cNvSpPr/>
          <p:nvPr/>
        </p:nvSpPr>
        <p:spPr>
          <a:xfrm flipV="1">
            <a:off x="10205185" y="1596579"/>
            <a:ext cx="108284" cy="87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2" name="line-2309"/>
          <p:cNvSpPr/>
          <p:nvPr/>
        </p:nvSpPr>
        <p:spPr>
          <a:xfrm flipV="1">
            <a:off x="10313469" y="1584901"/>
            <a:ext cx="108284" cy="1167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3" name="line-2310"/>
          <p:cNvSpPr/>
          <p:nvPr/>
        </p:nvSpPr>
        <p:spPr>
          <a:xfrm flipV="1">
            <a:off x="10421754" y="1571128"/>
            <a:ext cx="108284" cy="1377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4" name="line-2311"/>
          <p:cNvSpPr/>
          <p:nvPr/>
        </p:nvSpPr>
        <p:spPr>
          <a:xfrm flipV="1">
            <a:off x="10530038" y="1556209"/>
            <a:ext cx="108284" cy="149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5" name="line-2312"/>
          <p:cNvSpPr/>
          <p:nvPr/>
        </p:nvSpPr>
        <p:spPr>
          <a:xfrm flipV="1">
            <a:off x="10638322" y="1541171"/>
            <a:ext cx="108284" cy="150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6" name="line-2313"/>
          <p:cNvSpPr/>
          <p:nvPr/>
        </p:nvSpPr>
        <p:spPr>
          <a:xfrm flipV="1">
            <a:off x="10746606" y="1527049"/>
            <a:ext cx="108284" cy="141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7" name="line-2314"/>
          <p:cNvSpPr/>
          <p:nvPr/>
        </p:nvSpPr>
        <p:spPr>
          <a:xfrm flipV="1">
            <a:off x="10854891" y="1514816"/>
            <a:ext cx="108284" cy="1223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8" name="line-2315"/>
          <p:cNvSpPr/>
          <p:nvPr/>
        </p:nvSpPr>
        <p:spPr>
          <a:xfrm flipV="1">
            <a:off x="10963175" y="1505314"/>
            <a:ext cx="108284" cy="950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59" name="line-2316"/>
          <p:cNvSpPr/>
          <p:nvPr/>
        </p:nvSpPr>
        <p:spPr>
          <a:xfrm flipV="1">
            <a:off x="11071459" y="1499197"/>
            <a:ext cx="108284" cy="61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0" name="line-2317"/>
          <p:cNvSpPr/>
          <p:nvPr/>
        </p:nvSpPr>
        <p:spPr>
          <a:xfrm flipV="1">
            <a:off x="11179743" y="1496887"/>
            <a:ext cx="108284" cy="231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1" name="line-2318"/>
          <p:cNvSpPr/>
          <p:nvPr/>
        </p:nvSpPr>
        <p:spPr>
          <a:xfrm>
            <a:off x="11288027" y="1496887"/>
            <a:ext cx="108284" cy="165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2" name="line-2319"/>
          <p:cNvSpPr/>
          <p:nvPr/>
        </p:nvSpPr>
        <p:spPr>
          <a:xfrm>
            <a:off x="11396312" y="1498542"/>
            <a:ext cx="108284" cy="55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3" name="line-2320"/>
          <p:cNvSpPr/>
          <p:nvPr/>
        </p:nvSpPr>
        <p:spPr>
          <a:xfrm>
            <a:off x="11504596" y="1504048"/>
            <a:ext cx="108284" cy="897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4" name="line-2321"/>
          <p:cNvSpPr/>
          <p:nvPr/>
        </p:nvSpPr>
        <p:spPr>
          <a:xfrm>
            <a:off x="9555480" y="1600605"/>
            <a:ext cx="108284" cy="1209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5" name="line-2322"/>
          <p:cNvSpPr/>
          <p:nvPr/>
        </p:nvSpPr>
        <p:spPr>
          <a:xfrm>
            <a:off x="9663764" y="1612697"/>
            <a:ext cx="108284" cy="80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6" name="line-2323"/>
          <p:cNvSpPr/>
          <p:nvPr/>
        </p:nvSpPr>
        <p:spPr>
          <a:xfrm>
            <a:off x="9772048" y="1620781"/>
            <a:ext cx="108284" cy="35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7" name="line-2324"/>
          <p:cNvSpPr/>
          <p:nvPr/>
        </p:nvSpPr>
        <p:spPr>
          <a:xfrm flipV="1">
            <a:off x="9880333" y="1623012"/>
            <a:ext cx="108284" cy="1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8" name="line-2325"/>
          <p:cNvSpPr/>
          <p:nvPr/>
        </p:nvSpPr>
        <p:spPr>
          <a:xfrm flipV="1">
            <a:off x="9988617" y="1617004"/>
            <a:ext cx="108284" cy="60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69" name="line-2326"/>
          <p:cNvSpPr/>
          <p:nvPr/>
        </p:nvSpPr>
        <p:spPr>
          <a:xfrm flipV="1">
            <a:off x="10096901" y="1606692"/>
            <a:ext cx="108284" cy="1031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0" name="line-2327"/>
          <p:cNvSpPr/>
          <p:nvPr/>
        </p:nvSpPr>
        <p:spPr>
          <a:xfrm flipV="1">
            <a:off x="10205185" y="1592785"/>
            <a:ext cx="108284" cy="1390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1" name="line-2328"/>
          <p:cNvSpPr/>
          <p:nvPr/>
        </p:nvSpPr>
        <p:spPr>
          <a:xfrm flipV="1">
            <a:off x="10313469" y="1576241"/>
            <a:ext cx="108284" cy="165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2" name="line-2329"/>
          <p:cNvSpPr/>
          <p:nvPr/>
        </p:nvSpPr>
        <p:spPr>
          <a:xfrm flipV="1">
            <a:off x="10421754" y="1558198"/>
            <a:ext cx="108284" cy="180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3" name="line-2330"/>
          <p:cNvSpPr/>
          <p:nvPr/>
        </p:nvSpPr>
        <p:spPr>
          <a:xfrm flipV="1">
            <a:off x="10530038" y="1539899"/>
            <a:ext cx="108284" cy="182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4" name="line-2331"/>
          <p:cNvSpPr/>
          <p:nvPr/>
        </p:nvSpPr>
        <p:spPr>
          <a:xfrm flipV="1">
            <a:off x="10638322" y="1522604"/>
            <a:ext cx="108284" cy="1729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5" name="line-2332"/>
          <p:cNvSpPr/>
          <p:nvPr/>
        </p:nvSpPr>
        <p:spPr>
          <a:xfrm flipV="1">
            <a:off x="10746606" y="1507504"/>
            <a:ext cx="108284" cy="151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6" name="line-2333"/>
          <p:cNvSpPr/>
          <p:nvPr/>
        </p:nvSpPr>
        <p:spPr>
          <a:xfrm flipV="1">
            <a:off x="10854891" y="1495638"/>
            <a:ext cx="108284" cy="118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7" name="line-2334"/>
          <p:cNvSpPr/>
          <p:nvPr/>
        </p:nvSpPr>
        <p:spPr>
          <a:xfrm flipV="1">
            <a:off x="10963175" y="1487824"/>
            <a:ext cx="108284" cy="78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8" name="line-2335"/>
          <p:cNvSpPr/>
          <p:nvPr/>
        </p:nvSpPr>
        <p:spPr>
          <a:xfrm flipV="1">
            <a:off x="11071459" y="1484599"/>
            <a:ext cx="108284" cy="322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79" name="line-2336"/>
          <p:cNvSpPr/>
          <p:nvPr/>
        </p:nvSpPr>
        <p:spPr>
          <a:xfrm>
            <a:off x="11179743" y="1484599"/>
            <a:ext cx="108284" cy="158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0" name="line-2337"/>
          <p:cNvSpPr/>
          <p:nvPr/>
        </p:nvSpPr>
        <p:spPr>
          <a:xfrm>
            <a:off x="11288027" y="1486186"/>
            <a:ext cx="108284" cy="628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1" name="line-2338"/>
          <p:cNvSpPr/>
          <p:nvPr/>
        </p:nvSpPr>
        <p:spPr>
          <a:xfrm>
            <a:off x="11396312" y="1492475"/>
            <a:ext cx="108284" cy="1055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2" name="line-2339"/>
          <p:cNvSpPr/>
          <p:nvPr/>
        </p:nvSpPr>
        <p:spPr>
          <a:xfrm>
            <a:off x="11504596" y="1503033"/>
            <a:ext cx="108284" cy="141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3" name="line-2340"/>
          <p:cNvSpPr/>
          <p:nvPr/>
        </p:nvSpPr>
        <p:spPr>
          <a:xfrm>
            <a:off x="9555480" y="1621896"/>
            <a:ext cx="108284" cy="995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4" name="line-2341"/>
          <p:cNvSpPr/>
          <p:nvPr/>
        </p:nvSpPr>
        <p:spPr>
          <a:xfrm>
            <a:off x="9663764" y="1631853"/>
            <a:ext cx="108284" cy="46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5" name="line-2342"/>
          <p:cNvSpPr/>
          <p:nvPr/>
        </p:nvSpPr>
        <p:spPr>
          <a:xfrm flipV="1">
            <a:off x="9772048" y="1635466"/>
            <a:ext cx="108284" cy="101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6" name="line-2343"/>
          <p:cNvSpPr/>
          <p:nvPr/>
        </p:nvSpPr>
        <p:spPr>
          <a:xfrm flipV="1">
            <a:off x="9880333" y="1628873"/>
            <a:ext cx="108284" cy="659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7" name="line-2344"/>
          <p:cNvSpPr/>
          <p:nvPr/>
        </p:nvSpPr>
        <p:spPr>
          <a:xfrm flipV="1">
            <a:off x="9988617" y="1617158"/>
            <a:ext cx="108284" cy="117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8" name="line-2345"/>
          <p:cNvSpPr/>
          <p:nvPr/>
        </p:nvSpPr>
        <p:spPr>
          <a:xfrm flipV="1">
            <a:off x="10096901" y="1601127"/>
            <a:ext cx="108284" cy="1603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89" name="line-2346"/>
          <p:cNvSpPr/>
          <p:nvPr/>
        </p:nvSpPr>
        <p:spPr>
          <a:xfrm flipV="1">
            <a:off x="10205185" y="1581885"/>
            <a:ext cx="108284" cy="1924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0" name="line-2347"/>
          <p:cNvSpPr/>
          <p:nvPr/>
        </p:nvSpPr>
        <p:spPr>
          <a:xfrm flipV="1">
            <a:off x="10313469" y="1560756"/>
            <a:ext cx="108284" cy="211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1" name="line-2348"/>
          <p:cNvSpPr/>
          <p:nvPr/>
        </p:nvSpPr>
        <p:spPr>
          <a:xfrm flipV="1">
            <a:off x="10421754" y="1539194"/>
            <a:ext cx="108284" cy="215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2" name="line-2349"/>
          <p:cNvSpPr/>
          <p:nvPr/>
        </p:nvSpPr>
        <p:spPr>
          <a:xfrm flipV="1">
            <a:off x="10530038" y="1518685"/>
            <a:ext cx="108284" cy="205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3" name="line-2350"/>
          <p:cNvSpPr/>
          <p:nvPr/>
        </p:nvSpPr>
        <p:spPr>
          <a:xfrm flipV="1">
            <a:off x="10638322" y="1500641"/>
            <a:ext cx="108284" cy="1804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4" name="line-2351"/>
          <p:cNvSpPr/>
          <p:nvPr/>
        </p:nvSpPr>
        <p:spPr>
          <a:xfrm flipV="1">
            <a:off x="10746606" y="1486303"/>
            <a:ext cx="108284" cy="1433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5" name="line-2352"/>
          <p:cNvSpPr/>
          <p:nvPr/>
        </p:nvSpPr>
        <p:spPr>
          <a:xfrm flipV="1">
            <a:off x="10854891" y="1476660"/>
            <a:ext cx="108284" cy="964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6" name="line-2353"/>
          <p:cNvSpPr/>
          <p:nvPr/>
        </p:nvSpPr>
        <p:spPr>
          <a:xfrm flipV="1">
            <a:off x="10963175" y="1472375"/>
            <a:ext cx="108284" cy="428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7" name="line-2354"/>
          <p:cNvSpPr/>
          <p:nvPr/>
        </p:nvSpPr>
        <p:spPr>
          <a:xfrm>
            <a:off x="11071459" y="1472375"/>
            <a:ext cx="108284" cy="136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8" name="line-2355"/>
          <p:cNvSpPr/>
          <p:nvPr/>
        </p:nvSpPr>
        <p:spPr>
          <a:xfrm>
            <a:off x="11179743" y="1473743"/>
            <a:ext cx="108284" cy="692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99" name="line-2356"/>
          <p:cNvSpPr/>
          <p:nvPr/>
        </p:nvSpPr>
        <p:spPr>
          <a:xfrm>
            <a:off x="11288027" y="1480671"/>
            <a:ext cx="108284" cy="1200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0" name="line-2357"/>
          <p:cNvSpPr/>
          <p:nvPr/>
        </p:nvSpPr>
        <p:spPr>
          <a:xfrm>
            <a:off x="11396312" y="1492680"/>
            <a:ext cx="108284" cy="162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1" name="line-2358"/>
          <p:cNvSpPr/>
          <p:nvPr/>
        </p:nvSpPr>
        <p:spPr>
          <a:xfrm>
            <a:off x="11504596" y="1508944"/>
            <a:ext cx="108284" cy="1940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2" name="line-2359"/>
          <p:cNvSpPr/>
          <p:nvPr/>
        </p:nvSpPr>
        <p:spPr>
          <a:xfrm>
            <a:off x="9555480" y="1642689"/>
            <a:ext cx="108284" cy="588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3" name="line-2360"/>
          <p:cNvSpPr/>
          <p:nvPr/>
        </p:nvSpPr>
        <p:spPr>
          <a:xfrm flipV="1">
            <a:off x="9663764" y="1647978"/>
            <a:ext cx="108284" cy="59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4" name="line-2361"/>
          <p:cNvSpPr/>
          <p:nvPr/>
        </p:nvSpPr>
        <p:spPr>
          <a:xfrm flipV="1">
            <a:off x="9772048" y="1640946"/>
            <a:ext cx="108284" cy="703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5" name="line-2362"/>
          <p:cNvSpPr/>
          <p:nvPr/>
        </p:nvSpPr>
        <p:spPr>
          <a:xfrm flipV="1">
            <a:off x="9880333" y="1627960"/>
            <a:ext cx="108284" cy="129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6" name="line-2363"/>
          <p:cNvSpPr/>
          <p:nvPr/>
        </p:nvSpPr>
        <p:spPr>
          <a:xfrm flipV="1">
            <a:off x="9988617" y="1609915"/>
            <a:ext cx="108284" cy="1804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7" name="line-2364"/>
          <p:cNvSpPr/>
          <p:nvPr/>
        </p:nvSpPr>
        <p:spPr>
          <a:xfrm flipV="1">
            <a:off x="10096901" y="1588054"/>
            <a:ext cx="108284" cy="2186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8" name="line-2365"/>
          <p:cNvSpPr/>
          <p:nvPr/>
        </p:nvSpPr>
        <p:spPr>
          <a:xfrm flipV="1">
            <a:off x="10205185" y="1563880"/>
            <a:ext cx="108284" cy="2417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09" name="line-2366"/>
          <p:cNvSpPr/>
          <p:nvPr/>
        </p:nvSpPr>
        <p:spPr>
          <a:xfrm flipV="1">
            <a:off x="10313469" y="1539059"/>
            <a:ext cx="108284" cy="248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0" name="line-2367"/>
          <p:cNvSpPr/>
          <p:nvPr/>
        </p:nvSpPr>
        <p:spPr>
          <a:xfrm flipV="1">
            <a:off x="10421754" y="1515300"/>
            <a:ext cx="108284" cy="2375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1" name="line-2368"/>
          <p:cNvSpPr/>
          <p:nvPr/>
        </p:nvSpPr>
        <p:spPr>
          <a:xfrm flipV="1">
            <a:off x="10530038" y="1494239"/>
            <a:ext cx="108284" cy="2106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2" name="line-2369"/>
          <p:cNvSpPr/>
          <p:nvPr/>
        </p:nvSpPr>
        <p:spPr>
          <a:xfrm flipV="1">
            <a:off x="10638322" y="1477325"/>
            <a:ext cx="108284" cy="1691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3" name="line-2370"/>
          <p:cNvSpPr/>
          <p:nvPr/>
        </p:nvSpPr>
        <p:spPr>
          <a:xfrm flipV="1">
            <a:off x="10746606" y="1465724"/>
            <a:ext cx="108284" cy="1160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4" name="line-2371"/>
          <p:cNvSpPr/>
          <p:nvPr/>
        </p:nvSpPr>
        <p:spPr>
          <a:xfrm flipV="1">
            <a:off x="10854891" y="1460234"/>
            <a:ext cx="108284" cy="549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5" name="line-2372"/>
          <p:cNvSpPr/>
          <p:nvPr/>
        </p:nvSpPr>
        <p:spPr>
          <a:xfrm>
            <a:off x="10963175" y="1460234"/>
            <a:ext cx="108284" cy="99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6" name="line-2373"/>
          <p:cNvSpPr/>
          <p:nvPr/>
        </p:nvSpPr>
        <p:spPr>
          <a:xfrm>
            <a:off x="11071459" y="1461233"/>
            <a:ext cx="108284" cy="741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7" name="line-2374"/>
          <p:cNvSpPr/>
          <p:nvPr/>
        </p:nvSpPr>
        <p:spPr>
          <a:xfrm>
            <a:off x="11179743" y="1468653"/>
            <a:ext cx="108284" cy="13329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8" name="line-2375"/>
          <p:cNvSpPr/>
          <p:nvPr/>
        </p:nvSpPr>
        <p:spPr>
          <a:xfrm>
            <a:off x="11288027" y="1481982"/>
            <a:ext cx="108284" cy="183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19" name="line-2376"/>
          <p:cNvSpPr/>
          <p:nvPr/>
        </p:nvSpPr>
        <p:spPr>
          <a:xfrm>
            <a:off x="11396312" y="1500302"/>
            <a:ext cx="108284" cy="2205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0" name="line-2377"/>
          <p:cNvSpPr/>
          <p:nvPr/>
        </p:nvSpPr>
        <p:spPr>
          <a:xfrm>
            <a:off x="11504596" y="1522353"/>
            <a:ext cx="108284" cy="24263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1" name="line-2378"/>
          <p:cNvSpPr/>
          <p:nvPr/>
        </p:nvSpPr>
        <p:spPr>
          <a:xfrm flipV="1">
            <a:off x="9555480" y="1660529"/>
            <a:ext cx="108284" cy="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2" name="line-2379"/>
          <p:cNvSpPr/>
          <p:nvPr/>
        </p:nvSpPr>
        <p:spPr>
          <a:xfrm flipV="1">
            <a:off x="9663764" y="1653205"/>
            <a:ext cx="108284" cy="732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3" name="line-2380"/>
          <p:cNvSpPr/>
          <p:nvPr/>
        </p:nvSpPr>
        <p:spPr>
          <a:xfrm flipV="1">
            <a:off x="9772048" y="1639084"/>
            <a:ext cx="108284" cy="1412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4" name="line-2381"/>
          <p:cNvSpPr/>
          <p:nvPr/>
        </p:nvSpPr>
        <p:spPr>
          <a:xfrm flipV="1">
            <a:off x="9880333" y="1619137"/>
            <a:ext cx="108284" cy="199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5" name="line-2382"/>
          <p:cNvSpPr/>
          <p:nvPr/>
        </p:nvSpPr>
        <p:spPr>
          <a:xfrm flipV="1">
            <a:off x="9988617" y="1594739"/>
            <a:ext cx="108284" cy="2439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6" name="line-2383"/>
          <p:cNvSpPr/>
          <p:nvPr/>
        </p:nvSpPr>
        <p:spPr>
          <a:xfrm flipV="1">
            <a:off x="10096901" y="1567568"/>
            <a:ext cx="108284" cy="2717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7" name="line-2384"/>
          <p:cNvSpPr/>
          <p:nvPr/>
        </p:nvSpPr>
        <p:spPr>
          <a:xfrm flipV="1">
            <a:off x="10205185" y="1539497"/>
            <a:ext cx="108284" cy="2807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8" name="line-2385"/>
          <p:cNvSpPr/>
          <p:nvPr/>
        </p:nvSpPr>
        <p:spPr>
          <a:xfrm flipV="1">
            <a:off x="10313469" y="1512457"/>
            <a:ext cx="108284" cy="2704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29" name="line-2386"/>
          <p:cNvSpPr/>
          <p:nvPr/>
        </p:nvSpPr>
        <p:spPr>
          <a:xfrm flipV="1">
            <a:off x="10421754" y="1488310"/>
            <a:ext cx="108284" cy="24147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0" name="line-2387"/>
          <p:cNvSpPr/>
          <p:nvPr/>
        </p:nvSpPr>
        <p:spPr>
          <a:xfrm flipV="1">
            <a:off x="10530038" y="1468720"/>
            <a:ext cx="108284" cy="19591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1" name="line-2388"/>
          <p:cNvSpPr/>
          <p:nvPr/>
        </p:nvSpPr>
        <p:spPr>
          <a:xfrm flipV="1">
            <a:off x="10638322" y="1455034"/>
            <a:ext cx="108284" cy="1368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2" name="line-2389"/>
          <p:cNvSpPr/>
          <p:nvPr/>
        </p:nvSpPr>
        <p:spPr>
          <a:xfrm flipV="1">
            <a:off x="10746606" y="1448196"/>
            <a:ext cx="108284" cy="6838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3" name="line-2390"/>
          <p:cNvSpPr/>
          <p:nvPr/>
        </p:nvSpPr>
        <p:spPr>
          <a:xfrm>
            <a:off x="10854891" y="1448196"/>
            <a:ext cx="108284" cy="480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4" name="line-2391"/>
          <p:cNvSpPr/>
          <p:nvPr/>
        </p:nvSpPr>
        <p:spPr>
          <a:xfrm>
            <a:off x="10963175" y="1448675"/>
            <a:ext cx="108284" cy="776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5" name="line-2392"/>
          <p:cNvSpPr/>
          <p:nvPr/>
        </p:nvSpPr>
        <p:spPr>
          <a:xfrm>
            <a:off x="11071459" y="1456440"/>
            <a:ext cx="108284" cy="14515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6" name="line-2393"/>
          <p:cNvSpPr/>
          <p:nvPr/>
        </p:nvSpPr>
        <p:spPr>
          <a:xfrm>
            <a:off x="11179743" y="1470955"/>
            <a:ext cx="108284" cy="20266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7" name="line-2394"/>
          <p:cNvSpPr/>
          <p:nvPr/>
        </p:nvSpPr>
        <p:spPr>
          <a:xfrm>
            <a:off x="11288027" y="1491221"/>
            <a:ext cx="108284" cy="2462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8" name="line-2395"/>
          <p:cNvSpPr/>
          <p:nvPr/>
        </p:nvSpPr>
        <p:spPr>
          <a:xfrm>
            <a:off x="11396312" y="1515842"/>
            <a:ext cx="108284" cy="27282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39" name="line-2396"/>
          <p:cNvSpPr/>
          <p:nvPr/>
        </p:nvSpPr>
        <p:spPr>
          <a:xfrm>
            <a:off x="11504596" y="1543124"/>
            <a:ext cx="108284" cy="28064"/>
          </a:xfrm>
          <a:prstGeom prst="line">
            <a:avLst/>
          </a:prstGeom>
          <a:noFill/>
          <a:ln w="7620">
            <a:solidFill>
              <a:srgbClr val="D5DEE2"/>
            </a:solidFill>
            <a:prstDash val="solid"/>
          </a:ln>
        </p:spPr>
      </p:sp>
      <p:sp>
        <p:nvSpPr>
          <p:cNvPr id="140" name="motif-node-2397"/>
          <p:cNvSpPr/>
          <p:nvPr/>
        </p:nvSpPr>
        <p:spPr>
          <a:xfrm>
            <a:off x="9555480" y="1554480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1" name="motif-node-2398"/>
          <p:cNvSpPr/>
          <p:nvPr/>
        </p:nvSpPr>
        <p:spPr>
          <a:xfrm>
            <a:off x="9742516" y="1568933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2" name="motif-node-2399"/>
          <p:cNvSpPr/>
          <p:nvPr/>
        </p:nvSpPr>
        <p:spPr>
          <a:xfrm>
            <a:off x="9929553" y="1580451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3" name="motif-node-2400"/>
          <p:cNvSpPr/>
          <p:nvPr/>
        </p:nvSpPr>
        <p:spPr>
          <a:xfrm>
            <a:off x="10116589" y="1586695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4" name="motif-node-2401"/>
          <p:cNvSpPr/>
          <p:nvPr/>
        </p:nvSpPr>
        <p:spPr>
          <a:xfrm>
            <a:off x="10303625" y="158639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5" name="motif-node-2402"/>
          <p:cNvSpPr/>
          <p:nvPr/>
        </p:nvSpPr>
        <p:spPr>
          <a:xfrm>
            <a:off x="10490662" y="157961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6" name="motif-node-2403"/>
          <p:cNvSpPr/>
          <p:nvPr/>
        </p:nvSpPr>
        <p:spPr>
          <a:xfrm>
            <a:off x="10677698" y="1567732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7" name="motif-node-2404"/>
          <p:cNvSpPr/>
          <p:nvPr/>
        </p:nvSpPr>
        <p:spPr>
          <a:xfrm>
            <a:off x="10864735" y="1553156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8" name="motif-node-2405"/>
          <p:cNvSpPr/>
          <p:nvPr/>
        </p:nvSpPr>
        <p:spPr>
          <a:xfrm>
            <a:off x="11051771" y="153884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49" name="motif-node-2406"/>
          <p:cNvSpPr/>
          <p:nvPr/>
        </p:nvSpPr>
        <p:spPr>
          <a:xfrm>
            <a:off x="11238807" y="1527717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0" name="motif-node-2407"/>
          <p:cNvSpPr/>
          <p:nvPr/>
        </p:nvSpPr>
        <p:spPr>
          <a:xfrm>
            <a:off x="11425844" y="1522019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1" name="motif-node-2408"/>
          <p:cNvSpPr/>
          <p:nvPr/>
        </p:nvSpPr>
        <p:spPr>
          <a:xfrm>
            <a:off x="11612880" y="1522914"/>
            <a:ext cx="32004" cy="32004"/>
          </a:xfrm>
          <a:prstGeom prst="ellipse">
            <a:avLst/>
          </a:prstGeom>
          <a:solidFill>
            <a:srgbClr val="A7C6C0"/>
          </a:solidFill>
          <a:ln w="12700">
            <a:solidFill>
              <a:srgbClr val="A7C6C0"/>
            </a:solidFill>
            <a:prstDash val="solid"/>
          </a:ln>
        </p:spPr>
      </p:sp>
      <p:sp>
        <p:nvSpPr>
          <p:cNvPr id="152" name="line-2409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B8C5D0"/>
            </a:solidFill>
            <a:prstDash val="solid"/>
          </a:ln>
        </p:spPr>
      </p:sp>
      <p:sp>
        <p:nvSpPr>
          <p:cNvPr id="153" name="text-2410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27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   /   同学分享</a:t>
            </a:r>
            <a:endParaRPr lang="en-US" sz="900" dirty="0"/>
          </a:p>
        </p:txBody>
      </p:sp>
      <p:sp>
        <p:nvSpPr>
          <p:cNvPr id="154" name="text-2411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C75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graphicFrame>
        <p:nvGraphicFramePr>
          <p:cNvPr id="15" name="capability-map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11109960" cy="3383280"/>
        </p:xfrm>
        <a:graphic>
          <a:graphicData uri="http://schemas.openxmlformats.org/drawingml/2006/table">
            <a:tbl>
              <a:tblPr/>
              <a:tblGrid>
                <a:gridCol w="2103120"/>
                <a:gridCol w="2788920"/>
                <a:gridCol w="3246120"/>
                <a:gridCol w="2971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学习目标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软件入口 / 能力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重点观察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先检查什么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理解受力与内力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二维梁 / 刚架分析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反力、N / V / M、变形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单位、约束、构件连接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回顾材料力学公式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公式库 / 字母计算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应力、挠度、扭转角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参数含义与模型假设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分析多种作用组合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组合变形计算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正应力、剪应力与安全系数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强度准则与材料参数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认识空间结构响应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空间桁架 / 刚架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位移、反力、轴力 / 杆端力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分析维度与局部坐标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理解解题过程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教学助手 / 典型题模板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分步推导与危险位置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C47"/>
                          </a:solidFill>
                          <a:latin typeface="Times New Roman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推导适用范围和符号</a:t>
                      </a:r>
                      <a:endParaRPr lang="en-US" sz="1600" dirty="0"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137160" marB="137160">
                    <a:lnL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56" name="panel-2412"/>
          <p:cNvSpPr/>
          <p:nvPr/>
        </p:nvSpPr>
        <p:spPr>
          <a:xfrm>
            <a:off x="548640" y="5559552"/>
            <a:ext cx="11109960" cy="502920"/>
          </a:xfrm>
          <a:prstGeom prst="rect">
            <a:avLst/>
          </a:prstGeom>
          <a:solidFill>
            <a:srgbClr val="202C47"/>
          </a:solidFill>
          <a:ln w="12700">
            <a:solidFill>
              <a:srgbClr val="202C47"/>
            </a:solidFill>
            <a:prstDash val="solid"/>
          </a:ln>
        </p:spPr>
      </p:sp>
      <p:sp>
        <p:nvSpPr>
          <p:cNvPr id="157" name="text-2413"/>
          <p:cNvSpPr/>
          <p:nvPr/>
        </p:nvSpPr>
        <p:spPr>
          <a:xfrm>
            <a:off x="777240" y="568756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DEAE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推荐学习路径：熟悉的题 → 预测 → 建模 → 求解 → 校核 → 改一个参数再观察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拉压弯扭大师｜同学分享</dc:title>
  <dc:subject>材料力学软件分享</dc:subject>
  <dc:creator>拉压弯扭大师</dc:creator>
  <cp:lastModifiedBy>拉压弯扭大师</cp:lastModifiedBy>
  <cp:revision>1</cp:revision>
  <dcterms:created xsi:type="dcterms:W3CDTF">2026-10-10T12:47:27Z</dcterms:created>
  <dcterms:modified xsi:type="dcterms:W3CDTF">2026-10-10T12:47:27Z</dcterms:modified>
</cp:coreProperties>
</file>
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E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2189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2189C4"/>
            </a:solidFill>
            <a:ln w="25400" cap="flat">
              <a:solidFill>
                <a:srgbClr val="2189C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89C4"/>
              </a:solidFill>
              <a:ln w="9525" cap="flat">
                <a:solidFill>
                  <a:srgbClr val="2189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2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DFEDF9"/>
          </a:solidFill>
          <a:ln w="10160">
            <a:solidFill>
              <a:srgbClr val="DFEDF9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7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4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9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30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1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2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33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4" name="S02/object-51"/>
          <p:cNvSpPr/>
          <p:nvPr/>
        </p:nvSpPr>
        <p:spPr>
          <a:xfrm>
            <a:off x="77724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检查：节点连接 / 支座自由度 / 荷载方向</a:t>
            </a:r>
            <a:endParaRPr lang="en-US" sz="1600" dirty="0"/>
          </a:p>
        </p:txBody>
      </p:sp>
      <p:sp>
        <p:nvSpPr>
          <p:cNvPr id="35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EFFA"/>
          </a:solidFill>
          <a:ln w="10160">
            <a:solidFill>
              <a:srgbClr val="E1EFFA"/>
            </a:solidFill>
            <a:prstDash val="solid"/>
          </a:ln>
        </p:spPr>
      </p:sp>
      <p:sp>
        <p:nvSpPr>
          <p:cNvPr id="36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7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6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7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8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9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50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1" name="S02/object-68"/>
          <p:cNvSpPr/>
          <p:nvPr/>
        </p:nvSpPr>
        <p:spPr>
          <a:xfrm>
            <a:off x="457200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检查：局部坐标 / 图例符号 / 截面位置</a:t>
            </a:r>
            <a:endParaRPr lang="en-US" sz="1600" dirty="0"/>
          </a:p>
        </p:txBody>
      </p:sp>
      <p:sp>
        <p:nvSpPr>
          <p:cNvPr id="52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53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54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6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7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8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9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DD5EB"/>
            </a:solidFill>
            <a:prstDash val="solid"/>
          </a:ln>
        </p:spPr>
      </p:sp>
      <p:sp>
        <p:nvSpPr>
          <p:cNvPr id="60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1" name="S02/object-78"/>
          <p:cNvSpPr/>
          <p:nvPr/>
        </p:nvSpPr>
        <p:spPr>
          <a:xfrm>
            <a:off x="8366760" y="5248656"/>
            <a:ext cx="31272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检查：整体平衡 / 解析幅值 / 参数趋势</a:t>
            </a:r>
            <a:endParaRPr lang="en-US" sz="1600" dirty="0"/>
          </a:p>
        </p:txBody>
      </p:sp>
      <p:sp>
        <p:nvSpPr>
          <p:cNvPr id="62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学习闭环：明确条件 → 离散建模 → 求解响应 → 解析核验 → 单参数实验；保留单位、方向与边界依据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7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8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9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1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2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3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4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5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6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27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8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30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1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2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3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4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5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6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7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8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9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40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1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2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3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4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3FC"/>
          </a:solidFill>
          <a:ln w="10160">
            <a:solidFill>
              <a:srgbClr val="E8F3FC"/>
            </a:solidFill>
            <a:prstDash val="solid"/>
          </a:ln>
        </p:spPr>
      </p:sp>
      <p:sp>
        <p:nvSpPr>
          <p:cNvPr id="45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6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7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8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9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50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1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52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7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6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7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9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2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3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4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6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7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8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40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7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6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73A5C"/>
            </a:solidFill>
            <a:prstDash val="solid"/>
          </a:ln>
        </p:spPr>
      </p:sp>
      <p:sp>
        <p:nvSpPr>
          <p:cNvPr id="28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29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0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BF4FC"/>
          </a:solidFill>
          <a:ln w="19050">
            <a:solidFill>
              <a:srgbClr val="075EAE"/>
            </a:solidFill>
            <a:prstDash val="solid"/>
          </a:ln>
        </p:spPr>
      </p:sp>
      <p:sp>
        <p:nvSpPr>
          <p:cNvPr id="31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2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3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4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5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6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26E86"/>
            </a:solidFill>
            <a:prstDash val="solid"/>
          </a:ln>
        </p:spPr>
      </p:sp>
      <p:sp>
        <p:nvSpPr>
          <p:cNvPr id="37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8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9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40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1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2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4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7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7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6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B端；检查：局部坐标 / 图例符号 / 截面位置。</a:t>
            </a:r>
            <a:endParaRPr lang="en-US" sz="1200" dirty="0"/>
          </a:p>
        </p:txBody>
      </p:sp>
      <p:sp>
        <p:nvSpPr>
          <p:cNvPr id="27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8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30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1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3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5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3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7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8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9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1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2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7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2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4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6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7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8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9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2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3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4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5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6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7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8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9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7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6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8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9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0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2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3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4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5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6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8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9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40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1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2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4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45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6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47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48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50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1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7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8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9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20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3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7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9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0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1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2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3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EFF9"/>
          </a:solidFill>
          <a:ln w="10160">
            <a:solidFill>
              <a:srgbClr val="E2EFF9"/>
            </a:solidFill>
            <a:prstDash val="solid"/>
          </a:ln>
        </p:spPr>
      </p:sp>
      <p:sp>
        <p:nvSpPr>
          <p:cNvPr id="34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5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6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EA/L：轴向；GJ/L：扭转；EI：双向弯曲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局部刚度 → 坐标变换 → 整体自由度装配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Euler–Bernoulli梁；不含剪切变形修正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7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8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19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20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3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4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6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7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EA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73A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DD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C"/>
                    </a:solidFill>
                  </a:tcPr>
                </a:tc>
              </a:tr>
            </a:tbl>
          </a:graphicData>
        </a:graphic>
      </p:graphicFrame>
      <p:sp>
        <p:nvSpPr>
          <p:cNvPr id="30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1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7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CEBF8"/>
          </a:solidFill>
          <a:ln w="10160">
            <a:solidFill>
              <a:srgbClr val="DCEBF8"/>
            </a:solidFill>
            <a:prstDash val="solid"/>
          </a:ln>
        </p:spPr>
      </p:sp>
      <p:sp>
        <p:nvSpPr>
          <p:cNvPr id="18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9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20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1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2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3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4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25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6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7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28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9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30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1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2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3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4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5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2189C4"/>
            </a:solidFill>
            <a:prstDash val="solid"/>
            <a:tailEnd type="triangle"/>
          </a:ln>
        </p:spPr>
      </p:sp>
      <p:sp>
        <p:nvSpPr>
          <p:cNvPr id="36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计算链：K组装 → 约束分块 → sparse LU → 位移 → 反力与端力；Worker不可用回退主线程，WebGPU仅检测。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7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18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9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20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1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2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3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4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5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EFF9"/>
          </a:solidFill>
          <a:ln w="10160">
            <a:solidFill>
              <a:srgbClr val="E4EFF9"/>
            </a:solidFill>
            <a:prstDash val="solid"/>
          </a:ln>
        </p:spPr>
      </p:sp>
      <p:sp>
        <p:nvSpPr>
          <p:cNvPr id="26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7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8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9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30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1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2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3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4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5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6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7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8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9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40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7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DD5EB"/>
          </a:solidFill>
          <a:ln w="10160">
            <a:solidFill>
              <a:srgbClr val="BDD5EB"/>
            </a:solidFill>
            <a:prstDash val="solid"/>
          </a:ln>
        </p:spPr>
      </p:sp>
      <p:pic>
        <p:nvPicPr>
          <p:cNvPr id="21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2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3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5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6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7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9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30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1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3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4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35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7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固定P、L与截面，仅改a；核对反力和弯矩</a:t>
            </a:r>
            <a:endParaRPr lang="en-US" sz="1700" dirty="0"/>
          </a:p>
        </p:txBody>
      </p:sp>
      <p:sp>
        <p:nvSpPr>
          <p:cNvPr id="38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7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8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3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4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5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6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7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8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9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30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1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2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3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EEF9"/>
          </a:solidFill>
          <a:ln w="10160">
            <a:solidFill>
              <a:srgbClr val="E1EEF9"/>
            </a:solidFill>
            <a:prstDash val="solid"/>
          </a:ln>
        </p:spPr>
      </p:sp>
      <p:sp>
        <p:nvSpPr>
          <p:cNvPr id="34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5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6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7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8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9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0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1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2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3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4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5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6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验证优先：边界与荷载组合 → 解析回归算例 → 空间完整力矩平衡 → 实体链路完善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7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8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2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3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4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5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7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8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9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30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1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32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3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5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6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7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8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39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0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1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3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4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5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6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0FA"/>
          </a:solidFill>
          <a:ln w="10160">
            <a:solidFill>
              <a:srgbClr val="E5F0FA"/>
            </a:solidFill>
            <a:prstDash val="solid"/>
          </a:ln>
        </p:spPr>
      </p:sp>
      <p:sp>
        <p:nvSpPr>
          <p:cNvPr id="47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48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49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1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2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3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49A"/>
          </a:solidFill>
          <a:ln w="10160">
            <a:solidFill>
              <a:srgbClr val="07549A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CEB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7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9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0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2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3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4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25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26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8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9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30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1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2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4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5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6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37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BF4FC"/>
          </a:solidFill>
          <a:ln w="10160">
            <a:solidFill>
              <a:srgbClr val="EBF4FC"/>
            </a:solidFill>
            <a:prstDash val="solid"/>
          </a:ln>
        </p:spPr>
      </p:sp>
      <p:sp>
        <p:nvSpPr>
          <p:cNvPr id="38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40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7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1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26E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2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DD5EB"/>
            </a:solidFill>
            <a:prstDash val="solid"/>
          </a:ln>
        </p:spPr>
      </p:sp>
      <p:sp>
        <p:nvSpPr>
          <p:cNvPr id="43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2189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拉压弯扭大师｜蓝色技术路线增强版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2026-10-11T10:31:38Z</dcterms:created>
  <dcterms:modified xsi:type="dcterms:W3CDTF">2026-10-11T10:31:38Z</dcterms:modified>
</cp:coreProperties>
</file>
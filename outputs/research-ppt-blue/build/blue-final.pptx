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-1.jpg" ContentType="image/jpg"/>
  <Override PartName="/ppt/media/image-15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0654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198E7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  <a:ea typeface="Microsoft YaHei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Times New Roman"/>
              <a:ea typeface="Microsoft YaHei"/>
              <a:cs typeface="Times New Roman"/>
            </a:defRPr>
          </a:pPr>
          <a:endParaRPr lang="en-US">
            <a:latin typeface="Times New Roman"/>
            <a:ea typeface="Microsoft YaHei"/>
            <a:cs typeface="Times New Roman"/>
          </a:endParaRPr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198E74"/>
            </a:solidFill>
            <a:ln w="25400" cap="flat">
              <a:solidFill>
                <a:srgbClr val="198E7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8E74"/>
              </a:solidFill>
              <a:ln w="9525" cap="flat">
                <a:solidFill>
                  <a:srgbClr val="198E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  <a:ea typeface="Microsoft YaHei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5282F153-3F37-0F45-9E97-73ACFA13230C}" type="datetimeFigureOut">
              <a:rPr lang="en-US">
                <a:latin typeface="Times New Roman"/>
                <a:ea typeface="Microsoft YaHei"/>
                <a:cs typeface="Times New Roman"/>
              </a:rPr>
              <a:t>7/23/19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Microsoft YaHei"/>
                <a:cs typeface="Times New Roman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CE5E9CC1-C706-0F49-92D6-E571CC5EEA8F}" type="slidenum">
              <a:rPr lang="en-US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2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4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5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7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8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10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12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14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15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17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18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>
          <a:latin typeface="Times New Roman"/>
          <a:ea typeface="Microsoft YaHei"/>
          <a:cs typeface="Times New Roman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本地离线的材料力学学习辅助软件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来源：README.md；用户提供的产品定位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从力学概念</a:t>
            </a:r>
            <a:endParaRPr lang="en-US" sz="3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到可验证计算</a:t>
            </a:r>
            <a:endParaRPr lang="en-US" sz="4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本地离线材料力学学习软件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模型：节点 / 材料 / 截面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响应：内力 / 变形 / 反力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解释：公式 / 推导 / 核验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0F0E8"/>
          </a:solidFill>
          <a:ln w="10160">
            <a:solidFill>
              <a:srgbClr val="E0F0E8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真实工作区 · 二维 / 空间杆系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本地离线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v2.0.2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同学分享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概念飘带仅作装饰</a:t>
            </a:r>
            <a:endParaRPr lang="en-US" sz="9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01/web-rich-10" descr="single-element asset; sha256=5e1964e58ec7623075b85b16b802c7f91f796e46c8bda04914050eaf19c654e9; source=D:\MACHANICS-OF-MATERIALS-main\outputs\research-ppt-blue\asset-jobs\R10\LMB-A10-original.png" title="ornament: web-rich-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5074920"/>
            <a:ext cx="24688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为什么需要这样的学习工具？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课堂难点是把模型、计算与内力图联系起来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来源：二维简支梁解析条件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2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2/object-36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2/object-37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2/object-38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2/object-39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2/object-40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2/object-41"/>
          <p:cNvSpPr/>
          <p:nvPr/>
        </p:nvSpPr>
        <p:spPr>
          <a:xfrm>
            <a:off x="59436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3" name="S02/route-1"/>
          <p:cNvSpPr/>
          <p:nvPr/>
        </p:nvSpPr>
        <p:spPr>
          <a:xfrm>
            <a:off x="3319272" y="2103120"/>
            <a:ext cx="276515" cy="384048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02/object-42"/>
          <p:cNvSpPr/>
          <p:nvPr/>
        </p:nvSpPr>
        <p:spPr>
          <a:xfrm>
            <a:off x="3365358" y="219913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5" name="S02/object-43"/>
          <p:cNvSpPr/>
          <p:nvPr/>
        </p:nvSpPr>
        <p:spPr>
          <a:xfrm>
            <a:off x="3365358" y="227594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6" name="S02/object-44"/>
          <p:cNvSpPr/>
          <p:nvPr/>
        </p:nvSpPr>
        <p:spPr>
          <a:xfrm>
            <a:off x="3365358" y="2352751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7" name="S02/object-45"/>
          <p:cNvSpPr/>
          <p:nvPr/>
        </p:nvSpPr>
        <p:spPr>
          <a:xfrm flipV="1">
            <a:off x="3503615" y="2295144"/>
            <a:ext cx="180503" cy="1766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8" name="S02/object-46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2/object-47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建模抽象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2/object-48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支座究竟约束什么？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2/object-49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32" name="S02/object-50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节点 / 单元 / 自由度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2/object-51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先画条件，再建立模型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2/object-52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1F2EA"/>
          </a:solidFill>
          <a:ln w="10160">
            <a:solidFill>
              <a:srgbClr val="E1F2EA"/>
            </a:solidFill>
            <a:prstDash val="solid"/>
          </a:ln>
        </p:spPr>
      </p:sp>
      <p:sp>
        <p:nvSpPr>
          <p:cNvPr id="35" name="S02/object-53"/>
          <p:cNvSpPr/>
          <p:nvPr/>
        </p:nvSpPr>
        <p:spPr>
          <a:xfrm>
            <a:off x="438912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6" name="S02/object-54"/>
          <p:cNvSpPr/>
          <p:nvPr/>
        </p:nvSpPr>
        <p:spPr>
          <a:xfrm flipV="1">
            <a:off x="7152437" y="2110801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7" name="S02/object-55"/>
          <p:cNvSpPr/>
          <p:nvPr/>
        </p:nvSpPr>
        <p:spPr>
          <a:xfrm>
            <a:off x="7325258" y="2110801"/>
            <a:ext cx="153619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8" name="S02/object-56"/>
          <p:cNvSpPr/>
          <p:nvPr/>
        </p:nvSpPr>
        <p:spPr>
          <a:xfrm flipH="1">
            <a:off x="7306056" y="2199132"/>
            <a:ext cx="172822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9" name="S02/object-57"/>
          <p:cNvSpPr/>
          <p:nvPr/>
        </p:nvSpPr>
        <p:spPr>
          <a:xfrm flipH="1" flipV="1">
            <a:off x="7152437" y="2199132"/>
            <a:ext cx="153619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0" name="S02/object-58"/>
          <p:cNvSpPr/>
          <p:nvPr/>
        </p:nvSpPr>
        <p:spPr>
          <a:xfrm>
            <a:off x="7152437" y="2199132"/>
            <a:ext cx="0" cy="20354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1" name="S02/object-59"/>
          <p:cNvSpPr/>
          <p:nvPr/>
        </p:nvSpPr>
        <p:spPr>
          <a:xfrm>
            <a:off x="7152437" y="2402677"/>
            <a:ext cx="153619" cy="8449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2" name="S02/object-60"/>
          <p:cNvSpPr/>
          <p:nvPr/>
        </p:nvSpPr>
        <p:spPr>
          <a:xfrm flipV="1">
            <a:off x="7306056" y="2398837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3" name="S02/object-61"/>
          <p:cNvSpPr/>
          <p:nvPr/>
        </p:nvSpPr>
        <p:spPr>
          <a:xfrm flipV="1">
            <a:off x="7478878" y="2199132"/>
            <a:ext cx="0" cy="19970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4" name="S02/object-62"/>
          <p:cNvSpPr/>
          <p:nvPr/>
        </p:nvSpPr>
        <p:spPr>
          <a:xfrm>
            <a:off x="7306056" y="2295144"/>
            <a:ext cx="0" cy="192024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5" name="S02/object-63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6" name="S02/object-64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符号难读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7" name="S02/object-65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负弯矩是否表示错误？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8" name="S02/object-66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49" name="S02/object-67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局部坐标 / 正负约定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02/object-68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先辨符号，再比较幅值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1" name="S02/object-69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52" name="S02/object-70"/>
          <p:cNvSpPr/>
          <p:nvPr/>
        </p:nvSpPr>
        <p:spPr>
          <a:xfrm>
            <a:off x="818388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53" name="S02/object-71"/>
          <p:cNvSpPr/>
          <p:nvPr/>
        </p:nvSpPr>
        <p:spPr>
          <a:xfrm>
            <a:off x="10927994" y="2122322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02/object-72"/>
          <p:cNvSpPr/>
          <p:nvPr/>
        </p:nvSpPr>
        <p:spPr>
          <a:xfrm>
            <a:off x="11112337" y="2318187"/>
            <a:ext cx="168981" cy="16130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55" name="S02/object-73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6" name="S02/object-74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可信度判断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7" name="S02/object-75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求解完成就足够吗？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8" name="S02/object-76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59" name="S02/object-77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平衡关系 / 解析对照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0" name="S02/object-78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先作预测，再核对结果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1" name="S02/object-79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学习闭环：条件 → 模型 → 响应 → 解释 → 回到条件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3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3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3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3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3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3/object-8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3/object-8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四类基本变形与统一力学量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不同变形形式共享内力、材料与截面参数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3/object-8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来源：README.md公式库及功能说明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3/object-88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7" name="S03/object-89"/>
          <p:cNvSpPr/>
          <p:nvPr/>
        </p:nvSpPr>
        <p:spPr>
          <a:xfrm>
            <a:off x="594360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8" name="S03/object-90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3/object-91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拉伸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3/object-92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N → σ → ΔL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3/object-93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σ = N / A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3/object-94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ΔL = NL / (EA)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3/object-95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4" name="S03/object-96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轴力与长度变化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3/object-97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26" name="S03/object-98"/>
          <p:cNvSpPr/>
          <p:nvPr/>
        </p:nvSpPr>
        <p:spPr>
          <a:xfrm>
            <a:off x="3447288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7" name="S03/object-99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3/object-100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压缩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3/object-101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N → σ → ΔL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3/object-102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σ = N / A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3/object-103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压缩取符号约定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3/object-104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3" name="S03/object-105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短柱概念，非失稳分析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3/object-106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5" name="S03/object-107"/>
          <p:cNvSpPr/>
          <p:nvPr/>
        </p:nvSpPr>
        <p:spPr>
          <a:xfrm>
            <a:off x="6300216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6" name="S03/object-108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3/object-109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弯曲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3/object-110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V → M → σ、w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3/object-111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σmax = M / W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3/object-112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EI 控制挠度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03/object-113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2" name="S03/object-114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关注危险截面位置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03/object-115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44" name="S03/object-116"/>
          <p:cNvSpPr/>
          <p:nvPr/>
        </p:nvSpPr>
        <p:spPr>
          <a:xfrm>
            <a:off x="9153144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5" name="S03/object-117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6" name="S03/object-118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扭转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7" name="S03/object-119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T → τ → φ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8" name="S03/object-120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τmax = T / Wt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9" name="S03/object-121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φ = TL / (GJ)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03/object-122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51" name="S03/object-123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均匀圆轴、小变形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52" name="S03/web-rich-01" descr="single-element asset; sha256=dc2af86829bcb3b581c0028ff9aca7a69673be3c6b53b4ac61016c3bf96f22f2; source=D:\MACHANICS-OF-MATERIALS-main\outputs\research-ppt-blue\asset-jobs\R01\LMB-A01-original.png" title="concept: web-rich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560320"/>
            <a:ext cx="1069848" cy="1069848"/>
          </a:xfrm>
          <a:prstGeom prst="rect">
            <a:avLst/>
          </a:prstGeom>
        </p:spPr>
      </p:pic>
      <p:pic>
        <p:nvPicPr>
          <p:cNvPr id="53" name="S03/web-rich-02" descr="single-element asset; sha256=1d89bfc612bfe06d536c62378f5d93c05dd8cb1e858087469ac598fbc565d456; source=D:\MACHANICS-OF-MATERIALS-main\outputs\research-ppt-blue\asset-jobs\R02\LMB-A02-original.png" title="concept: web-rich-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2560320"/>
            <a:ext cx="1069848" cy="1069848"/>
          </a:xfrm>
          <a:prstGeom prst="rect">
            <a:avLst/>
          </a:prstGeom>
        </p:spPr>
      </p:pic>
      <p:pic>
        <p:nvPicPr>
          <p:cNvPr id="54" name="S03/web-rich-03" descr="single-element asset; sha256=a39b3f4935ee4dd51afda4280479e0fd859ccff7159de3b7b9642679d36f4422; source=D:\MACHANICS-OF-MATERIALS-main\outputs\research-ppt-blue\asset-jobs\R03\LMB-A03-original.png" title="concept: web-rich-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2560320"/>
            <a:ext cx="1069848" cy="1069848"/>
          </a:xfrm>
          <a:prstGeom prst="rect">
            <a:avLst/>
          </a:prstGeom>
        </p:spPr>
      </p:pic>
      <p:pic>
        <p:nvPicPr>
          <p:cNvPr id="55" name="S03/web-rich-04" descr="single-element asset; sha256=0ac29514cfe88aea1b3a412ce7dac11041e221e56cf845596f68f1892d294d3c; source=D:\MACHANICS-OF-MATERIALS-main\outputs\research-ppt-blue\asset-jobs\R04\LMB-A04-original.png" title="concept: web-rich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560320"/>
            <a:ext cx="1069848" cy="106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“拉压弯扭大师” 材料力学教学软件技术路线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24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5" name="S04/object-125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拉伸 / 压缩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4/object-126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9" name="S04/object-127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0" name="S04/object-128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1" name="S04/object-129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P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4/object-130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P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" name="S04/object-131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14" name="S04/object-132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弯曲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4/object-133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4/object-134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4/object-135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20" name="S04/object-136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1" name="S04/object-137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F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4/object-138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3" name="S04/object-139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4" name="S04/object-140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5" name="S04/object-141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6" name="S04/object-142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27" name="S04/object-143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扭转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4/object-144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1" name="S04/object-145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2" name="S04/object-146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3" name="S04/object-147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4" name="S04/object-148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5" name="S04/object-149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6" name="S04/object-150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7" name="S04/object-151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4/object-152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4/object-153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40" name="S04/object-154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组合变形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04/object-155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2" name="S04/object-156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3" name="S04/object-157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4" name="S04/object-158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5" name="S04/object-159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6" name="S04/object-160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7" name="S04/object-161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8" name="S04/object-162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9" name="S04/object-163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0" name="S04/object-164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1" name="S04/object-165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2" name="S04/object-166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3" name="S04/object-167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4" name="S04/object-168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5" name="S04/object-169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6" name="S04/object-170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7" name="S04/object-171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8" name="S04/object-172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9" name="S04/object-173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0" name="S04/object-174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1" name="S04/object-175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2" name="S04/object-176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3" name="S04/object-177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z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4" name="S04/object-178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x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5" name="S04/object-179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180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181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182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183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184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建模输入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3" name="S04/object-185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二维梁 / 刚架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4" name="S04/object-186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空间桁架 / 刚架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5" name="S04/object-187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节点 / 材料 / 截面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6" name="S04/object-188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约束与荷载输入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7" name="S04/object-189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8" name="S04/object-190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9" name="S04/object-191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1" name="S04/object-192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3" name="S04/object-193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4" name="S04/object-194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5" name="S04/object-195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6" name="S04/object-196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7" name="S04/object-197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8" name="S04/object-198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90" name="S04/object-199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200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201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202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203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204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205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206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207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208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统一模型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0" name="S04/object-209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杆系单元统一表达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1" name="S04/object-210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坐标变换 / 自由度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2" name="S04/object-211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二维与空间模型组织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3" name="S04/object-212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数据关联公式与显示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4" name="S04/object-213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5" name="S04/object-214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6" name="S04/object-215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7" name="S04/object-216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8" name="S04/object-217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9" name="S04/object-218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0" name="S04/object-219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1" name="S04/object-220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2" name="S04/object-221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3" name="S04/object-222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4" name="S04/object-223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5" name="S04/object-224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6" name="S04/object-225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7" name="S04/object-226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8" name="S04/object-227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9" name="S04/object-228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0" name="S04/object-229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1" name="S04/object-230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2" name="S04/object-231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3" name="S04/object-232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4" name="S04/object-233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5" name="S04/object-234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6" name="S04/object-235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z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7" name="S04/object-236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x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8" name="S04/object-237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9" name="S04/object-238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239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3" name="S04/object-240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本地求解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4" name="S04/object-241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TypeScript + mathjs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5" name="S04/object-242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sparse LU求解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6" name="S04/object-243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Worker CPU异步计算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7" name="S04/object-244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本地离线运行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8" name="S04/object-245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Euler–Bernoulli梁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0" name="S04/object-246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1" name="S04/object-247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3" name="S04/object-248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249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45" name="S04/object-250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251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结果与推导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1" name="S04/object-252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位移、变形与内力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2" name="S04/object-253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空间刚架：构件端力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3" name="S04/object-254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公式库与分步推导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4" name="S04/object-255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危险位置核查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5" name="S04/object-256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SVG / Three.js显示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6" name="S04/object-257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58" name="S04/object-258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60" name="S04/object-259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61" name="S04/object-260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62" name="S04/object-261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F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3" name="S04/object-262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4" name="S04/object-263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5" name="S04/object-264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6" name="S04/object-265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7" name="S04/object-266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8" name="S04/object-267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9" name="S04/object-268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0" name="S04/object-269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1" name="S04/object-270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2" name="S04/object-271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3" name="S04/object-272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4" name="S04/object-273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5" name="S04/object-274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6" name="S04/object-275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7" name="S04/object-276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8" name="S04/object-277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9" name="S04/object-278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0" name="S04/object-279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1" name="S04/object-280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2" name="S04/object-281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3" name="S04/object-282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4" name="S04/object-283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5" name="S04/object-284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6" name="S04/object-285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7" name="S04/object-286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88" name="S04/object-287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288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289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教学应用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4" name="S04/object-290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课堂演示与例题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5" name="S04/object-291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自主练习与校核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6" name="S04/object-292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开卷辅助与概念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7" name="S04/object-293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先预测，再改参数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9" name="S04/object-294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0" name="S04/object-295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2" name="S04/object-296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297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4" name="S04/object-298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5" name="S04/object-299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6" name="S04/object-300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7" name="S04/object-301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8" name="S04/object-302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11" name="S04/object-303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2" name="S04/object-304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3" name="S04/object-305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4" name="S04/object-306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5" name="S04/object-307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解析解 / 案例验证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6" name="S04/object-308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理论解析解对比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典型案例对照与误差检查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7" name="S04/object-309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8" name="S04/object-310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9" name="S04/object-311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0" name="S04/object-312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313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当前边界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3" name="S04/object-314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Tet4实验；暂无成熟实体云图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WASM未接入；WebGPU仅检测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空间当前仅节点荷载、端内力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315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规划层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316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317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318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319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320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321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322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323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324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325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空间荷载补齐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7" name="S04/object-326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327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实体分析完善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3" name="S04/object-328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329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330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WASM / WebGPU验证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依据：软件README、求解器能力审计及实机记录；工程图形为概念示意，非应力云图或新增试验；规划项尚未完成。</a:t>
            </a:r>
            <a:endParaRPr lang="en-US" sz="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5/object-33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5/object-33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5/object-33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5/object-33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5/object-33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5/object-33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5/object-33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真实工作区如何组织？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左模型树、中视图区、右属性面板协同操作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5/object-3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05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来源：live/01-workspace.jpg；qa/live-run-evidence.json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5/object-339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5/object-340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5/object-341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5/object-342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5/object-343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5/object-344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5/object-345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5/object-346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5/object-347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5/object-348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典型交互：选中对象 → 修改属性 → 观察视图 → 核对结果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5/object-349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7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28" name="S05/object-350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9" name="S05/object-351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5/object-352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模型树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5/object-353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节点、构件与条件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5/object-354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3" name="S05/object-355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5/object-356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工作视图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5/object-357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几何、荷载与结果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05/object-358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7" name="S05/object-359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5/object-360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属性栏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5/object-361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选中对象后检查参数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6/object-36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6/object-36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6/object-36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6/object-36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6/object-36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6/object-36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6/object-36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6m简支梁的建模与荷载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两节点一单元也能描述跨中集中力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6/object-36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06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来源：live/07-load-properties.jpg；qa/live-run-evidence.json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6/object-370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6/object-371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6/object-372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6/object-373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6/object-374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6/object-375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6/object-376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6/object-377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6/object-378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6/object-379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06/object-380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073E32"/>
            </a:solidFill>
            <a:prstDash val="solid"/>
          </a:ln>
        </p:spPr>
      </p:sp>
      <p:sp>
        <p:nvSpPr>
          <p:cNvPr id="27" name="S06/support-0-380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28" name="S06/object-382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29" name="S06/support-1-382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30" name="S06/object-384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1" name="S06/object-385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88118"/>
            </a:solidFill>
            <a:prstDash val="solid"/>
            <a:tailEnd type="triangle"/>
          </a:ln>
        </p:spPr>
      </p:sp>
      <p:sp>
        <p:nvSpPr>
          <p:cNvPr id="32" name="S06/object-386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P = 18 kN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6/object-387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A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6/object-388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B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6/object-389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6" name="S06/object-390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L = 6 m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6/object-391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单元 E1：A—B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6/object-392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单元内集中力：a = 3 m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6/object-393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2 个节点 · 1 个梁单元 · 无需新增跨中节点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6/object-394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1" name="S06/object-395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06/object-396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边界条件与自由度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43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节点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受约束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自由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Dx、Dz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Ry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B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Dz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Dx、Ry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06/object-397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45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46" name="S06/object-398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荷载属性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−1.800×10⁴ 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位置 3.000 m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7/object-39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7/object-40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7/object-40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7/object-40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7/object-40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7/object-40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7/object-40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剪力与弯矩为什么这样变化？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集中力引起剪力跃变和跨中弯矩极值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7/object-40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07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来源：live/06-shear.jpg；live/03-beam-moment.jpg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7/object-407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7/object-408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7/object-409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7/object-410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7/object-411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7/object-412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7/object-413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7/object-414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7/object-415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7/object-416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沿梁读取：A端 → 集中力左侧 → 集中力右侧 → B端；先辨符号，再比较幅值。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7/object-417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7" name="S07/object-418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7/object-419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剪力：集中力处发生跳变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7/object-420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07/object-421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7/object-422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弯矩：跨中达到幅值峰值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7/object-423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3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34" name="S07/object-424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5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36" name="S07/object-425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7" name="S07/object-426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左右段幅值 9 kN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7/object-427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9" name="S07/object-428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跨中标注 −27 kN·m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7/object-429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同一模型 / 同一荷载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8/object-43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8/object-43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8/object-43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8/object-43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8/object-43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8/object-43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8/object-43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反力与最大弯矩的数值核验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给定工况下反力与弯矩幅值符合解析结果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8/object-43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08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来源：live/03-beam-moment.jpg；live/05-element-results.jpg；qa/live-run-evidence.json；RA=RB=P/2；Mmax=PL/4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8/object-438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439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解析期望 ↔ 实机读数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核验项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解析幅值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界面幅值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A端反力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B端反力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跨中弯矩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27 kN·m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27 kN·m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440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1" name="S08/object-441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条件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8/object-442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6 m / 跨中18 kN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8/object-443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08/object-444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符号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8/object-445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图中−27遵循软件约定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8/object-446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08/object-447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位置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8/object-448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端弯矩0，内部峰值27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8/object-449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结论限于默认案例的显示幅值对照，尚非全工况精度认证。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0" name="S08/web-rich-08" descr="single-element asset; sha256=335f02bc4e64c0769d0d80118ea35490b9f563e909154409f5af418e3cabfc61; source=D:\MACHANICS-OF-MATERIALS-main\outputs\research-ppt-blue\asset-jobs\R08\LMB-A08-original.png" title="icon: web-rich-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17190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9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9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9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9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9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9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9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荷载位置如何影响计算结果？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反力分配与弯矩峰值随荷载位置改变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9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09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来源：解析预测：P=18kN，L=6m，a=1/2/3m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9/route-0"/>
          <p:cNvSpPr/>
          <p:nvPr/>
        </p:nvSpPr>
        <p:spPr>
          <a:xfrm>
            <a:off x="11082528" y="1191463"/>
            <a:ext cx="69129" cy="134417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9/route-1"/>
          <p:cNvSpPr/>
          <p:nvPr/>
        </p:nvSpPr>
        <p:spPr>
          <a:xfrm>
            <a:off x="11205423" y="1095451"/>
            <a:ext cx="69129" cy="230429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09/route-2"/>
          <p:cNvSpPr/>
          <p:nvPr/>
        </p:nvSpPr>
        <p:spPr>
          <a:xfrm>
            <a:off x="11328319" y="980237"/>
            <a:ext cx="69129" cy="34564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9/object-458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09/object-459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a=1m：反力偏向左端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9/object-460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9/object-461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a=2m：分配逐渐均衡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9/object-462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09/object-463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a=3m：对称且弯矩幅值最大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9/object-464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反力幅值 / kN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9/object-465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弯矩峰值幅值 / kN·m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27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09/object-466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09/object-467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固定荷载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9/object-468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P = 18 kN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9/object-469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09/object-470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固定跨度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9/object-471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L = 6 m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9/object-472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6" name="S09/object-473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位置变量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9/object-474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a距左端：1 / 2 / 3 m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9/object-475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解析预测，非新增实机测量。先预测，再在软件中改变位置并核对。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0/object-47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0/object-47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0/object-47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0/object-47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0/object-48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0/object-48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0/object-48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教学推导与危险截面分析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计算结果需要返回公式和截面条件解释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0/object-48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10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来源：live/04-derivation.jpg；README.md公式库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0/object-484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10/object-485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0/object-486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0/object-487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0/object-488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0/object-489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0/object-490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0/object-491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0/object-492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0/object-493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6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27" name="S10/object-494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0/object-495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9" name="S10/object-496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0/object-497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受力分析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0/object-498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2" name="S10/object-499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隔离结构，列出外力与支座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0/object-500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4" name="S10/object-501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5" name="S10/object-502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0/object-503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整体平衡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0/object-504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8" name="S10/object-505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ΣFx=0，ΣFz=0，ΣMy=0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0/object-506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10/object-507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1" name="S10/object-508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10/object-509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截面内力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10/object-510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44" name="S10/object-511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dV/dx+qz=0；dM/dx−V=0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5" name="S10/object-512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46" name="S10/object-513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7" name="S10/object-514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8" name="S10/object-515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结果检查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9" name="S10/object-516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比较边界值、峰值与单位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10/object-517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教学助手：让每一步都有可核对的物理含义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1/object-5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1/object-5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1/object-5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1/object-5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1/object-5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1/object-52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1/object-52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空间刚架的六自由度建模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空间梁节点同时包含三平移与三转动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1/object-52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11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来源：README.md；空间刚架运行条件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1/object-526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4 × 6 = 24：约束处理前节点自由度总数，不等于24个有效自由度。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1/object-527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528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" name="S11/object-529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1/object-530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每节点六自由度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1/object-531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11/object-532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Ux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1/object-533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11/object-534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Uy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1/object-535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11/object-536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Uz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1/object-537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29" name="S11/object-538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Rx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1/object-539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1" name="S11/object-540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Ry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1/object-541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3" name="S11/object-542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Rz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1/object-543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两端共 12 自由度 → 12×12 单元刚度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1/object-544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EA/L：轴向  ·  GJ/L：扭转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局部 y / z：双向弯曲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Euler–Bernoulli 梁，不含剪切变形修正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11/web-rich-05" descr="single-element asset; sha256=af217bb32630993ae49d9698e8a3765b5d21037a8ac6b3e67ecdb1491576290b; source=D:\MACHANICS-OF-MATERIALS-main\outputs\research-ppt-blue\asset-jobs\R05\LMB-A05-original.png" title="concept: web-rich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193852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2/object-54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2/object-54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2/object-54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2/object-54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2/object-54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2/object-55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2/object-55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空间刚架的实机结果核验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三向合力平衡成立，完整力矩核验仍缺失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2/object-55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12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来源：live/11-space-results.jpg；qa/live-run-evidence.json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2/object-553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核验步骤：读取外力 → 读取总反力 → 逐方向求和 → 明确未检查的力矩。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2/object-554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555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12/object-556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2/object-557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节点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2/object-558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12/object-559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2/object-560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构件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2/object-561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12/object-562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24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2/object-563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总自由度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方向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D点外力 / N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A点反力 / N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平衡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x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8000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−8000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y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−5000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5000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z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−12000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12000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564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本次界面报告：Worker CPU；残差约 6×10⁻¹⁴；变形显示放大 2.4 倍。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2/object-565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仅核对三向力平衡；扭矩数值未捕获，应力 / 安全系数未补填。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1" name="S12/web-rich-07" descr="single-element asset; sha256=881ed38959dd1970746da1196b1f0d4df3f603add426666e0168b158b198e0e5; source=D:\MACHANICS-OF-MATERIALS-main\outputs\research-ppt-blue\asset-jobs\R07\LMB-A07-original.png" title="concept: web-rich-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776" y="804672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3/object-56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3/object-56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3/object-56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3/object-56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3/object-57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3/object-57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3/object-57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本地求解软件的技术架构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当前数值求解主要运行于Worker CPU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3/object-5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13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来源：README.md；用户提供的技术栈和求解能力说明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3/object-574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DDEEE5"/>
          </a:solidFill>
          <a:ln w="10160">
            <a:solidFill>
              <a:srgbClr val="DDEEE5"/>
            </a:solidFill>
            <a:prstDash val="solid"/>
          </a:ln>
        </p:spPr>
      </p:sp>
      <p:sp>
        <p:nvSpPr>
          <p:cNvPr id="17" name="S13/object-575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本地计算核心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3/object-576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单元组装 / 约束分块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位移 → 反力与端力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3/object-577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13/object-578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模型数据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3/object-579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节点、材料、截面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约束与荷载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3/object-580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3" name="S13/object-581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24" name="S13/object-582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可视交互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3/object-583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Vue 3 / TypeScript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Three.js 视图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3/object-584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7" name="S13/object-585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3/object-586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学习解释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3/object-587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公式库 / 分步推导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内力与结果表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3/object-588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1" name="S13/object-589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2" name="S13/object-590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离线交付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3/object-591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Electron / PWA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Worker CPU + sparse LU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3/object-592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5" name="S13/object-593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WebGPU 仅设备检测；未启用 GPU 数值内核。Worker不可用时回退主线程CPU。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13/web-rich-06" descr="single-element asset; sha256=7219270d1872eace0e5871a166736f61451423463dd6701f9a72c9e46c26f9d9; source=D:\MACHANICS-OF-MATERIALS-main\outputs\research-ppt-blue\asset-jobs\R06\LMB-A06-original.png" title="icon: web-rich-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42316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4/object-59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4/object-59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4/object-59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4/object-59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4/object-59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4/object-59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4/object-60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哪些能力已具备，哪些仍受限？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功能存在、实机观察与充分验证不是一回事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4/object-60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14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来源：README.md；qa/live-run-evidence.json；技术边界说明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4/object-602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7" name="S14/object-603"/>
          <p:cNvSpPr/>
          <p:nvPr/>
        </p:nvSpPr>
        <p:spPr>
          <a:xfrm>
            <a:off x="594360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8" name="S14/object-604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已实现 · 学习功能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4/object-605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二维梁 / 刚架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4/object-606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反力、N / V / M、变形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4/object-607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空间杆系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4/object-608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节点自由度、构件端力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4/object-609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使用前检查条件与符号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4/object-610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4F1E9"/>
          </a:solidFill>
          <a:ln w="10160">
            <a:solidFill>
              <a:srgbClr val="E4F1E9"/>
            </a:solidFill>
            <a:prstDash val="solid"/>
          </a:ln>
        </p:spPr>
      </p:sp>
      <p:sp>
        <p:nvSpPr>
          <p:cNvPr id="25" name="S14/object-611"/>
          <p:cNvSpPr/>
          <p:nvPr/>
        </p:nvSpPr>
        <p:spPr>
          <a:xfrm>
            <a:off x="4398264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6" name="S14/object-612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实验中 · 继续验证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4/object-613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Tet4实验内核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4/object-614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与主编辑器实体链仍待完善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4/object-615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WebGPU能力检测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4/object-616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不等于GPU数值求解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4/object-617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不把界面入口当作成熟能力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4/object-618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14/object-619"/>
          <p:cNvSpPr/>
          <p:nvPr/>
        </p:nvSpPr>
        <p:spPr>
          <a:xfrm>
            <a:off x="8202168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4" name="S14/object-620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用途边界 · 如实说明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4/object-621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课堂学习与训练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4/object-622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解析对照、可视化理解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4/object-623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尚非工程认证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14/object-624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不用于设计、鉴定或商业用途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4/object-625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功能存在 ≠ 充分验证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40" name="S14/web-rich-09" descr="single-element asset; sha256=bca6ce2edf8253445c3bb8fc91e810354c9b163bbb703c1003ce3e10cc5b47bd; source=D:\MACHANICS-OF-MATERIALS-main\outputs\research-ppt-blue\asset-jobs\R09\LMB-A09-original.png" title="icon: web-rich-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48" y="813816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5/object-62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5/object-62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5/object-62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5/object-62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5/object-63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5/object-63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5/object-63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如何复现一个简单学习算例？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从建模、结果查看到解析核对按顺序操作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5/object-63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15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来源：live/01-workspace.jpg；live/07-load-properties.jpg；二维解析核验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5/route-0"/>
          <p:cNvSpPr/>
          <p:nvPr/>
        </p:nvSpPr>
        <p:spPr>
          <a:xfrm>
            <a:off x="11082528" y="941832"/>
            <a:ext cx="384048" cy="161300"/>
          </a:xfrm>
          <a:prstGeom prst="diamond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15/route-1"/>
          <p:cNvSpPr/>
          <p:nvPr/>
        </p:nvSpPr>
        <p:spPr>
          <a:xfrm>
            <a:off x="11178540" y="1083930"/>
            <a:ext cx="192024" cy="10753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15/object-634"/>
          <p:cNvSpPr/>
          <p:nvPr/>
        </p:nvSpPr>
        <p:spPr>
          <a:xfrm>
            <a:off x="11447374" y="1026323"/>
            <a:ext cx="0" cy="184343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5/object-635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0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21" name="S15/object-636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2" name="S15/object-637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5/object-638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载入案例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5/object-639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帮助 → 使用指导与默认案例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5/object-640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6" name="S15/object-641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5/object-642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检查条件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5/object-643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单位、截面、约束、荷载方向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5/object-644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15/object-645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5/object-646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求解与核对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5/object-647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二维自动求解；三维点本地求解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5/object-648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4" name="S15/object-649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5/object-650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改变单参数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5/object-651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先预测，改位置，再比较结果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5/object-652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排错线索：不稳定→约束；量级异常→单位；图形异常→方向与局部坐标。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6/object-65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6/object-65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6/object-65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6/object-65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6/object-65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6/object-65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6/object-65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让力学结果真正可理解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以可复算案例验证功能，再逐步扩展边界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6/object-66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16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来源：二维解析与实机记录；三维实机记录；证据缺口清单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6/object-661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16/object-662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6/object-663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6/object-664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6/object-665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6/object-666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6/object-667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6/object-668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6/object-669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6/object-670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把“看见结果”推进到“解释结果”</a:t>
            </a:r>
            <a:endParaRPr lang="en-US" sz="3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6/object-671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16/object-672"/>
          <p:cNvSpPr/>
          <p:nvPr/>
        </p:nvSpPr>
        <p:spPr>
          <a:xfrm>
            <a:off x="64008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8" name="S16/object-673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6/object-674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可视化建模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6/object-675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把条件转成节点与构件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6/object-676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已见：二维与空间工作区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6/object-677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1F2E8"/>
          </a:solidFill>
          <a:ln w="10160">
            <a:solidFill>
              <a:srgbClr val="E1F2E8"/>
            </a:solidFill>
            <a:prstDash val="solid"/>
          </a:ln>
        </p:spPr>
      </p:sp>
      <p:sp>
        <p:nvSpPr>
          <p:cNvPr id="33" name="S16/object-678"/>
          <p:cNvSpPr/>
          <p:nvPr/>
        </p:nvSpPr>
        <p:spPr>
          <a:xfrm>
            <a:off x="443484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4" name="S16/object-67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6/object-68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结果解释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6/object-68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联系内力图、公式与危险位置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6/object-68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已见：默认梁幅值对照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16/object-68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9" name="S16/object-684"/>
          <p:cNvSpPr/>
          <p:nvPr/>
        </p:nvSpPr>
        <p:spPr>
          <a:xfrm>
            <a:off x="822960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0" name="S16/object-685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6/object-686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独立核验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16/object-687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平衡关系与解析解交叉检查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16/object-688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已见：空间三向力平衡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4" name="S16/object-689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下一步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5" name="S16/object-690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补充边界与荷载组合 → 建立回归算例 → 完善空间分析与完整力矩核验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7/object-69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7/object-69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7/object-69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7/object-69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7/object-69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7/object-69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7/object-69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附录：公式与单位速查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统一参数定义、单位和符号口径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7/object-69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17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来源：静力学公式；README.md公式符号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7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17/object-699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7/object-700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7/object-701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7/object-702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7/object-703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17/object-704"/>
          <p:cNvSpPr/>
          <p:nvPr/>
        </p:nvSpPr>
        <p:spPr>
          <a:xfrm>
            <a:off x="59436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3" name="S17/object-705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17/object-706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7/object-707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轴向拉压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7/object-708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σ=N/A；ΔL=NL/(EA)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7/object-709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N：轴力；A：面积；E：弹性模量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7/object-710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均匀等截面、线弹性；统一N/m/Pa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7/object-711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17/object-712"/>
          <p:cNvSpPr/>
          <p:nvPr/>
        </p:nvSpPr>
        <p:spPr>
          <a:xfrm>
            <a:off x="626364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1" name="S17/object-713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2" name="S17/object-714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7/object-715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弯曲响应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7/object-716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σmax=M/W；EI控制挠度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7/object-717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M：弯矩；W：抗弯截面系数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7/object-718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线弹性、小变形；截面与边界须匹配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7/object-719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8" name="S17/object-720"/>
          <p:cNvSpPr/>
          <p:nvPr/>
        </p:nvSpPr>
        <p:spPr>
          <a:xfrm>
            <a:off x="59436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9" name="S17/object-721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17/object-722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7/object-723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圆轴扭转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17/object-724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τmax=T/Wt；φ=TL/(GJ)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17/object-725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T：扭矩；J：极惯性矩；G：剪切模量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4" name="S17/object-726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均匀圆轴、小变形；角度按rad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5" name="S17/object-727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46" name="S17/object-728"/>
          <p:cNvSpPr/>
          <p:nvPr/>
        </p:nvSpPr>
        <p:spPr>
          <a:xfrm>
            <a:off x="626364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7" name="S17/object-729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8" name="S17/object-730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9" name="S17/object-731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集中力简支梁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17/object-732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RA=P(L−a)/L；Mpeak=Pa(L−a)/L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1" name="S17/object-733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a：距左支座位置；0&lt;a&lt;L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2" name="S17/object-734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本稿P=18kN，L=6m；仅解析预测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8/object-73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8/object-73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8/object-73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8/object-73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8/object-73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8/object-74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8/object-74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附录：证据索引与验证范围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每一项结论必须能够追溯到具体来源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8/object-74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18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来源：README.md；outputs/classmate-sharing/assets/live/；qa/live-run-evidence.json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8/object-743"/>
          <p:cNvSpPr/>
          <p:nvPr/>
        </p:nvSpPr>
        <p:spPr>
          <a:xfrm>
            <a:off x="11101730" y="961034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18/object-744"/>
          <p:cNvSpPr/>
          <p:nvPr/>
        </p:nvSpPr>
        <p:spPr>
          <a:xfrm>
            <a:off x="11286073" y="1156899"/>
            <a:ext cx="168981" cy="16130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8/object-745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9" name="S18/object-746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8/object-747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实机已观察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8/object-748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二维梁9/9kN与27kN·m幅值；空间三向力平衡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8/object-749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本地实机截图与运行记录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8/object-750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4" name="S18/object-751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18/object-752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8/object-753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解析预测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8/object-754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荷载位置a=1/2/3m的反力与弯矩趋势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8/object-755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sources/native-data.json，非新增测量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8/object-756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0" name="S18/object-757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1" name="S18/object-758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8/object-759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实验与缺项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8/object-760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Tet4实验；完整力矩核验待补；GPU仅检测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8/object-761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README及求解能力审计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8/object-762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6" name="S18/object-763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7" name="S18/object-764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18/object-765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视觉协作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8/object-766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网页规划与逐项独立素材生成，模型名未核验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18/object-767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用户授权当前网页版继续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8/object-768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2" name="S18/object-769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欢迎带着模型、单位和截图交流：先定位条件，再判断差异。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Microsoft YaHei"/>
        <a:cs typeface="Times New Roman"/>
        <a:font script="Jpan" typeface="游ゴシック Light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Microsoft YaHei"/>
        <a:cs typeface="Times New Roman"/>
        <a:font script="Jpan" typeface="游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拉压弯扭大师｜绿色技术路线增强版</dc:title>
  <dc:subject>PptxGenJS Presentation</dc:subject>
  <dc:creator>拉压弯扭大师</dc:creator>
  <cp:lastModifiedBy>拉压弯扭大师</cp:lastModifiedBy>
  <cp:revision>1</cp:revision>
  <dcterms:created xsi:type="dcterms:W3CDTF">2026-10-11T10:30:20Z</dcterms:created>
  <dcterms:modified xsi:type="dcterms:W3CDTF">2026-10-11T10:30:20Z</dcterms:modified>
</cp:coreProperties>
</file>
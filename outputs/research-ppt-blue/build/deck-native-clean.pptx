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A端反力</c:v>
                </c:pt>
              </c:strCache>
            </c:strRef>
          </c:tx>
          <c:spPr>
            <a:solidFill>
              <a:srgbClr val="075EAE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12</c:v>
                </c:pt>
                <c:pt idx="2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B端反力</c:v>
                </c:pt>
              </c:strCache>
            </c:strRef>
          </c:tx>
          <c:spPr>
            <a:solidFill>
              <a:srgbClr val="2189C4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6</c:v>
                </c:pt>
                <c:pt idx="2">
                  <c:v>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26E8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  <c:min val="0"/>
        </c:scaling>
        <c:delete val="0"/>
        <c:axPos val="l"/>
        <c:majorGridlines>
          <c:spPr>
            <a:ln w="12700" cap="flat">
              <a:solidFill>
                <a:srgbClr val="DC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26E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峰值弯矩幅值</c:v>
                </c:pt>
              </c:strCache>
            </c:strRef>
          </c:tx>
          <c:spPr>
            <a:solidFill>
              <a:srgbClr val="2189C4"/>
            </a:solidFill>
            <a:ln w="25400" cap="flat">
              <a:solidFill>
                <a:srgbClr val="2189C4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189C4"/>
              </a:solidFill>
              <a:ln w="9525" cap="flat">
                <a:solidFill>
                  <a:srgbClr val="2189C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24</c:v>
                </c:pt>
                <c:pt idx="2">
                  <c:v>27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26E8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12700" cap="flat">
              <a:solidFill>
                <a:srgbClr val="DC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26E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30秒：介绍软件定位和版本，说明今天重点是用真实算例验证学习功能，而非宣传工程认证能力。
视觉与内容增强：增加副标题“本地离线材料力学学习软件”，明确v2.0.2、二维与三维分析及学习辅助定位。
来源：README.md；用户提供的产品定位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40秒：围绕一道具体简支梁题，解释建模、结果和解析公式之间的理解障碍，不虚构教学改善数据。
视觉与内容增强：围绕建模抽象、内力符号、结果核验三个困难，逐一对应可视建模、图形显示、分步推导。
来源：二维简支梁解析条件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40秒：介绍软件覆盖的基本变形与组合变形，强调力学量之间的联系，不把功能范围等同于全面测试。
视觉与内容增强：补充轴力与正应力、弯曲正应力、圆轴扭转切应力等基础关系，区分载荷类型、变形模式与适用条件。
来源：README.md公式库及功能说明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顶部四类变形交代软件对象，再按建模输入、统一模型、本地求解、结果与推导、教学应用五阶段讲解。验证路径回到输入和模型。明确空间梁Euler-Bernoulli、当前节点荷载与端内力；Tet4实验、WASM未接入、WebGPU仅检测。橙色虚线是未来计划。
原生技术路线依照用户绿色参考重新构建。箭头表示学习与数据流程；橙色虚线仅未来规划。三维端内力不冒充实体云图。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40秒：使用真实截图说明工作区布局，重点展示模型对象与属性面板如何对应；图标字体异常不修饰。
视觉与内容增强：解释左侧模型树、中部视图区、右侧属性面板的职责，以及修改参数后如何形成建模—观察—调整闭环。
来源：live/01-workspace.jpg；qa/live-run-evidence.json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45秒：说明2节点1单元的梁模型如何设置支座与跨中集中荷载；重点检查位置和单位。
视觉与内容增强：列明跨度6m、跨中集中力18kN、两端简支，以及目标输出支反力、剪力和弯矩，给出理论预测。
来源：live/07-load-properties.jpg；qa/live-run-evidence.json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55秒：解释剪力在集中载荷处跃变、弯矩在跨中达到最大幅值，并强调软件的负号约定。
视觉与内容增强：结合真实结果说明剪力在跨中跳变、弯矩在跨中达到最大幅值27kN·m；软件显示负27，须解释符号约定。
来源：live/06-shear.jpg；live/03-beam-moment.jpg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65秒：逐项核验9、9、27三个幅值。解释截图的-27符号、端弯矩0与跨中极值不同。
视觉与内容增强：以左右反力各9kN、最大弯矩幅值27kN·m进行对照；严格区分解析期望、实际读数和误差判断。
来源：live/03-beam-moment.jpg；live/05-element-results.jpg；qa/live-run-evidence.json；RA=RB=P/2；Mmax=PL/4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45秒：演示理论上载荷从左侧1米移至跨中时，反力分配及弯矩峰值的变化。这不是新增实测。
视觉与内容增强：固定18kN荷载，将作用位置设为距左端1、2、3m；解析预测左右反力分别为15/3、12/6、9/9kN，最大弯矩幅值15、24、27kN·m。
来源：解析预测：P=18kN，L=6m，a=1/2/3m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50秒：从实机分步推导返回基本弯曲公式，说明危险截面判断依赖内力分布与截面条件。
视觉与内容增强：通过受力分析、平衡方程、内力求解、结果检查四步串联静力学知识，说明公式助手的学习价值。
来源：live/04-derivation.jpg；README.md公式库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50秒：解释空间刚架如何从平面建模扩展到每节点6自由度，区分单元12×12和整体24自由度。
视觉与内容增强：解释三向平移与三向转动，并以四节点三构件模型说明未施加约束前共有24个节点自由度，避免误解为24个有效自由度。
来源：README.md；空间刚架运行条件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55秒：逐项展示三向受力与支座反力相消。残差和单次耗时只描述当前运行，缺少力矩及应力核验。
视觉与内容增强：展示三向外力8000、-5000、-12000N与相反总反力的对应关系；仅声称三向外力平衡已核验，不推及力矩平衡。
来源：live/11-space-results.jpg；qa/live-run-evidence.json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40秒：讲解前端、Worker求解器和Three.js之间的数据流，明确计算不依靠尚未实现的GPU数值内核。
视觉与内容增强：介绍模型数据、求解模块、可视化界面、公式知识库及Windows/PWA交付形态；WebGPU目前仅检测设备能力。
来源：README.md；用户提供的技术栈和求解能力说明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45秒：把功能描述与真实运行证据分开。强调Tet4和WebGPU的现状，不利用单一算例推断整体可靠性。
视觉与内容增强：区分已实现的梁刚架学习功能、实验中的Tet4模块，以及尚未实现的实体连续应力云图；明确非工程设计认证。
来源：README.md；qa/live-run-evidence.json；技术边界说明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45秒：给同学一条最短复现路径，并用常见输入错误说明如何排查。明确尚未验证安装包部署。
视觉与内容增强：以新建工程、建立6m梁、添加支座、施加18kN集中力、求解并比对反力为完整教学流程，不虚构下载地址。
来源：live/01-workspace.jpg；live/07-load-properties.jpg；二维解析核验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30秒：总结学习闭环，邀请同学通过简单算例复算结果。后续优先补齐参数扫描与空间完整平衡验证。
视觉与内容增强：归纳可视化建模、结果解释、解析对照三项教学价值，并指出进一步完善验证体系和空间分析的方向。
来源：二维解析与实机记录；三维实机记录；证据缺口清单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附录备查，不计入12分钟。答疑时解释公式、单位与符号定义，尤其注意反力方向和弯矩幅值口径。
视觉与内容增强：补充拉压、弯曲、扭转及平衡方程的适用前提、变量含义与典型使用场景，使页面具有独立复习价值。
来源：静力学公式；README.md公式符号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附录备查，不计入12分钟。供同学追溯实机截图、解析预测和技术说明，避免把一次运行扩大解释。
视觉与内容增强：建立已核验结果、解析预测、实验功能、尚未实现功能四级证据分类；再次注明GPU仅检测，不能证明GPU求解。
来源：README.md；outputs/classmate-sharing/assets/live/；qa/live-run-evidence.json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1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01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01/object-1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1/object-2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1/object-3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1/object-4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1/object-5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1/object-6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1/object-7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01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2800" dirty="0"/>
          </a:p>
        </p:txBody>
      </p:sp>
      <p:sp>
        <p:nvSpPr>
          <p:cNvPr id="12" name="S01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01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本地离线的材料力学学习辅助软件</a:t>
            </a:r>
            <a:endParaRPr lang="en-US" sz="1600" dirty="0"/>
          </a:p>
        </p:txBody>
      </p:sp>
      <p:sp>
        <p:nvSpPr>
          <p:cNvPr id="14" name="S01/object-8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15" name="S01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来源：README.md；用户提供的产品定位</a:t>
            </a:r>
            <a:endParaRPr lang="en-US" sz="800" dirty="0"/>
          </a:p>
        </p:txBody>
      </p:sp>
      <p:sp>
        <p:nvSpPr>
          <p:cNvPr id="16" name="S01/object-9"/>
          <p:cNvSpPr/>
          <p:nvPr/>
        </p:nvSpPr>
        <p:spPr>
          <a:xfrm>
            <a:off x="594360" y="1847088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7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从力学概念</a:t>
            </a:r>
            <a:endParaRPr lang="en-US" sz="3700" dirty="0"/>
          </a:p>
        </p:txBody>
      </p:sp>
      <p:sp>
        <p:nvSpPr>
          <p:cNvPr id="17" name="S01/object-10"/>
          <p:cNvSpPr/>
          <p:nvPr/>
        </p:nvSpPr>
        <p:spPr>
          <a:xfrm>
            <a:off x="594360" y="2615184"/>
            <a:ext cx="6400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40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到可验证计算</a:t>
            </a:r>
            <a:endParaRPr lang="en-US" sz="4000" dirty="0"/>
          </a:p>
        </p:txBody>
      </p:sp>
      <p:sp>
        <p:nvSpPr>
          <p:cNvPr id="18" name="S01/object-11"/>
          <p:cNvSpPr/>
          <p:nvPr/>
        </p:nvSpPr>
        <p:spPr>
          <a:xfrm>
            <a:off x="630936" y="3547872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2189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本地离线材料力学学习软件</a:t>
            </a:r>
            <a:endParaRPr lang="en-US" sz="2400" dirty="0"/>
          </a:p>
        </p:txBody>
      </p:sp>
      <p:sp>
        <p:nvSpPr>
          <p:cNvPr id="19" name="S01/object-12"/>
          <p:cNvSpPr/>
          <p:nvPr/>
        </p:nvSpPr>
        <p:spPr>
          <a:xfrm>
            <a:off x="658368" y="4242816"/>
            <a:ext cx="210312" cy="0"/>
          </a:xfrm>
          <a:prstGeom prst="line">
            <a:avLst/>
          </a:prstGeom>
          <a:noFill/>
          <a:ln w="25400">
            <a:solidFill>
              <a:srgbClr val="D88118"/>
            </a:solidFill>
            <a:prstDash val="solid"/>
          </a:ln>
        </p:spPr>
      </p:sp>
      <p:sp>
        <p:nvSpPr>
          <p:cNvPr id="20" name="S01/object-13"/>
          <p:cNvSpPr/>
          <p:nvPr/>
        </p:nvSpPr>
        <p:spPr>
          <a:xfrm>
            <a:off x="1005840" y="4114800"/>
            <a:ext cx="5303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模型：节点 / 材料 / 截面</a:t>
            </a:r>
            <a:endParaRPr lang="en-US" sz="1800" dirty="0"/>
          </a:p>
        </p:txBody>
      </p:sp>
      <p:sp>
        <p:nvSpPr>
          <p:cNvPr id="21" name="S01/object-14"/>
          <p:cNvSpPr/>
          <p:nvPr/>
        </p:nvSpPr>
        <p:spPr>
          <a:xfrm>
            <a:off x="658368" y="4636008"/>
            <a:ext cx="210312" cy="0"/>
          </a:xfrm>
          <a:prstGeom prst="line">
            <a:avLst/>
          </a:prstGeom>
          <a:noFill/>
          <a:ln w="25400">
            <a:solidFill>
              <a:srgbClr val="D88118"/>
            </a:solidFill>
            <a:prstDash val="solid"/>
          </a:ln>
        </p:spPr>
      </p:sp>
      <p:sp>
        <p:nvSpPr>
          <p:cNvPr id="22" name="S01/object-15"/>
          <p:cNvSpPr/>
          <p:nvPr/>
        </p:nvSpPr>
        <p:spPr>
          <a:xfrm>
            <a:off x="1005840" y="4507992"/>
            <a:ext cx="5303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响应：内力 / 变形 / 反力</a:t>
            </a:r>
            <a:endParaRPr lang="en-US" sz="1800" dirty="0"/>
          </a:p>
        </p:txBody>
      </p:sp>
      <p:sp>
        <p:nvSpPr>
          <p:cNvPr id="23" name="S01/object-16"/>
          <p:cNvSpPr/>
          <p:nvPr/>
        </p:nvSpPr>
        <p:spPr>
          <a:xfrm>
            <a:off x="658368" y="5029200"/>
            <a:ext cx="210312" cy="0"/>
          </a:xfrm>
          <a:prstGeom prst="line">
            <a:avLst/>
          </a:prstGeom>
          <a:noFill/>
          <a:ln w="25400">
            <a:solidFill>
              <a:srgbClr val="D88118"/>
            </a:solidFill>
            <a:prstDash val="solid"/>
          </a:ln>
        </p:spPr>
      </p:sp>
      <p:sp>
        <p:nvSpPr>
          <p:cNvPr id="24" name="S01/object-17"/>
          <p:cNvSpPr/>
          <p:nvPr/>
        </p:nvSpPr>
        <p:spPr>
          <a:xfrm>
            <a:off x="1005840" y="4901184"/>
            <a:ext cx="5303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解释：公式 / 推导 / 核验</a:t>
            </a:r>
            <a:endParaRPr lang="en-US" sz="1800" dirty="0"/>
          </a:p>
        </p:txBody>
      </p:sp>
      <p:sp>
        <p:nvSpPr>
          <p:cNvPr id="25" name="S01/object-18"/>
          <p:cNvSpPr/>
          <p:nvPr/>
        </p:nvSpPr>
        <p:spPr>
          <a:xfrm>
            <a:off x="7040880" y="1810512"/>
            <a:ext cx="4407408" cy="3456432"/>
          </a:xfrm>
          <a:prstGeom prst="roundRect">
            <a:avLst>
              <a:gd name="adj" fmla="val 4233"/>
            </a:avLst>
          </a:prstGeom>
          <a:solidFill>
            <a:srgbClr val="DFEDF9"/>
          </a:solidFill>
          <a:ln w="10160">
            <a:solidFill>
              <a:srgbClr val="DFEDF9"/>
            </a:solidFill>
            <a:prstDash val="solid"/>
          </a:ln>
        </p:spPr>
      </p:sp>
      <p:sp>
        <p:nvSpPr>
          <p:cNvPr id="26" name="S01/object-19"/>
          <p:cNvSpPr/>
          <p:nvPr/>
        </p:nvSpPr>
        <p:spPr>
          <a:xfrm>
            <a:off x="7292340" y="2199132"/>
            <a:ext cx="3886200" cy="2194560"/>
          </a:xfrm>
          <a:prstGeom prst="rect">
            <a:avLst>
              <a:gd name="adj" fmla="val 6667"/>
            </a:avLst>
          </a:prstGeom>
          <a:solidFill>
            <a:srgbClr val="BDD5EB"/>
          </a:solidFill>
          <a:ln w="10160">
            <a:solidFill>
              <a:srgbClr val="BDD5EB"/>
            </a:solidFill>
            <a:prstDash val="solid"/>
          </a:ln>
        </p:spPr>
      </p:sp>
      <p:pic>
        <p:nvPicPr>
          <p:cNvPr id="27" name="S01/cover-workspace" descr="真实本地程序截图；来源 01-workspace.jp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5360" y="2221992"/>
            <a:ext cx="3820160" cy="2148840"/>
          </a:xfrm>
          <a:prstGeom prst="rect">
            <a:avLst/>
          </a:prstGeom>
        </p:spPr>
      </p:pic>
      <p:sp>
        <p:nvSpPr>
          <p:cNvPr id="28" name="S01/object-20"/>
          <p:cNvSpPr/>
          <p:nvPr/>
        </p:nvSpPr>
        <p:spPr>
          <a:xfrm>
            <a:off x="7315200" y="4645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真实工作区 · 二维 / 空间杆系</a:t>
            </a:r>
            <a:endParaRPr lang="en-US" sz="1600" dirty="0"/>
          </a:p>
        </p:txBody>
      </p:sp>
      <p:sp>
        <p:nvSpPr>
          <p:cNvPr id="29" name="S01/object-21"/>
          <p:cNvSpPr/>
          <p:nvPr/>
        </p:nvSpPr>
        <p:spPr>
          <a:xfrm>
            <a:off x="640080" y="54864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30" name="S01/object-22"/>
          <p:cNvSpPr/>
          <p:nvPr/>
        </p:nvSpPr>
        <p:spPr>
          <a:xfrm>
            <a:off x="749808" y="55504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本地离线</a:t>
            </a:r>
            <a:endParaRPr lang="en-US" sz="1200" dirty="0"/>
          </a:p>
        </p:txBody>
      </p:sp>
      <p:sp>
        <p:nvSpPr>
          <p:cNvPr id="31" name="S01/object-23"/>
          <p:cNvSpPr/>
          <p:nvPr/>
        </p:nvSpPr>
        <p:spPr>
          <a:xfrm>
            <a:off x="2560320" y="54864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32" name="S01/object-24"/>
          <p:cNvSpPr/>
          <p:nvPr/>
        </p:nvSpPr>
        <p:spPr>
          <a:xfrm>
            <a:off x="2670048" y="55504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v2.0.2</a:t>
            </a:r>
            <a:endParaRPr lang="en-US" sz="1200" dirty="0"/>
          </a:p>
        </p:txBody>
      </p:sp>
      <p:sp>
        <p:nvSpPr>
          <p:cNvPr id="33" name="S01/object-25"/>
          <p:cNvSpPr/>
          <p:nvPr/>
        </p:nvSpPr>
        <p:spPr>
          <a:xfrm>
            <a:off x="4480560" y="54864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34" name="S01/object-26"/>
          <p:cNvSpPr/>
          <p:nvPr/>
        </p:nvSpPr>
        <p:spPr>
          <a:xfrm>
            <a:off x="4590288" y="55504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同学分享</a:t>
            </a:r>
            <a:endParaRPr lang="en-US" sz="1200" dirty="0"/>
          </a:p>
        </p:txBody>
      </p:sp>
      <p:sp>
        <p:nvSpPr>
          <p:cNvPr id="35" name="S01/object-27"/>
          <p:cNvSpPr/>
          <p:nvPr/>
        </p:nvSpPr>
        <p:spPr>
          <a:xfrm>
            <a:off x="9006840" y="6016752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概念飘带仅作装饰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2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02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02/object-28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2/object-29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2/object-30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2/object-31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2/object-32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2/object-33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2/object-34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02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为什么需要这样的学习工具？</a:t>
            </a:r>
            <a:endParaRPr lang="en-US" sz="2800" dirty="0"/>
          </a:p>
        </p:txBody>
      </p:sp>
      <p:sp>
        <p:nvSpPr>
          <p:cNvPr id="12" name="S02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02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课堂难点是把模型、计算与内力图联系起来</a:t>
            </a:r>
            <a:endParaRPr lang="en-US" sz="1600" dirty="0"/>
          </a:p>
        </p:txBody>
      </p:sp>
      <p:sp>
        <p:nvSpPr>
          <p:cNvPr id="14" name="S02/object-35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S02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来源：二维简支梁解析条件</a:t>
            </a:r>
            <a:endParaRPr lang="en-US" sz="800" dirty="0"/>
          </a:p>
        </p:txBody>
      </p:sp>
      <p:sp>
        <p:nvSpPr>
          <p:cNvPr id="16" name="S02/route-0"/>
          <p:cNvSpPr/>
          <p:nvPr/>
        </p:nvSpPr>
        <p:spPr>
          <a:xfrm>
            <a:off x="11082528" y="941832"/>
            <a:ext cx="27651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7" name="S02/object-36"/>
          <p:cNvSpPr/>
          <p:nvPr/>
        </p:nvSpPr>
        <p:spPr>
          <a:xfrm>
            <a:off x="11128614" y="1037844"/>
            <a:ext cx="176662" cy="0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8" name="S02/object-37"/>
          <p:cNvSpPr/>
          <p:nvPr/>
        </p:nvSpPr>
        <p:spPr>
          <a:xfrm>
            <a:off x="11128614" y="1114654"/>
            <a:ext cx="176662" cy="0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9" name="S02/object-38"/>
          <p:cNvSpPr/>
          <p:nvPr/>
        </p:nvSpPr>
        <p:spPr>
          <a:xfrm>
            <a:off x="11128614" y="1191463"/>
            <a:ext cx="176662" cy="0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0" name="S02/object-39"/>
          <p:cNvSpPr/>
          <p:nvPr/>
        </p:nvSpPr>
        <p:spPr>
          <a:xfrm flipV="1">
            <a:off x="11266871" y="1133856"/>
            <a:ext cx="180503" cy="176662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1" name="S02/object-40"/>
          <p:cNvSpPr/>
          <p:nvPr/>
        </p:nvSpPr>
        <p:spPr>
          <a:xfrm>
            <a:off x="594360" y="1874520"/>
            <a:ext cx="3520440" cy="3154680"/>
          </a:xfrm>
          <a:prstGeom prst="roundRect">
            <a:avLst>
              <a:gd name="adj" fmla="val 4638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2" name="S02/object-41"/>
          <p:cNvSpPr/>
          <p:nvPr/>
        </p:nvSpPr>
        <p:spPr>
          <a:xfrm>
            <a:off x="594360" y="1874520"/>
            <a:ext cx="3520440" cy="1280160"/>
          </a:xfrm>
          <a:prstGeom prst="roundRect">
            <a:avLst>
              <a:gd name="adj" fmla="val 11429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23" name="S02/route-1"/>
          <p:cNvSpPr/>
          <p:nvPr/>
        </p:nvSpPr>
        <p:spPr>
          <a:xfrm>
            <a:off x="3319272" y="2103120"/>
            <a:ext cx="276515" cy="384048"/>
          </a:xfrm>
          <a:prstGeom prst="rect">
            <a:avLst/>
          </a:prstGeom>
          <a:solidFill>
            <a:srgbClr val="075EA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02/object-42"/>
          <p:cNvSpPr/>
          <p:nvPr/>
        </p:nvSpPr>
        <p:spPr>
          <a:xfrm>
            <a:off x="3365358" y="2199132"/>
            <a:ext cx="176662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25" name="S02/object-43"/>
          <p:cNvSpPr/>
          <p:nvPr/>
        </p:nvSpPr>
        <p:spPr>
          <a:xfrm>
            <a:off x="3365358" y="2275942"/>
            <a:ext cx="176662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26" name="S02/object-44"/>
          <p:cNvSpPr/>
          <p:nvPr/>
        </p:nvSpPr>
        <p:spPr>
          <a:xfrm>
            <a:off x="3365358" y="2352751"/>
            <a:ext cx="176662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27" name="S02/object-45"/>
          <p:cNvSpPr/>
          <p:nvPr/>
        </p:nvSpPr>
        <p:spPr>
          <a:xfrm flipV="1">
            <a:off x="3503615" y="2295144"/>
            <a:ext cx="180503" cy="176662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28" name="S02/object-46"/>
          <p:cNvSpPr/>
          <p:nvPr/>
        </p:nvSpPr>
        <p:spPr>
          <a:xfrm>
            <a:off x="777240" y="2075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000" dirty="0"/>
          </a:p>
        </p:txBody>
      </p:sp>
      <p:sp>
        <p:nvSpPr>
          <p:cNvPr id="29" name="S02/object-47"/>
          <p:cNvSpPr/>
          <p:nvPr/>
        </p:nvSpPr>
        <p:spPr>
          <a:xfrm>
            <a:off x="777240" y="273405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建模抽象</a:t>
            </a:r>
            <a:endParaRPr lang="en-US" sz="2300" dirty="0"/>
          </a:p>
        </p:txBody>
      </p:sp>
      <p:sp>
        <p:nvSpPr>
          <p:cNvPr id="30" name="S02/object-48"/>
          <p:cNvSpPr/>
          <p:nvPr/>
        </p:nvSpPr>
        <p:spPr>
          <a:xfrm>
            <a:off x="777240" y="3310128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支座究竟约束什么？</a:t>
            </a:r>
            <a:endParaRPr lang="en-US" sz="1900" dirty="0"/>
          </a:p>
        </p:txBody>
      </p:sp>
      <p:sp>
        <p:nvSpPr>
          <p:cNvPr id="31" name="S02/object-49"/>
          <p:cNvSpPr/>
          <p:nvPr/>
        </p:nvSpPr>
        <p:spPr>
          <a:xfrm>
            <a:off x="795528" y="3968496"/>
            <a:ext cx="3017520" cy="0"/>
          </a:xfrm>
          <a:prstGeom prst="line">
            <a:avLst/>
          </a:prstGeom>
          <a:noFill/>
          <a:ln w="12700">
            <a:solidFill>
              <a:srgbClr val="BDD5EB"/>
            </a:solidFill>
            <a:prstDash val="solid"/>
          </a:ln>
        </p:spPr>
      </p:sp>
      <p:sp>
        <p:nvSpPr>
          <p:cNvPr id="32" name="S02/object-50"/>
          <p:cNvSpPr/>
          <p:nvPr/>
        </p:nvSpPr>
        <p:spPr>
          <a:xfrm>
            <a:off x="777240" y="42153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2189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 / 单元 / 自由度</a:t>
            </a:r>
            <a:endParaRPr lang="en-US" sz="1700" dirty="0"/>
          </a:p>
        </p:txBody>
      </p:sp>
      <p:sp>
        <p:nvSpPr>
          <p:cNvPr id="33" name="S02/object-51"/>
          <p:cNvSpPr/>
          <p:nvPr/>
        </p:nvSpPr>
        <p:spPr>
          <a:xfrm>
            <a:off x="777240" y="5248656"/>
            <a:ext cx="31272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检查：节点连接 / 支座自由度 / 荷载方向</a:t>
            </a:r>
            <a:endParaRPr lang="en-US" sz="1600" dirty="0"/>
          </a:p>
        </p:txBody>
      </p:sp>
      <p:sp>
        <p:nvSpPr>
          <p:cNvPr id="34" name="S02/object-52"/>
          <p:cNvSpPr/>
          <p:nvPr/>
        </p:nvSpPr>
        <p:spPr>
          <a:xfrm>
            <a:off x="4389120" y="1874520"/>
            <a:ext cx="3520440" cy="3154680"/>
          </a:xfrm>
          <a:prstGeom prst="roundRect">
            <a:avLst>
              <a:gd name="adj" fmla="val 4638"/>
            </a:avLst>
          </a:prstGeom>
          <a:solidFill>
            <a:srgbClr val="E1EFFA"/>
          </a:solidFill>
          <a:ln w="10160">
            <a:solidFill>
              <a:srgbClr val="E1EFFA"/>
            </a:solidFill>
            <a:prstDash val="solid"/>
          </a:ln>
        </p:spPr>
      </p:sp>
      <p:sp>
        <p:nvSpPr>
          <p:cNvPr id="35" name="S02/object-53"/>
          <p:cNvSpPr/>
          <p:nvPr/>
        </p:nvSpPr>
        <p:spPr>
          <a:xfrm>
            <a:off x="4389120" y="1874520"/>
            <a:ext cx="3520440" cy="1280160"/>
          </a:xfrm>
          <a:prstGeom prst="roundRect">
            <a:avLst>
              <a:gd name="adj" fmla="val 11429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36" name="S02/object-54"/>
          <p:cNvSpPr/>
          <p:nvPr/>
        </p:nvSpPr>
        <p:spPr>
          <a:xfrm flipV="1">
            <a:off x="7152437" y="2110801"/>
            <a:ext cx="172822" cy="88331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37" name="S02/object-55"/>
          <p:cNvSpPr/>
          <p:nvPr/>
        </p:nvSpPr>
        <p:spPr>
          <a:xfrm>
            <a:off x="7325258" y="2110801"/>
            <a:ext cx="153619" cy="88331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38" name="S02/object-56"/>
          <p:cNvSpPr/>
          <p:nvPr/>
        </p:nvSpPr>
        <p:spPr>
          <a:xfrm flipH="1">
            <a:off x="7306056" y="2199132"/>
            <a:ext cx="172822" cy="96012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39" name="S02/object-57"/>
          <p:cNvSpPr/>
          <p:nvPr/>
        </p:nvSpPr>
        <p:spPr>
          <a:xfrm flipH="1" flipV="1">
            <a:off x="7152437" y="2199132"/>
            <a:ext cx="153619" cy="96012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0" name="S02/object-58"/>
          <p:cNvSpPr/>
          <p:nvPr/>
        </p:nvSpPr>
        <p:spPr>
          <a:xfrm>
            <a:off x="7152437" y="2199132"/>
            <a:ext cx="0" cy="203545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1" name="S02/object-59"/>
          <p:cNvSpPr/>
          <p:nvPr/>
        </p:nvSpPr>
        <p:spPr>
          <a:xfrm>
            <a:off x="7152437" y="2402677"/>
            <a:ext cx="153619" cy="84491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2" name="S02/object-60"/>
          <p:cNvSpPr/>
          <p:nvPr/>
        </p:nvSpPr>
        <p:spPr>
          <a:xfrm flipV="1">
            <a:off x="7306056" y="2398837"/>
            <a:ext cx="172822" cy="88331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3" name="S02/object-61"/>
          <p:cNvSpPr/>
          <p:nvPr/>
        </p:nvSpPr>
        <p:spPr>
          <a:xfrm flipV="1">
            <a:off x="7478878" y="2199132"/>
            <a:ext cx="0" cy="199705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4" name="S02/object-62"/>
          <p:cNvSpPr/>
          <p:nvPr/>
        </p:nvSpPr>
        <p:spPr>
          <a:xfrm>
            <a:off x="7306056" y="2295144"/>
            <a:ext cx="0" cy="192024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5" name="S02/object-63"/>
          <p:cNvSpPr/>
          <p:nvPr/>
        </p:nvSpPr>
        <p:spPr>
          <a:xfrm>
            <a:off x="4572000" y="2075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000" dirty="0"/>
          </a:p>
        </p:txBody>
      </p:sp>
      <p:sp>
        <p:nvSpPr>
          <p:cNvPr id="46" name="S02/object-64"/>
          <p:cNvSpPr/>
          <p:nvPr/>
        </p:nvSpPr>
        <p:spPr>
          <a:xfrm>
            <a:off x="4572000" y="273405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符号难读</a:t>
            </a:r>
            <a:endParaRPr lang="en-US" sz="2300" dirty="0"/>
          </a:p>
        </p:txBody>
      </p:sp>
      <p:sp>
        <p:nvSpPr>
          <p:cNvPr id="47" name="S02/object-65"/>
          <p:cNvSpPr/>
          <p:nvPr/>
        </p:nvSpPr>
        <p:spPr>
          <a:xfrm>
            <a:off x="4572000" y="3310128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负弯矩是否表示错误？</a:t>
            </a:r>
            <a:endParaRPr lang="en-US" sz="1900" dirty="0"/>
          </a:p>
        </p:txBody>
      </p:sp>
      <p:sp>
        <p:nvSpPr>
          <p:cNvPr id="48" name="S02/object-66"/>
          <p:cNvSpPr/>
          <p:nvPr/>
        </p:nvSpPr>
        <p:spPr>
          <a:xfrm>
            <a:off x="4590288" y="3968496"/>
            <a:ext cx="3017520" cy="0"/>
          </a:xfrm>
          <a:prstGeom prst="line">
            <a:avLst/>
          </a:prstGeom>
          <a:noFill/>
          <a:ln w="12700">
            <a:solidFill>
              <a:srgbClr val="BDD5EB"/>
            </a:solidFill>
            <a:prstDash val="solid"/>
          </a:ln>
        </p:spPr>
      </p:sp>
      <p:sp>
        <p:nvSpPr>
          <p:cNvPr id="49" name="S02/object-67"/>
          <p:cNvSpPr/>
          <p:nvPr/>
        </p:nvSpPr>
        <p:spPr>
          <a:xfrm>
            <a:off x="4572000" y="42153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2189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局部坐标 / 正负约定</a:t>
            </a:r>
            <a:endParaRPr lang="en-US" sz="1700" dirty="0"/>
          </a:p>
        </p:txBody>
      </p:sp>
      <p:sp>
        <p:nvSpPr>
          <p:cNvPr id="50" name="S02/object-68"/>
          <p:cNvSpPr/>
          <p:nvPr/>
        </p:nvSpPr>
        <p:spPr>
          <a:xfrm>
            <a:off x="4572000" y="5248656"/>
            <a:ext cx="31272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检查：局部坐标 / 图例符号 / 截面位置</a:t>
            </a:r>
            <a:endParaRPr lang="en-US" sz="1600" dirty="0"/>
          </a:p>
        </p:txBody>
      </p:sp>
      <p:sp>
        <p:nvSpPr>
          <p:cNvPr id="51" name="S02/object-69"/>
          <p:cNvSpPr/>
          <p:nvPr/>
        </p:nvSpPr>
        <p:spPr>
          <a:xfrm>
            <a:off x="8183880" y="1874520"/>
            <a:ext cx="3520440" cy="3154680"/>
          </a:xfrm>
          <a:prstGeom prst="roundRect">
            <a:avLst>
              <a:gd name="adj" fmla="val 4638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52" name="S02/object-70"/>
          <p:cNvSpPr/>
          <p:nvPr/>
        </p:nvSpPr>
        <p:spPr>
          <a:xfrm>
            <a:off x="8183880" y="1874520"/>
            <a:ext cx="3520440" cy="1280160"/>
          </a:xfrm>
          <a:prstGeom prst="roundRect">
            <a:avLst>
              <a:gd name="adj" fmla="val 11429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53" name="S02/object-71"/>
          <p:cNvSpPr/>
          <p:nvPr/>
        </p:nvSpPr>
        <p:spPr>
          <a:xfrm>
            <a:off x="10927994" y="2122322"/>
            <a:ext cx="230429" cy="23042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S02/object-72"/>
          <p:cNvSpPr/>
          <p:nvPr/>
        </p:nvSpPr>
        <p:spPr>
          <a:xfrm>
            <a:off x="11112337" y="2318187"/>
            <a:ext cx="168981" cy="16130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55" name="S02/object-73"/>
          <p:cNvSpPr/>
          <p:nvPr/>
        </p:nvSpPr>
        <p:spPr>
          <a:xfrm>
            <a:off x="8366760" y="2075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000" dirty="0"/>
          </a:p>
        </p:txBody>
      </p:sp>
      <p:sp>
        <p:nvSpPr>
          <p:cNvPr id="56" name="S02/object-74"/>
          <p:cNvSpPr/>
          <p:nvPr/>
        </p:nvSpPr>
        <p:spPr>
          <a:xfrm>
            <a:off x="8366760" y="273405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可信度判断</a:t>
            </a:r>
            <a:endParaRPr lang="en-US" sz="2300" dirty="0"/>
          </a:p>
        </p:txBody>
      </p:sp>
      <p:sp>
        <p:nvSpPr>
          <p:cNvPr id="57" name="S02/object-75"/>
          <p:cNvSpPr/>
          <p:nvPr/>
        </p:nvSpPr>
        <p:spPr>
          <a:xfrm>
            <a:off x="8366760" y="3310128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求解完成就足够吗？</a:t>
            </a:r>
            <a:endParaRPr lang="en-US" sz="1900" dirty="0"/>
          </a:p>
        </p:txBody>
      </p:sp>
      <p:sp>
        <p:nvSpPr>
          <p:cNvPr id="58" name="S02/object-76"/>
          <p:cNvSpPr/>
          <p:nvPr/>
        </p:nvSpPr>
        <p:spPr>
          <a:xfrm>
            <a:off x="8385048" y="3968496"/>
            <a:ext cx="3017520" cy="0"/>
          </a:xfrm>
          <a:prstGeom prst="line">
            <a:avLst/>
          </a:prstGeom>
          <a:noFill/>
          <a:ln w="12700">
            <a:solidFill>
              <a:srgbClr val="BDD5EB"/>
            </a:solidFill>
            <a:prstDash val="solid"/>
          </a:ln>
        </p:spPr>
      </p:sp>
      <p:sp>
        <p:nvSpPr>
          <p:cNvPr id="59" name="S02/object-77"/>
          <p:cNvSpPr/>
          <p:nvPr/>
        </p:nvSpPr>
        <p:spPr>
          <a:xfrm>
            <a:off x="8366760" y="42153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2189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平衡关系 / 解析对照</a:t>
            </a:r>
            <a:endParaRPr lang="en-US" sz="1700" dirty="0"/>
          </a:p>
        </p:txBody>
      </p:sp>
      <p:sp>
        <p:nvSpPr>
          <p:cNvPr id="60" name="S02/object-78"/>
          <p:cNvSpPr/>
          <p:nvPr/>
        </p:nvSpPr>
        <p:spPr>
          <a:xfrm>
            <a:off x="8366760" y="5248656"/>
            <a:ext cx="31272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检查：整体平衡 / 解析幅值 / 参数趋势</a:t>
            </a:r>
            <a:endParaRPr lang="en-US" sz="1600" dirty="0"/>
          </a:p>
        </p:txBody>
      </p:sp>
      <p:sp>
        <p:nvSpPr>
          <p:cNvPr id="61" name="S02/object-79"/>
          <p:cNvSpPr/>
          <p:nvPr/>
        </p:nvSpPr>
        <p:spPr>
          <a:xfrm>
            <a:off x="795528" y="592531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学习闭环：明确条件 → 离散建模 → 求解响应 → 解析核验 → 单参数实验；保留单位、方向与边界依据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3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03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03/object-80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3/object-81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3/object-82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3/object-83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3/object-84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3/object-85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3/object-86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03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四类基本变形与统一力学量</a:t>
            </a:r>
            <a:endParaRPr lang="en-US" sz="2800" dirty="0"/>
          </a:p>
        </p:txBody>
      </p:sp>
      <p:sp>
        <p:nvSpPr>
          <p:cNvPr id="12" name="S03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03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不同变形形式共享内力、材料与截面参数</a:t>
            </a:r>
            <a:endParaRPr lang="en-US" sz="1600" dirty="0"/>
          </a:p>
        </p:txBody>
      </p:sp>
      <p:sp>
        <p:nvSpPr>
          <p:cNvPr id="14" name="S03/object-8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S03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来源：README.md公式库及功能说明</a:t>
            </a:r>
            <a:endParaRPr lang="en-US" sz="800" dirty="0"/>
          </a:p>
        </p:txBody>
      </p:sp>
      <p:sp>
        <p:nvSpPr>
          <p:cNvPr id="16" name="S03/object-88"/>
          <p:cNvSpPr/>
          <p:nvPr/>
        </p:nvSpPr>
        <p:spPr>
          <a:xfrm>
            <a:off x="594360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17" name="S03/object-89"/>
          <p:cNvSpPr/>
          <p:nvPr/>
        </p:nvSpPr>
        <p:spPr>
          <a:xfrm>
            <a:off x="594360" y="1865376"/>
            <a:ext cx="2606040" cy="594360"/>
          </a:xfrm>
          <a:prstGeom prst="roundRect">
            <a:avLst>
              <a:gd name="adj" fmla="val 24615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8" name="S03/object-90"/>
          <p:cNvSpPr/>
          <p:nvPr/>
        </p:nvSpPr>
        <p:spPr>
          <a:xfrm>
            <a:off x="749808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800" dirty="0"/>
          </a:p>
        </p:txBody>
      </p:sp>
      <p:sp>
        <p:nvSpPr>
          <p:cNvPr id="19" name="S03/object-91"/>
          <p:cNvSpPr/>
          <p:nvPr/>
        </p:nvSpPr>
        <p:spPr>
          <a:xfrm>
            <a:off x="1417320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拉伸</a:t>
            </a:r>
            <a:endParaRPr lang="en-US" sz="2400" dirty="0"/>
          </a:p>
        </p:txBody>
      </p:sp>
      <p:sp>
        <p:nvSpPr>
          <p:cNvPr id="20" name="S03/object-92"/>
          <p:cNvSpPr/>
          <p:nvPr/>
        </p:nvSpPr>
        <p:spPr>
          <a:xfrm>
            <a:off x="740664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2189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→ σ → ΔL</a:t>
            </a:r>
            <a:endParaRPr lang="en-US" sz="1800" dirty="0"/>
          </a:p>
        </p:txBody>
      </p:sp>
      <p:sp>
        <p:nvSpPr>
          <p:cNvPr id="21" name="S03/object-93"/>
          <p:cNvSpPr/>
          <p:nvPr/>
        </p:nvSpPr>
        <p:spPr>
          <a:xfrm>
            <a:off x="740664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 = N / A</a:t>
            </a:r>
            <a:endParaRPr lang="en-US" sz="2100" dirty="0"/>
          </a:p>
        </p:txBody>
      </p:sp>
      <p:sp>
        <p:nvSpPr>
          <p:cNvPr id="22" name="S03/object-94"/>
          <p:cNvSpPr/>
          <p:nvPr/>
        </p:nvSpPr>
        <p:spPr>
          <a:xfrm>
            <a:off x="740664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ΔL = NL / (EA)</a:t>
            </a:r>
            <a:endParaRPr lang="en-US" sz="1700" dirty="0"/>
          </a:p>
        </p:txBody>
      </p:sp>
      <p:sp>
        <p:nvSpPr>
          <p:cNvPr id="23" name="S03/object-95"/>
          <p:cNvSpPr/>
          <p:nvPr/>
        </p:nvSpPr>
        <p:spPr>
          <a:xfrm>
            <a:off x="749808" y="5468112"/>
            <a:ext cx="2286000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24" name="S03/object-96"/>
          <p:cNvSpPr/>
          <p:nvPr/>
        </p:nvSpPr>
        <p:spPr>
          <a:xfrm>
            <a:off x="740664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轴力与长度变化</a:t>
            </a:r>
            <a:endParaRPr lang="en-US" sz="1200" dirty="0"/>
          </a:p>
        </p:txBody>
      </p:sp>
      <p:sp>
        <p:nvSpPr>
          <p:cNvPr id="25" name="S03/object-97"/>
          <p:cNvSpPr/>
          <p:nvPr/>
        </p:nvSpPr>
        <p:spPr>
          <a:xfrm>
            <a:off x="3447288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8F3FC"/>
          </a:solidFill>
          <a:ln w="10160">
            <a:solidFill>
              <a:srgbClr val="E8F3FC"/>
            </a:solidFill>
            <a:prstDash val="solid"/>
          </a:ln>
        </p:spPr>
      </p:sp>
      <p:sp>
        <p:nvSpPr>
          <p:cNvPr id="26" name="S03/object-98"/>
          <p:cNvSpPr/>
          <p:nvPr/>
        </p:nvSpPr>
        <p:spPr>
          <a:xfrm>
            <a:off x="3447288" y="1865376"/>
            <a:ext cx="2606040" cy="594360"/>
          </a:xfrm>
          <a:prstGeom prst="roundRect">
            <a:avLst>
              <a:gd name="adj" fmla="val 24615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27" name="S03/object-99"/>
          <p:cNvSpPr/>
          <p:nvPr/>
        </p:nvSpPr>
        <p:spPr>
          <a:xfrm>
            <a:off x="3602736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800" dirty="0"/>
          </a:p>
        </p:txBody>
      </p:sp>
      <p:sp>
        <p:nvSpPr>
          <p:cNvPr id="28" name="S03/object-100"/>
          <p:cNvSpPr/>
          <p:nvPr/>
        </p:nvSpPr>
        <p:spPr>
          <a:xfrm>
            <a:off x="4270248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</a:t>
            </a:r>
            <a:endParaRPr lang="en-US" sz="2400" dirty="0"/>
          </a:p>
        </p:txBody>
      </p:sp>
      <p:sp>
        <p:nvSpPr>
          <p:cNvPr id="29" name="S03/object-101"/>
          <p:cNvSpPr/>
          <p:nvPr/>
        </p:nvSpPr>
        <p:spPr>
          <a:xfrm>
            <a:off x="3593592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2189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→ σ → ΔL</a:t>
            </a:r>
            <a:endParaRPr lang="en-US" sz="1800" dirty="0"/>
          </a:p>
        </p:txBody>
      </p:sp>
      <p:sp>
        <p:nvSpPr>
          <p:cNvPr id="30" name="S03/object-102"/>
          <p:cNvSpPr/>
          <p:nvPr/>
        </p:nvSpPr>
        <p:spPr>
          <a:xfrm>
            <a:off x="3593592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 = N / A</a:t>
            </a:r>
            <a:endParaRPr lang="en-US" sz="2100" dirty="0"/>
          </a:p>
        </p:txBody>
      </p:sp>
      <p:sp>
        <p:nvSpPr>
          <p:cNvPr id="31" name="S03/object-103"/>
          <p:cNvSpPr/>
          <p:nvPr/>
        </p:nvSpPr>
        <p:spPr>
          <a:xfrm>
            <a:off x="3593592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压缩取符号约定</a:t>
            </a:r>
            <a:endParaRPr lang="en-US" sz="1700" dirty="0"/>
          </a:p>
        </p:txBody>
      </p:sp>
      <p:sp>
        <p:nvSpPr>
          <p:cNvPr id="32" name="S03/object-104"/>
          <p:cNvSpPr/>
          <p:nvPr/>
        </p:nvSpPr>
        <p:spPr>
          <a:xfrm>
            <a:off x="3602736" y="5468112"/>
            <a:ext cx="2286000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33" name="S03/object-105"/>
          <p:cNvSpPr/>
          <p:nvPr/>
        </p:nvSpPr>
        <p:spPr>
          <a:xfrm>
            <a:off x="3593592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短柱概念，非失稳分析</a:t>
            </a:r>
            <a:endParaRPr lang="en-US" sz="1200" dirty="0"/>
          </a:p>
        </p:txBody>
      </p:sp>
      <p:sp>
        <p:nvSpPr>
          <p:cNvPr id="34" name="S03/object-106"/>
          <p:cNvSpPr/>
          <p:nvPr/>
        </p:nvSpPr>
        <p:spPr>
          <a:xfrm>
            <a:off x="6300216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35" name="S03/object-107"/>
          <p:cNvSpPr/>
          <p:nvPr/>
        </p:nvSpPr>
        <p:spPr>
          <a:xfrm>
            <a:off x="6300216" y="1865376"/>
            <a:ext cx="2606040" cy="594360"/>
          </a:xfrm>
          <a:prstGeom prst="roundRect">
            <a:avLst>
              <a:gd name="adj" fmla="val 24615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36" name="S03/object-108"/>
          <p:cNvSpPr/>
          <p:nvPr/>
        </p:nvSpPr>
        <p:spPr>
          <a:xfrm>
            <a:off x="6455664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800" dirty="0"/>
          </a:p>
        </p:txBody>
      </p:sp>
      <p:sp>
        <p:nvSpPr>
          <p:cNvPr id="37" name="S03/object-109"/>
          <p:cNvSpPr/>
          <p:nvPr/>
        </p:nvSpPr>
        <p:spPr>
          <a:xfrm>
            <a:off x="7123176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弯曲</a:t>
            </a:r>
            <a:endParaRPr lang="en-US" sz="2400" dirty="0"/>
          </a:p>
        </p:txBody>
      </p:sp>
      <p:sp>
        <p:nvSpPr>
          <p:cNvPr id="38" name="S03/object-110"/>
          <p:cNvSpPr/>
          <p:nvPr/>
        </p:nvSpPr>
        <p:spPr>
          <a:xfrm>
            <a:off x="6446520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2189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 → M → σ、w</a:t>
            </a:r>
            <a:endParaRPr lang="en-US" sz="1800" dirty="0"/>
          </a:p>
        </p:txBody>
      </p:sp>
      <p:sp>
        <p:nvSpPr>
          <p:cNvPr id="39" name="S03/object-111"/>
          <p:cNvSpPr/>
          <p:nvPr/>
        </p:nvSpPr>
        <p:spPr>
          <a:xfrm>
            <a:off x="6446520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σmax = M / W</a:t>
            </a:r>
            <a:endParaRPr lang="en-US" sz="2100" dirty="0"/>
          </a:p>
        </p:txBody>
      </p:sp>
      <p:sp>
        <p:nvSpPr>
          <p:cNvPr id="40" name="S03/object-112"/>
          <p:cNvSpPr/>
          <p:nvPr/>
        </p:nvSpPr>
        <p:spPr>
          <a:xfrm>
            <a:off x="6446520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EI 控制挠度</a:t>
            </a:r>
            <a:endParaRPr lang="en-US" sz="1700" dirty="0"/>
          </a:p>
        </p:txBody>
      </p:sp>
      <p:sp>
        <p:nvSpPr>
          <p:cNvPr id="41" name="S03/object-113"/>
          <p:cNvSpPr/>
          <p:nvPr/>
        </p:nvSpPr>
        <p:spPr>
          <a:xfrm>
            <a:off x="6455664" y="5468112"/>
            <a:ext cx="2286000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42" name="S03/object-114"/>
          <p:cNvSpPr/>
          <p:nvPr/>
        </p:nvSpPr>
        <p:spPr>
          <a:xfrm>
            <a:off x="6446520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关注危险截面位置</a:t>
            </a:r>
            <a:endParaRPr lang="en-US" sz="1200" dirty="0"/>
          </a:p>
        </p:txBody>
      </p:sp>
      <p:sp>
        <p:nvSpPr>
          <p:cNvPr id="43" name="S03/object-115"/>
          <p:cNvSpPr/>
          <p:nvPr/>
        </p:nvSpPr>
        <p:spPr>
          <a:xfrm>
            <a:off x="9153144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8F3FC"/>
          </a:solidFill>
          <a:ln w="10160">
            <a:solidFill>
              <a:srgbClr val="E8F3FC"/>
            </a:solidFill>
            <a:prstDash val="solid"/>
          </a:ln>
        </p:spPr>
      </p:sp>
      <p:sp>
        <p:nvSpPr>
          <p:cNvPr id="44" name="S03/object-116"/>
          <p:cNvSpPr/>
          <p:nvPr/>
        </p:nvSpPr>
        <p:spPr>
          <a:xfrm>
            <a:off x="9153144" y="1865376"/>
            <a:ext cx="2606040" cy="594360"/>
          </a:xfrm>
          <a:prstGeom prst="roundRect">
            <a:avLst>
              <a:gd name="adj" fmla="val 24615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45" name="S03/object-117"/>
          <p:cNvSpPr/>
          <p:nvPr/>
        </p:nvSpPr>
        <p:spPr>
          <a:xfrm>
            <a:off x="9308592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800" dirty="0"/>
          </a:p>
        </p:txBody>
      </p:sp>
      <p:sp>
        <p:nvSpPr>
          <p:cNvPr id="46" name="S03/object-118"/>
          <p:cNvSpPr/>
          <p:nvPr/>
        </p:nvSpPr>
        <p:spPr>
          <a:xfrm>
            <a:off x="9976104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扭转</a:t>
            </a:r>
            <a:endParaRPr lang="en-US" sz="2400" dirty="0"/>
          </a:p>
        </p:txBody>
      </p:sp>
      <p:sp>
        <p:nvSpPr>
          <p:cNvPr id="47" name="S03/object-119"/>
          <p:cNvSpPr/>
          <p:nvPr/>
        </p:nvSpPr>
        <p:spPr>
          <a:xfrm>
            <a:off x="9299448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2189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→ τ → φ</a:t>
            </a:r>
            <a:endParaRPr lang="en-US" sz="1800" dirty="0"/>
          </a:p>
        </p:txBody>
      </p:sp>
      <p:sp>
        <p:nvSpPr>
          <p:cNvPr id="48" name="S03/object-120"/>
          <p:cNvSpPr/>
          <p:nvPr/>
        </p:nvSpPr>
        <p:spPr>
          <a:xfrm>
            <a:off x="9299448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τmax = T / Wt</a:t>
            </a:r>
            <a:endParaRPr lang="en-US" sz="2100" dirty="0"/>
          </a:p>
        </p:txBody>
      </p:sp>
      <p:sp>
        <p:nvSpPr>
          <p:cNvPr id="49" name="S03/object-121"/>
          <p:cNvSpPr/>
          <p:nvPr/>
        </p:nvSpPr>
        <p:spPr>
          <a:xfrm>
            <a:off x="9299448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φ = TL / (GJ)</a:t>
            </a:r>
            <a:endParaRPr lang="en-US" sz="1700" dirty="0"/>
          </a:p>
        </p:txBody>
      </p:sp>
      <p:sp>
        <p:nvSpPr>
          <p:cNvPr id="50" name="S03/object-122"/>
          <p:cNvSpPr/>
          <p:nvPr/>
        </p:nvSpPr>
        <p:spPr>
          <a:xfrm>
            <a:off x="9308592" y="5468112"/>
            <a:ext cx="2286000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51" name="S03/object-123"/>
          <p:cNvSpPr/>
          <p:nvPr/>
        </p:nvSpPr>
        <p:spPr>
          <a:xfrm>
            <a:off x="9299448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均匀圆轴、小变形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4/title"/>
          <p:cNvSpPr/>
          <p:nvPr/>
        </p:nvSpPr>
        <p:spPr>
          <a:xfrm>
            <a:off x="320040" y="137160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“拉压弯扭大师” 材料力学教学软件技术路线</a:t>
            </a:r>
            <a:endParaRPr lang="en-US" sz="2800" dirty="0"/>
          </a:p>
        </p:txBody>
      </p:sp>
      <p:sp>
        <p:nvSpPr>
          <p:cNvPr id="3" name="S04/scenario-band"/>
          <p:cNvSpPr/>
          <p:nvPr/>
        </p:nvSpPr>
        <p:spPr>
          <a:xfrm>
            <a:off x="822960" y="768096"/>
            <a:ext cx="10561320" cy="1207008"/>
          </a:xfrm>
          <a:prstGeom prst="roundRect">
            <a:avLst>
              <a:gd name="adj" fmla="val 12121"/>
            </a:avLst>
          </a:prstGeom>
          <a:solidFill>
            <a:srgbClr val="DDEFE8"/>
          </a:solidFill>
          <a:ln w="10160">
            <a:solidFill>
              <a:srgbClr val="DDEFE8"/>
            </a:solidFill>
            <a:prstDash val="solid"/>
          </a:ln>
        </p:spPr>
      </p:sp>
      <p:sp>
        <p:nvSpPr>
          <p:cNvPr id="4" name="S04/object-124"/>
          <p:cNvSpPr/>
          <p:nvPr/>
        </p:nvSpPr>
        <p:spPr>
          <a:xfrm>
            <a:off x="950976" y="859536"/>
            <a:ext cx="2423160" cy="1024128"/>
          </a:xfrm>
          <a:prstGeom prst="roundRect">
            <a:avLst>
              <a:gd name="adj" fmla="val 14286"/>
            </a:avLst>
          </a:prstGeom>
          <a:solidFill>
            <a:srgbClr val="F4F9FD"/>
          </a:solidFill>
          <a:ln w="10160">
            <a:solidFill>
              <a:srgbClr val="F4F9FD"/>
            </a:solidFill>
            <a:prstDash val="solid"/>
          </a:ln>
        </p:spPr>
      </p:sp>
      <p:sp>
        <p:nvSpPr>
          <p:cNvPr id="5" name="S04/object-125"/>
          <p:cNvSpPr/>
          <p:nvPr/>
        </p:nvSpPr>
        <p:spPr>
          <a:xfrm>
            <a:off x="1060704" y="9235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拉伸 / 压缩</a:t>
            </a:r>
            <a:endParaRPr lang="en-US" sz="1800" dirty="0"/>
          </a:p>
        </p:txBody>
      </p:sp>
      <p:sp>
        <p:nvSpPr>
          <p:cNvPr id="6" name="S04/object-126"/>
          <p:cNvSpPr/>
          <p:nvPr/>
        </p:nvSpPr>
        <p:spPr>
          <a:xfrm>
            <a:off x="1408176" y="1463040"/>
            <a:ext cx="1508760" cy="219456"/>
          </a:xfrm>
          <a:prstGeom prst="rect">
            <a:avLst>
              <a:gd name="adj" fmla="val 66667"/>
            </a:avLst>
          </a:prstGeom>
          <a:solidFill>
            <a:srgbClr val="BDC9C8"/>
          </a:solidFill>
          <a:ln w="10160">
            <a:solidFill>
              <a:srgbClr val="BDC9C8"/>
            </a:solidFill>
            <a:prstDash val="solid"/>
          </a:ln>
        </p:spPr>
      </p:sp>
      <p:sp>
        <p:nvSpPr>
          <p:cNvPr id="7" name="S04/route-0"/>
          <p:cNvSpPr/>
          <p:nvPr/>
        </p:nvSpPr>
        <p:spPr>
          <a:xfrm>
            <a:off x="2788920" y="1463040"/>
            <a:ext cx="128016" cy="219456"/>
          </a:xfrm>
          <a:prstGeom prst="ellipse">
            <a:avLst/>
          </a:prstGeom>
          <a:solidFill>
            <a:srgbClr val="CCD7D5"/>
          </a:solidFill>
          <a:ln w="12700">
            <a:solidFill>
              <a:srgbClr val="173A5C"/>
            </a:solidFill>
            <a:prstDash val="solid"/>
          </a:ln>
        </p:spPr>
      </p:sp>
      <p:sp>
        <p:nvSpPr>
          <p:cNvPr id="8" name="S04/route-1"/>
          <p:cNvSpPr/>
          <p:nvPr/>
        </p:nvSpPr>
        <p:spPr>
          <a:xfrm>
            <a:off x="1344168" y="1463040"/>
            <a:ext cx="128016" cy="219456"/>
          </a:xfrm>
          <a:prstGeom prst="ellipse">
            <a:avLst/>
          </a:prstGeom>
          <a:solidFill>
            <a:srgbClr val="E2E9E7"/>
          </a:solidFill>
          <a:ln w="12700">
            <a:solidFill>
              <a:srgbClr val="173A5C"/>
            </a:solidFill>
            <a:prstDash val="solid"/>
          </a:ln>
        </p:spPr>
      </p:sp>
      <p:sp>
        <p:nvSpPr>
          <p:cNvPr id="9" name="S04/object-127"/>
          <p:cNvSpPr/>
          <p:nvPr/>
        </p:nvSpPr>
        <p:spPr>
          <a:xfrm flipH="1">
            <a:off x="1133856" y="1572768"/>
            <a:ext cx="192024" cy="0"/>
          </a:xfrm>
          <a:prstGeom prst="line">
            <a:avLst/>
          </a:prstGeom>
          <a:noFill/>
          <a:ln w="2032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10" name="S04/object-128"/>
          <p:cNvSpPr/>
          <p:nvPr/>
        </p:nvSpPr>
        <p:spPr>
          <a:xfrm>
            <a:off x="2953512" y="1572768"/>
            <a:ext cx="237744" cy="0"/>
          </a:xfrm>
          <a:prstGeom prst="line">
            <a:avLst/>
          </a:prstGeom>
          <a:noFill/>
          <a:ln w="2032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11" name="S04/object-129"/>
          <p:cNvSpPr/>
          <p:nvPr/>
        </p:nvSpPr>
        <p:spPr>
          <a:xfrm>
            <a:off x="1097280" y="12801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</a:t>
            </a:r>
            <a:endParaRPr lang="en-US" sz="1200" dirty="0"/>
          </a:p>
        </p:txBody>
      </p:sp>
      <p:sp>
        <p:nvSpPr>
          <p:cNvPr id="12" name="S04/object-130"/>
          <p:cNvSpPr/>
          <p:nvPr/>
        </p:nvSpPr>
        <p:spPr>
          <a:xfrm>
            <a:off x="3090672" y="12801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</a:t>
            </a:r>
            <a:endParaRPr lang="en-US" sz="1200" dirty="0"/>
          </a:p>
        </p:txBody>
      </p:sp>
      <p:sp>
        <p:nvSpPr>
          <p:cNvPr id="13" name="S04/object-131"/>
          <p:cNvSpPr/>
          <p:nvPr/>
        </p:nvSpPr>
        <p:spPr>
          <a:xfrm>
            <a:off x="3547872" y="859536"/>
            <a:ext cx="2423160" cy="1024128"/>
          </a:xfrm>
          <a:prstGeom prst="roundRect">
            <a:avLst>
              <a:gd name="adj" fmla="val 14286"/>
            </a:avLst>
          </a:prstGeom>
          <a:solidFill>
            <a:srgbClr val="F4F9FD"/>
          </a:solidFill>
          <a:ln w="10160">
            <a:solidFill>
              <a:srgbClr val="F4F9FD"/>
            </a:solidFill>
            <a:prstDash val="solid"/>
          </a:ln>
        </p:spPr>
      </p:sp>
      <p:sp>
        <p:nvSpPr>
          <p:cNvPr id="14" name="S04/object-132"/>
          <p:cNvSpPr/>
          <p:nvPr/>
        </p:nvSpPr>
        <p:spPr>
          <a:xfrm>
            <a:off x="3657600" y="9235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弯曲</a:t>
            </a:r>
            <a:endParaRPr lang="en-US" sz="1800" dirty="0"/>
          </a:p>
        </p:txBody>
      </p:sp>
      <p:sp>
        <p:nvSpPr>
          <p:cNvPr id="15" name="S04/object-133"/>
          <p:cNvSpPr/>
          <p:nvPr/>
        </p:nvSpPr>
        <p:spPr>
          <a:xfrm>
            <a:off x="3822192" y="1554480"/>
            <a:ext cx="1874520" cy="0"/>
          </a:xfrm>
          <a:prstGeom prst="line">
            <a:avLst/>
          </a:prstGeom>
          <a:noFill/>
          <a:ln w="50800">
            <a:solidFill>
              <a:srgbClr val="9BAEAA"/>
            </a:solidFill>
            <a:prstDash val="solid"/>
          </a:ln>
        </p:spPr>
      </p:sp>
      <p:sp>
        <p:nvSpPr>
          <p:cNvPr id="16" name="S04/route-2"/>
          <p:cNvSpPr/>
          <p:nvPr/>
        </p:nvSpPr>
        <p:spPr>
          <a:xfrm>
            <a:off x="3749040" y="1572768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7" name="S04/object-134"/>
          <p:cNvSpPr/>
          <p:nvPr/>
        </p:nvSpPr>
        <p:spPr>
          <a:xfrm>
            <a:off x="3712464" y="1728216"/>
            <a:ext cx="219456" cy="0"/>
          </a:xfrm>
          <a:prstGeom prst="line">
            <a:avLst/>
          </a:prstGeom>
          <a:noFill/>
          <a:ln w="12700">
            <a:solidFill>
              <a:srgbClr val="075EAE"/>
            </a:solidFill>
            <a:prstDash val="solid"/>
          </a:ln>
        </p:spPr>
      </p:sp>
      <p:sp>
        <p:nvSpPr>
          <p:cNvPr id="18" name="S04/route-3"/>
          <p:cNvSpPr/>
          <p:nvPr/>
        </p:nvSpPr>
        <p:spPr>
          <a:xfrm>
            <a:off x="5623560" y="1572768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9" name="S04/object-135"/>
          <p:cNvSpPr/>
          <p:nvPr/>
        </p:nvSpPr>
        <p:spPr>
          <a:xfrm>
            <a:off x="5586984" y="1728216"/>
            <a:ext cx="219456" cy="0"/>
          </a:xfrm>
          <a:prstGeom prst="line">
            <a:avLst/>
          </a:prstGeom>
          <a:noFill/>
          <a:ln w="12700">
            <a:solidFill>
              <a:srgbClr val="075EAE"/>
            </a:solidFill>
            <a:prstDash val="solid"/>
          </a:ln>
        </p:spPr>
      </p:sp>
      <p:sp>
        <p:nvSpPr>
          <p:cNvPr id="20" name="S04/object-136"/>
          <p:cNvSpPr/>
          <p:nvPr/>
        </p:nvSpPr>
        <p:spPr>
          <a:xfrm>
            <a:off x="4759452" y="1261872"/>
            <a:ext cx="0" cy="237744"/>
          </a:xfrm>
          <a:prstGeom prst="line">
            <a:avLst/>
          </a:prstGeom>
          <a:noFill/>
          <a:ln w="2032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21" name="S04/object-137"/>
          <p:cNvSpPr/>
          <p:nvPr/>
        </p:nvSpPr>
        <p:spPr>
          <a:xfrm>
            <a:off x="4814316" y="11612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</a:t>
            </a:r>
            <a:endParaRPr lang="en-US" sz="1200" dirty="0"/>
          </a:p>
        </p:txBody>
      </p:sp>
      <p:sp>
        <p:nvSpPr>
          <p:cNvPr id="22" name="S04/object-138"/>
          <p:cNvSpPr/>
          <p:nvPr/>
        </p:nvSpPr>
        <p:spPr>
          <a:xfrm>
            <a:off x="3921862" y="1618488"/>
            <a:ext cx="418795" cy="109728"/>
          </a:xfrm>
          <a:prstGeom prst="line">
            <a:avLst/>
          </a:prstGeom>
          <a:noFill/>
          <a:ln w="13970">
            <a:solidFill>
              <a:srgbClr val="075EAE"/>
            </a:solidFill>
            <a:prstDash val="dash"/>
          </a:ln>
        </p:spPr>
      </p:sp>
      <p:sp>
        <p:nvSpPr>
          <p:cNvPr id="23" name="S04/object-139"/>
          <p:cNvSpPr/>
          <p:nvPr/>
        </p:nvSpPr>
        <p:spPr>
          <a:xfrm>
            <a:off x="4340657" y="1728216"/>
            <a:ext cx="418795" cy="45720"/>
          </a:xfrm>
          <a:prstGeom prst="line">
            <a:avLst/>
          </a:prstGeom>
          <a:noFill/>
          <a:ln w="13970">
            <a:solidFill>
              <a:srgbClr val="075EAE"/>
            </a:solidFill>
            <a:prstDash val="dash"/>
          </a:ln>
        </p:spPr>
      </p:sp>
      <p:sp>
        <p:nvSpPr>
          <p:cNvPr id="24" name="S04/object-140"/>
          <p:cNvSpPr/>
          <p:nvPr/>
        </p:nvSpPr>
        <p:spPr>
          <a:xfrm flipV="1">
            <a:off x="4759452" y="1728216"/>
            <a:ext cx="418795" cy="45720"/>
          </a:xfrm>
          <a:prstGeom prst="line">
            <a:avLst/>
          </a:prstGeom>
          <a:noFill/>
          <a:ln w="13970">
            <a:solidFill>
              <a:srgbClr val="075EAE"/>
            </a:solidFill>
            <a:prstDash val="dash"/>
          </a:ln>
        </p:spPr>
      </p:sp>
      <p:sp>
        <p:nvSpPr>
          <p:cNvPr id="25" name="S04/object-141"/>
          <p:cNvSpPr/>
          <p:nvPr/>
        </p:nvSpPr>
        <p:spPr>
          <a:xfrm flipV="1">
            <a:off x="5178247" y="1618488"/>
            <a:ext cx="418795" cy="109728"/>
          </a:xfrm>
          <a:prstGeom prst="line">
            <a:avLst/>
          </a:prstGeom>
          <a:noFill/>
          <a:ln w="13970">
            <a:solidFill>
              <a:srgbClr val="075EAE"/>
            </a:solidFill>
            <a:prstDash val="dash"/>
          </a:ln>
        </p:spPr>
      </p:sp>
      <p:sp>
        <p:nvSpPr>
          <p:cNvPr id="26" name="S04/object-142"/>
          <p:cNvSpPr/>
          <p:nvPr/>
        </p:nvSpPr>
        <p:spPr>
          <a:xfrm>
            <a:off x="6144768" y="859536"/>
            <a:ext cx="2423160" cy="1024128"/>
          </a:xfrm>
          <a:prstGeom prst="roundRect">
            <a:avLst>
              <a:gd name="adj" fmla="val 14286"/>
            </a:avLst>
          </a:prstGeom>
          <a:solidFill>
            <a:srgbClr val="F4F9FD"/>
          </a:solidFill>
          <a:ln w="10160">
            <a:solidFill>
              <a:srgbClr val="F4F9FD"/>
            </a:solidFill>
            <a:prstDash val="solid"/>
          </a:ln>
        </p:spPr>
      </p:sp>
      <p:sp>
        <p:nvSpPr>
          <p:cNvPr id="27" name="S04/object-143"/>
          <p:cNvSpPr/>
          <p:nvPr/>
        </p:nvSpPr>
        <p:spPr>
          <a:xfrm>
            <a:off x="6254496" y="9235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扭转</a:t>
            </a:r>
            <a:endParaRPr lang="en-US" sz="1800" dirty="0"/>
          </a:p>
        </p:txBody>
      </p:sp>
      <p:sp>
        <p:nvSpPr>
          <p:cNvPr id="28" name="S04/object-144"/>
          <p:cNvSpPr/>
          <p:nvPr/>
        </p:nvSpPr>
        <p:spPr>
          <a:xfrm>
            <a:off x="6601968" y="1463040"/>
            <a:ext cx="1508760" cy="219456"/>
          </a:xfrm>
          <a:prstGeom prst="rect">
            <a:avLst>
              <a:gd name="adj" fmla="val 66667"/>
            </a:avLst>
          </a:prstGeom>
          <a:solidFill>
            <a:srgbClr val="BDC9C8"/>
          </a:solidFill>
          <a:ln w="10160">
            <a:solidFill>
              <a:srgbClr val="BDC9C8"/>
            </a:solidFill>
            <a:prstDash val="solid"/>
          </a:ln>
        </p:spPr>
      </p:sp>
      <p:sp>
        <p:nvSpPr>
          <p:cNvPr id="29" name="S04/route-4"/>
          <p:cNvSpPr/>
          <p:nvPr/>
        </p:nvSpPr>
        <p:spPr>
          <a:xfrm>
            <a:off x="7982712" y="1463040"/>
            <a:ext cx="128016" cy="219456"/>
          </a:xfrm>
          <a:prstGeom prst="ellipse">
            <a:avLst/>
          </a:prstGeom>
          <a:solidFill>
            <a:srgbClr val="CCD7D5"/>
          </a:solidFill>
          <a:ln w="12700">
            <a:solidFill>
              <a:srgbClr val="173A5C"/>
            </a:solidFill>
            <a:prstDash val="solid"/>
          </a:ln>
        </p:spPr>
      </p:sp>
      <p:sp>
        <p:nvSpPr>
          <p:cNvPr id="30" name="S04/route-5"/>
          <p:cNvSpPr/>
          <p:nvPr/>
        </p:nvSpPr>
        <p:spPr>
          <a:xfrm>
            <a:off x="6537960" y="1463040"/>
            <a:ext cx="128016" cy="219456"/>
          </a:xfrm>
          <a:prstGeom prst="ellipse">
            <a:avLst/>
          </a:prstGeom>
          <a:solidFill>
            <a:srgbClr val="E2E9E7"/>
          </a:solidFill>
          <a:ln w="12700">
            <a:solidFill>
              <a:srgbClr val="173A5C"/>
            </a:solidFill>
            <a:prstDash val="solid"/>
          </a:ln>
        </p:spPr>
      </p:sp>
      <p:sp>
        <p:nvSpPr>
          <p:cNvPr id="31" name="S04/object-145"/>
          <p:cNvSpPr/>
          <p:nvPr/>
        </p:nvSpPr>
        <p:spPr>
          <a:xfrm>
            <a:off x="6455664" y="1344168"/>
            <a:ext cx="118872" cy="45720"/>
          </a:xfrm>
          <a:prstGeom prst="line">
            <a:avLst/>
          </a:prstGeom>
          <a:noFill/>
          <a:ln w="1905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32" name="S04/object-146"/>
          <p:cNvSpPr/>
          <p:nvPr/>
        </p:nvSpPr>
        <p:spPr>
          <a:xfrm flipH="1">
            <a:off x="6391656" y="1344168"/>
            <a:ext cx="64008" cy="155448"/>
          </a:xfrm>
          <a:prstGeom prst="line">
            <a:avLst/>
          </a:prstGeom>
          <a:noFill/>
          <a:ln w="19050">
            <a:solidFill>
              <a:srgbClr val="075EAE"/>
            </a:solidFill>
            <a:prstDash val="solid"/>
          </a:ln>
        </p:spPr>
      </p:sp>
      <p:sp>
        <p:nvSpPr>
          <p:cNvPr id="33" name="S04/object-147"/>
          <p:cNvSpPr/>
          <p:nvPr/>
        </p:nvSpPr>
        <p:spPr>
          <a:xfrm>
            <a:off x="6391656" y="1499616"/>
            <a:ext cx="64008" cy="301752"/>
          </a:xfrm>
          <a:prstGeom prst="line">
            <a:avLst/>
          </a:prstGeom>
          <a:noFill/>
          <a:ln w="19050">
            <a:solidFill>
              <a:srgbClr val="075EAE"/>
            </a:solidFill>
            <a:prstDash val="solid"/>
          </a:ln>
        </p:spPr>
      </p:sp>
      <p:sp>
        <p:nvSpPr>
          <p:cNvPr id="34" name="S04/object-148"/>
          <p:cNvSpPr/>
          <p:nvPr/>
        </p:nvSpPr>
        <p:spPr>
          <a:xfrm flipH="1">
            <a:off x="8110728" y="1344168"/>
            <a:ext cx="118872" cy="45720"/>
          </a:xfrm>
          <a:prstGeom prst="line">
            <a:avLst/>
          </a:prstGeom>
          <a:noFill/>
          <a:ln w="1905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35" name="S04/object-149"/>
          <p:cNvSpPr/>
          <p:nvPr/>
        </p:nvSpPr>
        <p:spPr>
          <a:xfrm>
            <a:off x="8229600" y="1344168"/>
            <a:ext cx="64008" cy="155448"/>
          </a:xfrm>
          <a:prstGeom prst="line">
            <a:avLst/>
          </a:prstGeom>
          <a:noFill/>
          <a:ln w="19050">
            <a:solidFill>
              <a:srgbClr val="075EAE"/>
            </a:solidFill>
            <a:prstDash val="solid"/>
          </a:ln>
        </p:spPr>
      </p:sp>
      <p:sp>
        <p:nvSpPr>
          <p:cNvPr id="36" name="S04/object-150"/>
          <p:cNvSpPr/>
          <p:nvPr/>
        </p:nvSpPr>
        <p:spPr>
          <a:xfrm flipH="1">
            <a:off x="8229600" y="1499616"/>
            <a:ext cx="64008" cy="301752"/>
          </a:xfrm>
          <a:prstGeom prst="line">
            <a:avLst/>
          </a:prstGeom>
          <a:noFill/>
          <a:ln w="19050">
            <a:solidFill>
              <a:srgbClr val="075EAE"/>
            </a:solidFill>
            <a:prstDash val="solid"/>
          </a:ln>
        </p:spPr>
      </p:sp>
      <p:sp>
        <p:nvSpPr>
          <p:cNvPr id="37" name="S04/object-151"/>
          <p:cNvSpPr/>
          <p:nvPr/>
        </p:nvSpPr>
        <p:spPr>
          <a:xfrm>
            <a:off x="6291072" y="14996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</a:t>
            </a:r>
            <a:endParaRPr lang="en-US" sz="1200" dirty="0"/>
          </a:p>
        </p:txBody>
      </p:sp>
      <p:sp>
        <p:nvSpPr>
          <p:cNvPr id="38" name="S04/object-152"/>
          <p:cNvSpPr/>
          <p:nvPr/>
        </p:nvSpPr>
        <p:spPr>
          <a:xfrm>
            <a:off x="8311896" y="14996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</a:t>
            </a:r>
            <a:endParaRPr lang="en-US" sz="1200" dirty="0"/>
          </a:p>
        </p:txBody>
      </p:sp>
      <p:sp>
        <p:nvSpPr>
          <p:cNvPr id="39" name="S04/object-153"/>
          <p:cNvSpPr/>
          <p:nvPr/>
        </p:nvSpPr>
        <p:spPr>
          <a:xfrm>
            <a:off x="8741664" y="859536"/>
            <a:ext cx="2423160" cy="1024128"/>
          </a:xfrm>
          <a:prstGeom prst="roundRect">
            <a:avLst>
              <a:gd name="adj" fmla="val 14286"/>
            </a:avLst>
          </a:prstGeom>
          <a:solidFill>
            <a:srgbClr val="F4F9FD"/>
          </a:solidFill>
          <a:ln w="10160">
            <a:solidFill>
              <a:srgbClr val="F4F9FD"/>
            </a:solidFill>
            <a:prstDash val="solid"/>
          </a:ln>
        </p:spPr>
      </p:sp>
      <p:sp>
        <p:nvSpPr>
          <p:cNvPr id="40" name="S04/object-154"/>
          <p:cNvSpPr/>
          <p:nvPr/>
        </p:nvSpPr>
        <p:spPr>
          <a:xfrm>
            <a:off x="8851392" y="9235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组合变形</a:t>
            </a:r>
            <a:endParaRPr lang="en-US" sz="1800" dirty="0"/>
          </a:p>
        </p:txBody>
      </p:sp>
      <p:sp>
        <p:nvSpPr>
          <p:cNvPr id="41" name="S04/object-155"/>
          <p:cNvSpPr/>
          <p:nvPr/>
        </p:nvSpPr>
        <p:spPr>
          <a:xfrm flipV="1">
            <a:off x="9253728" y="1280160"/>
            <a:ext cx="629868" cy="167335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42" name="S04/object-156"/>
          <p:cNvSpPr/>
          <p:nvPr/>
        </p:nvSpPr>
        <p:spPr>
          <a:xfrm>
            <a:off x="9883596" y="1280160"/>
            <a:ext cx="354301" cy="100401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43" name="S04/object-157"/>
          <p:cNvSpPr/>
          <p:nvPr/>
        </p:nvSpPr>
        <p:spPr>
          <a:xfrm flipH="1">
            <a:off x="9608029" y="1380561"/>
            <a:ext cx="629868" cy="167335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44" name="S04/object-158"/>
          <p:cNvSpPr/>
          <p:nvPr/>
        </p:nvSpPr>
        <p:spPr>
          <a:xfrm flipH="1" flipV="1">
            <a:off x="9253728" y="1447495"/>
            <a:ext cx="354301" cy="100401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45" name="S04/object-159"/>
          <p:cNvSpPr/>
          <p:nvPr/>
        </p:nvSpPr>
        <p:spPr>
          <a:xfrm flipV="1">
            <a:off x="9253728" y="1575786"/>
            <a:ext cx="629868" cy="161757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46" name="S04/object-160"/>
          <p:cNvSpPr/>
          <p:nvPr/>
        </p:nvSpPr>
        <p:spPr>
          <a:xfrm>
            <a:off x="9883596" y="1575786"/>
            <a:ext cx="354301" cy="100401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47" name="S04/object-161"/>
          <p:cNvSpPr/>
          <p:nvPr/>
        </p:nvSpPr>
        <p:spPr>
          <a:xfrm flipH="1">
            <a:off x="9608029" y="1676187"/>
            <a:ext cx="629868" cy="161757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48" name="S04/object-162"/>
          <p:cNvSpPr/>
          <p:nvPr/>
        </p:nvSpPr>
        <p:spPr>
          <a:xfrm flipH="1" flipV="1">
            <a:off x="9253728" y="1737543"/>
            <a:ext cx="354301" cy="100401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49" name="S04/object-163"/>
          <p:cNvSpPr/>
          <p:nvPr/>
        </p:nvSpPr>
        <p:spPr>
          <a:xfrm>
            <a:off x="9253728" y="1447495"/>
            <a:ext cx="0" cy="290048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50" name="S04/object-164"/>
          <p:cNvSpPr/>
          <p:nvPr/>
        </p:nvSpPr>
        <p:spPr>
          <a:xfrm>
            <a:off x="9883596" y="1280160"/>
            <a:ext cx="0" cy="295626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51" name="S04/object-165"/>
          <p:cNvSpPr/>
          <p:nvPr/>
        </p:nvSpPr>
        <p:spPr>
          <a:xfrm>
            <a:off x="10237897" y="1380561"/>
            <a:ext cx="0" cy="295626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52" name="S04/object-166"/>
          <p:cNvSpPr/>
          <p:nvPr/>
        </p:nvSpPr>
        <p:spPr>
          <a:xfrm>
            <a:off x="9608029" y="1547896"/>
            <a:ext cx="0" cy="290048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53" name="S04/object-167"/>
          <p:cNvSpPr/>
          <p:nvPr/>
        </p:nvSpPr>
        <p:spPr>
          <a:xfrm>
            <a:off x="9221724" y="1415491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54" name="S04/object-168"/>
          <p:cNvSpPr/>
          <p:nvPr/>
        </p:nvSpPr>
        <p:spPr>
          <a:xfrm>
            <a:off x="9851592" y="1248156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55" name="S04/object-169"/>
          <p:cNvSpPr/>
          <p:nvPr/>
        </p:nvSpPr>
        <p:spPr>
          <a:xfrm>
            <a:off x="10205893" y="1348557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56" name="S04/object-170"/>
          <p:cNvSpPr/>
          <p:nvPr/>
        </p:nvSpPr>
        <p:spPr>
          <a:xfrm>
            <a:off x="9576025" y="1515892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57" name="S04/object-171"/>
          <p:cNvSpPr/>
          <p:nvPr/>
        </p:nvSpPr>
        <p:spPr>
          <a:xfrm>
            <a:off x="9221724" y="1705539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58" name="S04/object-172"/>
          <p:cNvSpPr/>
          <p:nvPr/>
        </p:nvSpPr>
        <p:spPr>
          <a:xfrm>
            <a:off x="9851592" y="1543782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59" name="S04/object-173"/>
          <p:cNvSpPr/>
          <p:nvPr/>
        </p:nvSpPr>
        <p:spPr>
          <a:xfrm>
            <a:off x="10205893" y="1644183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60" name="S04/object-174"/>
          <p:cNvSpPr/>
          <p:nvPr/>
        </p:nvSpPr>
        <p:spPr>
          <a:xfrm>
            <a:off x="9576025" y="1805940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61" name="S04/object-175"/>
          <p:cNvSpPr/>
          <p:nvPr/>
        </p:nvSpPr>
        <p:spPr>
          <a:xfrm flipV="1">
            <a:off x="10402489" y="1353312"/>
            <a:ext cx="0" cy="373075"/>
          </a:xfrm>
          <a:prstGeom prst="line">
            <a:avLst/>
          </a:prstGeom>
          <a:noFill/>
          <a:ln w="1651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62" name="S04/object-176"/>
          <p:cNvSpPr/>
          <p:nvPr/>
        </p:nvSpPr>
        <p:spPr>
          <a:xfrm>
            <a:off x="10402489" y="1726387"/>
            <a:ext cx="402336" cy="66934"/>
          </a:xfrm>
          <a:prstGeom prst="line">
            <a:avLst/>
          </a:prstGeom>
          <a:noFill/>
          <a:ln w="1651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63" name="S04/object-177"/>
          <p:cNvSpPr/>
          <p:nvPr/>
        </p:nvSpPr>
        <p:spPr>
          <a:xfrm>
            <a:off x="10347625" y="11612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</a:t>
            </a:r>
            <a:endParaRPr lang="en-US" sz="1100" dirty="0"/>
          </a:p>
        </p:txBody>
      </p:sp>
      <p:sp>
        <p:nvSpPr>
          <p:cNvPr id="64" name="S04/object-178"/>
          <p:cNvSpPr/>
          <p:nvPr/>
        </p:nvSpPr>
        <p:spPr>
          <a:xfrm>
            <a:off x="10823113" y="172638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</a:t>
            </a:r>
            <a:endParaRPr lang="en-US" sz="1100" dirty="0"/>
          </a:p>
        </p:txBody>
      </p:sp>
      <p:sp>
        <p:nvSpPr>
          <p:cNvPr id="65" name="S04/object-179"/>
          <p:cNvSpPr/>
          <p:nvPr/>
        </p:nvSpPr>
        <p:spPr>
          <a:xfrm>
            <a:off x="228600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66" name="S04/route-6"/>
          <p:cNvSpPr/>
          <p:nvPr/>
        </p:nvSpPr>
        <p:spPr>
          <a:xfrm>
            <a:off x="228600" y="2157984"/>
            <a:ext cx="2185416" cy="521208"/>
          </a:xfrm>
          <a:prstGeom prst="rect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67" name="S04/route-7"/>
          <p:cNvSpPr/>
          <p:nvPr/>
        </p:nvSpPr>
        <p:spPr>
          <a:xfrm>
            <a:off x="374904" y="2276856"/>
            <a:ext cx="204094" cy="283464"/>
          </a:xfrm>
          <a:prstGeom prst="rect">
            <a:avLst/>
          </a:prstGeom>
          <a:solidFill>
            <a:srgbClr val="075EA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S04/object-180"/>
          <p:cNvSpPr/>
          <p:nvPr/>
        </p:nvSpPr>
        <p:spPr>
          <a:xfrm>
            <a:off x="408920" y="2347722"/>
            <a:ext cx="130393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69" name="S04/object-181"/>
          <p:cNvSpPr/>
          <p:nvPr/>
        </p:nvSpPr>
        <p:spPr>
          <a:xfrm>
            <a:off x="408920" y="2404415"/>
            <a:ext cx="130393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70" name="S04/object-182"/>
          <p:cNvSpPr/>
          <p:nvPr/>
        </p:nvSpPr>
        <p:spPr>
          <a:xfrm>
            <a:off x="408920" y="2461108"/>
            <a:ext cx="130393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71" name="S04/object-183"/>
          <p:cNvSpPr/>
          <p:nvPr/>
        </p:nvSpPr>
        <p:spPr>
          <a:xfrm flipV="1">
            <a:off x="510967" y="2418588"/>
            <a:ext cx="133228" cy="130393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72" name="S04/object-184"/>
          <p:cNvSpPr/>
          <p:nvPr/>
        </p:nvSpPr>
        <p:spPr>
          <a:xfrm>
            <a:off x="768096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建模输入</a:t>
            </a:r>
            <a:endParaRPr lang="en-US" sz="2100" dirty="0"/>
          </a:p>
        </p:txBody>
      </p:sp>
      <p:sp>
        <p:nvSpPr>
          <p:cNvPr id="73" name="S04/object-185"/>
          <p:cNvSpPr/>
          <p:nvPr/>
        </p:nvSpPr>
        <p:spPr>
          <a:xfrm>
            <a:off x="347472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二维梁 / 刚架</a:t>
            </a:r>
            <a:endParaRPr lang="en-US" sz="1450" dirty="0"/>
          </a:p>
        </p:txBody>
      </p:sp>
      <p:sp>
        <p:nvSpPr>
          <p:cNvPr id="74" name="S04/object-186"/>
          <p:cNvSpPr/>
          <p:nvPr/>
        </p:nvSpPr>
        <p:spPr>
          <a:xfrm>
            <a:off x="347472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空间桁架 / 刚架</a:t>
            </a:r>
            <a:endParaRPr lang="en-US" sz="1450" dirty="0"/>
          </a:p>
        </p:txBody>
      </p:sp>
      <p:sp>
        <p:nvSpPr>
          <p:cNvPr id="75" name="S04/object-187"/>
          <p:cNvSpPr/>
          <p:nvPr/>
        </p:nvSpPr>
        <p:spPr>
          <a:xfrm>
            <a:off x="347472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节点 / 材料 / 截面</a:t>
            </a:r>
            <a:endParaRPr lang="en-US" sz="1450" dirty="0"/>
          </a:p>
        </p:txBody>
      </p:sp>
      <p:sp>
        <p:nvSpPr>
          <p:cNvPr id="76" name="S04/object-188"/>
          <p:cNvSpPr/>
          <p:nvPr/>
        </p:nvSpPr>
        <p:spPr>
          <a:xfrm>
            <a:off x="347472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约束与荷载输入</a:t>
            </a:r>
            <a:endParaRPr lang="en-US" sz="1450" dirty="0"/>
          </a:p>
        </p:txBody>
      </p:sp>
      <p:sp>
        <p:nvSpPr>
          <p:cNvPr id="77" name="S04/object-189"/>
          <p:cNvSpPr/>
          <p:nvPr/>
        </p:nvSpPr>
        <p:spPr>
          <a:xfrm flipV="1">
            <a:off x="640080" y="4334256"/>
            <a:ext cx="0" cy="338328"/>
          </a:xfrm>
          <a:prstGeom prst="line">
            <a:avLst/>
          </a:prstGeom>
          <a:noFill/>
          <a:ln w="25400">
            <a:solidFill>
              <a:srgbClr val="173A5C"/>
            </a:solidFill>
            <a:prstDash val="solid"/>
          </a:ln>
        </p:spPr>
      </p:sp>
      <p:sp>
        <p:nvSpPr>
          <p:cNvPr id="78" name="S04/object-190"/>
          <p:cNvSpPr/>
          <p:nvPr/>
        </p:nvSpPr>
        <p:spPr>
          <a:xfrm>
            <a:off x="640080" y="4334256"/>
            <a:ext cx="1234440" cy="0"/>
          </a:xfrm>
          <a:prstGeom prst="line">
            <a:avLst/>
          </a:prstGeom>
          <a:noFill/>
          <a:ln w="25400">
            <a:solidFill>
              <a:srgbClr val="173A5C"/>
            </a:solidFill>
            <a:prstDash val="solid"/>
          </a:ln>
        </p:spPr>
      </p:sp>
      <p:sp>
        <p:nvSpPr>
          <p:cNvPr id="79" name="S04/object-191"/>
          <p:cNvSpPr/>
          <p:nvPr/>
        </p:nvSpPr>
        <p:spPr>
          <a:xfrm>
            <a:off x="1874520" y="4334256"/>
            <a:ext cx="0" cy="338328"/>
          </a:xfrm>
          <a:prstGeom prst="line">
            <a:avLst/>
          </a:prstGeom>
          <a:noFill/>
          <a:ln w="25400">
            <a:solidFill>
              <a:srgbClr val="173A5C"/>
            </a:solidFill>
            <a:prstDash val="solid"/>
          </a:ln>
        </p:spPr>
      </p:sp>
      <p:sp>
        <p:nvSpPr>
          <p:cNvPr id="80" name="S04/route-8"/>
          <p:cNvSpPr/>
          <p:nvPr/>
        </p:nvSpPr>
        <p:spPr>
          <a:xfrm>
            <a:off x="566928" y="4672584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81" name="S04/object-192"/>
          <p:cNvSpPr/>
          <p:nvPr/>
        </p:nvSpPr>
        <p:spPr>
          <a:xfrm>
            <a:off x="530352" y="4828032"/>
            <a:ext cx="219456" cy="0"/>
          </a:xfrm>
          <a:prstGeom prst="line">
            <a:avLst/>
          </a:prstGeom>
          <a:noFill/>
          <a:ln w="12700">
            <a:solidFill>
              <a:srgbClr val="075EAE"/>
            </a:solidFill>
            <a:prstDash val="solid"/>
          </a:ln>
        </p:spPr>
      </p:sp>
      <p:sp>
        <p:nvSpPr>
          <p:cNvPr id="82" name="S04/route-9"/>
          <p:cNvSpPr/>
          <p:nvPr/>
        </p:nvSpPr>
        <p:spPr>
          <a:xfrm>
            <a:off x="1801368" y="4672584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83" name="S04/object-193"/>
          <p:cNvSpPr/>
          <p:nvPr/>
        </p:nvSpPr>
        <p:spPr>
          <a:xfrm>
            <a:off x="1764792" y="4828032"/>
            <a:ext cx="219456" cy="0"/>
          </a:xfrm>
          <a:prstGeom prst="line">
            <a:avLst/>
          </a:prstGeom>
          <a:noFill/>
          <a:ln w="12700">
            <a:solidFill>
              <a:srgbClr val="075EAE"/>
            </a:solidFill>
            <a:prstDash val="solid"/>
          </a:ln>
        </p:spPr>
      </p:sp>
      <p:sp>
        <p:nvSpPr>
          <p:cNvPr id="84" name="S04/object-194"/>
          <p:cNvSpPr/>
          <p:nvPr/>
        </p:nvSpPr>
        <p:spPr>
          <a:xfrm>
            <a:off x="948690" y="4059936"/>
            <a:ext cx="0" cy="219456"/>
          </a:xfrm>
          <a:prstGeom prst="line">
            <a:avLst/>
          </a:prstGeom>
          <a:noFill/>
          <a:ln w="1651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85" name="S04/object-195"/>
          <p:cNvSpPr/>
          <p:nvPr/>
        </p:nvSpPr>
        <p:spPr>
          <a:xfrm>
            <a:off x="1257300" y="4059936"/>
            <a:ext cx="0" cy="219456"/>
          </a:xfrm>
          <a:prstGeom prst="line">
            <a:avLst/>
          </a:prstGeom>
          <a:noFill/>
          <a:ln w="1651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86" name="S04/object-196"/>
          <p:cNvSpPr/>
          <p:nvPr/>
        </p:nvSpPr>
        <p:spPr>
          <a:xfrm>
            <a:off x="1565910" y="4059936"/>
            <a:ext cx="0" cy="219456"/>
          </a:xfrm>
          <a:prstGeom prst="line">
            <a:avLst/>
          </a:prstGeom>
          <a:noFill/>
          <a:ln w="1651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87" name="S04/object-197"/>
          <p:cNvSpPr/>
          <p:nvPr/>
        </p:nvSpPr>
        <p:spPr>
          <a:xfrm>
            <a:off x="2423160" y="2487168"/>
            <a:ext cx="182880" cy="0"/>
          </a:xfrm>
          <a:prstGeom prst="line">
            <a:avLst/>
          </a:prstGeom>
          <a:noFill/>
          <a:ln w="3556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88" name="S04/object-198"/>
          <p:cNvSpPr/>
          <p:nvPr/>
        </p:nvSpPr>
        <p:spPr>
          <a:xfrm>
            <a:off x="2615184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89" name="S04/route-10"/>
          <p:cNvSpPr/>
          <p:nvPr/>
        </p:nvSpPr>
        <p:spPr>
          <a:xfrm>
            <a:off x="2615184" y="2157984"/>
            <a:ext cx="2185416" cy="521208"/>
          </a:xfrm>
          <a:prstGeom prst="rect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90" name="S04/object-199"/>
          <p:cNvSpPr/>
          <p:nvPr/>
        </p:nvSpPr>
        <p:spPr>
          <a:xfrm flipV="1">
            <a:off x="2789834" y="2282525"/>
            <a:ext cx="127559" cy="65197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1" name="S04/object-200"/>
          <p:cNvSpPr/>
          <p:nvPr/>
        </p:nvSpPr>
        <p:spPr>
          <a:xfrm>
            <a:off x="2917393" y="2282525"/>
            <a:ext cx="113386" cy="65197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2" name="S04/object-201"/>
          <p:cNvSpPr/>
          <p:nvPr/>
        </p:nvSpPr>
        <p:spPr>
          <a:xfrm flipH="1">
            <a:off x="2903220" y="2347722"/>
            <a:ext cx="127559" cy="70866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3" name="S04/object-202"/>
          <p:cNvSpPr/>
          <p:nvPr/>
        </p:nvSpPr>
        <p:spPr>
          <a:xfrm flipH="1" flipV="1">
            <a:off x="2789834" y="2347722"/>
            <a:ext cx="113386" cy="70866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4" name="S04/object-203"/>
          <p:cNvSpPr/>
          <p:nvPr/>
        </p:nvSpPr>
        <p:spPr>
          <a:xfrm>
            <a:off x="2789834" y="2347722"/>
            <a:ext cx="0" cy="150236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5" name="S04/object-204"/>
          <p:cNvSpPr/>
          <p:nvPr/>
        </p:nvSpPr>
        <p:spPr>
          <a:xfrm>
            <a:off x="2789834" y="2497958"/>
            <a:ext cx="113386" cy="62362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6" name="S04/object-205"/>
          <p:cNvSpPr/>
          <p:nvPr/>
        </p:nvSpPr>
        <p:spPr>
          <a:xfrm flipV="1">
            <a:off x="2903220" y="2495123"/>
            <a:ext cx="127559" cy="65197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7" name="S04/object-206"/>
          <p:cNvSpPr/>
          <p:nvPr/>
        </p:nvSpPr>
        <p:spPr>
          <a:xfrm flipV="1">
            <a:off x="3030779" y="2347722"/>
            <a:ext cx="0" cy="147401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8" name="S04/object-207"/>
          <p:cNvSpPr/>
          <p:nvPr/>
        </p:nvSpPr>
        <p:spPr>
          <a:xfrm>
            <a:off x="2903220" y="2418588"/>
            <a:ext cx="0" cy="141732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9" name="S04/object-208"/>
          <p:cNvSpPr/>
          <p:nvPr/>
        </p:nvSpPr>
        <p:spPr>
          <a:xfrm>
            <a:off x="3154680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统一模型</a:t>
            </a:r>
            <a:endParaRPr lang="en-US" sz="2100" dirty="0"/>
          </a:p>
        </p:txBody>
      </p:sp>
      <p:sp>
        <p:nvSpPr>
          <p:cNvPr id="100" name="S04/object-209"/>
          <p:cNvSpPr/>
          <p:nvPr/>
        </p:nvSpPr>
        <p:spPr>
          <a:xfrm>
            <a:off x="2734056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杆系单元统一表达</a:t>
            </a:r>
            <a:endParaRPr lang="en-US" sz="1450" dirty="0"/>
          </a:p>
        </p:txBody>
      </p:sp>
      <p:sp>
        <p:nvSpPr>
          <p:cNvPr id="101" name="S04/object-210"/>
          <p:cNvSpPr/>
          <p:nvPr/>
        </p:nvSpPr>
        <p:spPr>
          <a:xfrm>
            <a:off x="2734056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坐标变换 / 自由度</a:t>
            </a:r>
            <a:endParaRPr lang="en-US" sz="1450" dirty="0"/>
          </a:p>
        </p:txBody>
      </p:sp>
      <p:sp>
        <p:nvSpPr>
          <p:cNvPr id="102" name="S04/object-211"/>
          <p:cNvSpPr/>
          <p:nvPr/>
        </p:nvSpPr>
        <p:spPr>
          <a:xfrm>
            <a:off x="2734056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二维与空间模型组织</a:t>
            </a:r>
            <a:endParaRPr lang="en-US" sz="1450" dirty="0"/>
          </a:p>
        </p:txBody>
      </p:sp>
      <p:sp>
        <p:nvSpPr>
          <p:cNvPr id="103" name="S04/object-212"/>
          <p:cNvSpPr/>
          <p:nvPr/>
        </p:nvSpPr>
        <p:spPr>
          <a:xfrm>
            <a:off x="2734056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数据关联公式与显示</a:t>
            </a:r>
            <a:endParaRPr lang="en-US" sz="1450" dirty="0"/>
          </a:p>
        </p:txBody>
      </p:sp>
      <p:sp>
        <p:nvSpPr>
          <p:cNvPr id="104" name="S04/object-213"/>
          <p:cNvSpPr/>
          <p:nvPr/>
        </p:nvSpPr>
        <p:spPr>
          <a:xfrm flipV="1">
            <a:off x="3054096" y="4169664"/>
            <a:ext cx="661294" cy="159106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05" name="S04/object-214"/>
          <p:cNvSpPr/>
          <p:nvPr/>
        </p:nvSpPr>
        <p:spPr>
          <a:xfrm>
            <a:off x="3715390" y="4169664"/>
            <a:ext cx="371978" cy="95463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06" name="S04/object-215"/>
          <p:cNvSpPr/>
          <p:nvPr/>
        </p:nvSpPr>
        <p:spPr>
          <a:xfrm flipH="1">
            <a:off x="3426074" y="4265127"/>
            <a:ext cx="661294" cy="159106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07" name="S04/object-216"/>
          <p:cNvSpPr/>
          <p:nvPr/>
        </p:nvSpPr>
        <p:spPr>
          <a:xfrm flipH="1" flipV="1">
            <a:off x="3054096" y="4328770"/>
            <a:ext cx="371978" cy="95463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08" name="S04/object-217"/>
          <p:cNvSpPr/>
          <p:nvPr/>
        </p:nvSpPr>
        <p:spPr>
          <a:xfrm flipV="1">
            <a:off x="3054096" y="4450751"/>
            <a:ext cx="661294" cy="153802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09" name="S04/object-218"/>
          <p:cNvSpPr/>
          <p:nvPr/>
        </p:nvSpPr>
        <p:spPr>
          <a:xfrm>
            <a:off x="3715390" y="4450751"/>
            <a:ext cx="371978" cy="95463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10" name="S04/object-219"/>
          <p:cNvSpPr/>
          <p:nvPr/>
        </p:nvSpPr>
        <p:spPr>
          <a:xfrm flipH="1">
            <a:off x="3426074" y="4546214"/>
            <a:ext cx="661294" cy="153802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11" name="S04/object-220"/>
          <p:cNvSpPr/>
          <p:nvPr/>
        </p:nvSpPr>
        <p:spPr>
          <a:xfrm flipH="1" flipV="1">
            <a:off x="3054096" y="4604553"/>
            <a:ext cx="371978" cy="95463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12" name="S04/object-221"/>
          <p:cNvSpPr/>
          <p:nvPr/>
        </p:nvSpPr>
        <p:spPr>
          <a:xfrm>
            <a:off x="3054096" y="4328770"/>
            <a:ext cx="0" cy="275783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13" name="S04/object-222"/>
          <p:cNvSpPr/>
          <p:nvPr/>
        </p:nvSpPr>
        <p:spPr>
          <a:xfrm>
            <a:off x="3715390" y="4169664"/>
            <a:ext cx="0" cy="281087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14" name="S04/object-223"/>
          <p:cNvSpPr/>
          <p:nvPr/>
        </p:nvSpPr>
        <p:spPr>
          <a:xfrm>
            <a:off x="4087368" y="4265127"/>
            <a:ext cx="0" cy="281087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15" name="S04/object-224"/>
          <p:cNvSpPr/>
          <p:nvPr/>
        </p:nvSpPr>
        <p:spPr>
          <a:xfrm>
            <a:off x="3426074" y="4424233"/>
            <a:ext cx="0" cy="275783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16" name="S04/object-225"/>
          <p:cNvSpPr/>
          <p:nvPr/>
        </p:nvSpPr>
        <p:spPr>
          <a:xfrm>
            <a:off x="3022092" y="4296766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17" name="S04/object-226"/>
          <p:cNvSpPr/>
          <p:nvPr/>
        </p:nvSpPr>
        <p:spPr>
          <a:xfrm>
            <a:off x="3683386" y="4137660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18" name="S04/object-227"/>
          <p:cNvSpPr/>
          <p:nvPr/>
        </p:nvSpPr>
        <p:spPr>
          <a:xfrm>
            <a:off x="4055364" y="4233123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19" name="S04/object-228"/>
          <p:cNvSpPr/>
          <p:nvPr/>
        </p:nvSpPr>
        <p:spPr>
          <a:xfrm>
            <a:off x="3394070" y="4392229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20" name="S04/object-229"/>
          <p:cNvSpPr/>
          <p:nvPr/>
        </p:nvSpPr>
        <p:spPr>
          <a:xfrm>
            <a:off x="3022092" y="4572549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21" name="S04/object-230"/>
          <p:cNvSpPr/>
          <p:nvPr/>
        </p:nvSpPr>
        <p:spPr>
          <a:xfrm>
            <a:off x="3683386" y="4418747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22" name="S04/object-231"/>
          <p:cNvSpPr/>
          <p:nvPr/>
        </p:nvSpPr>
        <p:spPr>
          <a:xfrm>
            <a:off x="4055364" y="4514210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23" name="S04/object-232"/>
          <p:cNvSpPr/>
          <p:nvPr/>
        </p:nvSpPr>
        <p:spPr>
          <a:xfrm>
            <a:off x="3394070" y="4668012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24" name="S04/object-233"/>
          <p:cNvSpPr/>
          <p:nvPr/>
        </p:nvSpPr>
        <p:spPr>
          <a:xfrm flipV="1">
            <a:off x="4251960" y="4242816"/>
            <a:ext cx="0" cy="351130"/>
          </a:xfrm>
          <a:prstGeom prst="line">
            <a:avLst/>
          </a:prstGeom>
          <a:noFill/>
          <a:ln w="1651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125" name="S04/object-234"/>
          <p:cNvSpPr/>
          <p:nvPr/>
        </p:nvSpPr>
        <p:spPr>
          <a:xfrm>
            <a:off x="4251960" y="4593946"/>
            <a:ext cx="402336" cy="63642"/>
          </a:xfrm>
          <a:prstGeom prst="line">
            <a:avLst/>
          </a:prstGeom>
          <a:noFill/>
          <a:ln w="1651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126" name="S04/object-235"/>
          <p:cNvSpPr/>
          <p:nvPr/>
        </p:nvSpPr>
        <p:spPr>
          <a:xfrm>
            <a:off x="4197096" y="40507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</a:t>
            </a:r>
            <a:endParaRPr lang="en-US" sz="1100" dirty="0"/>
          </a:p>
        </p:txBody>
      </p:sp>
      <p:sp>
        <p:nvSpPr>
          <p:cNvPr id="127" name="S04/object-236"/>
          <p:cNvSpPr/>
          <p:nvPr/>
        </p:nvSpPr>
        <p:spPr>
          <a:xfrm>
            <a:off x="4672584" y="459394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</a:t>
            </a:r>
            <a:endParaRPr lang="en-US" sz="1100" dirty="0"/>
          </a:p>
        </p:txBody>
      </p:sp>
      <p:sp>
        <p:nvSpPr>
          <p:cNvPr id="128" name="S04/object-237"/>
          <p:cNvSpPr/>
          <p:nvPr/>
        </p:nvSpPr>
        <p:spPr>
          <a:xfrm>
            <a:off x="4809744" y="2487168"/>
            <a:ext cx="182880" cy="0"/>
          </a:xfrm>
          <a:prstGeom prst="line">
            <a:avLst/>
          </a:prstGeom>
          <a:noFill/>
          <a:ln w="3556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129" name="S04/object-238"/>
          <p:cNvSpPr/>
          <p:nvPr/>
        </p:nvSpPr>
        <p:spPr>
          <a:xfrm>
            <a:off x="5001768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130" name="S04/route-11"/>
          <p:cNvSpPr/>
          <p:nvPr/>
        </p:nvSpPr>
        <p:spPr>
          <a:xfrm>
            <a:off x="5001768" y="2157984"/>
            <a:ext cx="2185416" cy="521208"/>
          </a:xfrm>
          <a:prstGeom prst="rect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31" name="S04/route-12"/>
          <p:cNvSpPr/>
          <p:nvPr/>
        </p:nvSpPr>
        <p:spPr>
          <a:xfrm>
            <a:off x="5148072" y="2276856"/>
            <a:ext cx="283464" cy="283464"/>
          </a:xfrm>
          <a:prstGeom prst="gear6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2" name="S04/object-239"/>
          <p:cNvSpPr/>
          <p:nvPr/>
        </p:nvSpPr>
        <p:spPr>
          <a:xfrm>
            <a:off x="5250119" y="2378903"/>
            <a:ext cx="79370" cy="79370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33" name="S04/object-240"/>
          <p:cNvSpPr/>
          <p:nvPr/>
        </p:nvSpPr>
        <p:spPr>
          <a:xfrm>
            <a:off x="5541264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本地求解</a:t>
            </a:r>
            <a:endParaRPr lang="en-US" sz="2100" dirty="0"/>
          </a:p>
        </p:txBody>
      </p:sp>
      <p:sp>
        <p:nvSpPr>
          <p:cNvPr id="134" name="S04/object-241"/>
          <p:cNvSpPr/>
          <p:nvPr/>
        </p:nvSpPr>
        <p:spPr>
          <a:xfrm>
            <a:off x="5120640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TypeScript + mathjs</a:t>
            </a:r>
            <a:endParaRPr lang="en-US" sz="1450" dirty="0"/>
          </a:p>
        </p:txBody>
      </p:sp>
      <p:sp>
        <p:nvSpPr>
          <p:cNvPr id="135" name="S04/object-242"/>
          <p:cNvSpPr/>
          <p:nvPr/>
        </p:nvSpPr>
        <p:spPr>
          <a:xfrm>
            <a:off x="5120640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sparse LU求解</a:t>
            </a:r>
            <a:endParaRPr lang="en-US" sz="1450" dirty="0"/>
          </a:p>
        </p:txBody>
      </p:sp>
      <p:sp>
        <p:nvSpPr>
          <p:cNvPr id="136" name="S04/object-243"/>
          <p:cNvSpPr/>
          <p:nvPr/>
        </p:nvSpPr>
        <p:spPr>
          <a:xfrm>
            <a:off x="5120640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Worker CPU异步计算</a:t>
            </a:r>
            <a:endParaRPr lang="en-US" sz="1450" dirty="0"/>
          </a:p>
        </p:txBody>
      </p:sp>
      <p:sp>
        <p:nvSpPr>
          <p:cNvPr id="137" name="S04/object-244"/>
          <p:cNvSpPr/>
          <p:nvPr/>
        </p:nvSpPr>
        <p:spPr>
          <a:xfrm>
            <a:off x="5120640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本地离线运行</a:t>
            </a:r>
            <a:endParaRPr lang="en-US" sz="1450" dirty="0"/>
          </a:p>
        </p:txBody>
      </p:sp>
      <p:sp>
        <p:nvSpPr>
          <p:cNvPr id="138" name="S04/object-245"/>
          <p:cNvSpPr/>
          <p:nvPr/>
        </p:nvSpPr>
        <p:spPr>
          <a:xfrm>
            <a:off x="5120640" y="39502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Euler–Bernoulli梁</a:t>
            </a:r>
            <a:endParaRPr lang="en-US" sz="1200" dirty="0"/>
          </a:p>
        </p:txBody>
      </p:sp>
      <p:sp>
        <p:nvSpPr>
          <p:cNvPr id="139" name="S04/route-13"/>
          <p:cNvSpPr/>
          <p:nvPr/>
        </p:nvSpPr>
        <p:spPr>
          <a:xfrm>
            <a:off x="5833872" y="4361688"/>
            <a:ext cx="457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40" name="S04/object-246"/>
          <p:cNvSpPr/>
          <p:nvPr/>
        </p:nvSpPr>
        <p:spPr>
          <a:xfrm>
            <a:off x="6062472" y="4690872"/>
            <a:ext cx="0" cy="82296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41" name="S04/object-247"/>
          <p:cNvSpPr/>
          <p:nvPr/>
        </p:nvSpPr>
        <p:spPr>
          <a:xfrm>
            <a:off x="5902452" y="4796028"/>
            <a:ext cx="320040" cy="0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42" name="S04/route-14"/>
          <p:cNvSpPr/>
          <p:nvPr/>
        </p:nvSpPr>
        <p:spPr>
          <a:xfrm>
            <a:off x="5984748" y="4416552"/>
            <a:ext cx="155448" cy="155448"/>
          </a:xfrm>
          <a:prstGeom prst="gear6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43" name="S04/object-248"/>
          <p:cNvSpPr/>
          <p:nvPr/>
        </p:nvSpPr>
        <p:spPr>
          <a:xfrm>
            <a:off x="6040709" y="4472513"/>
            <a:ext cx="43525" cy="4352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4" name="S04/object-249"/>
          <p:cNvSpPr/>
          <p:nvPr/>
        </p:nvSpPr>
        <p:spPr>
          <a:xfrm>
            <a:off x="7196328" y="2487168"/>
            <a:ext cx="182880" cy="0"/>
          </a:xfrm>
          <a:prstGeom prst="line">
            <a:avLst/>
          </a:prstGeom>
          <a:noFill/>
          <a:ln w="3556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145" name="S04/object-250"/>
          <p:cNvSpPr/>
          <p:nvPr/>
        </p:nvSpPr>
        <p:spPr>
          <a:xfrm>
            <a:off x="7388352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146" name="S04/route-15"/>
          <p:cNvSpPr/>
          <p:nvPr/>
        </p:nvSpPr>
        <p:spPr>
          <a:xfrm>
            <a:off x="7388352" y="2157984"/>
            <a:ext cx="2185416" cy="521208"/>
          </a:xfrm>
          <a:prstGeom prst="rect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47" name="S04/route-16"/>
          <p:cNvSpPr/>
          <p:nvPr/>
        </p:nvSpPr>
        <p:spPr>
          <a:xfrm>
            <a:off x="7534656" y="2461108"/>
            <a:ext cx="51024" cy="992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8" name="S04/route-17"/>
          <p:cNvSpPr/>
          <p:nvPr/>
        </p:nvSpPr>
        <p:spPr>
          <a:xfrm>
            <a:off x="7625364" y="2390242"/>
            <a:ext cx="51024" cy="1700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9" name="S04/route-18"/>
          <p:cNvSpPr/>
          <p:nvPr/>
        </p:nvSpPr>
        <p:spPr>
          <a:xfrm>
            <a:off x="7716073" y="2305202"/>
            <a:ext cx="51024" cy="25511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0" name="S04/object-251"/>
          <p:cNvSpPr/>
          <p:nvPr/>
        </p:nvSpPr>
        <p:spPr>
          <a:xfrm>
            <a:off x="7927848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结果与推导</a:t>
            </a:r>
            <a:endParaRPr lang="en-US" sz="2100" dirty="0"/>
          </a:p>
        </p:txBody>
      </p:sp>
      <p:sp>
        <p:nvSpPr>
          <p:cNvPr id="151" name="S04/object-252"/>
          <p:cNvSpPr/>
          <p:nvPr/>
        </p:nvSpPr>
        <p:spPr>
          <a:xfrm>
            <a:off x="7507224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位移、变形与内力</a:t>
            </a:r>
            <a:endParaRPr lang="en-US" sz="1450" dirty="0"/>
          </a:p>
        </p:txBody>
      </p:sp>
      <p:sp>
        <p:nvSpPr>
          <p:cNvPr id="152" name="S04/object-253"/>
          <p:cNvSpPr/>
          <p:nvPr/>
        </p:nvSpPr>
        <p:spPr>
          <a:xfrm>
            <a:off x="7507224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空间刚架：构件端力</a:t>
            </a:r>
            <a:endParaRPr lang="en-US" sz="1450" dirty="0"/>
          </a:p>
        </p:txBody>
      </p:sp>
      <p:sp>
        <p:nvSpPr>
          <p:cNvPr id="153" name="S04/object-254"/>
          <p:cNvSpPr/>
          <p:nvPr/>
        </p:nvSpPr>
        <p:spPr>
          <a:xfrm>
            <a:off x="7507224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公式库与分步推导</a:t>
            </a:r>
            <a:endParaRPr lang="en-US" sz="1450" dirty="0"/>
          </a:p>
        </p:txBody>
      </p:sp>
      <p:sp>
        <p:nvSpPr>
          <p:cNvPr id="154" name="S04/object-255"/>
          <p:cNvSpPr/>
          <p:nvPr/>
        </p:nvSpPr>
        <p:spPr>
          <a:xfrm>
            <a:off x="7507224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危险位置核查</a:t>
            </a:r>
            <a:endParaRPr lang="en-US" sz="1450" dirty="0"/>
          </a:p>
        </p:txBody>
      </p:sp>
      <p:sp>
        <p:nvSpPr>
          <p:cNvPr id="155" name="S04/object-256"/>
          <p:cNvSpPr/>
          <p:nvPr/>
        </p:nvSpPr>
        <p:spPr>
          <a:xfrm>
            <a:off x="7507224" y="39502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SVG / Three.js显示</a:t>
            </a:r>
            <a:endParaRPr lang="en-US" sz="1450" dirty="0"/>
          </a:p>
        </p:txBody>
      </p:sp>
      <p:sp>
        <p:nvSpPr>
          <p:cNvPr id="156" name="S04/object-257"/>
          <p:cNvSpPr/>
          <p:nvPr/>
        </p:nvSpPr>
        <p:spPr>
          <a:xfrm>
            <a:off x="7607808" y="4645152"/>
            <a:ext cx="768096" cy="0"/>
          </a:xfrm>
          <a:prstGeom prst="line">
            <a:avLst/>
          </a:prstGeom>
          <a:noFill/>
          <a:ln w="50800">
            <a:solidFill>
              <a:srgbClr val="9BAEAA"/>
            </a:solidFill>
            <a:prstDash val="solid"/>
          </a:ln>
        </p:spPr>
      </p:sp>
      <p:sp>
        <p:nvSpPr>
          <p:cNvPr id="157" name="S04/route-19"/>
          <p:cNvSpPr/>
          <p:nvPr/>
        </p:nvSpPr>
        <p:spPr>
          <a:xfrm>
            <a:off x="7534656" y="4663440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58" name="S04/object-258"/>
          <p:cNvSpPr/>
          <p:nvPr/>
        </p:nvSpPr>
        <p:spPr>
          <a:xfrm>
            <a:off x="7498080" y="4818888"/>
            <a:ext cx="219456" cy="0"/>
          </a:xfrm>
          <a:prstGeom prst="line">
            <a:avLst/>
          </a:prstGeom>
          <a:noFill/>
          <a:ln w="12700">
            <a:solidFill>
              <a:srgbClr val="075EAE"/>
            </a:solidFill>
            <a:prstDash val="solid"/>
          </a:ln>
        </p:spPr>
      </p:sp>
      <p:sp>
        <p:nvSpPr>
          <p:cNvPr id="159" name="S04/route-20"/>
          <p:cNvSpPr/>
          <p:nvPr/>
        </p:nvSpPr>
        <p:spPr>
          <a:xfrm>
            <a:off x="8302752" y="4663440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60" name="S04/object-259"/>
          <p:cNvSpPr/>
          <p:nvPr/>
        </p:nvSpPr>
        <p:spPr>
          <a:xfrm>
            <a:off x="8266176" y="4818888"/>
            <a:ext cx="219456" cy="0"/>
          </a:xfrm>
          <a:prstGeom prst="line">
            <a:avLst/>
          </a:prstGeom>
          <a:noFill/>
          <a:ln w="12700">
            <a:solidFill>
              <a:srgbClr val="075EAE"/>
            </a:solidFill>
            <a:prstDash val="solid"/>
          </a:ln>
        </p:spPr>
      </p:sp>
      <p:sp>
        <p:nvSpPr>
          <p:cNvPr id="161" name="S04/object-260"/>
          <p:cNvSpPr/>
          <p:nvPr/>
        </p:nvSpPr>
        <p:spPr>
          <a:xfrm>
            <a:off x="7991856" y="4352544"/>
            <a:ext cx="0" cy="237744"/>
          </a:xfrm>
          <a:prstGeom prst="line">
            <a:avLst/>
          </a:prstGeom>
          <a:noFill/>
          <a:ln w="2032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162" name="S04/object-261"/>
          <p:cNvSpPr/>
          <p:nvPr/>
        </p:nvSpPr>
        <p:spPr>
          <a:xfrm>
            <a:off x="8046720" y="42519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</a:t>
            </a:r>
            <a:endParaRPr lang="en-US" sz="1200" dirty="0"/>
          </a:p>
        </p:txBody>
      </p:sp>
      <p:sp>
        <p:nvSpPr>
          <p:cNvPr id="163" name="S04/object-262"/>
          <p:cNvSpPr/>
          <p:nvPr/>
        </p:nvSpPr>
        <p:spPr>
          <a:xfrm>
            <a:off x="7596835" y="4709160"/>
            <a:ext cx="197510" cy="109728"/>
          </a:xfrm>
          <a:prstGeom prst="line">
            <a:avLst/>
          </a:prstGeom>
          <a:noFill/>
          <a:ln w="13970">
            <a:solidFill>
              <a:srgbClr val="075EAE"/>
            </a:solidFill>
            <a:prstDash val="dash"/>
          </a:ln>
        </p:spPr>
      </p:sp>
      <p:sp>
        <p:nvSpPr>
          <p:cNvPr id="164" name="S04/object-263"/>
          <p:cNvSpPr/>
          <p:nvPr/>
        </p:nvSpPr>
        <p:spPr>
          <a:xfrm>
            <a:off x="7794346" y="4818888"/>
            <a:ext cx="197510" cy="45720"/>
          </a:xfrm>
          <a:prstGeom prst="line">
            <a:avLst/>
          </a:prstGeom>
          <a:noFill/>
          <a:ln w="13970">
            <a:solidFill>
              <a:srgbClr val="075EAE"/>
            </a:solidFill>
            <a:prstDash val="dash"/>
          </a:ln>
        </p:spPr>
      </p:sp>
      <p:sp>
        <p:nvSpPr>
          <p:cNvPr id="165" name="S04/object-264"/>
          <p:cNvSpPr/>
          <p:nvPr/>
        </p:nvSpPr>
        <p:spPr>
          <a:xfrm flipV="1">
            <a:off x="7991856" y="4818888"/>
            <a:ext cx="197510" cy="45720"/>
          </a:xfrm>
          <a:prstGeom prst="line">
            <a:avLst/>
          </a:prstGeom>
          <a:noFill/>
          <a:ln w="13970">
            <a:solidFill>
              <a:srgbClr val="075EAE"/>
            </a:solidFill>
            <a:prstDash val="dash"/>
          </a:ln>
        </p:spPr>
      </p:sp>
      <p:sp>
        <p:nvSpPr>
          <p:cNvPr id="166" name="S04/object-265"/>
          <p:cNvSpPr/>
          <p:nvPr/>
        </p:nvSpPr>
        <p:spPr>
          <a:xfrm flipV="1">
            <a:off x="8189366" y="4709160"/>
            <a:ext cx="197510" cy="109728"/>
          </a:xfrm>
          <a:prstGeom prst="line">
            <a:avLst/>
          </a:prstGeom>
          <a:noFill/>
          <a:ln w="13970">
            <a:solidFill>
              <a:srgbClr val="075EAE"/>
            </a:solidFill>
            <a:prstDash val="dash"/>
          </a:ln>
        </p:spPr>
      </p:sp>
      <p:sp>
        <p:nvSpPr>
          <p:cNvPr id="167" name="S04/object-266"/>
          <p:cNvSpPr/>
          <p:nvPr/>
        </p:nvSpPr>
        <p:spPr>
          <a:xfrm flipV="1">
            <a:off x="8622792" y="4352544"/>
            <a:ext cx="351130" cy="123444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68" name="S04/object-267"/>
          <p:cNvSpPr/>
          <p:nvPr/>
        </p:nvSpPr>
        <p:spPr>
          <a:xfrm>
            <a:off x="8973922" y="4352544"/>
            <a:ext cx="197510" cy="74066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69" name="S04/object-268"/>
          <p:cNvSpPr/>
          <p:nvPr/>
        </p:nvSpPr>
        <p:spPr>
          <a:xfrm flipH="1">
            <a:off x="8820302" y="4426610"/>
            <a:ext cx="351130" cy="123444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70" name="S04/object-269"/>
          <p:cNvSpPr/>
          <p:nvPr/>
        </p:nvSpPr>
        <p:spPr>
          <a:xfrm flipH="1" flipV="1">
            <a:off x="8622792" y="4475988"/>
            <a:ext cx="197510" cy="74066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71" name="S04/object-270"/>
          <p:cNvSpPr/>
          <p:nvPr/>
        </p:nvSpPr>
        <p:spPr>
          <a:xfrm flipV="1">
            <a:off x="8622792" y="4570628"/>
            <a:ext cx="351130" cy="119329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72" name="S04/object-271"/>
          <p:cNvSpPr/>
          <p:nvPr/>
        </p:nvSpPr>
        <p:spPr>
          <a:xfrm>
            <a:off x="8973922" y="4570628"/>
            <a:ext cx="197510" cy="74066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73" name="S04/object-272"/>
          <p:cNvSpPr/>
          <p:nvPr/>
        </p:nvSpPr>
        <p:spPr>
          <a:xfrm flipH="1">
            <a:off x="8820302" y="4644695"/>
            <a:ext cx="351130" cy="119329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74" name="S04/object-273"/>
          <p:cNvSpPr/>
          <p:nvPr/>
        </p:nvSpPr>
        <p:spPr>
          <a:xfrm flipH="1" flipV="1">
            <a:off x="8622792" y="4689958"/>
            <a:ext cx="197510" cy="74066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75" name="S04/object-274"/>
          <p:cNvSpPr/>
          <p:nvPr/>
        </p:nvSpPr>
        <p:spPr>
          <a:xfrm>
            <a:off x="8622792" y="4475988"/>
            <a:ext cx="0" cy="213970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76" name="S04/object-275"/>
          <p:cNvSpPr/>
          <p:nvPr/>
        </p:nvSpPr>
        <p:spPr>
          <a:xfrm>
            <a:off x="8973922" y="4352544"/>
            <a:ext cx="0" cy="218084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77" name="S04/object-276"/>
          <p:cNvSpPr/>
          <p:nvPr/>
        </p:nvSpPr>
        <p:spPr>
          <a:xfrm>
            <a:off x="9171432" y="4426610"/>
            <a:ext cx="0" cy="218084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78" name="S04/object-277"/>
          <p:cNvSpPr/>
          <p:nvPr/>
        </p:nvSpPr>
        <p:spPr>
          <a:xfrm>
            <a:off x="8820302" y="4550054"/>
            <a:ext cx="0" cy="213970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79" name="S04/object-278"/>
          <p:cNvSpPr/>
          <p:nvPr/>
        </p:nvSpPr>
        <p:spPr>
          <a:xfrm>
            <a:off x="8590788" y="4443984"/>
            <a:ext cx="64008" cy="64008"/>
          </a:xfrm>
          <a:prstGeom prst="ellipse">
            <a:avLst/>
          </a:prstGeom>
          <a:solidFill>
            <a:srgbClr val="2189C4"/>
          </a:solidFill>
          <a:ln w="12700">
            <a:solidFill>
              <a:srgbClr val="2189C4"/>
            </a:solidFill>
            <a:prstDash val="solid"/>
          </a:ln>
        </p:spPr>
      </p:sp>
      <p:sp>
        <p:nvSpPr>
          <p:cNvPr id="180" name="S04/object-279"/>
          <p:cNvSpPr/>
          <p:nvPr/>
        </p:nvSpPr>
        <p:spPr>
          <a:xfrm>
            <a:off x="8941918" y="4320540"/>
            <a:ext cx="64008" cy="64008"/>
          </a:xfrm>
          <a:prstGeom prst="ellipse">
            <a:avLst/>
          </a:prstGeom>
          <a:solidFill>
            <a:srgbClr val="2189C4"/>
          </a:solidFill>
          <a:ln w="12700">
            <a:solidFill>
              <a:srgbClr val="2189C4"/>
            </a:solidFill>
            <a:prstDash val="solid"/>
          </a:ln>
        </p:spPr>
      </p:sp>
      <p:sp>
        <p:nvSpPr>
          <p:cNvPr id="181" name="S04/object-280"/>
          <p:cNvSpPr/>
          <p:nvPr/>
        </p:nvSpPr>
        <p:spPr>
          <a:xfrm>
            <a:off x="9139428" y="4394606"/>
            <a:ext cx="64008" cy="64008"/>
          </a:xfrm>
          <a:prstGeom prst="ellipse">
            <a:avLst/>
          </a:prstGeom>
          <a:solidFill>
            <a:srgbClr val="2189C4"/>
          </a:solidFill>
          <a:ln w="12700">
            <a:solidFill>
              <a:srgbClr val="2189C4"/>
            </a:solidFill>
            <a:prstDash val="solid"/>
          </a:ln>
        </p:spPr>
      </p:sp>
      <p:sp>
        <p:nvSpPr>
          <p:cNvPr id="182" name="S04/object-281"/>
          <p:cNvSpPr/>
          <p:nvPr/>
        </p:nvSpPr>
        <p:spPr>
          <a:xfrm>
            <a:off x="8788298" y="4518050"/>
            <a:ext cx="64008" cy="64008"/>
          </a:xfrm>
          <a:prstGeom prst="ellipse">
            <a:avLst/>
          </a:prstGeom>
          <a:solidFill>
            <a:srgbClr val="2189C4"/>
          </a:solidFill>
          <a:ln w="12700">
            <a:solidFill>
              <a:srgbClr val="2189C4"/>
            </a:solidFill>
            <a:prstDash val="solid"/>
          </a:ln>
        </p:spPr>
      </p:sp>
      <p:sp>
        <p:nvSpPr>
          <p:cNvPr id="183" name="S04/object-282"/>
          <p:cNvSpPr/>
          <p:nvPr/>
        </p:nvSpPr>
        <p:spPr>
          <a:xfrm>
            <a:off x="8590788" y="4657954"/>
            <a:ext cx="64008" cy="64008"/>
          </a:xfrm>
          <a:prstGeom prst="ellipse">
            <a:avLst/>
          </a:prstGeom>
          <a:solidFill>
            <a:srgbClr val="2189C4"/>
          </a:solidFill>
          <a:ln w="12700">
            <a:solidFill>
              <a:srgbClr val="2189C4"/>
            </a:solidFill>
            <a:prstDash val="solid"/>
          </a:ln>
        </p:spPr>
      </p:sp>
      <p:sp>
        <p:nvSpPr>
          <p:cNvPr id="184" name="S04/object-283"/>
          <p:cNvSpPr/>
          <p:nvPr/>
        </p:nvSpPr>
        <p:spPr>
          <a:xfrm>
            <a:off x="8941918" y="4538624"/>
            <a:ext cx="64008" cy="64008"/>
          </a:xfrm>
          <a:prstGeom prst="ellipse">
            <a:avLst/>
          </a:prstGeom>
          <a:solidFill>
            <a:srgbClr val="2189C4"/>
          </a:solidFill>
          <a:ln w="12700">
            <a:solidFill>
              <a:srgbClr val="2189C4"/>
            </a:solidFill>
            <a:prstDash val="solid"/>
          </a:ln>
        </p:spPr>
      </p:sp>
      <p:sp>
        <p:nvSpPr>
          <p:cNvPr id="185" name="S04/object-284"/>
          <p:cNvSpPr/>
          <p:nvPr/>
        </p:nvSpPr>
        <p:spPr>
          <a:xfrm>
            <a:off x="9139428" y="4612691"/>
            <a:ext cx="64008" cy="64008"/>
          </a:xfrm>
          <a:prstGeom prst="ellipse">
            <a:avLst/>
          </a:prstGeom>
          <a:solidFill>
            <a:srgbClr val="2189C4"/>
          </a:solidFill>
          <a:ln w="12700">
            <a:solidFill>
              <a:srgbClr val="2189C4"/>
            </a:solidFill>
            <a:prstDash val="solid"/>
          </a:ln>
        </p:spPr>
      </p:sp>
      <p:sp>
        <p:nvSpPr>
          <p:cNvPr id="186" name="S04/object-285"/>
          <p:cNvSpPr/>
          <p:nvPr/>
        </p:nvSpPr>
        <p:spPr>
          <a:xfrm>
            <a:off x="8788298" y="4732020"/>
            <a:ext cx="64008" cy="64008"/>
          </a:xfrm>
          <a:prstGeom prst="ellipse">
            <a:avLst/>
          </a:prstGeom>
          <a:solidFill>
            <a:srgbClr val="2189C4"/>
          </a:solidFill>
          <a:ln w="12700">
            <a:solidFill>
              <a:srgbClr val="2189C4"/>
            </a:solidFill>
            <a:prstDash val="solid"/>
          </a:ln>
        </p:spPr>
      </p:sp>
      <p:sp>
        <p:nvSpPr>
          <p:cNvPr id="187" name="S04/object-286"/>
          <p:cNvSpPr/>
          <p:nvPr/>
        </p:nvSpPr>
        <p:spPr>
          <a:xfrm>
            <a:off x="9582912" y="2487168"/>
            <a:ext cx="182880" cy="0"/>
          </a:xfrm>
          <a:prstGeom prst="line">
            <a:avLst/>
          </a:prstGeom>
          <a:noFill/>
          <a:ln w="3556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188" name="S04/object-287"/>
          <p:cNvSpPr/>
          <p:nvPr/>
        </p:nvSpPr>
        <p:spPr>
          <a:xfrm>
            <a:off x="9774936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189" name="S04/route-21"/>
          <p:cNvSpPr/>
          <p:nvPr/>
        </p:nvSpPr>
        <p:spPr>
          <a:xfrm>
            <a:off x="9774936" y="2157984"/>
            <a:ext cx="2185416" cy="521208"/>
          </a:xfrm>
          <a:prstGeom prst="rect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90" name="S04/route-22"/>
          <p:cNvSpPr/>
          <p:nvPr/>
        </p:nvSpPr>
        <p:spPr>
          <a:xfrm>
            <a:off x="9921240" y="2276856"/>
            <a:ext cx="283464" cy="119055"/>
          </a:xfrm>
          <a:prstGeom prst="diamon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1" name="S04/route-23"/>
          <p:cNvSpPr/>
          <p:nvPr/>
        </p:nvSpPr>
        <p:spPr>
          <a:xfrm>
            <a:off x="9992106" y="2381738"/>
            <a:ext cx="141732" cy="7937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2" name="S04/object-288"/>
          <p:cNvSpPr/>
          <p:nvPr/>
        </p:nvSpPr>
        <p:spPr>
          <a:xfrm>
            <a:off x="10190531" y="2339218"/>
            <a:ext cx="0" cy="136063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193" name="S04/object-289"/>
          <p:cNvSpPr/>
          <p:nvPr/>
        </p:nvSpPr>
        <p:spPr>
          <a:xfrm>
            <a:off x="10314432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教学应用</a:t>
            </a:r>
            <a:endParaRPr lang="en-US" sz="2100" dirty="0"/>
          </a:p>
        </p:txBody>
      </p:sp>
      <p:sp>
        <p:nvSpPr>
          <p:cNvPr id="194" name="S04/object-290"/>
          <p:cNvSpPr/>
          <p:nvPr/>
        </p:nvSpPr>
        <p:spPr>
          <a:xfrm>
            <a:off x="9893808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课堂演示与例题</a:t>
            </a:r>
            <a:endParaRPr lang="en-US" sz="1450" dirty="0"/>
          </a:p>
        </p:txBody>
      </p:sp>
      <p:sp>
        <p:nvSpPr>
          <p:cNvPr id="195" name="S04/object-291"/>
          <p:cNvSpPr/>
          <p:nvPr/>
        </p:nvSpPr>
        <p:spPr>
          <a:xfrm>
            <a:off x="9893808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自主练习与校核</a:t>
            </a:r>
            <a:endParaRPr lang="en-US" sz="1450" dirty="0"/>
          </a:p>
        </p:txBody>
      </p:sp>
      <p:sp>
        <p:nvSpPr>
          <p:cNvPr id="196" name="S04/object-292"/>
          <p:cNvSpPr/>
          <p:nvPr/>
        </p:nvSpPr>
        <p:spPr>
          <a:xfrm>
            <a:off x="9893808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开卷辅助与概念</a:t>
            </a:r>
            <a:endParaRPr lang="en-US" sz="1450" dirty="0"/>
          </a:p>
        </p:txBody>
      </p:sp>
      <p:sp>
        <p:nvSpPr>
          <p:cNvPr id="197" name="S04/object-293"/>
          <p:cNvSpPr/>
          <p:nvPr/>
        </p:nvSpPr>
        <p:spPr>
          <a:xfrm>
            <a:off x="9893808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先预测，再改参数</a:t>
            </a:r>
            <a:endParaRPr lang="en-US" sz="1450" dirty="0"/>
          </a:p>
        </p:txBody>
      </p:sp>
      <p:sp>
        <p:nvSpPr>
          <p:cNvPr id="198" name="S04/route-24"/>
          <p:cNvSpPr/>
          <p:nvPr/>
        </p:nvSpPr>
        <p:spPr>
          <a:xfrm>
            <a:off x="10826496" y="4206240"/>
            <a:ext cx="658368" cy="460858"/>
          </a:xfrm>
          <a:prstGeom prst="rect">
            <a:avLst/>
          </a:prstGeom>
          <a:solidFill>
            <a:srgbClr val="FFFFFF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99" name="S04/object-294"/>
          <p:cNvSpPr/>
          <p:nvPr/>
        </p:nvSpPr>
        <p:spPr>
          <a:xfrm>
            <a:off x="11155680" y="4680265"/>
            <a:ext cx="0" cy="118506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00" name="S04/object-295"/>
          <p:cNvSpPr/>
          <p:nvPr/>
        </p:nvSpPr>
        <p:spPr>
          <a:xfrm>
            <a:off x="10925251" y="4831690"/>
            <a:ext cx="460858" cy="0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01" name="S04/route-25"/>
          <p:cNvSpPr/>
          <p:nvPr/>
        </p:nvSpPr>
        <p:spPr>
          <a:xfrm>
            <a:off x="11043757" y="4285244"/>
            <a:ext cx="223845" cy="223845"/>
          </a:xfrm>
          <a:prstGeom prst="gear6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202" name="S04/object-296"/>
          <p:cNvSpPr/>
          <p:nvPr/>
        </p:nvSpPr>
        <p:spPr>
          <a:xfrm>
            <a:off x="11124342" y="4365828"/>
            <a:ext cx="62677" cy="6267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3" name="S04/object-297"/>
          <p:cNvSpPr/>
          <p:nvPr/>
        </p:nvSpPr>
        <p:spPr>
          <a:xfrm>
            <a:off x="10140696" y="4416552"/>
            <a:ext cx="146304" cy="146304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204" name="S04/object-298"/>
          <p:cNvSpPr/>
          <p:nvPr/>
        </p:nvSpPr>
        <p:spPr>
          <a:xfrm>
            <a:off x="10094976" y="4590288"/>
            <a:ext cx="237744" cy="173736"/>
          </a:xfrm>
          <a:prstGeom prst="rect">
            <a:avLst>
              <a:gd name="adj" fmla="val 84211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205" name="S04/object-299"/>
          <p:cNvSpPr/>
          <p:nvPr/>
        </p:nvSpPr>
        <p:spPr>
          <a:xfrm>
            <a:off x="10524744" y="4416552"/>
            <a:ext cx="146304" cy="146304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206" name="S04/object-300"/>
          <p:cNvSpPr/>
          <p:nvPr/>
        </p:nvSpPr>
        <p:spPr>
          <a:xfrm>
            <a:off x="10479024" y="4590288"/>
            <a:ext cx="237744" cy="173736"/>
          </a:xfrm>
          <a:prstGeom prst="rect">
            <a:avLst>
              <a:gd name="adj" fmla="val 84211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207" name="S04/object-301"/>
          <p:cNvSpPr/>
          <p:nvPr/>
        </p:nvSpPr>
        <p:spPr>
          <a:xfrm>
            <a:off x="10908792" y="4416552"/>
            <a:ext cx="146304" cy="146304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208" name="S04/object-302"/>
          <p:cNvSpPr/>
          <p:nvPr/>
        </p:nvSpPr>
        <p:spPr>
          <a:xfrm>
            <a:off x="10863072" y="4590288"/>
            <a:ext cx="237744" cy="173736"/>
          </a:xfrm>
          <a:prstGeom prst="rect">
            <a:avLst>
              <a:gd name="adj" fmla="val 84211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209" name="S04/verification"/>
          <p:cNvSpPr/>
          <p:nvPr/>
        </p:nvSpPr>
        <p:spPr>
          <a:xfrm>
            <a:off x="2551176" y="5230368"/>
            <a:ext cx="5074920" cy="576072"/>
          </a:xfrm>
          <a:prstGeom prst="roundRect">
            <a:avLst>
              <a:gd name="adj" fmla="val 25397"/>
            </a:avLst>
          </a:prstGeom>
          <a:solidFill>
            <a:srgbClr val="F7FBF9"/>
          </a:solidFill>
          <a:ln w="10160">
            <a:solidFill>
              <a:srgbClr val="F7FBF9"/>
            </a:solidFill>
            <a:prstDash val="solid"/>
          </a:ln>
        </p:spPr>
      </p:sp>
      <p:sp>
        <p:nvSpPr>
          <p:cNvPr id="210" name="S04/route-26"/>
          <p:cNvSpPr/>
          <p:nvPr/>
        </p:nvSpPr>
        <p:spPr>
          <a:xfrm>
            <a:off x="2743200" y="5358384"/>
            <a:ext cx="223845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211" name="S04/object-303"/>
          <p:cNvSpPr/>
          <p:nvPr/>
        </p:nvSpPr>
        <p:spPr>
          <a:xfrm>
            <a:off x="2780508" y="5436108"/>
            <a:ext cx="143012" cy="0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12" name="S04/object-304"/>
          <p:cNvSpPr/>
          <p:nvPr/>
        </p:nvSpPr>
        <p:spPr>
          <a:xfrm>
            <a:off x="2780508" y="5498287"/>
            <a:ext cx="143012" cy="0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13" name="S04/object-305"/>
          <p:cNvSpPr/>
          <p:nvPr/>
        </p:nvSpPr>
        <p:spPr>
          <a:xfrm>
            <a:off x="2780508" y="5560466"/>
            <a:ext cx="143012" cy="0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14" name="S04/object-306"/>
          <p:cNvSpPr/>
          <p:nvPr/>
        </p:nvSpPr>
        <p:spPr>
          <a:xfrm flipV="1">
            <a:off x="2892430" y="5513832"/>
            <a:ext cx="146121" cy="143012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15" name="S04/object-307"/>
          <p:cNvSpPr/>
          <p:nvPr/>
        </p:nvSpPr>
        <p:spPr>
          <a:xfrm>
            <a:off x="3182112" y="5367528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解析解 / 案例验证</a:t>
            </a:r>
            <a:endParaRPr lang="en-US" sz="1700" dirty="0"/>
          </a:p>
        </p:txBody>
      </p:sp>
      <p:sp>
        <p:nvSpPr>
          <p:cNvPr id="216" name="S04/object-308"/>
          <p:cNvSpPr/>
          <p:nvPr/>
        </p:nvSpPr>
        <p:spPr>
          <a:xfrm>
            <a:off x="5376672" y="5312664"/>
            <a:ext cx="2066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理论解析解对比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典型案例对照与误差检查</a:t>
            </a:r>
            <a:endParaRPr lang="en-US" sz="1300" dirty="0"/>
          </a:p>
        </p:txBody>
      </p:sp>
      <p:sp>
        <p:nvSpPr>
          <p:cNvPr id="217" name="S04/object-309"/>
          <p:cNvSpPr/>
          <p:nvPr/>
        </p:nvSpPr>
        <p:spPr>
          <a:xfrm>
            <a:off x="6099048" y="4919472"/>
            <a:ext cx="0" cy="292608"/>
          </a:xfrm>
          <a:prstGeom prst="line">
            <a:avLst/>
          </a:prstGeom>
          <a:noFill/>
          <a:ln w="25400">
            <a:solidFill>
              <a:srgbClr val="075EAE"/>
            </a:solidFill>
            <a:prstDash val="solid"/>
          </a:ln>
        </p:spPr>
      </p:sp>
      <p:sp>
        <p:nvSpPr>
          <p:cNvPr id="218" name="S04/object-310"/>
          <p:cNvSpPr/>
          <p:nvPr/>
        </p:nvSpPr>
        <p:spPr>
          <a:xfrm flipH="1">
            <a:off x="1298448" y="5513832"/>
            <a:ext cx="1234440" cy="0"/>
          </a:xfrm>
          <a:prstGeom prst="line">
            <a:avLst/>
          </a:prstGeom>
          <a:noFill/>
          <a:ln w="25400">
            <a:solidFill>
              <a:srgbClr val="075EAE"/>
            </a:solidFill>
            <a:prstDash val="solid"/>
          </a:ln>
        </p:spPr>
      </p:sp>
      <p:sp>
        <p:nvSpPr>
          <p:cNvPr id="219" name="S04/object-311"/>
          <p:cNvSpPr/>
          <p:nvPr/>
        </p:nvSpPr>
        <p:spPr>
          <a:xfrm flipV="1">
            <a:off x="1298448" y="4937760"/>
            <a:ext cx="0" cy="576072"/>
          </a:xfrm>
          <a:prstGeom prst="line">
            <a:avLst/>
          </a:prstGeom>
          <a:noFill/>
          <a:ln w="2540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220" name="S04/object-312"/>
          <p:cNvSpPr/>
          <p:nvPr/>
        </p:nvSpPr>
        <p:spPr>
          <a:xfrm flipV="1">
            <a:off x="3685032" y="4937760"/>
            <a:ext cx="0" cy="283464"/>
          </a:xfrm>
          <a:prstGeom prst="line">
            <a:avLst/>
          </a:prstGeom>
          <a:noFill/>
          <a:ln w="2540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221" name="S04/limits"/>
          <p:cNvSpPr/>
          <p:nvPr/>
        </p:nvSpPr>
        <p:spPr>
          <a:xfrm>
            <a:off x="8275320" y="5157216"/>
            <a:ext cx="3685032" cy="832104"/>
          </a:xfrm>
          <a:prstGeom prst="roundRect">
            <a:avLst>
              <a:gd name="adj" fmla="val 17582"/>
            </a:avLst>
          </a:prstGeom>
          <a:solidFill>
            <a:srgbClr val="E5F0EB"/>
          </a:solidFill>
          <a:ln w="10160">
            <a:solidFill>
              <a:srgbClr val="E5F0EB"/>
            </a:solidFill>
            <a:prstDash val="solid"/>
          </a:ln>
        </p:spPr>
      </p:sp>
      <p:sp>
        <p:nvSpPr>
          <p:cNvPr id="222" name="S04/object-313"/>
          <p:cNvSpPr/>
          <p:nvPr/>
        </p:nvSpPr>
        <p:spPr>
          <a:xfrm>
            <a:off x="8412480" y="528523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当前边界</a:t>
            </a:r>
            <a:endParaRPr lang="en-US" sz="1600" dirty="0"/>
          </a:p>
        </p:txBody>
      </p:sp>
      <p:sp>
        <p:nvSpPr>
          <p:cNvPr id="223" name="S04/object-314"/>
          <p:cNvSpPr/>
          <p:nvPr/>
        </p:nvSpPr>
        <p:spPr>
          <a:xfrm>
            <a:off x="9418320" y="5230368"/>
            <a:ext cx="2404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Tet4实验；暂无成熟实体云图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WASM未接入；WebGPU仅检测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空间当前仅节点荷载、端内力</a:t>
            </a:r>
            <a:endParaRPr lang="en-US" sz="1200" dirty="0"/>
          </a:p>
        </p:txBody>
      </p:sp>
      <p:sp>
        <p:nvSpPr>
          <p:cNvPr id="224" name="S04/future-layer"/>
          <p:cNvSpPr/>
          <p:nvPr/>
        </p:nvSpPr>
        <p:spPr>
          <a:xfrm>
            <a:off x="164592" y="6144768"/>
            <a:ext cx="11868912" cy="539496"/>
          </a:xfrm>
          <a:prstGeom prst="roundRect">
            <a:avLst/>
          </a:prstGeom>
          <a:solidFill>
            <a:srgbClr val="FFF9EF"/>
          </a:solidFill>
          <a:ln w="15240">
            <a:solidFill>
              <a:srgbClr val="D88118"/>
            </a:solidFill>
            <a:prstDash val="dash"/>
          </a:ln>
        </p:spPr>
      </p:sp>
      <p:sp>
        <p:nvSpPr>
          <p:cNvPr id="225" name="S04/object-315"/>
          <p:cNvSpPr/>
          <p:nvPr/>
        </p:nvSpPr>
        <p:spPr>
          <a:xfrm>
            <a:off x="347472" y="6291072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D88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规划层</a:t>
            </a:r>
            <a:endParaRPr lang="en-US" sz="1800" dirty="0"/>
          </a:p>
        </p:txBody>
      </p:sp>
      <p:sp>
        <p:nvSpPr>
          <p:cNvPr id="226" name="S04/future-0"/>
          <p:cNvSpPr/>
          <p:nvPr/>
        </p:nvSpPr>
        <p:spPr>
          <a:xfrm>
            <a:off x="1508760" y="6236208"/>
            <a:ext cx="3090672" cy="365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8118"/>
            </a:solidFill>
            <a:prstDash val="dash"/>
          </a:ln>
        </p:spPr>
      </p:sp>
      <p:sp>
        <p:nvSpPr>
          <p:cNvPr id="227" name="S04/object-316"/>
          <p:cNvSpPr/>
          <p:nvPr/>
        </p:nvSpPr>
        <p:spPr>
          <a:xfrm flipV="1">
            <a:off x="1667866" y="6295461"/>
            <a:ext cx="98755" cy="50475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28" name="S04/object-317"/>
          <p:cNvSpPr/>
          <p:nvPr/>
        </p:nvSpPr>
        <p:spPr>
          <a:xfrm>
            <a:off x="1766621" y="6295461"/>
            <a:ext cx="87782" cy="50475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29" name="S04/object-318"/>
          <p:cNvSpPr/>
          <p:nvPr/>
        </p:nvSpPr>
        <p:spPr>
          <a:xfrm flipH="1">
            <a:off x="1755648" y="6345936"/>
            <a:ext cx="98755" cy="54864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0" name="S04/object-319"/>
          <p:cNvSpPr/>
          <p:nvPr/>
        </p:nvSpPr>
        <p:spPr>
          <a:xfrm flipH="1" flipV="1">
            <a:off x="1667866" y="6345936"/>
            <a:ext cx="87782" cy="54864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1" name="S04/object-320"/>
          <p:cNvSpPr/>
          <p:nvPr/>
        </p:nvSpPr>
        <p:spPr>
          <a:xfrm>
            <a:off x="1667866" y="6345936"/>
            <a:ext cx="0" cy="116312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2" name="S04/object-321"/>
          <p:cNvSpPr/>
          <p:nvPr/>
        </p:nvSpPr>
        <p:spPr>
          <a:xfrm>
            <a:off x="1667866" y="6462248"/>
            <a:ext cx="87782" cy="48280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3" name="S04/object-322"/>
          <p:cNvSpPr/>
          <p:nvPr/>
        </p:nvSpPr>
        <p:spPr>
          <a:xfrm flipV="1">
            <a:off x="1755648" y="6460053"/>
            <a:ext cx="98755" cy="50475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4" name="S04/object-323"/>
          <p:cNvSpPr/>
          <p:nvPr/>
        </p:nvSpPr>
        <p:spPr>
          <a:xfrm flipV="1">
            <a:off x="1854403" y="6345936"/>
            <a:ext cx="0" cy="114117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5" name="S04/object-324"/>
          <p:cNvSpPr/>
          <p:nvPr/>
        </p:nvSpPr>
        <p:spPr>
          <a:xfrm>
            <a:off x="1755648" y="6400800"/>
            <a:ext cx="0" cy="109728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6" name="S04/object-325"/>
          <p:cNvSpPr/>
          <p:nvPr/>
        </p:nvSpPr>
        <p:spPr>
          <a:xfrm>
            <a:off x="2002536" y="63185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D88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空间荷载补齐</a:t>
            </a:r>
            <a:endParaRPr lang="en-US" sz="1700" dirty="0"/>
          </a:p>
        </p:txBody>
      </p:sp>
      <p:sp>
        <p:nvSpPr>
          <p:cNvPr id="237" name="S04/object-326"/>
          <p:cNvSpPr/>
          <p:nvPr/>
        </p:nvSpPr>
        <p:spPr>
          <a:xfrm>
            <a:off x="4654296" y="6419088"/>
            <a:ext cx="310896" cy="0"/>
          </a:xfrm>
          <a:prstGeom prst="line">
            <a:avLst/>
          </a:prstGeom>
          <a:noFill/>
          <a:ln w="22860">
            <a:solidFill>
              <a:srgbClr val="D88118"/>
            </a:solidFill>
            <a:prstDash val="dash"/>
            <a:tailEnd type="triangle"/>
          </a:ln>
        </p:spPr>
      </p:sp>
      <p:sp>
        <p:nvSpPr>
          <p:cNvPr id="238" name="S04/future-1"/>
          <p:cNvSpPr/>
          <p:nvPr/>
        </p:nvSpPr>
        <p:spPr>
          <a:xfrm>
            <a:off x="5020056" y="6236208"/>
            <a:ext cx="3090672" cy="365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8118"/>
            </a:solidFill>
            <a:prstDash val="dash"/>
          </a:ln>
        </p:spPr>
      </p:sp>
      <p:sp>
        <p:nvSpPr>
          <p:cNvPr id="239" name="S04/route-27"/>
          <p:cNvSpPr/>
          <p:nvPr/>
        </p:nvSpPr>
        <p:spPr>
          <a:xfrm>
            <a:off x="5157216" y="6433718"/>
            <a:ext cx="39502" cy="76810"/>
          </a:xfrm>
          <a:prstGeom prst="rect">
            <a:avLst/>
          </a:prstGeom>
          <a:solidFill>
            <a:srgbClr val="D88118"/>
          </a:solidFill>
          <a:ln w="12700">
            <a:solidFill>
              <a:srgbClr val="D88118"/>
            </a:solidFill>
            <a:prstDash val="solid"/>
          </a:ln>
        </p:spPr>
      </p:sp>
      <p:sp>
        <p:nvSpPr>
          <p:cNvPr id="240" name="S04/route-28"/>
          <p:cNvSpPr/>
          <p:nvPr/>
        </p:nvSpPr>
        <p:spPr>
          <a:xfrm>
            <a:off x="5227442" y="6378854"/>
            <a:ext cx="39502" cy="131674"/>
          </a:xfrm>
          <a:prstGeom prst="rect">
            <a:avLst/>
          </a:prstGeom>
          <a:solidFill>
            <a:srgbClr val="D88118"/>
          </a:solidFill>
          <a:ln w="12700">
            <a:solidFill>
              <a:srgbClr val="D88118"/>
            </a:solidFill>
            <a:prstDash val="solid"/>
          </a:ln>
        </p:spPr>
      </p:sp>
      <p:sp>
        <p:nvSpPr>
          <p:cNvPr id="241" name="S04/route-29"/>
          <p:cNvSpPr/>
          <p:nvPr/>
        </p:nvSpPr>
        <p:spPr>
          <a:xfrm>
            <a:off x="5297668" y="6313018"/>
            <a:ext cx="39502" cy="197510"/>
          </a:xfrm>
          <a:prstGeom prst="rect">
            <a:avLst/>
          </a:prstGeom>
          <a:solidFill>
            <a:srgbClr val="D88118"/>
          </a:solidFill>
          <a:ln w="12700">
            <a:solidFill>
              <a:srgbClr val="D88118"/>
            </a:solidFill>
            <a:prstDash val="solid"/>
          </a:ln>
        </p:spPr>
      </p:sp>
      <p:sp>
        <p:nvSpPr>
          <p:cNvPr id="242" name="S04/object-327"/>
          <p:cNvSpPr/>
          <p:nvPr/>
        </p:nvSpPr>
        <p:spPr>
          <a:xfrm>
            <a:off x="5513832" y="63185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D88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实体分析完善</a:t>
            </a:r>
            <a:endParaRPr lang="en-US" sz="1700" dirty="0"/>
          </a:p>
        </p:txBody>
      </p:sp>
      <p:sp>
        <p:nvSpPr>
          <p:cNvPr id="243" name="S04/object-328"/>
          <p:cNvSpPr/>
          <p:nvPr/>
        </p:nvSpPr>
        <p:spPr>
          <a:xfrm>
            <a:off x="8165592" y="6419088"/>
            <a:ext cx="310896" cy="0"/>
          </a:xfrm>
          <a:prstGeom prst="line">
            <a:avLst/>
          </a:prstGeom>
          <a:noFill/>
          <a:ln w="22860">
            <a:solidFill>
              <a:srgbClr val="D88118"/>
            </a:solidFill>
            <a:prstDash val="dash"/>
            <a:tailEnd type="triangle"/>
          </a:ln>
        </p:spPr>
      </p:sp>
      <p:sp>
        <p:nvSpPr>
          <p:cNvPr id="244" name="S04/future-2"/>
          <p:cNvSpPr/>
          <p:nvPr/>
        </p:nvSpPr>
        <p:spPr>
          <a:xfrm>
            <a:off x="8531352" y="6236208"/>
            <a:ext cx="3090672" cy="365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8118"/>
            </a:solidFill>
            <a:prstDash val="dash"/>
          </a:ln>
        </p:spPr>
      </p:sp>
      <p:sp>
        <p:nvSpPr>
          <p:cNvPr id="245" name="S04/route-30"/>
          <p:cNvSpPr/>
          <p:nvPr/>
        </p:nvSpPr>
        <p:spPr>
          <a:xfrm>
            <a:off x="8668512" y="6291072"/>
            <a:ext cx="219456" cy="219456"/>
          </a:xfrm>
          <a:prstGeom prst="gear6">
            <a:avLst/>
          </a:prstGeom>
          <a:solidFill>
            <a:srgbClr val="D88118"/>
          </a:solidFill>
          <a:ln w="12700">
            <a:solidFill>
              <a:srgbClr val="D88118"/>
            </a:solidFill>
            <a:prstDash val="solid"/>
          </a:ln>
        </p:spPr>
      </p:sp>
      <p:sp>
        <p:nvSpPr>
          <p:cNvPr id="246" name="S04/object-329"/>
          <p:cNvSpPr/>
          <p:nvPr/>
        </p:nvSpPr>
        <p:spPr>
          <a:xfrm>
            <a:off x="8747516" y="6370076"/>
            <a:ext cx="61448" cy="61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7" name="S04/object-330"/>
          <p:cNvSpPr/>
          <p:nvPr/>
        </p:nvSpPr>
        <p:spPr>
          <a:xfrm>
            <a:off x="9025128" y="63185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D88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WASM / WebGPU验证</a:t>
            </a:r>
            <a:endParaRPr lang="en-US" sz="1700" dirty="0"/>
          </a:p>
        </p:txBody>
      </p:sp>
      <p:sp>
        <p:nvSpPr>
          <p:cNvPr id="248" name="S04/sources"/>
          <p:cNvSpPr/>
          <p:nvPr/>
        </p:nvSpPr>
        <p:spPr>
          <a:xfrm>
            <a:off x="411480" y="6729984"/>
            <a:ext cx="11338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7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依据：软件README、求解器能力审计及实机记录；工程图形为概念示意，非应力云图或新增试验；规划项尚未完成。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5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05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05/object-331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5/object-332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5/object-333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5/object-334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5/object-335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5/object-336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5/object-337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05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真实工作区如何组织？</a:t>
            </a:r>
            <a:endParaRPr lang="en-US" sz="2800" dirty="0"/>
          </a:p>
        </p:txBody>
      </p:sp>
      <p:sp>
        <p:nvSpPr>
          <p:cNvPr id="12" name="S05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05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左模型树、中视图区、右属性面板协同操作</a:t>
            </a:r>
            <a:endParaRPr lang="en-US" sz="1600" dirty="0"/>
          </a:p>
        </p:txBody>
      </p:sp>
      <p:sp>
        <p:nvSpPr>
          <p:cNvPr id="14" name="S05/object-338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100" dirty="0"/>
          </a:p>
        </p:txBody>
      </p:sp>
      <p:sp>
        <p:nvSpPr>
          <p:cNvPr id="15" name="S05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来源：live/01-workspace.jpg；qa/live-run-evidence.json</a:t>
            </a:r>
            <a:endParaRPr lang="en-US" sz="800" dirty="0"/>
          </a:p>
        </p:txBody>
      </p:sp>
      <p:sp>
        <p:nvSpPr>
          <p:cNvPr id="16" name="S05/object-339"/>
          <p:cNvSpPr/>
          <p:nvPr/>
        </p:nvSpPr>
        <p:spPr>
          <a:xfrm flipV="1">
            <a:off x="11120933" y="949513"/>
            <a:ext cx="172822" cy="8833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7" name="S05/object-340"/>
          <p:cNvSpPr/>
          <p:nvPr/>
        </p:nvSpPr>
        <p:spPr>
          <a:xfrm>
            <a:off x="11293754" y="949513"/>
            <a:ext cx="153619" cy="8833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8" name="S05/object-341"/>
          <p:cNvSpPr/>
          <p:nvPr/>
        </p:nvSpPr>
        <p:spPr>
          <a:xfrm flipH="1">
            <a:off x="11274552" y="1037844"/>
            <a:ext cx="172822" cy="96012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9" name="S05/object-342"/>
          <p:cNvSpPr/>
          <p:nvPr/>
        </p:nvSpPr>
        <p:spPr>
          <a:xfrm flipH="1" flipV="1">
            <a:off x="11120933" y="1037844"/>
            <a:ext cx="153619" cy="96012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0" name="S05/object-343"/>
          <p:cNvSpPr/>
          <p:nvPr/>
        </p:nvSpPr>
        <p:spPr>
          <a:xfrm>
            <a:off x="11120933" y="1037844"/>
            <a:ext cx="0" cy="203545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1" name="S05/object-344"/>
          <p:cNvSpPr/>
          <p:nvPr/>
        </p:nvSpPr>
        <p:spPr>
          <a:xfrm>
            <a:off x="11120933" y="1241389"/>
            <a:ext cx="153619" cy="8449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2" name="S05/object-345"/>
          <p:cNvSpPr/>
          <p:nvPr/>
        </p:nvSpPr>
        <p:spPr>
          <a:xfrm flipV="1">
            <a:off x="11274552" y="1237549"/>
            <a:ext cx="172822" cy="8833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3" name="S05/object-346"/>
          <p:cNvSpPr/>
          <p:nvPr/>
        </p:nvSpPr>
        <p:spPr>
          <a:xfrm flipV="1">
            <a:off x="11447374" y="1037844"/>
            <a:ext cx="0" cy="199705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4" name="S05/object-347"/>
          <p:cNvSpPr/>
          <p:nvPr/>
        </p:nvSpPr>
        <p:spPr>
          <a:xfrm>
            <a:off x="11274552" y="1133856"/>
            <a:ext cx="0" cy="192024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5" name="S05/object-348"/>
          <p:cNvSpPr/>
          <p:nvPr/>
        </p:nvSpPr>
        <p:spPr>
          <a:xfrm>
            <a:off x="640080" y="1591056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189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典型交互：选中对象 → 修改属性 → 观察视图 → 核对结果</a:t>
            </a:r>
            <a:endParaRPr lang="en-US" sz="1300" dirty="0"/>
          </a:p>
        </p:txBody>
      </p:sp>
      <p:sp>
        <p:nvSpPr>
          <p:cNvPr id="26" name="S05/object-349"/>
          <p:cNvSpPr/>
          <p:nvPr/>
        </p:nvSpPr>
        <p:spPr>
          <a:xfrm>
            <a:off x="571500" y="1879092"/>
            <a:ext cx="8458200" cy="4270248"/>
          </a:xfrm>
          <a:prstGeom prst="rect">
            <a:avLst>
              <a:gd name="adj" fmla="val 3426"/>
            </a:avLst>
          </a:prstGeom>
          <a:solidFill>
            <a:srgbClr val="BDD5EB"/>
          </a:solidFill>
          <a:ln w="10160">
            <a:solidFill>
              <a:srgbClr val="BDD5EB"/>
            </a:solidFill>
            <a:prstDash val="solid"/>
          </a:ln>
        </p:spPr>
      </p:sp>
      <p:pic>
        <p:nvPicPr>
          <p:cNvPr id="27" name="S05/workspace-evidence" descr="真实本地程序截图；来源 01-workspace.jp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64" y="1901952"/>
            <a:ext cx="7510272" cy="4224528"/>
          </a:xfrm>
          <a:prstGeom prst="rect">
            <a:avLst/>
          </a:prstGeom>
        </p:spPr>
      </p:pic>
      <p:sp>
        <p:nvSpPr>
          <p:cNvPr id="28" name="S05/object-350"/>
          <p:cNvSpPr/>
          <p:nvPr/>
        </p:nvSpPr>
        <p:spPr>
          <a:xfrm>
            <a:off x="9217152" y="1965960"/>
            <a:ext cx="310896" cy="310896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29" name="S05/object-351"/>
          <p:cNvSpPr/>
          <p:nvPr/>
        </p:nvSpPr>
        <p:spPr>
          <a:xfrm>
            <a:off x="9217152" y="201625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30" name="S05/object-352"/>
          <p:cNvSpPr/>
          <p:nvPr/>
        </p:nvSpPr>
        <p:spPr>
          <a:xfrm>
            <a:off x="9656064" y="195224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模型树</a:t>
            </a:r>
            <a:endParaRPr lang="en-US" sz="2100" dirty="0"/>
          </a:p>
        </p:txBody>
      </p:sp>
      <p:sp>
        <p:nvSpPr>
          <p:cNvPr id="31" name="S05/object-353"/>
          <p:cNvSpPr/>
          <p:nvPr/>
        </p:nvSpPr>
        <p:spPr>
          <a:xfrm>
            <a:off x="9262872" y="249631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节点、构件与条件</a:t>
            </a:r>
            <a:endParaRPr lang="en-US" sz="1700" dirty="0"/>
          </a:p>
        </p:txBody>
      </p:sp>
      <p:sp>
        <p:nvSpPr>
          <p:cNvPr id="32" name="S05/object-354"/>
          <p:cNvSpPr/>
          <p:nvPr/>
        </p:nvSpPr>
        <p:spPr>
          <a:xfrm>
            <a:off x="9217152" y="3200400"/>
            <a:ext cx="310896" cy="310896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33" name="S05/object-355"/>
          <p:cNvSpPr/>
          <p:nvPr/>
        </p:nvSpPr>
        <p:spPr>
          <a:xfrm>
            <a:off x="9217152" y="32506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34" name="S05/object-356"/>
          <p:cNvSpPr/>
          <p:nvPr/>
        </p:nvSpPr>
        <p:spPr>
          <a:xfrm>
            <a:off x="9656064" y="318668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工作视图</a:t>
            </a:r>
            <a:endParaRPr lang="en-US" sz="2100" dirty="0"/>
          </a:p>
        </p:txBody>
      </p:sp>
      <p:sp>
        <p:nvSpPr>
          <p:cNvPr id="35" name="S05/object-357"/>
          <p:cNvSpPr/>
          <p:nvPr/>
        </p:nvSpPr>
        <p:spPr>
          <a:xfrm>
            <a:off x="9262872" y="373075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几何、荷载与结果</a:t>
            </a:r>
            <a:endParaRPr lang="en-US" sz="1700" dirty="0"/>
          </a:p>
        </p:txBody>
      </p:sp>
      <p:sp>
        <p:nvSpPr>
          <p:cNvPr id="36" name="S05/object-358"/>
          <p:cNvSpPr/>
          <p:nvPr/>
        </p:nvSpPr>
        <p:spPr>
          <a:xfrm>
            <a:off x="9217152" y="4434840"/>
            <a:ext cx="310896" cy="310896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37" name="S05/object-359"/>
          <p:cNvSpPr/>
          <p:nvPr/>
        </p:nvSpPr>
        <p:spPr>
          <a:xfrm>
            <a:off x="9217152" y="448513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00" dirty="0"/>
          </a:p>
        </p:txBody>
      </p:sp>
      <p:sp>
        <p:nvSpPr>
          <p:cNvPr id="38" name="S05/object-360"/>
          <p:cNvSpPr/>
          <p:nvPr/>
        </p:nvSpPr>
        <p:spPr>
          <a:xfrm>
            <a:off x="9656064" y="442112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属性栏</a:t>
            </a:r>
            <a:endParaRPr lang="en-US" sz="2100" dirty="0"/>
          </a:p>
        </p:txBody>
      </p:sp>
      <p:sp>
        <p:nvSpPr>
          <p:cNvPr id="39" name="S05/object-361"/>
          <p:cNvSpPr/>
          <p:nvPr/>
        </p:nvSpPr>
        <p:spPr>
          <a:xfrm>
            <a:off x="9262872" y="496519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选中对象后检查参数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6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06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06/object-362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6/object-363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6/object-364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6/object-365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6/object-366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6/object-367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6/object-368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06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6m简支梁的建模与荷载</a:t>
            </a:r>
            <a:endParaRPr lang="en-US" sz="2800" dirty="0"/>
          </a:p>
        </p:txBody>
      </p:sp>
      <p:sp>
        <p:nvSpPr>
          <p:cNvPr id="12" name="S06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06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两节点一单元也能描述跨中集中力</a:t>
            </a:r>
            <a:endParaRPr lang="en-US" sz="1600" dirty="0"/>
          </a:p>
        </p:txBody>
      </p:sp>
      <p:sp>
        <p:nvSpPr>
          <p:cNvPr id="14" name="S06/object-369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100" dirty="0"/>
          </a:p>
        </p:txBody>
      </p:sp>
      <p:sp>
        <p:nvSpPr>
          <p:cNvPr id="15" name="S06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来源：live/07-load-properties.jpg；qa/live-run-evidence.json</a:t>
            </a:r>
            <a:endParaRPr lang="en-US" sz="800" dirty="0"/>
          </a:p>
        </p:txBody>
      </p:sp>
      <p:sp>
        <p:nvSpPr>
          <p:cNvPr id="16" name="S06/object-370"/>
          <p:cNvSpPr/>
          <p:nvPr/>
        </p:nvSpPr>
        <p:spPr>
          <a:xfrm flipV="1">
            <a:off x="11120933" y="949513"/>
            <a:ext cx="172822" cy="8833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7" name="S06/object-371"/>
          <p:cNvSpPr/>
          <p:nvPr/>
        </p:nvSpPr>
        <p:spPr>
          <a:xfrm>
            <a:off x="11293754" y="949513"/>
            <a:ext cx="153619" cy="8833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8" name="S06/object-372"/>
          <p:cNvSpPr/>
          <p:nvPr/>
        </p:nvSpPr>
        <p:spPr>
          <a:xfrm flipH="1">
            <a:off x="11274552" y="1037844"/>
            <a:ext cx="172822" cy="96012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9" name="S06/object-373"/>
          <p:cNvSpPr/>
          <p:nvPr/>
        </p:nvSpPr>
        <p:spPr>
          <a:xfrm flipH="1" flipV="1">
            <a:off x="11120933" y="1037844"/>
            <a:ext cx="153619" cy="96012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0" name="S06/object-374"/>
          <p:cNvSpPr/>
          <p:nvPr/>
        </p:nvSpPr>
        <p:spPr>
          <a:xfrm>
            <a:off x="11120933" y="1037844"/>
            <a:ext cx="0" cy="203545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1" name="S06/object-375"/>
          <p:cNvSpPr/>
          <p:nvPr/>
        </p:nvSpPr>
        <p:spPr>
          <a:xfrm>
            <a:off x="11120933" y="1241389"/>
            <a:ext cx="153619" cy="8449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2" name="S06/object-376"/>
          <p:cNvSpPr/>
          <p:nvPr/>
        </p:nvSpPr>
        <p:spPr>
          <a:xfrm flipV="1">
            <a:off x="11274552" y="1237549"/>
            <a:ext cx="172822" cy="8833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3" name="S06/object-377"/>
          <p:cNvSpPr/>
          <p:nvPr/>
        </p:nvSpPr>
        <p:spPr>
          <a:xfrm flipV="1">
            <a:off x="11447374" y="1037844"/>
            <a:ext cx="0" cy="199705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4" name="S06/object-378"/>
          <p:cNvSpPr/>
          <p:nvPr/>
        </p:nvSpPr>
        <p:spPr>
          <a:xfrm>
            <a:off x="11274552" y="1133856"/>
            <a:ext cx="0" cy="192024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5" name="S06/object-379"/>
          <p:cNvSpPr/>
          <p:nvPr/>
        </p:nvSpPr>
        <p:spPr>
          <a:xfrm>
            <a:off x="594360" y="1828800"/>
            <a:ext cx="6492240" cy="4251960"/>
          </a:xfrm>
          <a:prstGeom prst="roundRect">
            <a:avLst>
              <a:gd name="adj" fmla="val 3441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6" name="S06/object-380"/>
          <p:cNvSpPr/>
          <p:nvPr/>
        </p:nvSpPr>
        <p:spPr>
          <a:xfrm>
            <a:off x="1097280" y="3246120"/>
            <a:ext cx="5440680" cy="0"/>
          </a:xfrm>
          <a:prstGeom prst="line">
            <a:avLst/>
          </a:prstGeom>
          <a:noFill/>
          <a:ln w="63500">
            <a:solidFill>
              <a:srgbClr val="173A5C"/>
            </a:solidFill>
            <a:prstDash val="solid"/>
          </a:ln>
        </p:spPr>
      </p:sp>
      <p:sp>
        <p:nvSpPr>
          <p:cNvPr id="27" name="S06/support-0-380"/>
          <p:cNvSpPr/>
          <p:nvPr/>
        </p:nvSpPr>
        <p:spPr>
          <a:xfrm>
            <a:off x="950976" y="3291840"/>
            <a:ext cx="292608" cy="246888"/>
          </a:xfrm>
          <a:prstGeom prst="triangle">
            <a:avLst/>
          </a:prstGeom>
          <a:solidFill>
            <a:srgbClr val="EBF4FC"/>
          </a:solidFill>
          <a:ln w="19050">
            <a:solidFill>
              <a:srgbClr val="075EAE"/>
            </a:solidFill>
            <a:prstDash val="solid"/>
          </a:ln>
        </p:spPr>
      </p:sp>
      <p:sp>
        <p:nvSpPr>
          <p:cNvPr id="28" name="S06/object-382"/>
          <p:cNvSpPr/>
          <p:nvPr/>
        </p:nvSpPr>
        <p:spPr>
          <a:xfrm>
            <a:off x="868680" y="3593592"/>
            <a:ext cx="457200" cy="0"/>
          </a:xfrm>
          <a:prstGeom prst="line">
            <a:avLst/>
          </a:prstGeom>
          <a:noFill/>
          <a:ln w="10160">
            <a:solidFill>
              <a:srgbClr val="526E86"/>
            </a:solidFill>
            <a:prstDash val="solid"/>
          </a:ln>
        </p:spPr>
      </p:sp>
      <p:sp>
        <p:nvSpPr>
          <p:cNvPr id="29" name="S06/support-1-382"/>
          <p:cNvSpPr/>
          <p:nvPr/>
        </p:nvSpPr>
        <p:spPr>
          <a:xfrm>
            <a:off x="6391656" y="3291840"/>
            <a:ext cx="292608" cy="246888"/>
          </a:xfrm>
          <a:prstGeom prst="triangle">
            <a:avLst/>
          </a:prstGeom>
          <a:solidFill>
            <a:srgbClr val="EBF4FC"/>
          </a:solidFill>
          <a:ln w="19050">
            <a:solidFill>
              <a:srgbClr val="075EAE"/>
            </a:solidFill>
            <a:prstDash val="solid"/>
          </a:ln>
        </p:spPr>
      </p:sp>
      <p:sp>
        <p:nvSpPr>
          <p:cNvPr id="30" name="S06/object-384"/>
          <p:cNvSpPr/>
          <p:nvPr/>
        </p:nvSpPr>
        <p:spPr>
          <a:xfrm>
            <a:off x="6309360" y="3593592"/>
            <a:ext cx="457200" cy="0"/>
          </a:xfrm>
          <a:prstGeom prst="line">
            <a:avLst/>
          </a:prstGeom>
          <a:noFill/>
          <a:ln w="10160">
            <a:solidFill>
              <a:srgbClr val="526E86"/>
            </a:solidFill>
            <a:prstDash val="solid"/>
          </a:ln>
        </p:spPr>
      </p:sp>
      <p:sp>
        <p:nvSpPr>
          <p:cNvPr id="31" name="S06/object-385"/>
          <p:cNvSpPr/>
          <p:nvPr/>
        </p:nvSpPr>
        <p:spPr>
          <a:xfrm>
            <a:off x="3817620" y="2560320"/>
            <a:ext cx="0" cy="630936"/>
          </a:xfrm>
          <a:prstGeom prst="line">
            <a:avLst/>
          </a:prstGeom>
          <a:noFill/>
          <a:ln w="31750">
            <a:solidFill>
              <a:srgbClr val="D88118"/>
            </a:solidFill>
            <a:prstDash val="solid"/>
            <a:tailEnd type="triangle"/>
          </a:ln>
        </p:spPr>
      </p:sp>
      <p:sp>
        <p:nvSpPr>
          <p:cNvPr id="32" name="S06/object-386"/>
          <p:cNvSpPr/>
          <p:nvPr/>
        </p:nvSpPr>
        <p:spPr>
          <a:xfrm>
            <a:off x="3927348" y="2514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D88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= 18 kN</a:t>
            </a:r>
            <a:endParaRPr lang="en-US" sz="1600" dirty="0"/>
          </a:p>
        </p:txBody>
      </p:sp>
      <p:sp>
        <p:nvSpPr>
          <p:cNvPr id="33" name="S06/object-387"/>
          <p:cNvSpPr/>
          <p:nvPr/>
        </p:nvSpPr>
        <p:spPr>
          <a:xfrm>
            <a:off x="96012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500" dirty="0"/>
          </a:p>
        </p:txBody>
      </p:sp>
      <p:sp>
        <p:nvSpPr>
          <p:cNvPr id="34" name="S06/object-388"/>
          <p:cNvSpPr/>
          <p:nvPr/>
        </p:nvSpPr>
        <p:spPr>
          <a:xfrm>
            <a:off x="640080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500" dirty="0"/>
          </a:p>
        </p:txBody>
      </p:sp>
      <p:sp>
        <p:nvSpPr>
          <p:cNvPr id="35" name="S06/object-389"/>
          <p:cNvSpPr/>
          <p:nvPr/>
        </p:nvSpPr>
        <p:spPr>
          <a:xfrm>
            <a:off x="1097280" y="4105656"/>
            <a:ext cx="5440680" cy="0"/>
          </a:xfrm>
          <a:prstGeom prst="line">
            <a:avLst/>
          </a:prstGeom>
          <a:noFill/>
          <a:ln w="10160">
            <a:solidFill>
              <a:srgbClr val="526E86"/>
            </a:solidFill>
            <a:prstDash val="solid"/>
          </a:ln>
        </p:spPr>
      </p:sp>
      <p:sp>
        <p:nvSpPr>
          <p:cNvPr id="36" name="S06/object-390"/>
          <p:cNvSpPr/>
          <p:nvPr/>
        </p:nvSpPr>
        <p:spPr>
          <a:xfrm>
            <a:off x="3268980" y="41788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 = 6 m</a:t>
            </a:r>
            <a:endParaRPr lang="en-US" sz="1600" dirty="0"/>
          </a:p>
        </p:txBody>
      </p:sp>
      <p:sp>
        <p:nvSpPr>
          <p:cNvPr id="37" name="S06/object-391"/>
          <p:cNvSpPr/>
          <p:nvPr/>
        </p:nvSpPr>
        <p:spPr>
          <a:xfrm>
            <a:off x="2267712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 E1：A—B</a:t>
            </a:r>
            <a:endParaRPr lang="en-US" sz="2200" dirty="0"/>
          </a:p>
        </p:txBody>
      </p:sp>
      <p:sp>
        <p:nvSpPr>
          <p:cNvPr id="38" name="S06/object-392"/>
          <p:cNvSpPr/>
          <p:nvPr/>
        </p:nvSpPr>
        <p:spPr>
          <a:xfrm>
            <a:off x="2286000" y="47365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D88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单元内集中力：a = 3 m</a:t>
            </a:r>
            <a:endParaRPr lang="en-US" sz="2000" dirty="0"/>
          </a:p>
        </p:txBody>
      </p:sp>
      <p:sp>
        <p:nvSpPr>
          <p:cNvPr id="39" name="S06/object-393"/>
          <p:cNvSpPr/>
          <p:nvPr/>
        </p:nvSpPr>
        <p:spPr>
          <a:xfrm>
            <a:off x="868680" y="5513832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个节点 · 1 个梁单元 · 无需新增跨中节点</a:t>
            </a:r>
            <a:endParaRPr lang="en-US" sz="1700" dirty="0"/>
          </a:p>
        </p:txBody>
      </p:sp>
      <p:sp>
        <p:nvSpPr>
          <p:cNvPr id="40" name="S06/object-394"/>
          <p:cNvSpPr/>
          <p:nvPr/>
        </p:nvSpPr>
        <p:spPr>
          <a:xfrm>
            <a:off x="7452360" y="1874520"/>
            <a:ext cx="310896" cy="310896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41" name="S06/object-395"/>
          <p:cNvSpPr/>
          <p:nvPr/>
        </p:nvSpPr>
        <p:spPr>
          <a:xfrm>
            <a:off x="7452360" y="192481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42" name="S06/object-396"/>
          <p:cNvSpPr/>
          <p:nvPr/>
        </p:nvSpPr>
        <p:spPr>
          <a:xfrm>
            <a:off x="7891272" y="1860804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边界条件与自由度</a:t>
            </a:r>
            <a:endParaRPr lang="en-US" sz="2100" dirty="0"/>
          </a:p>
        </p:txBody>
      </p:sp>
      <p:graphicFrame>
        <p:nvGraphicFramePr>
          <p:cNvPr id="43" name="S06/suppor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2542032"/>
          <a:ext cx="4187952" cy="1719072"/>
        </p:xfrm>
        <a:graphic>
          <a:graphicData uri="http://schemas.openxmlformats.org/drawingml/2006/table">
            <a:tbl>
              <a:tblPr/>
              <a:tblGrid>
                <a:gridCol w="640080"/>
                <a:gridCol w="1691640"/>
                <a:gridCol w="1856232"/>
              </a:tblGrid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节点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E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受约束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E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自由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EAE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Dx、Dz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Ry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Dz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Dx、Ry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4" name="S06/object-397"/>
          <p:cNvSpPr/>
          <p:nvPr/>
        </p:nvSpPr>
        <p:spPr>
          <a:xfrm>
            <a:off x="7383780" y="4466844"/>
            <a:ext cx="2377440" cy="1664208"/>
          </a:xfrm>
          <a:prstGeom prst="rect">
            <a:avLst>
              <a:gd name="adj" fmla="val 8791"/>
            </a:avLst>
          </a:prstGeom>
          <a:solidFill>
            <a:srgbClr val="BDD5EB"/>
          </a:solidFill>
          <a:ln w="10160">
            <a:solidFill>
              <a:srgbClr val="BDD5EB"/>
            </a:solidFill>
            <a:prstDash val="solid"/>
          </a:ln>
        </p:spPr>
      </p:sp>
      <p:pic>
        <p:nvPicPr>
          <p:cNvPr id="45" name="S06/load-properties" descr="真实本地程序截图；来源 load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4022" y="4489704"/>
            <a:ext cx="1956955" cy="1618488"/>
          </a:xfrm>
          <a:prstGeom prst="rect">
            <a:avLst/>
          </a:prstGeom>
        </p:spPr>
      </p:pic>
      <p:sp>
        <p:nvSpPr>
          <p:cNvPr id="46" name="S06/object-398"/>
          <p:cNvSpPr/>
          <p:nvPr/>
        </p:nvSpPr>
        <p:spPr>
          <a:xfrm>
            <a:off x="9976104" y="4645152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荷载属性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−1.800×10⁴ N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 3.000 m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7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07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07/object-399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7/object-400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7/object-401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7/object-402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7/object-403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7/object-404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7/object-405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07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剪力与弯矩为什么这样变化？</a:t>
            </a:r>
            <a:endParaRPr lang="en-US" sz="2800" dirty="0"/>
          </a:p>
        </p:txBody>
      </p:sp>
      <p:sp>
        <p:nvSpPr>
          <p:cNvPr id="12" name="S07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07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集中力引起剪力跃变和跨中弯矩极值</a:t>
            </a:r>
            <a:endParaRPr lang="en-US" sz="1600" dirty="0"/>
          </a:p>
        </p:txBody>
      </p:sp>
      <p:sp>
        <p:nvSpPr>
          <p:cNvPr id="14" name="S07/object-406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100" dirty="0"/>
          </a:p>
        </p:txBody>
      </p:sp>
      <p:sp>
        <p:nvSpPr>
          <p:cNvPr id="15" name="S07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来源：live/06-shear.jpg；live/03-beam-moment.jpg</a:t>
            </a:r>
            <a:endParaRPr lang="en-US" sz="800" dirty="0"/>
          </a:p>
        </p:txBody>
      </p:sp>
      <p:sp>
        <p:nvSpPr>
          <p:cNvPr id="16" name="S07/object-407"/>
          <p:cNvSpPr/>
          <p:nvPr/>
        </p:nvSpPr>
        <p:spPr>
          <a:xfrm flipV="1">
            <a:off x="11120933" y="949513"/>
            <a:ext cx="172822" cy="8833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7" name="S07/object-408"/>
          <p:cNvSpPr/>
          <p:nvPr/>
        </p:nvSpPr>
        <p:spPr>
          <a:xfrm>
            <a:off x="11293754" y="949513"/>
            <a:ext cx="153619" cy="8833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8" name="S07/object-409"/>
          <p:cNvSpPr/>
          <p:nvPr/>
        </p:nvSpPr>
        <p:spPr>
          <a:xfrm flipH="1">
            <a:off x="11274552" y="1037844"/>
            <a:ext cx="172822" cy="96012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9" name="S07/object-410"/>
          <p:cNvSpPr/>
          <p:nvPr/>
        </p:nvSpPr>
        <p:spPr>
          <a:xfrm flipH="1" flipV="1">
            <a:off x="11120933" y="1037844"/>
            <a:ext cx="153619" cy="96012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0" name="S07/object-411"/>
          <p:cNvSpPr/>
          <p:nvPr/>
        </p:nvSpPr>
        <p:spPr>
          <a:xfrm>
            <a:off x="11120933" y="1037844"/>
            <a:ext cx="0" cy="203545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1" name="S07/object-412"/>
          <p:cNvSpPr/>
          <p:nvPr/>
        </p:nvSpPr>
        <p:spPr>
          <a:xfrm>
            <a:off x="11120933" y="1241389"/>
            <a:ext cx="153619" cy="8449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2" name="S07/object-413"/>
          <p:cNvSpPr/>
          <p:nvPr/>
        </p:nvSpPr>
        <p:spPr>
          <a:xfrm flipV="1">
            <a:off x="11274552" y="1237549"/>
            <a:ext cx="172822" cy="8833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3" name="S07/object-414"/>
          <p:cNvSpPr/>
          <p:nvPr/>
        </p:nvSpPr>
        <p:spPr>
          <a:xfrm flipV="1">
            <a:off x="11447374" y="1037844"/>
            <a:ext cx="0" cy="199705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4" name="S07/object-415"/>
          <p:cNvSpPr/>
          <p:nvPr/>
        </p:nvSpPr>
        <p:spPr>
          <a:xfrm>
            <a:off x="11274552" y="1133856"/>
            <a:ext cx="0" cy="192024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5" name="S07/object-416"/>
          <p:cNvSpPr/>
          <p:nvPr/>
        </p:nvSpPr>
        <p:spPr>
          <a:xfrm>
            <a:off x="640080" y="1572768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沿梁读取：A端 → 集中力左侧 → 集中力右侧 → B端；检查：局部坐标 / 图例符号 / 截面位置。</a:t>
            </a:r>
            <a:endParaRPr lang="en-US" sz="1200" dirty="0"/>
          </a:p>
        </p:txBody>
      </p:sp>
      <p:sp>
        <p:nvSpPr>
          <p:cNvPr id="26" name="S07/object-417"/>
          <p:cNvSpPr/>
          <p:nvPr/>
        </p:nvSpPr>
        <p:spPr>
          <a:xfrm>
            <a:off x="594360" y="1783080"/>
            <a:ext cx="310896" cy="310896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27" name="S07/object-418"/>
          <p:cNvSpPr/>
          <p:nvPr/>
        </p:nvSpPr>
        <p:spPr>
          <a:xfrm>
            <a:off x="594360" y="183337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28" name="S07/object-419"/>
          <p:cNvSpPr/>
          <p:nvPr/>
        </p:nvSpPr>
        <p:spPr>
          <a:xfrm>
            <a:off x="1033272" y="176936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剪力：集中力处发生跳变</a:t>
            </a:r>
            <a:endParaRPr lang="en-US" sz="2100" dirty="0"/>
          </a:p>
        </p:txBody>
      </p:sp>
      <p:sp>
        <p:nvSpPr>
          <p:cNvPr id="29" name="S07/object-420"/>
          <p:cNvSpPr/>
          <p:nvPr/>
        </p:nvSpPr>
        <p:spPr>
          <a:xfrm>
            <a:off x="6355080" y="1783080"/>
            <a:ext cx="310896" cy="310896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30" name="S07/object-421"/>
          <p:cNvSpPr/>
          <p:nvPr/>
        </p:nvSpPr>
        <p:spPr>
          <a:xfrm>
            <a:off x="6355080" y="183337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31" name="S07/object-422"/>
          <p:cNvSpPr/>
          <p:nvPr/>
        </p:nvSpPr>
        <p:spPr>
          <a:xfrm>
            <a:off x="6793992" y="1769364"/>
            <a:ext cx="4864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弯矩：跨中达到幅值峰值</a:t>
            </a:r>
            <a:endParaRPr lang="en-US" sz="2100" dirty="0"/>
          </a:p>
        </p:txBody>
      </p:sp>
      <p:sp>
        <p:nvSpPr>
          <p:cNvPr id="32" name="S07/object-423"/>
          <p:cNvSpPr/>
          <p:nvPr/>
        </p:nvSpPr>
        <p:spPr>
          <a:xfrm>
            <a:off x="571500" y="2400300"/>
            <a:ext cx="5303520" cy="2999232"/>
          </a:xfrm>
          <a:prstGeom prst="rect">
            <a:avLst>
              <a:gd name="adj" fmla="val 4878"/>
            </a:avLst>
          </a:prstGeom>
          <a:solidFill>
            <a:srgbClr val="BDD5EB"/>
          </a:solidFill>
          <a:ln w="10160">
            <a:solidFill>
              <a:srgbClr val="BDD5EB"/>
            </a:solidFill>
            <a:prstDash val="solid"/>
          </a:ln>
        </p:spPr>
      </p:sp>
      <p:pic>
        <p:nvPicPr>
          <p:cNvPr id="33" name="S07/shear-evidence" descr="真实本地程序截图；来源 shear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326" y="2423160"/>
            <a:ext cx="5249868" cy="2953512"/>
          </a:xfrm>
          <a:prstGeom prst="rect">
            <a:avLst/>
          </a:prstGeom>
        </p:spPr>
      </p:pic>
      <p:sp>
        <p:nvSpPr>
          <p:cNvPr id="34" name="S07/object-424"/>
          <p:cNvSpPr/>
          <p:nvPr/>
        </p:nvSpPr>
        <p:spPr>
          <a:xfrm>
            <a:off x="6332220" y="2400300"/>
            <a:ext cx="5303520" cy="2999232"/>
          </a:xfrm>
          <a:prstGeom prst="rect">
            <a:avLst>
              <a:gd name="adj" fmla="val 4878"/>
            </a:avLst>
          </a:prstGeom>
          <a:solidFill>
            <a:srgbClr val="BDD5EB"/>
          </a:solidFill>
          <a:ln w="10160">
            <a:solidFill>
              <a:srgbClr val="BDD5EB"/>
            </a:solidFill>
            <a:prstDash val="solid"/>
          </a:ln>
        </p:spPr>
      </p:sp>
      <p:pic>
        <p:nvPicPr>
          <p:cNvPr id="35" name="S07/moment-evidence" descr="真实本地程序截图；来源 moment-detail.png；部分工具栏字体在捕获环境显示方框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9046" y="2423160"/>
            <a:ext cx="5249868" cy="2953512"/>
          </a:xfrm>
          <a:prstGeom prst="rect">
            <a:avLst/>
          </a:prstGeom>
        </p:spPr>
      </p:pic>
      <p:sp>
        <p:nvSpPr>
          <p:cNvPr id="36" name="S07/object-425"/>
          <p:cNvSpPr/>
          <p:nvPr/>
        </p:nvSpPr>
        <p:spPr>
          <a:xfrm>
            <a:off x="758952" y="5605272"/>
            <a:ext cx="283464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37" name="S07/object-426"/>
          <p:cNvSpPr/>
          <p:nvPr/>
        </p:nvSpPr>
        <p:spPr>
          <a:xfrm>
            <a:off x="868680" y="5669280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左右段幅值 9 kN</a:t>
            </a:r>
            <a:endParaRPr lang="en-US" sz="1200" dirty="0"/>
          </a:p>
        </p:txBody>
      </p:sp>
      <p:sp>
        <p:nvSpPr>
          <p:cNvPr id="38" name="S07/object-427"/>
          <p:cNvSpPr/>
          <p:nvPr/>
        </p:nvSpPr>
        <p:spPr>
          <a:xfrm>
            <a:off x="6519672" y="5605272"/>
            <a:ext cx="329184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39" name="S07/object-428"/>
          <p:cNvSpPr/>
          <p:nvPr/>
        </p:nvSpPr>
        <p:spPr>
          <a:xfrm>
            <a:off x="6629400" y="5669280"/>
            <a:ext cx="3072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跨中标注 −27 kN·m</a:t>
            </a:r>
            <a:endParaRPr lang="en-US" sz="1200" dirty="0"/>
          </a:p>
        </p:txBody>
      </p:sp>
      <p:sp>
        <p:nvSpPr>
          <p:cNvPr id="40" name="S07/object-429"/>
          <p:cNvSpPr/>
          <p:nvPr/>
        </p:nvSpPr>
        <p:spPr>
          <a:xfrm>
            <a:off x="4160520" y="5669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同一模型 / 同一荷载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8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08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08/object-430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8/object-431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8/object-432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8/object-433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8/object-434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8/object-435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8/object-436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08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反力与最大弯矩的数值核验</a:t>
            </a:r>
            <a:endParaRPr lang="en-US" sz="2800" dirty="0"/>
          </a:p>
        </p:txBody>
      </p:sp>
      <p:sp>
        <p:nvSpPr>
          <p:cNvPr id="12" name="S08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08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给定工况下反力与弯矩幅值符合解析结果</a:t>
            </a:r>
            <a:endParaRPr lang="en-US" sz="1600" dirty="0"/>
          </a:p>
        </p:txBody>
      </p:sp>
      <p:sp>
        <p:nvSpPr>
          <p:cNvPr id="14" name="S08/object-43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100" dirty="0"/>
          </a:p>
        </p:txBody>
      </p:sp>
      <p:sp>
        <p:nvSpPr>
          <p:cNvPr id="15" name="S08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来源：live/03-beam-moment.jpg；live/05-element-results.jpg；qa/live-run-evidence.json；RA=RB=P/2；Mmax=PL/4</a:t>
            </a:r>
            <a:endParaRPr lang="en-US" sz="800" dirty="0"/>
          </a:p>
        </p:txBody>
      </p:sp>
      <p:sp>
        <p:nvSpPr>
          <p:cNvPr id="16" name="S08/object-438"/>
          <p:cNvSpPr/>
          <p:nvPr/>
        </p:nvSpPr>
        <p:spPr>
          <a:xfrm>
            <a:off x="571500" y="1879092"/>
            <a:ext cx="5760720" cy="3264408"/>
          </a:xfrm>
          <a:prstGeom prst="rect">
            <a:avLst>
              <a:gd name="adj" fmla="val 4482"/>
            </a:avLst>
          </a:prstGeom>
          <a:solidFill>
            <a:srgbClr val="BDD5EB"/>
          </a:solidFill>
          <a:ln w="10160">
            <a:solidFill>
              <a:srgbClr val="BDD5EB"/>
            </a:solidFill>
            <a:prstDash val="solid"/>
          </a:ln>
        </p:spPr>
      </p:sp>
      <p:pic>
        <p:nvPicPr>
          <p:cNvPr id="17" name="S08/validation-evidence" descr="真实本地程序截图；来源 moment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903701"/>
            <a:ext cx="5715000" cy="3215190"/>
          </a:xfrm>
          <a:prstGeom prst="rect">
            <a:avLst/>
          </a:prstGeom>
        </p:spPr>
      </p:pic>
      <p:sp>
        <p:nvSpPr>
          <p:cNvPr id="18" name="S08/object-439"/>
          <p:cNvSpPr/>
          <p:nvPr/>
        </p:nvSpPr>
        <p:spPr>
          <a:xfrm>
            <a:off x="6620256" y="19202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解析期望 ↔ 实机读数</a:t>
            </a:r>
            <a:endParaRPr lang="en-US" sz="2400" dirty="0"/>
          </a:p>
        </p:txBody>
      </p:sp>
      <p:graphicFrame>
        <p:nvGraphicFramePr>
          <p:cNvPr id="19" name="S08/validation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0256" y="2651760"/>
          <a:ext cx="4828032" cy="2212848"/>
        </p:xfrm>
        <a:graphic>
          <a:graphicData uri="http://schemas.openxmlformats.org/drawingml/2006/table">
            <a:tbl>
              <a:tblPr/>
              <a:tblGrid>
                <a:gridCol w="1627632"/>
                <a:gridCol w="1600200"/>
                <a:gridCol w="1600200"/>
              </a:tblGrid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核验项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E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解析幅值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E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界面幅值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EAE"/>
                    </a:solidFill>
                  </a:tcPr>
                </a:tc>
              </a:tr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A端反力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kN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kN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</a:tr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B端反力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kN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kN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跨中弯矩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 kN·m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 kN·m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</a:tr>
            </a:tbl>
          </a:graphicData>
        </a:graphic>
      </p:graphicFrame>
      <p:sp>
        <p:nvSpPr>
          <p:cNvPr id="20" name="S08/object-440"/>
          <p:cNvSpPr/>
          <p:nvPr/>
        </p:nvSpPr>
        <p:spPr>
          <a:xfrm>
            <a:off x="640080" y="5477256"/>
            <a:ext cx="758952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1" name="S08/object-441"/>
          <p:cNvSpPr/>
          <p:nvPr/>
        </p:nvSpPr>
        <p:spPr>
          <a:xfrm>
            <a:off x="749808" y="5541264"/>
            <a:ext cx="539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</a:t>
            </a:r>
            <a:endParaRPr lang="en-US" sz="1200" dirty="0"/>
          </a:p>
        </p:txBody>
      </p:sp>
      <p:sp>
        <p:nvSpPr>
          <p:cNvPr id="22" name="S08/object-442"/>
          <p:cNvSpPr/>
          <p:nvPr/>
        </p:nvSpPr>
        <p:spPr>
          <a:xfrm>
            <a:off x="1572768" y="5504688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m / 跨中18 kN</a:t>
            </a:r>
            <a:endParaRPr lang="en-US" sz="1500" dirty="0"/>
          </a:p>
        </p:txBody>
      </p:sp>
      <p:sp>
        <p:nvSpPr>
          <p:cNvPr id="23" name="S08/object-443"/>
          <p:cNvSpPr/>
          <p:nvPr/>
        </p:nvSpPr>
        <p:spPr>
          <a:xfrm>
            <a:off x="4434840" y="5477256"/>
            <a:ext cx="758952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4" name="S08/object-444"/>
          <p:cNvSpPr/>
          <p:nvPr/>
        </p:nvSpPr>
        <p:spPr>
          <a:xfrm>
            <a:off x="4544568" y="5541264"/>
            <a:ext cx="539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</a:t>
            </a:r>
            <a:endParaRPr lang="en-US" sz="1200" dirty="0"/>
          </a:p>
        </p:txBody>
      </p:sp>
      <p:sp>
        <p:nvSpPr>
          <p:cNvPr id="25" name="S08/object-445"/>
          <p:cNvSpPr/>
          <p:nvPr/>
        </p:nvSpPr>
        <p:spPr>
          <a:xfrm>
            <a:off x="5367528" y="5504688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图中−27遵循软件约定</a:t>
            </a:r>
            <a:endParaRPr lang="en-US" sz="1500" dirty="0"/>
          </a:p>
        </p:txBody>
      </p:sp>
      <p:sp>
        <p:nvSpPr>
          <p:cNvPr id="26" name="S08/object-446"/>
          <p:cNvSpPr/>
          <p:nvPr/>
        </p:nvSpPr>
        <p:spPr>
          <a:xfrm>
            <a:off x="8229600" y="5477256"/>
            <a:ext cx="758952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7" name="S08/object-447"/>
          <p:cNvSpPr/>
          <p:nvPr/>
        </p:nvSpPr>
        <p:spPr>
          <a:xfrm>
            <a:off x="8339328" y="5541264"/>
            <a:ext cx="539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</a:t>
            </a:r>
            <a:endParaRPr lang="en-US" sz="1200" dirty="0"/>
          </a:p>
        </p:txBody>
      </p:sp>
      <p:sp>
        <p:nvSpPr>
          <p:cNvPr id="28" name="S08/object-448"/>
          <p:cNvSpPr/>
          <p:nvPr/>
        </p:nvSpPr>
        <p:spPr>
          <a:xfrm>
            <a:off x="9162288" y="5504688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端弯矩0，内部峰值27</a:t>
            </a:r>
            <a:endParaRPr lang="en-US" sz="1500" dirty="0"/>
          </a:p>
        </p:txBody>
      </p:sp>
      <p:sp>
        <p:nvSpPr>
          <p:cNvPr id="29" name="S08/object-449"/>
          <p:cNvSpPr/>
          <p:nvPr/>
        </p:nvSpPr>
        <p:spPr>
          <a:xfrm>
            <a:off x="777240" y="6062472"/>
            <a:ext cx="10607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结论限于默认案例的显示幅值对照，尚非全工况精度认证。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9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09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09/object-450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9/object-451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9/object-452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9/object-453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9/object-454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9/object-455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9/object-456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09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荷载位置如何影响计算结果？</a:t>
            </a:r>
            <a:endParaRPr lang="en-US" sz="2800" dirty="0"/>
          </a:p>
        </p:txBody>
      </p:sp>
      <p:sp>
        <p:nvSpPr>
          <p:cNvPr id="12" name="S09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09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反力分配与弯矩峰值随荷载位置改变</a:t>
            </a:r>
            <a:endParaRPr lang="en-US" sz="1600" dirty="0"/>
          </a:p>
        </p:txBody>
      </p:sp>
      <p:sp>
        <p:nvSpPr>
          <p:cNvPr id="14" name="S09/object-45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100" dirty="0"/>
          </a:p>
        </p:txBody>
      </p:sp>
      <p:sp>
        <p:nvSpPr>
          <p:cNvPr id="15" name="S09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来源：解析预测：P=18kN，L=6m，a=1/2/3m</a:t>
            </a:r>
            <a:endParaRPr lang="en-US" sz="800" dirty="0"/>
          </a:p>
        </p:txBody>
      </p:sp>
      <p:sp>
        <p:nvSpPr>
          <p:cNvPr id="16" name="S09/route-0"/>
          <p:cNvSpPr/>
          <p:nvPr/>
        </p:nvSpPr>
        <p:spPr>
          <a:xfrm>
            <a:off x="11082528" y="1191463"/>
            <a:ext cx="69129" cy="134417"/>
          </a:xfrm>
          <a:prstGeom prst="rect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7" name="S09/route-1"/>
          <p:cNvSpPr/>
          <p:nvPr/>
        </p:nvSpPr>
        <p:spPr>
          <a:xfrm>
            <a:off x="11205423" y="1095451"/>
            <a:ext cx="69129" cy="230429"/>
          </a:xfrm>
          <a:prstGeom prst="rect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8" name="S09/route-2"/>
          <p:cNvSpPr/>
          <p:nvPr/>
        </p:nvSpPr>
        <p:spPr>
          <a:xfrm>
            <a:off x="11328319" y="980237"/>
            <a:ext cx="69129" cy="345643"/>
          </a:xfrm>
          <a:prstGeom prst="rect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9" name="S09/object-458"/>
          <p:cNvSpPr/>
          <p:nvPr/>
        </p:nvSpPr>
        <p:spPr>
          <a:xfrm>
            <a:off x="658368" y="1700784"/>
            <a:ext cx="347472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0" name="S09/object-459"/>
          <p:cNvSpPr/>
          <p:nvPr/>
        </p:nvSpPr>
        <p:spPr>
          <a:xfrm>
            <a:off x="768096" y="1764792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a=1m：反力偏向左端</a:t>
            </a:r>
            <a:endParaRPr lang="en-US" sz="1200" dirty="0"/>
          </a:p>
        </p:txBody>
      </p:sp>
      <p:sp>
        <p:nvSpPr>
          <p:cNvPr id="21" name="S09/object-460"/>
          <p:cNvSpPr/>
          <p:nvPr/>
        </p:nvSpPr>
        <p:spPr>
          <a:xfrm>
            <a:off x="4453128" y="1700784"/>
            <a:ext cx="347472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2" name="S09/object-461"/>
          <p:cNvSpPr/>
          <p:nvPr/>
        </p:nvSpPr>
        <p:spPr>
          <a:xfrm>
            <a:off x="4562856" y="1764792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a=2m：分配逐渐均衡</a:t>
            </a:r>
            <a:endParaRPr lang="en-US" sz="1200" dirty="0"/>
          </a:p>
        </p:txBody>
      </p:sp>
      <p:sp>
        <p:nvSpPr>
          <p:cNvPr id="23" name="S09/object-462"/>
          <p:cNvSpPr/>
          <p:nvPr/>
        </p:nvSpPr>
        <p:spPr>
          <a:xfrm>
            <a:off x="8247888" y="1700784"/>
            <a:ext cx="347472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4" name="S09/object-463"/>
          <p:cNvSpPr/>
          <p:nvPr/>
        </p:nvSpPr>
        <p:spPr>
          <a:xfrm>
            <a:off x="8357616" y="1764792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a=3m：对称且弯矩幅值最大</a:t>
            </a:r>
            <a:endParaRPr lang="en-US" sz="1200" dirty="0"/>
          </a:p>
        </p:txBody>
      </p:sp>
      <p:sp>
        <p:nvSpPr>
          <p:cNvPr id="25" name="S09/object-464"/>
          <p:cNvSpPr/>
          <p:nvPr/>
        </p:nvSpPr>
        <p:spPr>
          <a:xfrm>
            <a:off x="68580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反力幅值 / kN</a:t>
            </a:r>
            <a:endParaRPr lang="en-US" sz="2200" dirty="0"/>
          </a:p>
        </p:txBody>
      </p:sp>
      <p:sp>
        <p:nvSpPr>
          <p:cNvPr id="26" name="S09/object-465"/>
          <p:cNvSpPr/>
          <p:nvPr/>
        </p:nvSpPr>
        <p:spPr>
          <a:xfrm>
            <a:off x="635508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2189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弯矩峰值幅值 / kN·m</a:t>
            </a:r>
            <a:endParaRPr lang="en-US" sz="2200" dirty="0"/>
          </a:p>
        </p:txBody>
      </p:sp>
      <p:graphicFrame>
        <p:nvGraphicFramePr>
          <p:cNvPr id="27" name="S09/reaction-chart" descr=""/>
          <p:cNvGraphicFramePr/>
          <p:nvPr/>
        </p:nvGraphicFramePr>
        <p:xfrm>
          <a:off x="640080" y="2697480"/>
          <a:ext cx="5166360" cy="28529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8" name="S09/moment-chart" descr=""/>
          <p:cNvGraphicFramePr/>
          <p:nvPr/>
        </p:nvGraphicFramePr>
        <p:xfrm>
          <a:off x="6355080" y="2697480"/>
          <a:ext cx="5166360" cy="28529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9" name="S09/object-466"/>
          <p:cNvSpPr/>
          <p:nvPr/>
        </p:nvSpPr>
        <p:spPr>
          <a:xfrm>
            <a:off x="685800" y="5705856"/>
            <a:ext cx="109728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30" name="S09/object-467"/>
          <p:cNvSpPr/>
          <p:nvPr/>
        </p:nvSpPr>
        <p:spPr>
          <a:xfrm>
            <a:off x="795528" y="5769864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固定荷载</a:t>
            </a:r>
            <a:endParaRPr lang="en-US" sz="1200" dirty="0"/>
          </a:p>
        </p:txBody>
      </p:sp>
      <p:sp>
        <p:nvSpPr>
          <p:cNvPr id="31" name="S09/object-468"/>
          <p:cNvSpPr/>
          <p:nvPr/>
        </p:nvSpPr>
        <p:spPr>
          <a:xfrm>
            <a:off x="1911096" y="5760720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= 18 kN</a:t>
            </a:r>
            <a:endParaRPr lang="en-US" sz="1400" dirty="0"/>
          </a:p>
        </p:txBody>
      </p:sp>
      <p:sp>
        <p:nvSpPr>
          <p:cNvPr id="32" name="S09/object-469"/>
          <p:cNvSpPr/>
          <p:nvPr/>
        </p:nvSpPr>
        <p:spPr>
          <a:xfrm>
            <a:off x="4480560" y="5705856"/>
            <a:ext cx="109728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33" name="S09/object-470"/>
          <p:cNvSpPr/>
          <p:nvPr/>
        </p:nvSpPr>
        <p:spPr>
          <a:xfrm>
            <a:off x="4590288" y="5769864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固定跨度</a:t>
            </a:r>
            <a:endParaRPr lang="en-US" sz="1200" dirty="0"/>
          </a:p>
        </p:txBody>
      </p:sp>
      <p:sp>
        <p:nvSpPr>
          <p:cNvPr id="34" name="S09/object-471"/>
          <p:cNvSpPr/>
          <p:nvPr/>
        </p:nvSpPr>
        <p:spPr>
          <a:xfrm>
            <a:off x="5705856" y="5760720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 = 6 m</a:t>
            </a:r>
            <a:endParaRPr lang="en-US" sz="1400" dirty="0"/>
          </a:p>
        </p:txBody>
      </p:sp>
      <p:sp>
        <p:nvSpPr>
          <p:cNvPr id="35" name="S09/object-472"/>
          <p:cNvSpPr/>
          <p:nvPr/>
        </p:nvSpPr>
        <p:spPr>
          <a:xfrm>
            <a:off x="8275320" y="5705856"/>
            <a:ext cx="109728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36" name="S09/object-473"/>
          <p:cNvSpPr/>
          <p:nvPr/>
        </p:nvSpPr>
        <p:spPr>
          <a:xfrm>
            <a:off x="8385048" y="5769864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位置变量</a:t>
            </a:r>
            <a:endParaRPr lang="en-US" sz="1200" dirty="0"/>
          </a:p>
        </p:txBody>
      </p:sp>
      <p:sp>
        <p:nvSpPr>
          <p:cNvPr id="37" name="S09/object-474"/>
          <p:cNvSpPr/>
          <p:nvPr/>
        </p:nvSpPr>
        <p:spPr>
          <a:xfrm>
            <a:off x="9500616" y="5760720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a距左端：1 / 2 / 3 m</a:t>
            </a:r>
            <a:endParaRPr lang="en-US" sz="1400" dirty="0"/>
          </a:p>
        </p:txBody>
      </p:sp>
      <p:sp>
        <p:nvSpPr>
          <p:cNvPr id="38" name="S09/object-475"/>
          <p:cNvSpPr/>
          <p:nvPr/>
        </p:nvSpPr>
        <p:spPr>
          <a:xfrm>
            <a:off x="685800" y="6089904"/>
            <a:ext cx="10972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解析预测，非新增实机测量。先预测，再在软件中改变位置并核对。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0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10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10/object-476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0/object-477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0/object-478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0/object-479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0/object-480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0/object-481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0/object-482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10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教学推导与危险截面分析</a:t>
            </a:r>
            <a:endParaRPr lang="en-US" sz="2800" dirty="0"/>
          </a:p>
        </p:txBody>
      </p:sp>
      <p:sp>
        <p:nvSpPr>
          <p:cNvPr id="12" name="S10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10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计算结果需要返回公式和截面条件解释</a:t>
            </a:r>
            <a:endParaRPr lang="en-US" sz="1600" dirty="0"/>
          </a:p>
        </p:txBody>
      </p:sp>
      <p:sp>
        <p:nvSpPr>
          <p:cNvPr id="14" name="S10/object-483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  <p:sp>
        <p:nvSpPr>
          <p:cNvPr id="15" name="S10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来源：live/04-derivation.jpg；README.md公式库</a:t>
            </a:r>
            <a:endParaRPr lang="en-US" sz="800" dirty="0"/>
          </a:p>
        </p:txBody>
      </p:sp>
      <p:sp>
        <p:nvSpPr>
          <p:cNvPr id="16" name="S10/object-484"/>
          <p:cNvSpPr/>
          <p:nvPr/>
        </p:nvSpPr>
        <p:spPr>
          <a:xfrm flipV="1">
            <a:off x="11120933" y="949513"/>
            <a:ext cx="172822" cy="8833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7" name="S10/object-485"/>
          <p:cNvSpPr/>
          <p:nvPr/>
        </p:nvSpPr>
        <p:spPr>
          <a:xfrm>
            <a:off x="11293754" y="949513"/>
            <a:ext cx="153619" cy="8833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8" name="S10/object-486"/>
          <p:cNvSpPr/>
          <p:nvPr/>
        </p:nvSpPr>
        <p:spPr>
          <a:xfrm flipH="1">
            <a:off x="11274552" y="1037844"/>
            <a:ext cx="172822" cy="96012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9" name="S10/object-487"/>
          <p:cNvSpPr/>
          <p:nvPr/>
        </p:nvSpPr>
        <p:spPr>
          <a:xfrm flipH="1" flipV="1">
            <a:off x="11120933" y="1037844"/>
            <a:ext cx="153619" cy="96012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0" name="S10/object-488"/>
          <p:cNvSpPr/>
          <p:nvPr/>
        </p:nvSpPr>
        <p:spPr>
          <a:xfrm>
            <a:off x="11120933" y="1037844"/>
            <a:ext cx="0" cy="203545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1" name="S10/object-489"/>
          <p:cNvSpPr/>
          <p:nvPr/>
        </p:nvSpPr>
        <p:spPr>
          <a:xfrm>
            <a:off x="11120933" y="1241389"/>
            <a:ext cx="153619" cy="8449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2" name="S10/object-490"/>
          <p:cNvSpPr/>
          <p:nvPr/>
        </p:nvSpPr>
        <p:spPr>
          <a:xfrm flipV="1">
            <a:off x="11274552" y="1237549"/>
            <a:ext cx="172822" cy="8833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3" name="S10/object-491"/>
          <p:cNvSpPr/>
          <p:nvPr/>
        </p:nvSpPr>
        <p:spPr>
          <a:xfrm flipV="1">
            <a:off x="11447374" y="1037844"/>
            <a:ext cx="0" cy="199705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4" name="S10/object-492"/>
          <p:cNvSpPr/>
          <p:nvPr/>
        </p:nvSpPr>
        <p:spPr>
          <a:xfrm>
            <a:off x="11274552" y="1133856"/>
            <a:ext cx="0" cy="192024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5" name="S10/object-493"/>
          <p:cNvSpPr/>
          <p:nvPr/>
        </p:nvSpPr>
        <p:spPr>
          <a:xfrm>
            <a:off x="4238244" y="1897380"/>
            <a:ext cx="7205472" cy="1508760"/>
          </a:xfrm>
          <a:prstGeom prst="rect">
            <a:avLst>
              <a:gd name="adj" fmla="val 9697"/>
            </a:avLst>
          </a:prstGeom>
          <a:solidFill>
            <a:srgbClr val="BDD5EB"/>
          </a:solidFill>
          <a:ln w="10160">
            <a:solidFill>
              <a:srgbClr val="BDD5EB"/>
            </a:solidFill>
            <a:prstDash val="solid"/>
          </a:ln>
        </p:spPr>
      </p:sp>
      <p:pic>
        <p:nvPicPr>
          <p:cNvPr id="26" name="S10/derivation-evidence" descr="真实本地程序截图；来源 derivation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1104" y="2116901"/>
            <a:ext cx="7159752" cy="1069718"/>
          </a:xfrm>
          <a:prstGeom prst="rect">
            <a:avLst/>
          </a:prstGeom>
        </p:spPr>
      </p:pic>
      <p:sp>
        <p:nvSpPr>
          <p:cNvPr id="27" name="S10/object-494"/>
          <p:cNvSpPr/>
          <p:nvPr/>
        </p:nvSpPr>
        <p:spPr>
          <a:xfrm>
            <a:off x="612648" y="1947672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8" name="S10/object-495"/>
          <p:cNvSpPr/>
          <p:nvPr/>
        </p:nvSpPr>
        <p:spPr>
          <a:xfrm>
            <a:off x="786384" y="2130552"/>
            <a:ext cx="310896" cy="310896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29" name="S10/object-496"/>
          <p:cNvSpPr/>
          <p:nvPr/>
        </p:nvSpPr>
        <p:spPr>
          <a:xfrm>
            <a:off x="786384" y="2180844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30" name="S10/object-497"/>
          <p:cNvSpPr/>
          <p:nvPr/>
        </p:nvSpPr>
        <p:spPr>
          <a:xfrm>
            <a:off x="1225296" y="2116836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受力分析</a:t>
            </a:r>
            <a:endParaRPr lang="en-US" sz="2100" dirty="0"/>
          </a:p>
        </p:txBody>
      </p:sp>
      <p:sp>
        <p:nvSpPr>
          <p:cNvPr id="31" name="S10/object-498"/>
          <p:cNvSpPr/>
          <p:nvPr/>
        </p:nvSpPr>
        <p:spPr>
          <a:xfrm>
            <a:off x="2194560" y="2761488"/>
            <a:ext cx="0" cy="146304"/>
          </a:xfrm>
          <a:prstGeom prst="line">
            <a:avLst/>
          </a:prstGeom>
          <a:noFill/>
          <a:ln w="19050">
            <a:solidFill>
              <a:srgbClr val="2189C4"/>
            </a:solidFill>
            <a:prstDash val="solid"/>
            <a:tailEnd type="triangle"/>
          </a:ln>
        </p:spPr>
      </p:sp>
      <p:sp>
        <p:nvSpPr>
          <p:cNvPr id="32" name="S10/object-499"/>
          <p:cNvSpPr/>
          <p:nvPr/>
        </p:nvSpPr>
        <p:spPr>
          <a:xfrm>
            <a:off x="4389120" y="3794760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隔离结构，列出外力与支座</a:t>
            </a:r>
            <a:endParaRPr lang="en-US" sz="1800" dirty="0"/>
          </a:p>
        </p:txBody>
      </p:sp>
      <p:sp>
        <p:nvSpPr>
          <p:cNvPr id="33" name="S10/object-500"/>
          <p:cNvSpPr/>
          <p:nvPr/>
        </p:nvSpPr>
        <p:spPr>
          <a:xfrm>
            <a:off x="612648" y="2935224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2EFF9"/>
          </a:solidFill>
          <a:ln w="10160">
            <a:solidFill>
              <a:srgbClr val="E2EFF9"/>
            </a:solidFill>
            <a:prstDash val="solid"/>
          </a:ln>
        </p:spPr>
      </p:sp>
      <p:sp>
        <p:nvSpPr>
          <p:cNvPr id="34" name="S10/object-501"/>
          <p:cNvSpPr/>
          <p:nvPr/>
        </p:nvSpPr>
        <p:spPr>
          <a:xfrm>
            <a:off x="786384" y="3118104"/>
            <a:ext cx="310896" cy="310896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35" name="S10/object-502"/>
          <p:cNvSpPr/>
          <p:nvPr/>
        </p:nvSpPr>
        <p:spPr>
          <a:xfrm>
            <a:off x="786384" y="3168396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36" name="S10/object-503"/>
          <p:cNvSpPr/>
          <p:nvPr/>
        </p:nvSpPr>
        <p:spPr>
          <a:xfrm>
            <a:off x="1225296" y="310438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整体平衡</a:t>
            </a:r>
            <a:endParaRPr lang="en-US" sz="2100" dirty="0"/>
          </a:p>
        </p:txBody>
      </p:sp>
      <p:sp>
        <p:nvSpPr>
          <p:cNvPr id="37" name="S10/object-504"/>
          <p:cNvSpPr/>
          <p:nvPr/>
        </p:nvSpPr>
        <p:spPr>
          <a:xfrm>
            <a:off x="2194560" y="3749040"/>
            <a:ext cx="0" cy="146304"/>
          </a:xfrm>
          <a:prstGeom prst="line">
            <a:avLst/>
          </a:prstGeom>
          <a:noFill/>
          <a:ln w="19050">
            <a:solidFill>
              <a:srgbClr val="2189C4"/>
            </a:solidFill>
            <a:prstDash val="solid"/>
            <a:tailEnd type="triangle"/>
          </a:ln>
        </p:spPr>
      </p:sp>
      <p:sp>
        <p:nvSpPr>
          <p:cNvPr id="38" name="S10/object-505"/>
          <p:cNvSpPr/>
          <p:nvPr/>
        </p:nvSpPr>
        <p:spPr>
          <a:xfrm>
            <a:off x="4389120" y="4315968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ΣFx=0，ΣFz=0，ΣMy=0</a:t>
            </a:r>
            <a:endParaRPr lang="en-US" sz="1800" dirty="0"/>
          </a:p>
        </p:txBody>
      </p:sp>
      <p:sp>
        <p:nvSpPr>
          <p:cNvPr id="39" name="S10/object-506"/>
          <p:cNvSpPr/>
          <p:nvPr/>
        </p:nvSpPr>
        <p:spPr>
          <a:xfrm>
            <a:off x="612648" y="3922776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40" name="S10/object-507"/>
          <p:cNvSpPr/>
          <p:nvPr/>
        </p:nvSpPr>
        <p:spPr>
          <a:xfrm>
            <a:off x="786384" y="4105656"/>
            <a:ext cx="310896" cy="310896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41" name="S10/object-508"/>
          <p:cNvSpPr/>
          <p:nvPr/>
        </p:nvSpPr>
        <p:spPr>
          <a:xfrm>
            <a:off x="786384" y="4155948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00" dirty="0"/>
          </a:p>
        </p:txBody>
      </p:sp>
      <p:sp>
        <p:nvSpPr>
          <p:cNvPr id="42" name="S10/object-509"/>
          <p:cNvSpPr/>
          <p:nvPr/>
        </p:nvSpPr>
        <p:spPr>
          <a:xfrm>
            <a:off x="1225296" y="409194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截面内力</a:t>
            </a:r>
            <a:endParaRPr lang="en-US" sz="2100" dirty="0"/>
          </a:p>
        </p:txBody>
      </p:sp>
      <p:sp>
        <p:nvSpPr>
          <p:cNvPr id="43" name="S10/object-510"/>
          <p:cNvSpPr/>
          <p:nvPr/>
        </p:nvSpPr>
        <p:spPr>
          <a:xfrm>
            <a:off x="2194560" y="4736592"/>
            <a:ext cx="0" cy="146304"/>
          </a:xfrm>
          <a:prstGeom prst="line">
            <a:avLst/>
          </a:prstGeom>
          <a:noFill/>
          <a:ln w="19050">
            <a:solidFill>
              <a:srgbClr val="2189C4"/>
            </a:solidFill>
            <a:prstDash val="solid"/>
            <a:tailEnd type="triangle"/>
          </a:ln>
        </p:spPr>
      </p:sp>
      <p:sp>
        <p:nvSpPr>
          <p:cNvPr id="44" name="S10/object-511"/>
          <p:cNvSpPr/>
          <p:nvPr/>
        </p:nvSpPr>
        <p:spPr>
          <a:xfrm>
            <a:off x="4389120" y="4837176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dV/dx+qz=0；dM/dx−V=0</a:t>
            </a:r>
            <a:endParaRPr lang="en-US" sz="1800" dirty="0"/>
          </a:p>
        </p:txBody>
      </p:sp>
      <p:sp>
        <p:nvSpPr>
          <p:cNvPr id="45" name="S10/object-512"/>
          <p:cNvSpPr/>
          <p:nvPr/>
        </p:nvSpPr>
        <p:spPr>
          <a:xfrm>
            <a:off x="612648" y="4910328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2EFF9"/>
          </a:solidFill>
          <a:ln w="10160">
            <a:solidFill>
              <a:srgbClr val="E2EFF9"/>
            </a:solidFill>
            <a:prstDash val="solid"/>
          </a:ln>
        </p:spPr>
      </p:sp>
      <p:sp>
        <p:nvSpPr>
          <p:cNvPr id="46" name="S10/object-513"/>
          <p:cNvSpPr/>
          <p:nvPr/>
        </p:nvSpPr>
        <p:spPr>
          <a:xfrm>
            <a:off x="786384" y="5093208"/>
            <a:ext cx="310896" cy="310896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47" name="S10/object-514"/>
          <p:cNvSpPr/>
          <p:nvPr/>
        </p:nvSpPr>
        <p:spPr>
          <a:xfrm>
            <a:off x="786384" y="5143500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300" dirty="0"/>
          </a:p>
        </p:txBody>
      </p:sp>
      <p:sp>
        <p:nvSpPr>
          <p:cNvPr id="48" name="S10/object-515"/>
          <p:cNvSpPr/>
          <p:nvPr/>
        </p:nvSpPr>
        <p:spPr>
          <a:xfrm>
            <a:off x="1225296" y="507949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结果检查</a:t>
            </a:r>
            <a:endParaRPr lang="en-US" sz="2100" dirty="0"/>
          </a:p>
        </p:txBody>
      </p:sp>
      <p:sp>
        <p:nvSpPr>
          <p:cNvPr id="49" name="S10/object-516"/>
          <p:cNvSpPr/>
          <p:nvPr/>
        </p:nvSpPr>
        <p:spPr>
          <a:xfrm>
            <a:off x="4389120" y="5358384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比较边界值、峰值与单位</a:t>
            </a:r>
            <a:endParaRPr lang="en-US" sz="1800" dirty="0"/>
          </a:p>
        </p:txBody>
      </p:sp>
      <p:sp>
        <p:nvSpPr>
          <p:cNvPr id="50" name="S10/object-517"/>
          <p:cNvSpPr/>
          <p:nvPr/>
        </p:nvSpPr>
        <p:spPr>
          <a:xfrm>
            <a:off x="4389120" y="34930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教学助手：让每一步都有可核对的物理含义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1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11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11/object-518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1/object-519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1/object-520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1/object-521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1/object-522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1/object-523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1/object-524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11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空间刚架的六自由度建模</a:t>
            </a:r>
            <a:endParaRPr lang="en-US" sz="2800" dirty="0"/>
          </a:p>
        </p:txBody>
      </p:sp>
      <p:sp>
        <p:nvSpPr>
          <p:cNvPr id="12" name="S11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11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空间梁节点同时包含三平移与三转动</a:t>
            </a:r>
            <a:endParaRPr lang="en-US" sz="1600" dirty="0"/>
          </a:p>
        </p:txBody>
      </p:sp>
      <p:sp>
        <p:nvSpPr>
          <p:cNvPr id="14" name="S11/object-525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100" dirty="0"/>
          </a:p>
        </p:txBody>
      </p:sp>
      <p:sp>
        <p:nvSpPr>
          <p:cNvPr id="15" name="S11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来源：README.md；空间刚架运行条件</a:t>
            </a:r>
            <a:endParaRPr lang="en-US" sz="800" dirty="0"/>
          </a:p>
        </p:txBody>
      </p:sp>
      <p:sp>
        <p:nvSpPr>
          <p:cNvPr id="16" name="S11/object-526"/>
          <p:cNvSpPr/>
          <p:nvPr/>
        </p:nvSpPr>
        <p:spPr>
          <a:xfrm>
            <a:off x="5669280" y="1563624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189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× 6 = 24：约束处理前节点自由度总数，不等于24个有效自由度。</a:t>
            </a:r>
            <a:endParaRPr lang="en-US" sz="1200" dirty="0"/>
          </a:p>
        </p:txBody>
      </p:sp>
      <p:sp>
        <p:nvSpPr>
          <p:cNvPr id="17" name="S11/object-527"/>
          <p:cNvSpPr/>
          <p:nvPr/>
        </p:nvSpPr>
        <p:spPr>
          <a:xfrm>
            <a:off x="571500" y="1787652"/>
            <a:ext cx="4709160" cy="4142232"/>
          </a:xfrm>
          <a:prstGeom prst="rect">
            <a:avLst>
              <a:gd name="adj" fmla="val 3532"/>
            </a:avLst>
          </a:prstGeom>
          <a:solidFill>
            <a:srgbClr val="BDD5EB"/>
          </a:solidFill>
          <a:ln w="10160">
            <a:solidFill>
              <a:srgbClr val="BDD5EB"/>
            </a:solidFill>
            <a:prstDash val="solid"/>
          </a:ln>
        </p:spPr>
      </p:sp>
      <p:pic>
        <p:nvPicPr>
          <p:cNvPr id="18" name="S11/space-model" descr="真实本地程序截图；来源 space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12364"/>
            <a:ext cx="4663440" cy="4092808"/>
          </a:xfrm>
          <a:prstGeom prst="rect">
            <a:avLst/>
          </a:prstGeom>
        </p:spPr>
      </p:pic>
      <p:sp>
        <p:nvSpPr>
          <p:cNvPr id="19" name="S11/object-528"/>
          <p:cNvSpPr/>
          <p:nvPr/>
        </p:nvSpPr>
        <p:spPr>
          <a:xfrm>
            <a:off x="5596128" y="1920240"/>
            <a:ext cx="310896" cy="310896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20" name="S11/object-529"/>
          <p:cNvSpPr/>
          <p:nvPr/>
        </p:nvSpPr>
        <p:spPr>
          <a:xfrm>
            <a:off x="5596128" y="197053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S11/object-530"/>
          <p:cNvSpPr/>
          <p:nvPr/>
        </p:nvSpPr>
        <p:spPr>
          <a:xfrm>
            <a:off x="6035040" y="1906524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每节点六自由度</a:t>
            </a:r>
            <a:endParaRPr lang="en-US" sz="2100" dirty="0"/>
          </a:p>
        </p:txBody>
      </p:sp>
      <p:sp>
        <p:nvSpPr>
          <p:cNvPr id="22" name="S11/object-531"/>
          <p:cNvSpPr/>
          <p:nvPr/>
        </p:nvSpPr>
        <p:spPr>
          <a:xfrm>
            <a:off x="5687568" y="315468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3" name="S11/object-532"/>
          <p:cNvSpPr/>
          <p:nvPr/>
        </p:nvSpPr>
        <p:spPr>
          <a:xfrm>
            <a:off x="5797296" y="32186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Ux</a:t>
            </a:r>
            <a:endParaRPr lang="en-US" sz="1200" dirty="0"/>
          </a:p>
        </p:txBody>
      </p:sp>
      <p:sp>
        <p:nvSpPr>
          <p:cNvPr id="24" name="S11/object-533"/>
          <p:cNvSpPr/>
          <p:nvPr/>
        </p:nvSpPr>
        <p:spPr>
          <a:xfrm>
            <a:off x="7644384" y="315468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5" name="S11/object-534"/>
          <p:cNvSpPr/>
          <p:nvPr/>
        </p:nvSpPr>
        <p:spPr>
          <a:xfrm>
            <a:off x="7754112" y="32186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Uy</a:t>
            </a:r>
            <a:endParaRPr lang="en-US" sz="1200" dirty="0"/>
          </a:p>
        </p:txBody>
      </p:sp>
      <p:sp>
        <p:nvSpPr>
          <p:cNvPr id="26" name="S11/object-535"/>
          <p:cNvSpPr/>
          <p:nvPr/>
        </p:nvSpPr>
        <p:spPr>
          <a:xfrm>
            <a:off x="9601200" y="315468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7" name="S11/object-536"/>
          <p:cNvSpPr/>
          <p:nvPr/>
        </p:nvSpPr>
        <p:spPr>
          <a:xfrm>
            <a:off x="9710928" y="32186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Uz</a:t>
            </a:r>
            <a:endParaRPr lang="en-US" sz="1200" dirty="0"/>
          </a:p>
        </p:txBody>
      </p:sp>
      <p:sp>
        <p:nvSpPr>
          <p:cNvPr id="28" name="S11/object-537"/>
          <p:cNvSpPr/>
          <p:nvPr/>
        </p:nvSpPr>
        <p:spPr>
          <a:xfrm>
            <a:off x="5687568" y="3822192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EFF9"/>
          </a:solidFill>
          <a:ln w="10160">
            <a:solidFill>
              <a:srgbClr val="E2EFF9"/>
            </a:solidFill>
            <a:prstDash val="solid"/>
          </a:ln>
        </p:spPr>
      </p:sp>
      <p:sp>
        <p:nvSpPr>
          <p:cNvPr id="29" name="S11/object-538"/>
          <p:cNvSpPr/>
          <p:nvPr/>
        </p:nvSpPr>
        <p:spPr>
          <a:xfrm>
            <a:off x="5797296" y="388620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189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Rx</a:t>
            </a:r>
            <a:endParaRPr lang="en-US" sz="1200" dirty="0"/>
          </a:p>
        </p:txBody>
      </p:sp>
      <p:sp>
        <p:nvSpPr>
          <p:cNvPr id="30" name="S11/object-539"/>
          <p:cNvSpPr/>
          <p:nvPr/>
        </p:nvSpPr>
        <p:spPr>
          <a:xfrm>
            <a:off x="7644384" y="3822192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EFF9"/>
          </a:solidFill>
          <a:ln w="10160">
            <a:solidFill>
              <a:srgbClr val="E2EFF9"/>
            </a:solidFill>
            <a:prstDash val="solid"/>
          </a:ln>
        </p:spPr>
      </p:sp>
      <p:sp>
        <p:nvSpPr>
          <p:cNvPr id="31" name="S11/object-540"/>
          <p:cNvSpPr/>
          <p:nvPr/>
        </p:nvSpPr>
        <p:spPr>
          <a:xfrm>
            <a:off x="7754112" y="388620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189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Ry</a:t>
            </a:r>
            <a:endParaRPr lang="en-US" sz="1200" dirty="0"/>
          </a:p>
        </p:txBody>
      </p:sp>
      <p:sp>
        <p:nvSpPr>
          <p:cNvPr id="32" name="S11/object-541"/>
          <p:cNvSpPr/>
          <p:nvPr/>
        </p:nvSpPr>
        <p:spPr>
          <a:xfrm>
            <a:off x="9601200" y="3822192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EFF9"/>
          </a:solidFill>
          <a:ln w="10160">
            <a:solidFill>
              <a:srgbClr val="E2EFF9"/>
            </a:solidFill>
            <a:prstDash val="solid"/>
          </a:ln>
        </p:spPr>
      </p:sp>
      <p:sp>
        <p:nvSpPr>
          <p:cNvPr id="33" name="S11/object-542"/>
          <p:cNvSpPr/>
          <p:nvPr/>
        </p:nvSpPr>
        <p:spPr>
          <a:xfrm>
            <a:off x="9710928" y="388620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189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Rz</a:t>
            </a:r>
            <a:endParaRPr lang="en-US" sz="1200" dirty="0"/>
          </a:p>
        </p:txBody>
      </p:sp>
      <p:sp>
        <p:nvSpPr>
          <p:cNvPr id="34" name="S11/object-543"/>
          <p:cNvSpPr/>
          <p:nvPr/>
        </p:nvSpPr>
        <p:spPr>
          <a:xfrm>
            <a:off x="5687568" y="455371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两端共 12 自由度 → 12×12 单元刚度</a:t>
            </a:r>
            <a:endParaRPr lang="en-US" sz="2400" dirty="0"/>
          </a:p>
        </p:txBody>
      </p:sp>
      <p:sp>
        <p:nvSpPr>
          <p:cNvPr id="35" name="S11/object-544"/>
          <p:cNvSpPr/>
          <p:nvPr/>
        </p:nvSpPr>
        <p:spPr>
          <a:xfrm>
            <a:off x="5687568" y="5202936"/>
            <a:ext cx="56692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EA/L：轴向；GJ/L：扭转；EI：双向弯曲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局部刚度 → 坐标变换 → 整体自由度装配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Euler–Bernoulli梁；不含剪切变形修正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2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12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12/object-545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2/object-546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2/object-547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2/object-548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2/object-549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2/object-550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2/object-551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12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空间刚架的实机结果核验</a:t>
            </a:r>
            <a:endParaRPr lang="en-US" sz="2800" dirty="0"/>
          </a:p>
        </p:txBody>
      </p:sp>
      <p:sp>
        <p:nvSpPr>
          <p:cNvPr id="12" name="S12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12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三向合力平衡成立，完整力矩核验仍缺失</a:t>
            </a:r>
            <a:endParaRPr lang="en-US" sz="1600" dirty="0"/>
          </a:p>
        </p:txBody>
      </p:sp>
      <p:sp>
        <p:nvSpPr>
          <p:cNvPr id="14" name="S12/object-552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100" dirty="0"/>
          </a:p>
        </p:txBody>
      </p:sp>
      <p:sp>
        <p:nvSpPr>
          <p:cNvPr id="15" name="S12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来源：live/11-space-results.jpg；qa/live-run-evidence.json</a:t>
            </a:r>
            <a:endParaRPr lang="en-US" sz="800" dirty="0"/>
          </a:p>
        </p:txBody>
      </p:sp>
      <p:sp>
        <p:nvSpPr>
          <p:cNvPr id="16" name="S12/object-553"/>
          <p:cNvSpPr/>
          <p:nvPr/>
        </p:nvSpPr>
        <p:spPr>
          <a:xfrm>
            <a:off x="640080" y="1581912"/>
            <a:ext cx="10881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189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核验步骤：读取外力 → 读取总反力 → 逐方向求和 → 明确未检查的力矩。</a:t>
            </a:r>
            <a:endParaRPr lang="en-US" sz="1200" dirty="0"/>
          </a:p>
        </p:txBody>
      </p:sp>
      <p:sp>
        <p:nvSpPr>
          <p:cNvPr id="17" name="S12/object-554"/>
          <p:cNvSpPr/>
          <p:nvPr/>
        </p:nvSpPr>
        <p:spPr>
          <a:xfrm>
            <a:off x="571500" y="1805940"/>
            <a:ext cx="3108960" cy="4114800"/>
          </a:xfrm>
          <a:prstGeom prst="rect">
            <a:avLst>
              <a:gd name="adj" fmla="val 4706"/>
            </a:avLst>
          </a:prstGeom>
          <a:solidFill>
            <a:srgbClr val="BDD5EB"/>
          </a:solidFill>
          <a:ln w="10160">
            <a:solidFill>
              <a:srgbClr val="BDD5EB"/>
            </a:solidFill>
            <a:prstDash val="solid"/>
          </a:ln>
        </p:spPr>
      </p:sp>
      <p:pic>
        <p:nvPicPr>
          <p:cNvPr id="18" name="S12/space-results" descr="真实本地程序截图；来源 space-table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93378"/>
            <a:ext cx="3063240" cy="3939925"/>
          </a:xfrm>
          <a:prstGeom prst="rect">
            <a:avLst/>
          </a:prstGeom>
        </p:spPr>
      </p:pic>
      <p:sp>
        <p:nvSpPr>
          <p:cNvPr id="19" name="S12/object-555"/>
          <p:cNvSpPr/>
          <p:nvPr/>
        </p:nvSpPr>
        <p:spPr>
          <a:xfrm>
            <a:off x="3986784" y="1828800"/>
            <a:ext cx="2414016" cy="987552"/>
          </a:xfrm>
          <a:prstGeom prst="roundRect">
            <a:avLst>
              <a:gd name="adj" fmla="val 14815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0" name="S12/object-556"/>
          <p:cNvSpPr/>
          <p:nvPr/>
        </p:nvSpPr>
        <p:spPr>
          <a:xfrm>
            <a:off x="4151376" y="1975104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3000" dirty="0"/>
          </a:p>
        </p:txBody>
      </p:sp>
      <p:sp>
        <p:nvSpPr>
          <p:cNvPr id="21" name="S12/object-557"/>
          <p:cNvSpPr/>
          <p:nvPr/>
        </p:nvSpPr>
        <p:spPr>
          <a:xfrm>
            <a:off x="5148072" y="22219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</a:t>
            </a:r>
            <a:endParaRPr lang="en-US" sz="1700" dirty="0"/>
          </a:p>
        </p:txBody>
      </p:sp>
      <p:sp>
        <p:nvSpPr>
          <p:cNvPr id="22" name="S12/object-558"/>
          <p:cNvSpPr/>
          <p:nvPr/>
        </p:nvSpPr>
        <p:spPr>
          <a:xfrm>
            <a:off x="6592824" y="1828800"/>
            <a:ext cx="2414016" cy="987552"/>
          </a:xfrm>
          <a:prstGeom prst="roundRect">
            <a:avLst>
              <a:gd name="adj" fmla="val 14815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3" name="S12/object-559"/>
          <p:cNvSpPr/>
          <p:nvPr/>
        </p:nvSpPr>
        <p:spPr>
          <a:xfrm>
            <a:off x="6757416" y="1975104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000" dirty="0"/>
          </a:p>
        </p:txBody>
      </p:sp>
      <p:sp>
        <p:nvSpPr>
          <p:cNvPr id="24" name="S12/object-560"/>
          <p:cNvSpPr/>
          <p:nvPr/>
        </p:nvSpPr>
        <p:spPr>
          <a:xfrm>
            <a:off x="7754112" y="22219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构件</a:t>
            </a:r>
            <a:endParaRPr lang="en-US" sz="1700" dirty="0"/>
          </a:p>
        </p:txBody>
      </p:sp>
      <p:sp>
        <p:nvSpPr>
          <p:cNvPr id="25" name="S12/object-561"/>
          <p:cNvSpPr/>
          <p:nvPr/>
        </p:nvSpPr>
        <p:spPr>
          <a:xfrm>
            <a:off x="9198864" y="1828800"/>
            <a:ext cx="2414016" cy="987552"/>
          </a:xfrm>
          <a:prstGeom prst="roundRect">
            <a:avLst>
              <a:gd name="adj" fmla="val 14815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6" name="S12/object-562"/>
          <p:cNvSpPr/>
          <p:nvPr/>
        </p:nvSpPr>
        <p:spPr>
          <a:xfrm>
            <a:off x="9363456" y="1975104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3000" dirty="0"/>
          </a:p>
        </p:txBody>
      </p:sp>
      <p:sp>
        <p:nvSpPr>
          <p:cNvPr id="27" name="S12/object-563"/>
          <p:cNvSpPr/>
          <p:nvPr/>
        </p:nvSpPr>
        <p:spPr>
          <a:xfrm>
            <a:off x="10360152" y="22219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总自由度</a:t>
            </a:r>
            <a:endParaRPr lang="en-US" sz="1700" dirty="0"/>
          </a:p>
        </p:txBody>
      </p:sp>
      <p:graphicFrame>
        <p:nvGraphicFramePr>
          <p:cNvPr id="28" name="S12/space-balanc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86784" y="3172968"/>
          <a:ext cx="7626096" cy="2057400"/>
        </p:xfrm>
        <a:graphic>
          <a:graphicData uri="http://schemas.openxmlformats.org/drawingml/2006/table">
            <a:tbl>
              <a:tblPr/>
              <a:tblGrid>
                <a:gridCol w="1143000"/>
                <a:gridCol w="2194560"/>
                <a:gridCol w="2194560"/>
                <a:gridCol w="2093976"/>
              </a:tblGrid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方向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E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D点外力 / N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E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A点反力 / N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E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平衡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EAE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−8000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y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−5000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−12000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</a:tr>
            </a:tbl>
          </a:graphicData>
        </a:graphic>
      </p:graphicFrame>
      <p:sp>
        <p:nvSpPr>
          <p:cNvPr id="29" name="S12/object-564"/>
          <p:cNvSpPr/>
          <p:nvPr/>
        </p:nvSpPr>
        <p:spPr>
          <a:xfrm>
            <a:off x="4023360" y="5559552"/>
            <a:ext cx="7498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本次界面报告：Worker CPU；残差约 6×10⁻¹⁴；变形显示放大 2.4 倍。</a:t>
            </a:r>
            <a:endParaRPr lang="en-US" sz="1600" dirty="0"/>
          </a:p>
        </p:txBody>
      </p:sp>
      <p:sp>
        <p:nvSpPr>
          <p:cNvPr id="30" name="S12/object-565"/>
          <p:cNvSpPr/>
          <p:nvPr/>
        </p:nvSpPr>
        <p:spPr>
          <a:xfrm>
            <a:off x="4023360" y="6025896"/>
            <a:ext cx="7498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仅核对三向力平衡；扭矩数值未捕获，应力 / 安全系数未补填。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3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13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13/object-566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3/object-567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3/object-568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3/object-569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3/object-570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3/object-571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3/object-572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13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本地求解软件的技术架构</a:t>
            </a:r>
            <a:endParaRPr lang="en-US" sz="2800" dirty="0"/>
          </a:p>
        </p:txBody>
      </p:sp>
      <p:sp>
        <p:nvSpPr>
          <p:cNvPr id="12" name="S13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13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当前数值求解主要运行于Worker CPU</a:t>
            </a:r>
            <a:endParaRPr lang="en-US" sz="1600" dirty="0"/>
          </a:p>
        </p:txBody>
      </p:sp>
      <p:sp>
        <p:nvSpPr>
          <p:cNvPr id="14" name="S13/object-573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100" dirty="0"/>
          </a:p>
        </p:txBody>
      </p:sp>
      <p:sp>
        <p:nvSpPr>
          <p:cNvPr id="15" name="S13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来源：README.md；用户提供的技术栈和求解能力说明</a:t>
            </a:r>
            <a:endParaRPr lang="en-US" sz="800" dirty="0"/>
          </a:p>
        </p:txBody>
      </p:sp>
      <p:sp>
        <p:nvSpPr>
          <p:cNvPr id="16" name="S13/object-574"/>
          <p:cNvSpPr/>
          <p:nvPr/>
        </p:nvSpPr>
        <p:spPr>
          <a:xfrm>
            <a:off x="4434840" y="2039112"/>
            <a:ext cx="3246120" cy="3639312"/>
          </a:xfrm>
          <a:prstGeom prst="roundRect">
            <a:avLst>
              <a:gd name="adj" fmla="val 4507"/>
            </a:avLst>
          </a:prstGeom>
          <a:solidFill>
            <a:srgbClr val="DCEBF8"/>
          </a:solidFill>
          <a:ln w="10160">
            <a:solidFill>
              <a:srgbClr val="DCEBF8"/>
            </a:solidFill>
            <a:prstDash val="solid"/>
          </a:ln>
        </p:spPr>
      </p:sp>
      <p:sp>
        <p:nvSpPr>
          <p:cNvPr id="17" name="S13/object-575"/>
          <p:cNvSpPr/>
          <p:nvPr/>
        </p:nvSpPr>
        <p:spPr>
          <a:xfrm>
            <a:off x="4617720" y="420624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本地计算核心</a:t>
            </a:r>
            <a:endParaRPr lang="en-US" sz="2200" dirty="0"/>
          </a:p>
        </p:txBody>
      </p:sp>
      <p:sp>
        <p:nvSpPr>
          <p:cNvPr id="18" name="S13/object-576"/>
          <p:cNvSpPr/>
          <p:nvPr/>
        </p:nvSpPr>
        <p:spPr>
          <a:xfrm>
            <a:off x="4617720" y="4837176"/>
            <a:ext cx="2852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单元组装 / 约束分块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位移 → 反力与端力</a:t>
            </a:r>
            <a:endParaRPr lang="en-US" sz="1600" dirty="0"/>
          </a:p>
        </p:txBody>
      </p:sp>
      <p:sp>
        <p:nvSpPr>
          <p:cNvPr id="19" name="S13/object-577"/>
          <p:cNvSpPr/>
          <p:nvPr/>
        </p:nvSpPr>
        <p:spPr>
          <a:xfrm>
            <a:off x="640080" y="1938528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0" name="S13/object-578"/>
          <p:cNvSpPr/>
          <p:nvPr/>
        </p:nvSpPr>
        <p:spPr>
          <a:xfrm>
            <a:off x="822960" y="209397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模型数据</a:t>
            </a:r>
            <a:endParaRPr lang="en-US" sz="2100" dirty="0"/>
          </a:p>
        </p:txBody>
      </p:sp>
      <p:sp>
        <p:nvSpPr>
          <p:cNvPr id="21" name="S13/object-579"/>
          <p:cNvSpPr/>
          <p:nvPr/>
        </p:nvSpPr>
        <p:spPr>
          <a:xfrm>
            <a:off x="822960" y="2633472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节点、材料、截面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约束与荷载</a:t>
            </a:r>
            <a:endParaRPr lang="en-US" sz="1700" dirty="0"/>
          </a:p>
        </p:txBody>
      </p:sp>
      <p:sp>
        <p:nvSpPr>
          <p:cNvPr id="22" name="S13/object-580"/>
          <p:cNvSpPr/>
          <p:nvPr/>
        </p:nvSpPr>
        <p:spPr>
          <a:xfrm>
            <a:off x="4005072" y="2660904"/>
            <a:ext cx="384048" cy="0"/>
          </a:xfrm>
          <a:prstGeom prst="line">
            <a:avLst/>
          </a:prstGeom>
          <a:noFill/>
          <a:ln w="20320">
            <a:solidFill>
              <a:srgbClr val="2189C4"/>
            </a:solidFill>
            <a:prstDash val="solid"/>
            <a:tailEnd type="triangle"/>
          </a:ln>
        </p:spPr>
      </p:sp>
      <p:sp>
        <p:nvSpPr>
          <p:cNvPr id="23" name="S13/object-581"/>
          <p:cNvSpPr/>
          <p:nvPr/>
        </p:nvSpPr>
        <p:spPr>
          <a:xfrm>
            <a:off x="8183880" y="1938528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5F0FA"/>
          </a:solidFill>
          <a:ln w="10160">
            <a:solidFill>
              <a:srgbClr val="E5F0FA"/>
            </a:solidFill>
            <a:prstDash val="solid"/>
          </a:ln>
        </p:spPr>
      </p:sp>
      <p:sp>
        <p:nvSpPr>
          <p:cNvPr id="24" name="S13/object-582"/>
          <p:cNvSpPr/>
          <p:nvPr/>
        </p:nvSpPr>
        <p:spPr>
          <a:xfrm>
            <a:off x="8366760" y="209397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可视交互</a:t>
            </a:r>
            <a:endParaRPr lang="en-US" sz="2100" dirty="0"/>
          </a:p>
        </p:txBody>
      </p:sp>
      <p:sp>
        <p:nvSpPr>
          <p:cNvPr id="25" name="S13/object-583"/>
          <p:cNvSpPr/>
          <p:nvPr/>
        </p:nvSpPr>
        <p:spPr>
          <a:xfrm>
            <a:off x="8366760" y="2633472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 / TypeScript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Three.js 视图</a:t>
            </a:r>
            <a:endParaRPr lang="en-US" sz="1700" dirty="0"/>
          </a:p>
        </p:txBody>
      </p:sp>
      <p:sp>
        <p:nvSpPr>
          <p:cNvPr id="26" name="S13/object-584"/>
          <p:cNvSpPr/>
          <p:nvPr/>
        </p:nvSpPr>
        <p:spPr>
          <a:xfrm>
            <a:off x="7680960" y="2660904"/>
            <a:ext cx="457200" cy="0"/>
          </a:xfrm>
          <a:prstGeom prst="line">
            <a:avLst/>
          </a:prstGeom>
          <a:noFill/>
          <a:ln w="20320">
            <a:solidFill>
              <a:srgbClr val="2189C4"/>
            </a:solidFill>
            <a:prstDash val="solid"/>
            <a:tailEnd type="triangle"/>
          </a:ln>
        </p:spPr>
      </p:sp>
      <p:sp>
        <p:nvSpPr>
          <p:cNvPr id="27" name="S13/object-585"/>
          <p:cNvSpPr/>
          <p:nvPr/>
        </p:nvSpPr>
        <p:spPr>
          <a:xfrm>
            <a:off x="640080" y="4251960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8" name="S13/object-586"/>
          <p:cNvSpPr/>
          <p:nvPr/>
        </p:nvSpPr>
        <p:spPr>
          <a:xfrm>
            <a:off x="822960" y="440740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学习解释</a:t>
            </a:r>
            <a:endParaRPr lang="en-US" sz="2100" dirty="0"/>
          </a:p>
        </p:txBody>
      </p:sp>
      <p:sp>
        <p:nvSpPr>
          <p:cNvPr id="29" name="S13/object-587"/>
          <p:cNvSpPr/>
          <p:nvPr/>
        </p:nvSpPr>
        <p:spPr>
          <a:xfrm>
            <a:off x="822960" y="4946904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公式库 / 分步推导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内力与结果表</a:t>
            </a:r>
            <a:endParaRPr lang="en-US" sz="1700" dirty="0"/>
          </a:p>
        </p:txBody>
      </p:sp>
      <p:sp>
        <p:nvSpPr>
          <p:cNvPr id="30" name="S13/object-588"/>
          <p:cNvSpPr/>
          <p:nvPr/>
        </p:nvSpPr>
        <p:spPr>
          <a:xfrm flipH="1">
            <a:off x="4005072" y="4974336"/>
            <a:ext cx="384048" cy="0"/>
          </a:xfrm>
          <a:prstGeom prst="line">
            <a:avLst/>
          </a:prstGeom>
          <a:noFill/>
          <a:ln w="20320">
            <a:solidFill>
              <a:srgbClr val="2189C4"/>
            </a:solidFill>
            <a:prstDash val="solid"/>
            <a:tailEnd type="triangle"/>
          </a:ln>
        </p:spPr>
      </p:sp>
      <p:sp>
        <p:nvSpPr>
          <p:cNvPr id="31" name="S13/object-589"/>
          <p:cNvSpPr/>
          <p:nvPr/>
        </p:nvSpPr>
        <p:spPr>
          <a:xfrm>
            <a:off x="8183880" y="4251960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5F0FA"/>
          </a:solidFill>
          <a:ln w="10160">
            <a:solidFill>
              <a:srgbClr val="E5F0FA"/>
            </a:solidFill>
            <a:prstDash val="solid"/>
          </a:ln>
        </p:spPr>
      </p:sp>
      <p:sp>
        <p:nvSpPr>
          <p:cNvPr id="32" name="S13/object-590"/>
          <p:cNvSpPr/>
          <p:nvPr/>
        </p:nvSpPr>
        <p:spPr>
          <a:xfrm>
            <a:off x="8366760" y="440740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离线交付</a:t>
            </a:r>
            <a:endParaRPr lang="en-US" sz="2100" dirty="0"/>
          </a:p>
        </p:txBody>
      </p:sp>
      <p:sp>
        <p:nvSpPr>
          <p:cNvPr id="33" name="S13/object-591"/>
          <p:cNvSpPr/>
          <p:nvPr/>
        </p:nvSpPr>
        <p:spPr>
          <a:xfrm>
            <a:off x="8366760" y="4946904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Electron / PWA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CPU + sparse LU</a:t>
            </a:r>
            <a:endParaRPr lang="en-US" sz="1700" dirty="0"/>
          </a:p>
        </p:txBody>
      </p:sp>
      <p:sp>
        <p:nvSpPr>
          <p:cNvPr id="34" name="S13/object-592"/>
          <p:cNvSpPr/>
          <p:nvPr/>
        </p:nvSpPr>
        <p:spPr>
          <a:xfrm>
            <a:off x="7680960" y="4974336"/>
            <a:ext cx="457200" cy="0"/>
          </a:xfrm>
          <a:prstGeom prst="line">
            <a:avLst/>
          </a:prstGeom>
          <a:noFill/>
          <a:ln w="20320">
            <a:solidFill>
              <a:srgbClr val="2189C4"/>
            </a:solidFill>
            <a:prstDash val="solid"/>
            <a:tailEnd type="triangle"/>
          </a:ln>
        </p:spPr>
      </p:sp>
      <p:sp>
        <p:nvSpPr>
          <p:cNvPr id="35" name="S13/object-593"/>
          <p:cNvSpPr/>
          <p:nvPr/>
        </p:nvSpPr>
        <p:spPr>
          <a:xfrm>
            <a:off x="777240" y="5989320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计算链：K组装 → 约束分块 → sparse LU → 位移 → 反力与端力；Worker不可用回退主线程，WebGPU仅检测。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4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14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14/object-594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4/object-595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4/object-596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4/object-597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4/object-598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4/object-599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4/object-600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14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哪些能力已具备，哪些仍受限？</a:t>
            </a:r>
            <a:endParaRPr lang="en-US" sz="2800" dirty="0"/>
          </a:p>
        </p:txBody>
      </p:sp>
      <p:sp>
        <p:nvSpPr>
          <p:cNvPr id="12" name="S14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14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功能存在、实机观察与充分验证不是一回事</a:t>
            </a:r>
            <a:endParaRPr lang="en-US" sz="1600" dirty="0"/>
          </a:p>
        </p:txBody>
      </p:sp>
      <p:sp>
        <p:nvSpPr>
          <p:cNvPr id="14" name="S14/object-601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100" dirty="0"/>
          </a:p>
        </p:txBody>
      </p:sp>
      <p:sp>
        <p:nvSpPr>
          <p:cNvPr id="15" name="S14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来源：README.md；qa/live-run-evidence.json；技术边界说明</a:t>
            </a:r>
            <a:endParaRPr lang="en-US" sz="800" dirty="0"/>
          </a:p>
        </p:txBody>
      </p:sp>
      <p:sp>
        <p:nvSpPr>
          <p:cNvPr id="16" name="S14/object-602"/>
          <p:cNvSpPr/>
          <p:nvPr/>
        </p:nvSpPr>
        <p:spPr>
          <a:xfrm>
            <a:off x="594360" y="1883664"/>
            <a:ext cx="3511296" cy="4169664"/>
          </a:xfrm>
          <a:prstGeom prst="roundRect">
            <a:avLst>
              <a:gd name="adj" fmla="val 4167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17" name="S14/object-603"/>
          <p:cNvSpPr/>
          <p:nvPr/>
        </p:nvSpPr>
        <p:spPr>
          <a:xfrm>
            <a:off x="594360" y="1883664"/>
            <a:ext cx="3511296" cy="777240"/>
          </a:xfrm>
          <a:prstGeom prst="roundRect">
            <a:avLst>
              <a:gd name="adj" fmla="val 18824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8" name="S14/object-604"/>
          <p:cNvSpPr/>
          <p:nvPr/>
        </p:nvSpPr>
        <p:spPr>
          <a:xfrm>
            <a:off x="758952" y="2084832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 · 学习功能</a:t>
            </a:r>
            <a:endParaRPr lang="en-US" sz="2000" dirty="0"/>
          </a:p>
        </p:txBody>
      </p:sp>
      <p:sp>
        <p:nvSpPr>
          <p:cNvPr id="19" name="S14/object-605"/>
          <p:cNvSpPr/>
          <p:nvPr/>
        </p:nvSpPr>
        <p:spPr>
          <a:xfrm>
            <a:off x="777240" y="2880360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二维梁 / 刚架</a:t>
            </a:r>
            <a:endParaRPr lang="en-US" sz="2000" dirty="0"/>
          </a:p>
        </p:txBody>
      </p:sp>
      <p:sp>
        <p:nvSpPr>
          <p:cNvPr id="20" name="S14/object-606"/>
          <p:cNvSpPr/>
          <p:nvPr/>
        </p:nvSpPr>
        <p:spPr>
          <a:xfrm>
            <a:off x="777240" y="3383280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反力、N / V / M、变形</a:t>
            </a:r>
            <a:endParaRPr lang="en-US" sz="1600" dirty="0"/>
          </a:p>
        </p:txBody>
      </p:sp>
      <p:sp>
        <p:nvSpPr>
          <p:cNvPr id="21" name="S14/object-607"/>
          <p:cNvSpPr/>
          <p:nvPr/>
        </p:nvSpPr>
        <p:spPr>
          <a:xfrm>
            <a:off x="777240" y="395935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空间杆系</a:t>
            </a:r>
            <a:endParaRPr lang="en-US" sz="2000" dirty="0"/>
          </a:p>
        </p:txBody>
      </p:sp>
      <p:sp>
        <p:nvSpPr>
          <p:cNvPr id="22" name="S14/object-608"/>
          <p:cNvSpPr/>
          <p:nvPr/>
        </p:nvSpPr>
        <p:spPr>
          <a:xfrm>
            <a:off x="777240" y="4462272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节点自由度、构件端力</a:t>
            </a:r>
            <a:endParaRPr lang="en-US" sz="1600" dirty="0"/>
          </a:p>
        </p:txBody>
      </p:sp>
      <p:sp>
        <p:nvSpPr>
          <p:cNvPr id="23" name="S14/object-609"/>
          <p:cNvSpPr/>
          <p:nvPr/>
        </p:nvSpPr>
        <p:spPr>
          <a:xfrm>
            <a:off x="777240" y="5568696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使用前检查条件与符号</a:t>
            </a:r>
            <a:endParaRPr lang="en-US" sz="1400" dirty="0"/>
          </a:p>
        </p:txBody>
      </p:sp>
      <p:sp>
        <p:nvSpPr>
          <p:cNvPr id="24" name="S14/object-610"/>
          <p:cNvSpPr/>
          <p:nvPr/>
        </p:nvSpPr>
        <p:spPr>
          <a:xfrm>
            <a:off x="4398264" y="1883664"/>
            <a:ext cx="3511296" cy="4169664"/>
          </a:xfrm>
          <a:prstGeom prst="roundRect">
            <a:avLst>
              <a:gd name="adj" fmla="val 4167"/>
            </a:avLst>
          </a:prstGeom>
          <a:solidFill>
            <a:srgbClr val="E4EFF9"/>
          </a:solidFill>
          <a:ln w="10160">
            <a:solidFill>
              <a:srgbClr val="E4EFF9"/>
            </a:solidFill>
            <a:prstDash val="solid"/>
          </a:ln>
        </p:spPr>
      </p:sp>
      <p:sp>
        <p:nvSpPr>
          <p:cNvPr id="25" name="S14/object-611"/>
          <p:cNvSpPr/>
          <p:nvPr/>
        </p:nvSpPr>
        <p:spPr>
          <a:xfrm>
            <a:off x="4398264" y="1883664"/>
            <a:ext cx="3511296" cy="777240"/>
          </a:xfrm>
          <a:prstGeom prst="roundRect">
            <a:avLst>
              <a:gd name="adj" fmla="val 18824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26" name="S14/object-612"/>
          <p:cNvSpPr/>
          <p:nvPr/>
        </p:nvSpPr>
        <p:spPr>
          <a:xfrm>
            <a:off x="4562856" y="2084832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实验中 · 继续验证</a:t>
            </a:r>
            <a:endParaRPr lang="en-US" sz="2000" dirty="0"/>
          </a:p>
        </p:txBody>
      </p:sp>
      <p:sp>
        <p:nvSpPr>
          <p:cNvPr id="27" name="S14/object-613"/>
          <p:cNvSpPr/>
          <p:nvPr/>
        </p:nvSpPr>
        <p:spPr>
          <a:xfrm>
            <a:off x="4581144" y="2880360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Tet4实验内核</a:t>
            </a:r>
            <a:endParaRPr lang="en-US" sz="2000" dirty="0"/>
          </a:p>
        </p:txBody>
      </p:sp>
      <p:sp>
        <p:nvSpPr>
          <p:cNvPr id="28" name="S14/object-614"/>
          <p:cNvSpPr/>
          <p:nvPr/>
        </p:nvSpPr>
        <p:spPr>
          <a:xfrm>
            <a:off x="4581144" y="3383280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与主编辑器实体链仍待完善</a:t>
            </a:r>
            <a:endParaRPr lang="en-US" sz="1600" dirty="0"/>
          </a:p>
        </p:txBody>
      </p:sp>
      <p:sp>
        <p:nvSpPr>
          <p:cNvPr id="29" name="S14/object-615"/>
          <p:cNvSpPr/>
          <p:nvPr/>
        </p:nvSpPr>
        <p:spPr>
          <a:xfrm>
            <a:off x="4581144" y="395935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WebGPU能力检测</a:t>
            </a:r>
            <a:endParaRPr lang="en-US" sz="2000" dirty="0"/>
          </a:p>
        </p:txBody>
      </p:sp>
      <p:sp>
        <p:nvSpPr>
          <p:cNvPr id="30" name="S14/object-616"/>
          <p:cNvSpPr/>
          <p:nvPr/>
        </p:nvSpPr>
        <p:spPr>
          <a:xfrm>
            <a:off x="4581144" y="4462272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不等于GPU数值求解</a:t>
            </a:r>
            <a:endParaRPr lang="en-US" sz="1600" dirty="0"/>
          </a:p>
        </p:txBody>
      </p:sp>
      <p:sp>
        <p:nvSpPr>
          <p:cNvPr id="31" name="S14/object-617"/>
          <p:cNvSpPr/>
          <p:nvPr/>
        </p:nvSpPr>
        <p:spPr>
          <a:xfrm>
            <a:off x="4581144" y="5568696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不把界面入口当作成熟能力</a:t>
            </a:r>
            <a:endParaRPr lang="en-US" sz="1400" dirty="0"/>
          </a:p>
        </p:txBody>
      </p:sp>
      <p:sp>
        <p:nvSpPr>
          <p:cNvPr id="32" name="S14/object-618"/>
          <p:cNvSpPr/>
          <p:nvPr/>
        </p:nvSpPr>
        <p:spPr>
          <a:xfrm>
            <a:off x="8202168" y="1883664"/>
            <a:ext cx="3511296" cy="4169664"/>
          </a:xfrm>
          <a:prstGeom prst="roundRect">
            <a:avLst>
              <a:gd name="adj" fmla="val 4167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33" name="S14/object-619"/>
          <p:cNvSpPr/>
          <p:nvPr/>
        </p:nvSpPr>
        <p:spPr>
          <a:xfrm>
            <a:off x="8202168" y="1883664"/>
            <a:ext cx="3511296" cy="777240"/>
          </a:xfrm>
          <a:prstGeom prst="roundRect">
            <a:avLst>
              <a:gd name="adj" fmla="val 18824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34" name="S14/object-620"/>
          <p:cNvSpPr/>
          <p:nvPr/>
        </p:nvSpPr>
        <p:spPr>
          <a:xfrm>
            <a:off x="8366760" y="2084832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用途边界 · 如实说明</a:t>
            </a:r>
            <a:endParaRPr lang="en-US" sz="2000" dirty="0"/>
          </a:p>
        </p:txBody>
      </p:sp>
      <p:sp>
        <p:nvSpPr>
          <p:cNvPr id="35" name="S14/object-621"/>
          <p:cNvSpPr/>
          <p:nvPr/>
        </p:nvSpPr>
        <p:spPr>
          <a:xfrm>
            <a:off x="8385048" y="2880360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课堂学习与训练</a:t>
            </a:r>
            <a:endParaRPr lang="en-US" sz="2000" dirty="0"/>
          </a:p>
        </p:txBody>
      </p:sp>
      <p:sp>
        <p:nvSpPr>
          <p:cNvPr id="36" name="S14/object-622"/>
          <p:cNvSpPr/>
          <p:nvPr/>
        </p:nvSpPr>
        <p:spPr>
          <a:xfrm>
            <a:off x="8385048" y="3383280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解析对照、可视化理解</a:t>
            </a:r>
            <a:endParaRPr lang="en-US" sz="1600" dirty="0"/>
          </a:p>
        </p:txBody>
      </p:sp>
      <p:sp>
        <p:nvSpPr>
          <p:cNvPr id="37" name="S14/object-623"/>
          <p:cNvSpPr/>
          <p:nvPr/>
        </p:nvSpPr>
        <p:spPr>
          <a:xfrm>
            <a:off x="8385048" y="395935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尚非工程认证</a:t>
            </a:r>
            <a:endParaRPr lang="en-US" sz="2000" dirty="0"/>
          </a:p>
        </p:txBody>
      </p:sp>
      <p:sp>
        <p:nvSpPr>
          <p:cNvPr id="38" name="S14/object-624"/>
          <p:cNvSpPr/>
          <p:nvPr/>
        </p:nvSpPr>
        <p:spPr>
          <a:xfrm>
            <a:off x="8385048" y="4462272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不用于设计、鉴定或商业用途</a:t>
            </a:r>
            <a:endParaRPr lang="en-US" sz="1600" dirty="0"/>
          </a:p>
        </p:txBody>
      </p:sp>
      <p:sp>
        <p:nvSpPr>
          <p:cNvPr id="39" name="S14/object-625"/>
          <p:cNvSpPr/>
          <p:nvPr/>
        </p:nvSpPr>
        <p:spPr>
          <a:xfrm>
            <a:off x="8385048" y="5568696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功能存在 ≠ 充分验证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5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15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15/object-626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5/object-627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5/object-628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5/object-629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5/object-630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5/object-631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5/object-632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15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如何复现一个简单学习算例？</a:t>
            </a:r>
            <a:endParaRPr lang="en-US" sz="2800" dirty="0"/>
          </a:p>
        </p:txBody>
      </p:sp>
      <p:sp>
        <p:nvSpPr>
          <p:cNvPr id="12" name="S15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15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从建模、结果查看到解析核对按顺序操作</a:t>
            </a:r>
            <a:endParaRPr lang="en-US" sz="1600" dirty="0"/>
          </a:p>
        </p:txBody>
      </p:sp>
      <p:sp>
        <p:nvSpPr>
          <p:cNvPr id="14" name="S15/object-633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100" dirty="0"/>
          </a:p>
        </p:txBody>
      </p:sp>
      <p:sp>
        <p:nvSpPr>
          <p:cNvPr id="15" name="S15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来源：live/01-workspace.jpg；live/07-load-properties.jpg；二维解析核验</a:t>
            </a:r>
            <a:endParaRPr lang="en-US" sz="800" dirty="0"/>
          </a:p>
        </p:txBody>
      </p:sp>
      <p:sp>
        <p:nvSpPr>
          <p:cNvPr id="16" name="S15/route-0"/>
          <p:cNvSpPr/>
          <p:nvPr/>
        </p:nvSpPr>
        <p:spPr>
          <a:xfrm>
            <a:off x="11082528" y="941832"/>
            <a:ext cx="384048" cy="161300"/>
          </a:xfrm>
          <a:prstGeom prst="diamond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7" name="S15/route-1"/>
          <p:cNvSpPr/>
          <p:nvPr/>
        </p:nvSpPr>
        <p:spPr>
          <a:xfrm>
            <a:off x="11178540" y="1083930"/>
            <a:ext cx="192024" cy="107533"/>
          </a:xfrm>
          <a:prstGeom prst="rect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8" name="S15/object-634"/>
          <p:cNvSpPr/>
          <p:nvPr/>
        </p:nvSpPr>
        <p:spPr>
          <a:xfrm>
            <a:off x="11447374" y="1026323"/>
            <a:ext cx="0" cy="184343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9" name="S15/object-635"/>
          <p:cNvSpPr/>
          <p:nvPr/>
        </p:nvSpPr>
        <p:spPr>
          <a:xfrm>
            <a:off x="571500" y="1805940"/>
            <a:ext cx="6172200" cy="3493008"/>
          </a:xfrm>
          <a:prstGeom prst="rect">
            <a:avLst>
              <a:gd name="adj" fmla="val 4188"/>
            </a:avLst>
          </a:prstGeom>
          <a:solidFill>
            <a:srgbClr val="BDD5EB"/>
          </a:solidFill>
          <a:ln w="10160">
            <a:solidFill>
              <a:srgbClr val="BDD5EB"/>
            </a:solidFill>
            <a:prstDash val="solid"/>
          </a:ln>
        </p:spPr>
      </p:sp>
      <p:pic>
        <p:nvPicPr>
          <p:cNvPr id="20" name="S15/guide-evidence" descr="真实本地程序截图；来源 02-guide.jp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29372"/>
            <a:ext cx="6126480" cy="3446145"/>
          </a:xfrm>
          <a:prstGeom prst="rect">
            <a:avLst/>
          </a:prstGeom>
        </p:spPr>
      </p:pic>
      <p:sp>
        <p:nvSpPr>
          <p:cNvPr id="21" name="S15/object-636"/>
          <p:cNvSpPr/>
          <p:nvPr/>
        </p:nvSpPr>
        <p:spPr>
          <a:xfrm>
            <a:off x="7059168" y="1828800"/>
            <a:ext cx="310896" cy="310896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22" name="S15/object-637"/>
          <p:cNvSpPr/>
          <p:nvPr/>
        </p:nvSpPr>
        <p:spPr>
          <a:xfrm>
            <a:off x="7059168" y="18790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S15/object-638"/>
          <p:cNvSpPr/>
          <p:nvPr/>
        </p:nvSpPr>
        <p:spPr>
          <a:xfrm>
            <a:off x="7498080" y="1815084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载入案例</a:t>
            </a:r>
            <a:endParaRPr lang="en-US" sz="2100" dirty="0"/>
          </a:p>
        </p:txBody>
      </p:sp>
      <p:sp>
        <p:nvSpPr>
          <p:cNvPr id="24" name="S15/object-639"/>
          <p:cNvSpPr/>
          <p:nvPr/>
        </p:nvSpPr>
        <p:spPr>
          <a:xfrm>
            <a:off x="7498080" y="2286000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帮助 → 使用指导与默认案例</a:t>
            </a:r>
            <a:endParaRPr lang="en-US" sz="1700" dirty="0"/>
          </a:p>
        </p:txBody>
      </p:sp>
      <p:sp>
        <p:nvSpPr>
          <p:cNvPr id="25" name="S15/object-640"/>
          <p:cNvSpPr/>
          <p:nvPr/>
        </p:nvSpPr>
        <p:spPr>
          <a:xfrm>
            <a:off x="7059168" y="2807208"/>
            <a:ext cx="310896" cy="310896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26" name="S15/object-641"/>
          <p:cNvSpPr/>
          <p:nvPr/>
        </p:nvSpPr>
        <p:spPr>
          <a:xfrm>
            <a:off x="7059168" y="2857500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S15/object-642"/>
          <p:cNvSpPr/>
          <p:nvPr/>
        </p:nvSpPr>
        <p:spPr>
          <a:xfrm>
            <a:off x="7498080" y="2793492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检查条件</a:t>
            </a:r>
            <a:endParaRPr lang="en-US" sz="2100" dirty="0"/>
          </a:p>
        </p:txBody>
      </p:sp>
      <p:sp>
        <p:nvSpPr>
          <p:cNvPr id="28" name="S15/object-643"/>
          <p:cNvSpPr/>
          <p:nvPr/>
        </p:nvSpPr>
        <p:spPr>
          <a:xfrm>
            <a:off x="7498080" y="3264408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单位、截面、约束、荷载方向</a:t>
            </a:r>
            <a:endParaRPr lang="en-US" sz="1700" dirty="0"/>
          </a:p>
        </p:txBody>
      </p:sp>
      <p:sp>
        <p:nvSpPr>
          <p:cNvPr id="29" name="S15/object-644"/>
          <p:cNvSpPr/>
          <p:nvPr/>
        </p:nvSpPr>
        <p:spPr>
          <a:xfrm>
            <a:off x="7059168" y="3785616"/>
            <a:ext cx="310896" cy="310896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30" name="S15/object-645"/>
          <p:cNvSpPr/>
          <p:nvPr/>
        </p:nvSpPr>
        <p:spPr>
          <a:xfrm>
            <a:off x="7059168" y="3835908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S15/object-646"/>
          <p:cNvSpPr/>
          <p:nvPr/>
        </p:nvSpPr>
        <p:spPr>
          <a:xfrm>
            <a:off x="7498080" y="3771900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求解与核对</a:t>
            </a:r>
            <a:endParaRPr lang="en-US" sz="2100" dirty="0"/>
          </a:p>
        </p:txBody>
      </p:sp>
      <p:sp>
        <p:nvSpPr>
          <p:cNvPr id="32" name="S15/object-647"/>
          <p:cNvSpPr/>
          <p:nvPr/>
        </p:nvSpPr>
        <p:spPr>
          <a:xfrm>
            <a:off x="7498080" y="4242816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二维自动求解；三维点本地求解</a:t>
            </a:r>
            <a:endParaRPr lang="en-US" sz="1700" dirty="0"/>
          </a:p>
        </p:txBody>
      </p:sp>
      <p:sp>
        <p:nvSpPr>
          <p:cNvPr id="33" name="S15/object-648"/>
          <p:cNvSpPr/>
          <p:nvPr/>
        </p:nvSpPr>
        <p:spPr>
          <a:xfrm>
            <a:off x="7059168" y="4764024"/>
            <a:ext cx="310896" cy="310896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34" name="S15/object-649"/>
          <p:cNvSpPr/>
          <p:nvPr/>
        </p:nvSpPr>
        <p:spPr>
          <a:xfrm>
            <a:off x="7059168" y="4814316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S15/object-650"/>
          <p:cNvSpPr/>
          <p:nvPr/>
        </p:nvSpPr>
        <p:spPr>
          <a:xfrm>
            <a:off x="7498080" y="4750308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改变单参数</a:t>
            </a:r>
            <a:endParaRPr lang="en-US" sz="2100" dirty="0"/>
          </a:p>
        </p:txBody>
      </p:sp>
      <p:sp>
        <p:nvSpPr>
          <p:cNvPr id="36" name="S15/object-651"/>
          <p:cNvSpPr/>
          <p:nvPr/>
        </p:nvSpPr>
        <p:spPr>
          <a:xfrm>
            <a:off x="7498080" y="5221224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固定P、L与截面，仅改a；核对反力和弯矩</a:t>
            </a:r>
            <a:endParaRPr lang="en-US" sz="1700" dirty="0"/>
          </a:p>
        </p:txBody>
      </p:sp>
      <p:sp>
        <p:nvSpPr>
          <p:cNvPr id="37" name="S15/object-652"/>
          <p:cNvSpPr/>
          <p:nvPr/>
        </p:nvSpPr>
        <p:spPr>
          <a:xfrm>
            <a:off x="685800" y="5742432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排错线索：不稳定→约束；量级异常→单位；图形异常→方向与局部坐标。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6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16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16/object-653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6/object-654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6/object-655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6/object-656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6/object-657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6/object-658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6/object-659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16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让力学结果真正可理解</a:t>
            </a:r>
            <a:endParaRPr lang="en-US" sz="2800" dirty="0"/>
          </a:p>
        </p:txBody>
      </p:sp>
      <p:sp>
        <p:nvSpPr>
          <p:cNvPr id="12" name="S16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16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以可复算案例验证功能，再逐步扩展边界</a:t>
            </a:r>
            <a:endParaRPr lang="en-US" sz="1600" dirty="0"/>
          </a:p>
        </p:txBody>
      </p:sp>
      <p:sp>
        <p:nvSpPr>
          <p:cNvPr id="14" name="S16/object-660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100" dirty="0"/>
          </a:p>
        </p:txBody>
      </p:sp>
      <p:sp>
        <p:nvSpPr>
          <p:cNvPr id="15" name="S16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来源：二维解析与实机记录；三维实机记录；证据缺口清单</a:t>
            </a:r>
            <a:endParaRPr lang="en-US" sz="800" dirty="0"/>
          </a:p>
        </p:txBody>
      </p:sp>
      <p:sp>
        <p:nvSpPr>
          <p:cNvPr id="16" name="S16/object-661"/>
          <p:cNvSpPr/>
          <p:nvPr/>
        </p:nvSpPr>
        <p:spPr>
          <a:xfrm flipV="1">
            <a:off x="11120933" y="949513"/>
            <a:ext cx="172822" cy="8833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7" name="S16/object-662"/>
          <p:cNvSpPr/>
          <p:nvPr/>
        </p:nvSpPr>
        <p:spPr>
          <a:xfrm>
            <a:off x="11293754" y="949513"/>
            <a:ext cx="153619" cy="8833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8" name="S16/object-663"/>
          <p:cNvSpPr/>
          <p:nvPr/>
        </p:nvSpPr>
        <p:spPr>
          <a:xfrm flipH="1">
            <a:off x="11274552" y="1037844"/>
            <a:ext cx="172822" cy="96012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9" name="S16/object-664"/>
          <p:cNvSpPr/>
          <p:nvPr/>
        </p:nvSpPr>
        <p:spPr>
          <a:xfrm flipH="1" flipV="1">
            <a:off x="11120933" y="1037844"/>
            <a:ext cx="153619" cy="96012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0" name="S16/object-665"/>
          <p:cNvSpPr/>
          <p:nvPr/>
        </p:nvSpPr>
        <p:spPr>
          <a:xfrm>
            <a:off x="11120933" y="1037844"/>
            <a:ext cx="0" cy="203545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1" name="S16/object-666"/>
          <p:cNvSpPr/>
          <p:nvPr/>
        </p:nvSpPr>
        <p:spPr>
          <a:xfrm>
            <a:off x="11120933" y="1241389"/>
            <a:ext cx="153619" cy="8449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2" name="S16/object-667"/>
          <p:cNvSpPr/>
          <p:nvPr/>
        </p:nvSpPr>
        <p:spPr>
          <a:xfrm flipV="1">
            <a:off x="11274552" y="1237549"/>
            <a:ext cx="172822" cy="8833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3" name="S16/object-668"/>
          <p:cNvSpPr/>
          <p:nvPr/>
        </p:nvSpPr>
        <p:spPr>
          <a:xfrm flipV="1">
            <a:off x="11447374" y="1037844"/>
            <a:ext cx="0" cy="199705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4" name="S16/object-669"/>
          <p:cNvSpPr/>
          <p:nvPr/>
        </p:nvSpPr>
        <p:spPr>
          <a:xfrm>
            <a:off x="11274552" y="1133856"/>
            <a:ext cx="0" cy="192024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5" name="S16/object-670"/>
          <p:cNvSpPr/>
          <p:nvPr/>
        </p:nvSpPr>
        <p:spPr>
          <a:xfrm>
            <a:off x="685800" y="192024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3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把“看见结果”推进到“解释结果”</a:t>
            </a:r>
            <a:endParaRPr lang="en-US" sz="3300" dirty="0"/>
          </a:p>
        </p:txBody>
      </p:sp>
      <p:sp>
        <p:nvSpPr>
          <p:cNvPr id="26" name="S16/object-671"/>
          <p:cNvSpPr/>
          <p:nvPr/>
        </p:nvSpPr>
        <p:spPr>
          <a:xfrm>
            <a:off x="640080" y="2971800"/>
            <a:ext cx="3493008" cy="2340864"/>
          </a:xfrm>
          <a:prstGeom prst="roundRect">
            <a:avLst>
              <a:gd name="adj" fmla="val 625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7" name="S16/object-672"/>
          <p:cNvSpPr/>
          <p:nvPr/>
        </p:nvSpPr>
        <p:spPr>
          <a:xfrm>
            <a:off x="640080" y="2971800"/>
            <a:ext cx="3493008" cy="1188720"/>
          </a:xfrm>
          <a:prstGeom prst="roundRect">
            <a:avLst>
              <a:gd name="adj" fmla="val 12308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28" name="S16/object-673"/>
          <p:cNvSpPr/>
          <p:nvPr/>
        </p:nvSpPr>
        <p:spPr>
          <a:xfrm>
            <a:off x="822960" y="31455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600" dirty="0"/>
          </a:p>
        </p:txBody>
      </p:sp>
      <p:sp>
        <p:nvSpPr>
          <p:cNvPr id="29" name="S16/object-674"/>
          <p:cNvSpPr/>
          <p:nvPr/>
        </p:nvSpPr>
        <p:spPr>
          <a:xfrm>
            <a:off x="822960" y="3767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可视化建模</a:t>
            </a:r>
            <a:endParaRPr lang="en-US" sz="2300" dirty="0"/>
          </a:p>
        </p:txBody>
      </p:sp>
      <p:sp>
        <p:nvSpPr>
          <p:cNvPr id="30" name="S16/object-675"/>
          <p:cNvSpPr/>
          <p:nvPr/>
        </p:nvSpPr>
        <p:spPr>
          <a:xfrm>
            <a:off x="822960" y="4361688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把条件转成节点与构件</a:t>
            </a:r>
            <a:endParaRPr lang="en-US" sz="1700" dirty="0"/>
          </a:p>
        </p:txBody>
      </p:sp>
      <p:sp>
        <p:nvSpPr>
          <p:cNvPr id="31" name="S16/object-676"/>
          <p:cNvSpPr/>
          <p:nvPr/>
        </p:nvSpPr>
        <p:spPr>
          <a:xfrm>
            <a:off x="822960" y="49651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已见：二维与空间工作区</a:t>
            </a:r>
            <a:endParaRPr lang="en-US" sz="1200" dirty="0"/>
          </a:p>
        </p:txBody>
      </p:sp>
      <p:sp>
        <p:nvSpPr>
          <p:cNvPr id="32" name="S16/object-677"/>
          <p:cNvSpPr/>
          <p:nvPr/>
        </p:nvSpPr>
        <p:spPr>
          <a:xfrm>
            <a:off x="4434840" y="2971800"/>
            <a:ext cx="3493008" cy="2340864"/>
          </a:xfrm>
          <a:prstGeom prst="roundRect">
            <a:avLst>
              <a:gd name="adj" fmla="val 6250"/>
            </a:avLst>
          </a:prstGeom>
          <a:solidFill>
            <a:srgbClr val="E1EEF9"/>
          </a:solidFill>
          <a:ln w="10160">
            <a:solidFill>
              <a:srgbClr val="E1EEF9"/>
            </a:solidFill>
            <a:prstDash val="solid"/>
          </a:ln>
        </p:spPr>
      </p:sp>
      <p:sp>
        <p:nvSpPr>
          <p:cNvPr id="33" name="S16/object-678"/>
          <p:cNvSpPr/>
          <p:nvPr/>
        </p:nvSpPr>
        <p:spPr>
          <a:xfrm>
            <a:off x="4434840" y="2971800"/>
            <a:ext cx="3493008" cy="1188720"/>
          </a:xfrm>
          <a:prstGeom prst="roundRect">
            <a:avLst>
              <a:gd name="adj" fmla="val 12308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34" name="S16/object-679"/>
          <p:cNvSpPr/>
          <p:nvPr/>
        </p:nvSpPr>
        <p:spPr>
          <a:xfrm>
            <a:off x="4617720" y="31455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600" dirty="0"/>
          </a:p>
        </p:txBody>
      </p:sp>
      <p:sp>
        <p:nvSpPr>
          <p:cNvPr id="35" name="S16/object-680"/>
          <p:cNvSpPr/>
          <p:nvPr/>
        </p:nvSpPr>
        <p:spPr>
          <a:xfrm>
            <a:off x="4617720" y="3767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结果解释</a:t>
            </a:r>
            <a:endParaRPr lang="en-US" sz="2300" dirty="0"/>
          </a:p>
        </p:txBody>
      </p:sp>
      <p:sp>
        <p:nvSpPr>
          <p:cNvPr id="36" name="S16/object-681"/>
          <p:cNvSpPr/>
          <p:nvPr/>
        </p:nvSpPr>
        <p:spPr>
          <a:xfrm>
            <a:off x="4617720" y="4361688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联系内力图、公式与危险位置</a:t>
            </a:r>
            <a:endParaRPr lang="en-US" sz="1700" dirty="0"/>
          </a:p>
        </p:txBody>
      </p:sp>
      <p:sp>
        <p:nvSpPr>
          <p:cNvPr id="37" name="S16/object-682"/>
          <p:cNvSpPr/>
          <p:nvPr/>
        </p:nvSpPr>
        <p:spPr>
          <a:xfrm>
            <a:off x="4617720" y="49651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已见：默认梁幅值对照</a:t>
            </a:r>
            <a:endParaRPr lang="en-US" sz="1200" dirty="0"/>
          </a:p>
        </p:txBody>
      </p:sp>
      <p:sp>
        <p:nvSpPr>
          <p:cNvPr id="38" name="S16/object-683"/>
          <p:cNvSpPr/>
          <p:nvPr/>
        </p:nvSpPr>
        <p:spPr>
          <a:xfrm>
            <a:off x="8229600" y="2971800"/>
            <a:ext cx="3493008" cy="2340864"/>
          </a:xfrm>
          <a:prstGeom prst="roundRect">
            <a:avLst>
              <a:gd name="adj" fmla="val 625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39" name="S16/object-684"/>
          <p:cNvSpPr/>
          <p:nvPr/>
        </p:nvSpPr>
        <p:spPr>
          <a:xfrm>
            <a:off x="8229600" y="2971800"/>
            <a:ext cx="3493008" cy="1188720"/>
          </a:xfrm>
          <a:prstGeom prst="roundRect">
            <a:avLst>
              <a:gd name="adj" fmla="val 12308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40" name="S16/object-685"/>
          <p:cNvSpPr/>
          <p:nvPr/>
        </p:nvSpPr>
        <p:spPr>
          <a:xfrm>
            <a:off x="8412480" y="31455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600" dirty="0"/>
          </a:p>
        </p:txBody>
      </p:sp>
      <p:sp>
        <p:nvSpPr>
          <p:cNvPr id="41" name="S16/object-686"/>
          <p:cNvSpPr/>
          <p:nvPr/>
        </p:nvSpPr>
        <p:spPr>
          <a:xfrm>
            <a:off x="8412480" y="3767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独立核验</a:t>
            </a:r>
            <a:endParaRPr lang="en-US" sz="2300" dirty="0"/>
          </a:p>
        </p:txBody>
      </p:sp>
      <p:sp>
        <p:nvSpPr>
          <p:cNvPr id="42" name="S16/object-687"/>
          <p:cNvSpPr/>
          <p:nvPr/>
        </p:nvSpPr>
        <p:spPr>
          <a:xfrm>
            <a:off x="8412480" y="4361688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平衡关系与解析解交叉检查</a:t>
            </a:r>
            <a:endParaRPr lang="en-US" sz="1700" dirty="0"/>
          </a:p>
        </p:txBody>
      </p:sp>
      <p:sp>
        <p:nvSpPr>
          <p:cNvPr id="43" name="S16/object-688"/>
          <p:cNvSpPr/>
          <p:nvPr/>
        </p:nvSpPr>
        <p:spPr>
          <a:xfrm>
            <a:off x="8412480" y="49651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已见：空间三向力平衡</a:t>
            </a:r>
            <a:endParaRPr lang="en-US" sz="1200" dirty="0"/>
          </a:p>
        </p:txBody>
      </p:sp>
      <p:sp>
        <p:nvSpPr>
          <p:cNvPr id="44" name="S16/object-689"/>
          <p:cNvSpPr/>
          <p:nvPr/>
        </p:nvSpPr>
        <p:spPr>
          <a:xfrm>
            <a:off x="749808" y="565099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189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900" dirty="0"/>
          </a:p>
        </p:txBody>
      </p:sp>
      <p:sp>
        <p:nvSpPr>
          <p:cNvPr id="45" name="S16/object-690"/>
          <p:cNvSpPr/>
          <p:nvPr/>
        </p:nvSpPr>
        <p:spPr>
          <a:xfrm>
            <a:off x="2057400" y="5632704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验证优先：边界与荷载组合 → 解析回归算例 → 空间完整力矩平衡 → 实体链路完善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7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17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17/object-691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7/object-692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7/object-693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7/object-694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7/object-695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7/object-696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7/object-697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17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附录：公式与单位速查</a:t>
            </a:r>
            <a:endParaRPr lang="en-US" sz="2800" dirty="0"/>
          </a:p>
        </p:txBody>
      </p:sp>
      <p:sp>
        <p:nvSpPr>
          <p:cNvPr id="12" name="S17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17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统一参数定义、单位和符号口径</a:t>
            </a:r>
            <a:endParaRPr lang="en-US" sz="1600" dirty="0"/>
          </a:p>
        </p:txBody>
      </p:sp>
      <p:sp>
        <p:nvSpPr>
          <p:cNvPr id="14" name="S17/object-698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100" dirty="0"/>
          </a:p>
        </p:txBody>
      </p:sp>
      <p:sp>
        <p:nvSpPr>
          <p:cNvPr id="15" name="S17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来源：静力学公式；README.md公式符号</a:t>
            </a:r>
            <a:endParaRPr lang="en-US" sz="800" dirty="0"/>
          </a:p>
        </p:txBody>
      </p:sp>
      <p:sp>
        <p:nvSpPr>
          <p:cNvPr id="16" name="S17/route-0"/>
          <p:cNvSpPr/>
          <p:nvPr/>
        </p:nvSpPr>
        <p:spPr>
          <a:xfrm>
            <a:off x="11082528" y="941832"/>
            <a:ext cx="27651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7" name="S17/object-699"/>
          <p:cNvSpPr/>
          <p:nvPr/>
        </p:nvSpPr>
        <p:spPr>
          <a:xfrm>
            <a:off x="11128614" y="1037844"/>
            <a:ext cx="176662" cy="0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8" name="S17/object-700"/>
          <p:cNvSpPr/>
          <p:nvPr/>
        </p:nvSpPr>
        <p:spPr>
          <a:xfrm>
            <a:off x="11128614" y="1114654"/>
            <a:ext cx="176662" cy="0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9" name="S17/object-701"/>
          <p:cNvSpPr/>
          <p:nvPr/>
        </p:nvSpPr>
        <p:spPr>
          <a:xfrm>
            <a:off x="11128614" y="1191463"/>
            <a:ext cx="176662" cy="0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0" name="S17/object-702"/>
          <p:cNvSpPr/>
          <p:nvPr/>
        </p:nvSpPr>
        <p:spPr>
          <a:xfrm flipV="1">
            <a:off x="11266871" y="1133856"/>
            <a:ext cx="180503" cy="176662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1" name="S17/object-703"/>
          <p:cNvSpPr/>
          <p:nvPr/>
        </p:nvSpPr>
        <p:spPr>
          <a:xfrm>
            <a:off x="594360" y="1865376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2" name="S17/object-704"/>
          <p:cNvSpPr/>
          <p:nvPr/>
        </p:nvSpPr>
        <p:spPr>
          <a:xfrm>
            <a:off x="594360" y="1865376"/>
            <a:ext cx="5349240" cy="594360"/>
          </a:xfrm>
          <a:prstGeom prst="roundRect">
            <a:avLst>
              <a:gd name="adj" fmla="val 24615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23" name="S17/object-705"/>
          <p:cNvSpPr/>
          <p:nvPr/>
        </p:nvSpPr>
        <p:spPr>
          <a:xfrm>
            <a:off x="758952" y="2020824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4" name="S17/object-706"/>
          <p:cNvSpPr/>
          <p:nvPr/>
        </p:nvSpPr>
        <p:spPr>
          <a:xfrm>
            <a:off x="868680" y="2084832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S17/object-707"/>
          <p:cNvSpPr/>
          <p:nvPr/>
        </p:nvSpPr>
        <p:spPr>
          <a:xfrm>
            <a:off x="1417320" y="2020824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轴向拉压</a:t>
            </a:r>
            <a:endParaRPr lang="en-US" sz="2200" dirty="0"/>
          </a:p>
        </p:txBody>
      </p:sp>
      <p:sp>
        <p:nvSpPr>
          <p:cNvPr id="26" name="S17/object-708"/>
          <p:cNvSpPr/>
          <p:nvPr/>
        </p:nvSpPr>
        <p:spPr>
          <a:xfrm>
            <a:off x="777240" y="256946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σ=N/A；ΔL=NL/(EA)</a:t>
            </a:r>
            <a:endParaRPr lang="en-US" sz="2000" dirty="0"/>
          </a:p>
        </p:txBody>
      </p:sp>
      <p:sp>
        <p:nvSpPr>
          <p:cNvPr id="27" name="S17/object-709"/>
          <p:cNvSpPr/>
          <p:nvPr/>
        </p:nvSpPr>
        <p:spPr>
          <a:xfrm>
            <a:off x="777240" y="3090672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N：轴力；A：面积；E：弹性模量</a:t>
            </a:r>
            <a:endParaRPr lang="en-US" sz="1400" dirty="0"/>
          </a:p>
        </p:txBody>
      </p:sp>
      <p:sp>
        <p:nvSpPr>
          <p:cNvPr id="28" name="S17/object-710"/>
          <p:cNvSpPr/>
          <p:nvPr/>
        </p:nvSpPr>
        <p:spPr>
          <a:xfrm>
            <a:off x="777240" y="3465576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均匀等截面、线弹性；统一N/m/Pa</a:t>
            </a:r>
            <a:endParaRPr lang="en-US" sz="1200" dirty="0"/>
          </a:p>
        </p:txBody>
      </p:sp>
      <p:sp>
        <p:nvSpPr>
          <p:cNvPr id="29" name="S17/object-711"/>
          <p:cNvSpPr/>
          <p:nvPr/>
        </p:nvSpPr>
        <p:spPr>
          <a:xfrm>
            <a:off x="6263640" y="1865376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30" name="S17/object-712"/>
          <p:cNvSpPr/>
          <p:nvPr/>
        </p:nvSpPr>
        <p:spPr>
          <a:xfrm>
            <a:off x="6263640" y="1865376"/>
            <a:ext cx="5349240" cy="594360"/>
          </a:xfrm>
          <a:prstGeom prst="roundRect">
            <a:avLst>
              <a:gd name="adj" fmla="val 24615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31" name="S17/object-713"/>
          <p:cNvSpPr/>
          <p:nvPr/>
        </p:nvSpPr>
        <p:spPr>
          <a:xfrm>
            <a:off x="6428232" y="2020824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32" name="S17/object-714"/>
          <p:cNvSpPr/>
          <p:nvPr/>
        </p:nvSpPr>
        <p:spPr>
          <a:xfrm>
            <a:off x="6537960" y="2084832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33" name="S17/object-715"/>
          <p:cNvSpPr/>
          <p:nvPr/>
        </p:nvSpPr>
        <p:spPr>
          <a:xfrm>
            <a:off x="7086600" y="2020824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弯曲响应</a:t>
            </a:r>
            <a:endParaRPr lang="en-US" sz="2200" dirty="0"/>
          </a:p>
        </p:txBody>
      </p:sp>
      <p:sp>
        <p:nvSpPr>
          <p:cNvPr id="34" name="S17/object-716"/>
          <p:cNvSpPr/>
          <p:nvPr/>
        </p:nvSpPr>
        <p:spPr>
          <a:xfrm>
            <a:off x="6446520" y="256946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σmax=M/W；EI控制挠度</a:t>
            </a:r>
            <a:endParaRPr lang="en-US" sz="2000" dirty="0"/>
          </a:p>
        </p:txBody>
      </p:sp>
      <p:sp>
        <p:nvSpPr>
          <p:cNvPr id="35" name="S17/object-717"/>
          <p:cNvSpPr/>
          <p:nvPr/>
        </p:nvSpPr>
        <p:spPr>
          <a:xfrm>
            <a:off x="6446520" y="3090672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M：弯矩；W：抗弯截面系数</a:t>
            </a:r>
            <a:endParaRPr lang="en-US" sz="1400" dirty="0"/>
          </a:p>
        </p:txBody>
      </p:sp>
      <p:sp>
        <p:nvSpPr>
          <p:cNvPr id="36" name="S17/object-718"/>
          <p:cNvSpPr/>
          <p:nvPr/>
        </p:nvSpPr>
        <p:spPr>
          <a:xfrm>
            <a:off x="6446520" y="3465576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线弹性、小变形；截面与边界须匹配</a:t>
            </a:r>
            <a:endParaRPr lang="en-US" sz="1200" dirty="0"/>
          </a:p>
        </p:txBody>
      </p:sp>
      <p:sp>
        <p:nvSpPr>
          <p:cNvPr id="37" name="S17/object-719"/>
          <p:cNvSpPr/>
          <p:nvPr/>
        </p:nvSpPr>
        <p:spPr>
          <a:xfrm>
            <a:off x="594360" y="3986784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5F0FA"/>
          </a:solidFill>
          <a:ln w="10160">
            <a:solidFill>
              <a:srgbClr val="E5F0FA"/>
            </a:solidFill>
            <a:prstDash val="solid"/>
          </a:ln>
        </p:spPr>
      </p:sp>
      <p:sp>
        <p:nvSpPr>
          <p:cNvPr id="38" name="S17/object-720"/>
          <p:cNvSpPr/>
          <p:nvPr/>
        </p:nvSpPr>
        <p:spPr>
          <a:xfrm>
            <a:off x="594360" y="3986784"/>
            <a:ext cx="5349240" cy="594360"/>
          </a:xfrm>
          <a:prstGeom prst="roundRect">
            <a:avLst>
              <a:gd name="adj" fmla="val 24615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39" name="S17/object-721"/>
          <p:cNvSpPr/>
          <p:nvPr/>
        </p:nvSpPr>
        <p:spPr>
          <a:xfrm>
            <a:off x="758952" y="4142232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40" name="S17/object-722"/>
          <p:cNvSpPr/>
          <p:nvPr/>
        </p:nvSpPr>
        <p:spPr>
          <a:xfrm>
            <a:off x="868680" y="420624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41" name="S17/object-723"/>
          <p:cNvSpPr/>
          <p:nvPr/>
        </p:nvSpPr>
        <p:spPr>
          <a:xfrm>
            <a:off x="1417320" y="4142232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圆轴扭转</a:t>
            </a:r>
            <a:endParaRPr lang="en-US" sz="2200" dirty="0"/>
          </a:p>
        </p:txBody>
      </p:sp>
      <p:sp>
        <p:nvSpPr>
          <p:cNvPr id="42" name="S17/object-724"/>
          <p:cNvSpPr/>
          <p:nvPr/>
        </p:nvSpPr>
        <p:spPr>
          <a:xfrm>
            <a:off x="777240" y="4690872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τmax=T/Wt；φ=TL/(GJ)</a:t>
            </a:r>
            <a:endParaRPr lang="en-US" sz="2000" dirty="0"/>
          </a:p>
        </p:txBody>
      </p:sp>
      <p:sp>
        <p:nvSpPr>
          <p:cNvPr id="43" name="S17/object-725"/>
          <p:cNvSpPr/>
          <p:nvPr/>
        </p:nvSpPr>
        <p:spPr>
          <a:xfrm>
            <a:off x="777240" y="5212080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T：扭矩；J：极惯性矩；G：剪切模量</a:t>
            </a:r>
            <a:endParaRPr lang="en-US" sz="1400" dirty="0"/>
          </a:p>
        </p:txBody>
      </p:sp>
      <p:sp>
        <p:nvSpPr>
          <p:cNvPr id="44" name="S17/object-726"/>
          <p:cNvSpPr/>
          <p:nvPr/>
        </p:nvSpPr>
        <p:spPr>
          <a:xfrm>
            <a:off x="777240" y="5586984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均匀圆轴、小变形；角度按rad</a:t>
            </a:r>
            <a:endParaRPr lang="en-US" sz="1200" dirty="0"/>
          </a:p>
        </p:txBody>
      </p:sp>
      <p:sp>
        <p:nvSpPr>
          <p:cNvPr id="45" name="S17/object-727"/>
          <p:cNvSpPr/>
          <p:nvPr/>
        </p:nvSpPr>
        <p:spPr>
          <a:xfrm>
            <a:off x="6263640" y="3986784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5F0FA"/>
          </a:solidFill>
          <a:ln w="10160">
            <a:solidFill>
              <a:srgbClr val="E5F0FA"/>
            </a:solidFill>
            <a:prstDash val="solid"/>
          </a:ln>
        </p:spPr>
      </p:sp>
      <p:sp>
        <p:nvSpPr>
          <p:cNvPr id="46" name="S17/object-728"/>
          <p:cNvSpPr/>
          <p:nvPr/>
        </p:nvSpPr>
        <p:spPr>
          <a:xfrm>
            <a:off x="6263640" y="3986784"/>
            <a:ext cx="5349240" cy="594360"/>
          </a:xfrm>
          <a:prstGeom prst="roundRect">
            <a:avLst>
              <a:gd name="adj" fmla="val 24615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47" name="S17/object-729"/>
          <p:cNvSpPr/>
          <p:nvPr/>
        </p:nvSpPr>
        <p:spPr>
          <a:xfrm>
            <a:off x="6428232" y="4142232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48" name="S17/object-730"/>
          <p:cNvSpPr/>
          <p:nvPr/>
        </p:nvSpPr>
        <p:spPr>
          <a:xfrm>
            <a:off x="6537960" y="420624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49" name="S17/object-731"/>
          <p:cNvSpPr/>
          <p:nvPr/>
        </p:nvSpPr>
        <p:spPr>
          <a:xfrm>
            <a:off x="7086600" y="4142232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集中力简支梁</a:t>
            </a:r>
            <a:endParaRPr lang="en-US" sz="2200" dirty="0"/>
          </a:p>
        </p:txBody>
      </p:sp>
      <p:sp>
        <p:nvSpPr>
          <p:cNvPr id="50" name="S17/object-732"/>
          <p:cNvSpPr/>
          <p:nvPr/>
        </p:nvSpPr>
        <p:spPr>
          <a:xfrm>
            <a:off x="6446520" y="4690872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RA=P(L−a)/L；Mpeak=Pa(L−a)/L</a:t>
            </a:r>
            <a:endParaRPr lang="en-US" sz="2000" dirty="0"/>
          </a:p>
        </p:txBody>
      </p:sp>
      <p:sp>
        <p:nvSpPr>
          <p:cNvPr id="51" name="S17/object-733"/>
          <p:cNvSpPr/>
          <p:nvPr/>
        </p:nvSpPr>
        <p:spPr>
          <a:xfrm>
            <a:off x="6446520" y="5212080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a：距左支座位置；0&lt;a&lt;L</a:t>
            </a:r>
            <a:endParaRPr lang="en-US" sz="1400" dirty="0"/>
          </a:p>
        </p:txBody>
      </p:sp>
      <p:sp>
        <p:nvSpPr>
          <p:cNvPr id="52" name="S17/object-734"/>
          <p:cNvSpPr/>
          <p:nvPr/>
        </p:nvSpPr>
        <p:spPr>
          <a:xfrm>
            <a:off x="6446520" y="5586984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本稿P=18kN，L=6m；仅解析预测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8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18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18/object-735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8/object-736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8/object-737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8/object-738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8/object-739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8/object-740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8/object-741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18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附录：证据索引与验证范围</a:t>
            </a:r>
            <a:endParaRPr lang="en-US" sz="2800" dirty="0"/>
          </a:p>
        </p:txBody>
      </p:sp>
      <p:sp>
        <p:nvSpPr>
          <p:cNvPr id="12" name="S18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18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每一项结论必须能够追溯到具体来源</a:t>
            </a:r>
            <a:endParaRPr lang="en-US" sz="1600" dirty="0"/>
          </a:p>
        </p:txBody>
      </p:sp>
      <p:sp>
        <p:nvSpPr>
          <p:cNvPr id="14" name="S18/object-742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100" dirty="0"/>
          </a:p>
        </p:txBody>
      </p:sp>
      <p:sp>
        <p:nvSpPr>
          <p:cNvPr id="15" name="S18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来源：README.md；outputs/classmate-sharing/assets/live/；qa/live-run-evidence.json</a:t>
            </a:r>
            <a:endParaRPr lang="en-US" sz="800" dirty="0"/>
          </a:p>
        </p:txBody>
      </p:sp>
      <p:sp>
        <p:nvSpPr>
          <p:cNvPr id="16" name="S18/object-743"/>
          <p:cNvSpPr/>
          <p:nvPr/>
        </p:nvSpPr>
        <p:spPr>
          <a:xfrm>
            <a:off x="11101730" y="961034"/>
            <a:ext cx="230429" cy="23042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18/object-744"/>
          <p:cNvSpPr/>
          <p:nvPr/>
        </p:nvSpPr>
        <p:spPr>
          <a:xfrm>
            <a:off x="11286073" y="1156899"/>
            <a:ext cx="168981" cy="161300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8" name="S18/object-745"/>
          <p:cNvSpPr/>
          <p:nvPr/>
        </p:nvSpPr>
        <p:spPr>
          <a:xfrm>
            <a:off x="640080" y="1847088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19" name="S18/object-746"/>
          <p:cNvSpPr/>
          <p:nvPr/>
        </p:nvSpPr>
        <p:spPr>
          <a:xfrm>
            <a:off x="749808" y="1911096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20" name="S18/object-747"/>
          <p:cNvSpPr/>
          <p:nvPr/>
        </p:nvSpPr>
        <p:spPr>
          <a:xfrm>
            <a:off x="1325880" y="18562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实机已观察</a:t>
            </a:r>
            <a:endParaRPr lang="en-US" sz="2100" dirty="0"/>
          </a:p>
        </p:txBody>
      </p:sp>
      <p:sp>
        <p:nvSpPr>
          <p:cNvPr id="21" name="S18/object-748"/>
          <p:cNvSpPr/>
          <p:nvPr/>
        </p:nvSpPr>
        <p:spPr>
          <a:xfrm>
            <a:off x="3566160" y="185623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二维梁9/9kN与27kN·m幅值；空间三向力平衡</a:t>
            </a:r>
            <a:endParaRPr lang="en-US" sz="1800" dirty="0"/>
          </a:p>
        </p:txBody>
      </p:sp>
      <p:sp>
        <p:nvSpPr>
          <p:cNvPr id="22" name="S18/object-749"/>
          <p:cNvSpPr/>
          <p:nvPr/>
        </p:nvSpPr>
        <p:spPr>
          <a:xfrm>
            <a:off x="3566160" y="2377440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本地实机截图与运行记录</a:t>
            </a:r>
            <a:endParaRPr lang="en-US" sz="1200" dirty="0"/>
          </a:p>
        </p:txBody>
      </p:sp>
      <p:sp>
        <p:nvSpPr>
          <p:cNvPr id="23" name="S18/object-750"/>
          <p:cNvSpPr/>
          <p:nvPr/>
        </p:nvSpPr>
        <p:spPr>
          <a:xfrm>
            <a:off x="1325880" y="2660904"/>
            <a:ext cx="1012240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24" name="S18/object-751"/>
          <p:cNvSpPr/>
          <p:nvPr/>
        </p:nvSpPr>
        <p:spPr>
          <a:xfrm>
            <a:off x="640080" y="2834640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5" name="S18/object-752"/>
          <p:cNvSpPr/>
          <p:nvPr/>
        </p:nvSpPr>
        <p:spPr>
          <a:xfrm>
            <a:off x="749808" y="2898648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26" name="S18/object-753"/>
          <p:cNvSpPr/>
          <p:nvPr/>
        </p:nvSpPr>
        <p:spPr>
          <a:xfrm>
            <a:off x="1325880" y="28437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解析预测</a:t>
            </a:r>
            <a:endParaRPr lang="en-US" sz="2100" dirty="0"/>
          </a:p>
        </p:txBody>
      </p:sp>
      <p:sp>
        <p:nvSpPr>
          <p:cNvPr id="27" name="S18/object-754"/>
          <p:cNvSpPr/>
          <p:nvPr/>
        </p:nvSpPr>
        <p:spPr>
          <a:xfrm>
            <a:off x="3566160" y="284378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荷载位置a=1/2/3m的反力与弯矩趋势</a:t>
            </a:r>
            <a:endParaRPr lang="en-US" sz="1800" dirty="0"/>
          </a:p>
        </p:txBody>
      </p:sp>
      <p:sp>
        <p:nvSpPr>
          <p:cNvPr id="28" name="S18/object-755"/>
          <p:cNvSpPr/>
          <p:nvPr/>
        </p:nvSpPr>
        <p:spPr>
          <a:xfrm>
            <a:off x="3566160" y="3364992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sources/native-data.json，非新增测量</a:t>
            </a:r>
            <a:endParaRPr lang="en-US" sz="1200" dirty="0"/>
          </a:p>
        </p:txBody>
      </p:sp>
      <p:sp>
        <p:nvSpPr>
          <p:cNvPr id="29" name="S18/object-756"/>
          <p:cNvSpPr/>
          <p:nvPr/>
        </p:nvSpPr>
        <p:spPr>
          <a:xfrm>
            <a:off x="1325880" y="3648456"/>
            <a:ext cx="1012240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30" name="S18/object-757"/>
          <p:cNvSpPr/>
          <p:nvPr/>
        </p:nvSpPr>
        <p:spPr>
          <a:xfrm>
            <a:off x="640080" y="3822192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31" name="S18/object-758"/>
          <p:cNvSpPr/>
          <p:nvPr/>
        </p:nvSpPr>
        <p:spPr>
          <a:xfrm>
            <a:off x="749808" y="3886200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32" name="S18/object-759"/>
          <p:cNvSpPr/>
          <p:nvPr/>
        </p:nvSpPr>
        <p:spPr>
          <a:xfrm>
            <a:off x="1325880" y="38313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实验与缺项</a:t>
            </a:r>
            <a:endParaRPr lang="en-US" sz="2100" dirty="0"/>
          </a:p>
        </p:txBody>
      </p:sp>
      <p:sp>
        <p:nvSpPr>
          <p:cNvPr id="33" name="S18/object-760"/>
          <p:cNvSpPr/>
          <p:nvPr/>
        </p:nvSpPr>
        <p:spPr>
          <a:xfrm>
            <a:off x="3566160" y="383133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Tet4实验；完整力矩核验待补；GPU仅检测</a:t>
            </a:r>
            <a:endParaRPr lang="en-US" sz="1800" dirty="0"/>
          </a:p>
        </p:txBody>
      </p:sp>
      <p:sp>
        <p:nvSpPr>
          <p:cNvPr id="34" name="S18/object-761"/>
          <p:cNvSpPr/>
          <p:nvPr/>
        </p:nvSpPr>
        <p:spPr>
          <a:xfrm>
            <a:off x="3566160" y="4352544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README及求解能力审计</a:t>
            </a:r>
            <a:endParaRPr lang="en-US" sz="1200" dirty="0"/>
          </a:p>
        </p:txBody>
      </p:sp>
      <p:sp>
        <p:nvSpPr>
          <p:cNvPr id="35" name="S18/object-762"/>
          <p:cNvSpPr/>
          <p:nvPr/>
        </p:nvSpPr>
        <p:spPr>
          <a:xfrm>
            <a:off x="1325880" y="4636008"/>
            <a:ext cx="1012240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36" name="S18/object-763"/>
          <p:cNvSpPr/>
          <p:nvPr/>
        </p:nvSpPr>
        <p:spPr>
          <a:xfrm>
            <a:off x="640080" y="4809744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37" name="S18/object-764"/>
          <p:cNvSpPr/>
          <p:nvPr/>
        </p:nvSpPr>
        <p:spPr>
          <a:xfrm>
            <a:off x="749808" y="4873752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38" name="S18/object-765"/>
          <p:cNvSpPr/>
          <p:nvPr/>
        </p:nvSpPr>
        <p:spPr>
          <a:xfrm>
            <a:off x="1325880" y="48188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视觉协作</a:t>
            </a:r>
            <a:endParaRPr lang="en-US" sz="2100" dirty="0"/>
          </a:p>
        </p:txBody>
      </p:sp>
      <p:sp>
        <p:nvSpPr>
          <p:cNvPr id="39" name="S18/object-766"/>
          <p:cNvSpPr/>
          <p:nvPr/>
        </p:nvSpPr>
        <p:spPr>
          <a:xfrm>
            <a:off x="3566160" y="481888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网页规划与逐项独立素材生成，模型名未核验</a:t>
            </a:r>
            <a:endParaRPr lang="en-US" sz="1800" dirty="0"/>
          </a:p>
        </p:txBody>
      </p:sp>
      <p:sp>
        <p:nvSpPr>
          <p:cNvPr id="40" name="S18/object-767"/>
          <p:cNvSpPr/>
          <p:nvPr/>
        </p:nvSpPr>
        <p:spPr>
          <a:xfrm>
            <a:off x="3566160" y="5340096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用户授权当前网页版继续</a:t>
            </a:r>
            <a:endParaRPr lang="en-US" sz="1200" dirty="0"/>
          </a:p>
        </p:txBody>
      </p:sp>
      <p:sp>
        <p:nvSpPr>
          <p:cNvPr id="41" name="S18/object-768"/>
          <p:cNvSpPr/>
          <p:nvPr/>
        </p:nvSpPr>
        <p:spPr>
          <a:xfrm>
            <a:off x="1325880" y="5623560"/>
            <a:ext cx="1012240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42" name="S18/object-769"/>
          <p:cNvSpPr/>
          <p:nvPr/>
        </p:nvSpPr>
        <p:spPr>
          <a:xfrm>
            <a:off x="777240" y="5934456"/>
            <a:ext cx="10698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2189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欢迎带着模型、单位和截图交流：先定位条件，再判断差异。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拉压弯扭大师｜蓝色技术路线增强版</dc:title>
  <dc:subject>PptxGenJS Presentation</dc:subject>
  <dc:creator>拉压弯扭大师</dc:creator>
  <cp:lastModifiedBy>拉压弯扭大师</cp:lastModifiedBy>
  <cp:revision>1</cp:revision>
  <dcterms:created xsi:type="dcterms:W3CDTF">2026-10-11T10:31:38Z</dcterms:created>
  <dcterms:modified xsi:type="dcterms:W3CDTF">2026-10-11T10:31:38Z</dcterms:modified>
</cp:coreProperties>
</file>